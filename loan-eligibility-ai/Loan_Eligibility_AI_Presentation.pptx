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presentation.xml" ContentType="application/vnd.openxmlformats-officedocument.presentationml.presentation.main+xml"/>
  <Override PartName="/ppt/slideMasters/slideMaster1.xml" ContentType="application/vnd.openxmlformats-officedocument.presentationml.slideMaster+xml"/>
  <Override PartName="/ppt/theme/theme1.xml" ContentType="application/vnd.openxmlformats-officedocument.theme+xml"/>
  <Override PartName="/ppt/theme/theme1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10.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11.xml" ContentType="application/vnd.openxmlformats-officedocument.presentationml.slideLayout+xml"/>
  <Override PartName="/ppt/slideLayouts/slideLayout8.xml" ContentType="application/vnd.openxmlformats-officedocument.presentationml.slideLayout+xml"/>
  <Override PartName="/ppt/slideLayouts/slideLayout5.xml" ContentType="application/vnd.openxmlformats-officedocument.presentationml.slideLayout+xml"/>
  <Override PartName="/ppt/slideLayouts/slideLayout9.xml" ContentType="application/vnd.openxmlformats-officedocument.presentationml.slideLayout+xml"/>
  <Override PartName="/ppt/notesMasters/notesMaster1.xml" ContentType="application/vnd.openxmlformats-officedocument.presentationml.notesMaster+xml"/>
  <Override PartName="/ppt/presProps.xml" ContentType="application/vnd.openxmlformats-officedocument.presentationml.presProps+xml"/>
  <Override PartName="/ppt/slides/slide29.xml" ContentType="application/vnd.openxmlformats-officedocument.presentationml.slide+xml"/>
  <Override PartName="/ppt/slides/slide18.xml" ContentType="application/vnd.openxmlformats-officedocument.presentationml.slide+xml"/>
  <Override PartName="/ppt/slides/slide5.xml" ContentType="application/vnd.openxmlformats-officedocument.presentationml.slide+xml"/>
  <Override PartName="/ppt/slides/slide24.xml" ContentType="application/vnd.openxmlformats-officedocument.presentationml.slide+xml"/>
  <Override PartName="/ppt/slides/slide4.xml" ContentType="application/vnd.openxmlformats-officedocument.presentationml.slide+xml"/>
  <Override PartName="/ppt/slides/slide9.xml" ContentType="application/vnd.openxmlformats-officedocument.presentationml.slide+xml"/>
  <Override PartName="/ppt/slides/slide19.xml" ContentType="application/vnd.openxmlformats-officedocument.presentationml.slide+xml"/>
  <Override PartName="/ppt/slides/slide13.xml" ContentType="application/vnd.openxmlformats-officedocument.presentationml.slide+xml"/>
  <Override PartName="/ppt/slides/slide11.xml" ContentType="application/vnd.openxmlformats-officedocument.presentationml.slide+xml"/>
  <Override PartName="/ppt/slides/slide22.xml" ContentType="application/vnd.openxmlformats-officedocument.presentationml.slide+xml"/>
  <Override PartName="/ppt/slides/slide25.xml" ContentType="application/vnd.openxmlformats-officedocument.presentationml.slide+xml"/>
  <Override PartName="/ppt/slides/slide21.xml" ContentType="application/vnd.openxmlformats-officedocument.presentationml.slide+xml"/>
  <Override PartName="/ppt/slides/slide28.xml" ContentType="application/vnd.openxmlformats-officedocument.presentationml.slide+xml"/>
  <Override PartName="/ppt/slides/slide12.xml" ContentType="application/vnd.openxmlformats-officedocument.presentationml.slide+xml"/>
  <Override PartName="/ppt/slides/slide27.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26.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17.xml" ContentType="application/vnd.openxmlformats-officedocument.presentationml.slide+xml"/>
  <Override PartName="/ppt/slides/slide10.xml" ContentType="application/vnd.openxmlformats-officedocument.presentationml.slide+xml"/>
  <Override PartName="/ppt/slides/slide23.xml" ContentType="application/vnd.openxmlformats-officedocument.presentationml.slide+xml"/>
  <Override PartName="/ppt/slides/slide2.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16.xml" ContentType="application/vnd.openxmlformats-officedocument.presentationml.slide+xml"/>
  <Override PartName="/ppt/slides/slide1.xml" ContentType="application/vnd.openxmlformats-officedocument.presentationml.slide+xml"/>
  <Override PartName="/ppt/slides/slide15.xml" ContentType="application/vnd.openxmlformats-officedocument.presentationml.slide+xml"/>
  <Override PartName="/ppt/slides/slide6.xml" ContentType="application/vnd.openxmlformats-officedocument.presentationml.slide+xml"/>
  <Override PartName="/ppt/slides/slide14.xml" ContentType="application/vnd.openxmlformats-officedocument.presentationml.slide+xml"/>
  <Override PartName="/ppt/notesSlides/notesSlide14.xml" ContentType="application/vnd.openxmlformats-officedocument.presentationml.notesSlide+xml"/>
  <Override PartName="/ppt/notesSlides/notesSlide12.xml" ContentType="application/vnd.openxmlformats-officedocument.presentationml.notesSlide+xml"/>
  <Override PartName="/ppt/notesSlides/notesSlide9.xml" ContentType="application/vnd.openxmlformats-officedocument.presentationml.notesSlide+xml"/>
  <Override PartName="/ppt/notesSlides/notesSlide11.xml" ContentType="application/vnd.openxmlformats-officedocument.presentationml.notesSlide+xml"/>
  <Override PartName="/ppt/notesSlides/notesSlide8.xml" ContentType="application/vnd.openxmlformats-officedocument.presentationml.notesSlide+xml"/>
  <Override PartName="/ppt/notesSlides/notesSlide5.xml" ContentType="application/vnd.openxmlformats-officedocument.presentationml.notesSlide+xml"/>
  <Override PartName="/ppt/notesSlides/notesSlide4.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9.xml" ContentType="application/vnd.openxmlformats-officedocument.presentationml.notesSlide+xml"/>
  <Override PartName="/ppt/notesSlides/notesSlide31.xml" ContentType="application/vnd.openxmlformats-officedocument.presentationml.notesSlide+xml"/>
  <Override PartName="/ppt/notesSlides/notesSlide18.xml" ContentType="application/vnd.openxmlformats-officedocument.presentationml.notesSlide+xml"/>
  <Override PartName="/ppt/notesSlides/notesSlide1.xml" ContentType="application/vnd.openxmlformats-officedocument.presentationml.notesSlide+xml"/>
  <Override PartName="/ppt/notesSlides/notesSlide30.xml" ContentType="application/vnd.openxmlformats-officedocument.presentationml.notesSlide+xml"/>
  <Override PartName="/ppt/notesSlides/notesSlide25.xml" ContentType="application/vnd.openxmlformats-officedocument.presentationml.notesSlide+xml"/>
  <Override PartName="/ppt/notesSlides/notesSlide16.xml" ContentType="application/vnd.openxmlformats-officedocument.presentationml.notesSlide+xml"/>
  <Override PartName="/ppt/notesSlides/notesSlide26.xml" ContentType="application/vnd.openxmlformats-officedocument.presentationml.notesSlide+xml"/>
  <Override PartName="/ppt/notesSlides/notesSlide23.xml" ContentType="application/vnd.openxmlformats-officedocument.presentationml.notesSlide+xml"/>
  <Override PartName="/ppt/notesSlides/notesSlide15.xml" ContentType="application/vnd.openxmlformats-officedocument.presentationml.notesSlide+xml"/>
  <Override PartName="/ppt/notesSlides/notesSlide6.xml" ContentType="application/vnd.openxmlformats-officedocument.presentationml.notesSlide+xml"/>
  <Override PartName="/ppt/notesSlides/notesSlide22.xml" ContentType="application/vnd.openxmlformats-officedocument.presentationml.notesSlide+xml"/>
  <Override PartName="/ppt/notesSlides/notesSlide28.xml" ContentType="application/vnd.openxmlformats-officedocument.presentationml.notesSlide+xml"/>
  <Override PartName="/ppt/notesSlides/notesSlide21.xml" ContentType="application/vnd.openxmlformats-officedocument.presentationml.notesSlide+xml"/>
  <Override PartName="/ppt/notesSlides/notesSlide10.xml" ContentType="application/vnd.openxmlformats-officedocument.presentationml.notesSlide+xml"/>
  <Override PartName="/ppt/notesSlides/notesSlide19.xml" ContentType="application/vnd.openxmlformats-officedocument.presentationml.notesSlide+xml"/>
  <Override PartName="/ppt/notesSlides/notesSlide17.xml" ContentType="application/vnd.openxmlformats-officedocument.presentationml.notesSlide+xml"/>
  <Override PartName="/ppt/notesSlides/notesSlide27.xml" ContentType="application/vnd.openxmlformats-officedocument.presentationml.notesSlide+xml"/>
</Types>
</file>

<file path=_rels/.rels><?xml version="1.0" encoding="UTF-8"?>
<Relationships xmlns="http://schemas.openxmlformats.org/package/2006/relationships"><Relationship Id="rId1" Type="http://schemas.openxmlformats.org/package/2006/relationships/metadata/core-properties" Target="docProps/core.xml"/><Relationship Id="rId2" Type="http://schemas.openxmlformats.org/officeDocument/2006/relationships/extended-properties" Target="docProps/app.xml"/><Relationship Id="rId3" Type="http://schemas.openxmlformats.org/officeDocument/2006/relationships/custom-properties" Target="docProps/custom.xml"/><Relationship Id="rId4" Type="http://schemas.openxmlformats.org/officeDocument/2006/relationships/officeDocument" Target="ppt/presentation.xml"/>
</Relationships>
</file>

<file path=ppt/presentation.xml><?xml version="1.0" encoding="utf-8"?>
<p:presentation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sldMasterIdLst>
    <p:sldMasterId id="2147483648" r:id="rId2"/>
  </p:sldMasterIdLst>
  <p:notesMasterIdLst>
    <p:notesMasterId r:id="rId3"/>
  </p:notesMasterIdLst>
  <p:sldIdLst>
    <p:sldId id="256" r:id="rId4"/>
    <p:sldId id="257" r:id="rId5"/>
    <p:sldId id="258" r:id="rId6"/>
    <p:sldId id="259" r:id="rId7"/>
    <p:sldId id="260" r:id="rId8"/>
    <p:sldId id="261" r:id="rId9"/>
    <p:sldId id="262" r:id="rId10"/>
    <p:sldId id="263" r:id="rId11"/>
    <p:sldId id="264" r:id="rId12"/>
    <p:sldId id="265" r:id="rId13"/>
    <p:sldId id="266" r:id="rId14"/>
    <p:sldId id="267" r:id="rId15"/>
    <p:sldId id="268" r:id="rId16"/>
    <p:sldId id="269" r:id="rId17"/>
    <p:sldId id="270" r:id="rId18"/>
    <p:sldId id="271" r:id="rId19"/>
    <p:sldId id="272" r:id="rId20"/>
    <p:sldId id="273" r:id="rId21"/>
    <p:sldId id="274" r:id="rId22"/>
    <p:sldId id="275" r:id="rId23"/>
    <p:sldId id="276" r:id="rId24"/>
    <p:sldId id="277" r:id="rId25"/>
    <p:sldId id="278" r:id="rId26"/>
    <p:sldId id="279" r:id="rId27"/>
    <p:sldId id="280" r:id="rId28"/>
    <p:sldId id="281" r:id="rId29"/>
    <p:sldId id="282" r:id="rId30"/>
    <p:sldId id="283" r:id="rId31"/>
    <p:sldId id="284" r:id="rId32"/>
    <p:sldId id="285" r:id="rId33"/>
    <p:sldId id="286" r:id="rId34"/>
  </p:sldIdLst>
  <p:sldSz cx="12192000" cy="6858000"/>
  <p:notesSz cx="6858000" cy="9144000"/>
</p:presentation>
</file>

<file path=ppt/presProps.xml><?xml version="1.0" encoding="utf-8"?>
<p:presentationPr xmlns:a="http://schemas.openxmlformats.org/drawingml/2006/main" xmlns:p="http://schemas.openxmlformats.org/presentationml/2006/main" xmlns:r="http://schemas.openxmlformats.org/officeDocument/2006/relationships">
  <p:showPr showNarration="1"/>
</p:presentationPr>
</file>

<file path=ppt/_rels/presentation.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Master" Target="slideMasters/slideMaster1.xml"/><Relationship Id="rId3" Type="http://schemas.openxmlformats.org/officeDocument/2006/relationships/notesMaster" Target="notesMasters/notesMaster1.xml"/><Relationship Id="rId4" Type="http://schemas.openxmlformats.org/officeDocument/2006/relationships/slide" Target="slides/slide1.xml"/><Relationship Id="rId5" Type="http://schemas.openxmlformats.org/officeDocument/2006/relationships/slide" Target="slides/slide2.xml"/><Relationship Id="rId6" Type="http://schemas.openxmlformats.org/officeDocument/2006/relationships/slide" Target="slides/slide3.xml"/><Relationship Id="rId7" Type="http://schemas.openxmlformats.org/officeDocument/2006/relationships/slide" Target="slides/slide4.xml"/><Relationship Id="rId8" Type="http://schemas.openxmlformats.org/officeDocument/2006/relationships/slide" Target="slides/slide5.xml"/><Relationship Id="rId9" Type="http://schemas.openxmlformats.org/officeDocument/2006/relationships/slide" Target="slides/slide6.xml"/><Relationship Id="rId10" Type="http://schemas.openxmlformats.org/officeDocument/2006/relationships/slide" Target="slides/slide7.xml"/><Relationship Id="rId11" Type="http://schemas.openxmlformats.org/officeDocument/2006/relationships/slide" Target="slides/slide8.xml"/><Relationship Id="rId12" Type="http://schemas.openxmlformats.org/officeDocument/2006/relationships/slide" Target="slides/slide9.xml"/><Relationship Id="rId13" Type="http://schemas.openxmlformats.org/officeDocument/2006/relationships/slide" Target="slides/slide10.xml"/><Relationship Id="rId14" Type="http://schemas.openxmlformats.org/officeDocument/2006/relationships/slide" Target="slides/slide11.xml"/><Relationship Id="rId15" Type="http://schemas.openxmlformats.org/officeDocument/2006/relationships/slide" Target="slides/slide12.xml"/><Relationship Id="rId16" Type="http://schemas.openxmlformats.org/officeDocument/2006/relationships/slide" Target="slides/slide13.xml"/><Relationship Id="rId17" Type="http://schemas.openxmlformats.org/officeDocument/2006/relationships/slide" Target="slides/slide14.xml"/><Relationship Id="rId18" Type="http://schemas.openxmlformats.org/officeDocument/2006/relationships/slide" Target="slides/slide15.xml"/><Relationship Id="rId19" Type="http://schemas.openxmlformats.org/officeDocument/2006/relationships/slide" Target="slides/slide16.xml"/><Relationship Id="rId20" Type="http://schemas.openxmlformats.org/officeDocument/2006/relationships/slide" Target="slides/slide17.xml"/><Relationship Id="rId21" Type="http://schemas.openxmlformats.org/officeDocument/2006/relationships/slide" Target="slides/slide18.xml"/><Relationship Id="rId22" Type="http://schemas.openxmlformats.org/officeDocument/2006/relationships/slide" Target="slides/slide19.xml"/><Relationship Id="rId23" Type="http://schemas.openxmlformats.org/officeDocument/2006/relationships/slide" Target="slides/slide20.xml"/><Relationship Id="rId24" Type="http://schemas.openxmlformats.org/officeDocument/2006/relationships/slide" Target="slides/slide21.xml"/><Relationship Id="rId25" Type="http://schemas.openxmlformats.org/officeDocument/2006/relationships/slide" Target="slides/slide22.xml"/><Relationship Id="rId26" Type="http://schemas.openxmlformats.org/officeDocument/2006/relationships/slide" Target="slides/slide23.xml"/><Relationship Id="rId27" Type="http://schemas.openxmlformats.org/officeDocument/2006/relationships/slide" Target="slides/slide24.xml"/><Relationship Id="rId28" Type="http://schemas.openxmlformats.org/officeDocument/2006/relationships/slide" Target="slides/slide25.xml"/><Relationship Id="rId29" Type="http://schemas.openxmlformats.org/officeDocument/2006/relationships/slide" Target="slides/slide26.xml"/><Relationship Id="rId30" Type="http://schemas.openxmlformats.org/officeDocument/2006/relationships/slide" Target="slides/slide27.xml"/><Relationship Id="rId31" Type="http://schemas.openxmlformats.org/officeDocument/2006/relationships/slide" Target="slides/slide28.xml"/><Relationship Id="rId32" Type="http://schemas.openxmlformats.org/officeDocument/2006/relationships/slide" Target="slides/slide29.xml"/><Relationship Id="rId33" Type="http://schemas.openxmlformats.org/officeDocument/2006/relationships/slide" Target="slides/slide30.xml"/><Relationship Id="rId34" Type="http://schemas.openxmlformats.org/officeDocument/2006/relationships/slide" Target="slides/slide31.xml"/><Relationship Id="rId35" Type="http://schemas.openxmlformats.org/officeDocument/2006/relationships/presProps" Target="presProps.xml"/>
</Relationships>
</file>

<file path=ppt/notesMasters/_rels/notesMaster1.xml.rels><?xml version="1.0" encoding="UTF-8"?>
<Relationships xmlns="http://schemas.openxmlformats.org/package/2006/relationships"><Relationship Id="rId1" Type="http://schemas.openxmlformats.org/officeDocument/2006/relationships/theme" Target="../theme/theme12.xml"/>
</Relationships>
</file>

<file path=ppt/notesMasters/notesMaster1.xml><?xml version="1.0" encoding="utf-8"?>
<p:notes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1" name="PlaceHolder 1"/>
          <p:cNvSpPr>
            <a:spLocks noGrp="1"/>
          </p:cNvSpPr>
          <p:nvPr>
            <p:ph type="sldImg"/>
          </p:nvPr>
        </p:nvSpPr>
        <p:spPr>
          <a:xfrm>
            <a:off x="0" y="812520"/>
            <a:ext cx="0" cy="0"/>
          </a:xfrm>
          <a:prstGeom prst="rect">
            <a:avLst/>
          </a:prstGeom>
          <a:noFill/>
          <a:ln w="0">
            <a:noFill/>
          </a:ln>
        </p:spPr>
        <p:txBody>
          <a:bodyPr lIns="0" tIns="0" rIns="0" bIns="0" anchor="ctr">
            <a:noAutofit/>
          </a:bodyPr>
          <a:p>
            <a:pPr algn="ctr" defTabSz="457200"/>
            <a:r>
              <a:rPr lang="en-US" sz="4400" b="0" u="none" strike="noStrike">
                <a:solidFill>
                  <a:schemeClr val="dk1"/>
                </a:solidFill>
                <a:effectLst/>
                <a:uFillTx/>
                <a:latin typeface="Calibri"/>
              </a:rPr>
              <a:t>Click to move the slide</a:t>
            </a:r>
            <a:endParaRPr lang="en-US" sz="4400" b="0" u="none" strike="noStrike">
              <a:solidFill>
                <a:schemeClr val="dk1"/>
              </a:solidFill>
              <a:effectLst/>
              <a:uFillTx/>
              <a:latin typeface="Calibri"/>
            </a:endParaRPr>
          </a:p>
        </p:txBody>
      </p:sp>
      <p:sp>
        <p:nvSpPr>
          <p:cNvPr id="62" name="PlaceHolder 2"/>
          <p:cNvSpPr>
            <a:spLocks noGrp="1"/>
          </p:cNvSpPr>
          <p:nvPr>
            <p:ph type="body"/>
          </p:nvPr>
        </p:nvSpPr>
        <p:spPr>
          <a:xfrm>
            <a:off x="756000" y="5078520"/>
            <a:ext cx="6047640" cy="4811040"/>
          </a:xfrm>
          <a:prstGeom prst="rect">
            <a:avLst/>
          </a:prstGeom>
          <a:noFill/>
          <a:ln w="0">
            <a:noFill/>
          </a:ln>
        </p:spPr>
        <p:txBody>
          <a:bodyPr lIns="0" tIns="0" rIns="0" bIns="0" anchor="t">
            <a:noAutofit/>
          </a:bodyPr>
          <a:p>
            <a:pPr indent="0" algn="l">
              <a:buNone/>
            </a:pPr>
            <a:r>
              <a:rPr lang="en-US" sz="2000" b="0" u="none" strike="noStrike">
                <a:solidFill>
                  <a:srgbClr val="000000"/>
                </a:solidFill>
                <a:effectLst/>
                <a:uFillTx/>
                <a:latin typeface="Arial"/>
              </a:rPr>
              <a:t>Click to edit the notes format</a:t>
            </a:r>
            <a:endParaRPr lang="en-US" sz="2000" b="0" u="none" strike="noStrike">
              <a:solidFill>
                <a:srgbClr val="000000"/>
              </a:solidFill>
              <a:effectLst/>
              <a:uFillTx/>
              <a:latin typeface="Arial"/>
            </a:endParaRPr>
          </a:p>
        </p:txBody>
      </p:sp>
      <p:sp>
        <p:nvSpPr>
          <p:cNvPr id="63" name="PlaceHolder 3"/>
          <p:cNvSpPr>
            <a:spLocks noGrp="1"/>
          </p:cNvSpPr>
          <p:nvPr>
            <p:ph type="hdr"/>
          </p:nvPr>
        </p:nvSpPr>
        <p:spPr>
          <a:xfrm>
            <a:off x="0" y="0"/>
            <a:ext cx="3280680" cy="534240"/>
          </a:xfrm>
          <a:prstGeom prst="rect">
            <a:avLst/>
          </a:prstGeom>
          <a:noFill/>
          <a:ln w="0">
            <a:noFill/>
          </a:ln>
        </p:spPr>
        <p:txBody>
          <a:bodyPr lIns="0" tIns="0" rIns="0" bIns="0" anchor="t">
            <a:noAutofit/>
          </a:bodyPr>
          <a:p>
            <a:pPr indent="0" algn="l">
              <a:buNone/>
            </a:pPr>
            <a:r>
              <a:rPr lang="en-US" sz="1400" b="0" u="none" strike="noStrike">
                <a:solidFill>
                  <a:srgbClr val="000000"/>
                </a:solidFill>
                <a:effectLst/>
                <a:uFillTx/>
                <a:latin typeface="Times New Roman"/>
              </a:rPr>
              <a:t>&lt;header&gt;</a:t>
            </a:r>
            <a:endParaRPr lang="en-US" sz="1400" b="0" u="none" strike="noStrike">
              <a:solidFill>
                <a:srgbClr val="000000"/>
              </a:solidFill>
              <a:effectLst/>
              <a:uFillTx/>
              <a:latin typeface="Times New Roman"/>
            </a:endParaRPr>
          </a:p>
        </p:txBody>
      </p:sp>
      <p:sp>
        <p:nvSpPr>
          <p:cNvPr id="64" name="PlaceHolder 4"/>
          <p:cNvSpPr>
            <a:spLocks noGrp="1"/>
          </p:cNvSpPr>
          <p:nvPr>
            <p:ph type="dt" idx="34"/>
          </p:nvPr>
        </p:nvSpPr>
        <p:spPr>
          <a:xfrm>
            <a:off x="4278960" y="0"/>
            <a:ext cx="3280680" cy="534240"/>
          </a:xfrm>
          <a:prstGeom prst="rect">
            <a:avLst/>
          </a:prstGeom>
          <a:noFill/>
          <a:ln w="0">
            <a:noFill/>
          </a:ln>
        </p:spPr>
        <p:txBody>
          <a:bodyPr lIns="0" tIns="0" rIns="0" bIns="0" anchor="t">
            <a:noAutofit/>
          </a:bodyPr>
          <a:lstStyle>
            <a:lvl1pPr indent="0" algn="r">
              <a:buNone/>
              <a:defRPr lang="en-US" sz="1400" b="0" u="none" strike="noStrike">
                <a:solidFill>
                  <a:srgbClr val="000000"/>
                </a:solidFill>
                <a:effectLst/>
                <a:uFillTx/>
                <a:latin typeface="Times New Roman"/>
              </a:defRPr>
            </a:lvl1pPr>
          </a:lstStyle>
          <a:p>
            <a:pPr indent="0" algn="r">
              <a:buNone/>
            </a:pPr>
            <a:r>
              <a:rPr lang="en-US" sz="1400" b="0" u="none" strike="noStrike">
                <a:solidFill>
                  <a:srgbClr val="000000"/>
                </a:solidFill>
                <a:effectLst/>
                <a:uFillTx/>
                <a:latin typeface="Times New Roman"/>
              </a:rPr>
              <a:t>&lt;date/time&gt;</a:t>
            </a:r>
            <a:endParaRPr lang="en-US" sz="1400" b="0" u="none" strike="noStrike">
              <a:solidFill>
                <a:srgbClr val="000000"/>
              </a:solidFill>
              <a:effectLst/>
              <a:uFillTx/>
              <a:latin typeface="Times New Roman"/>
            </a:endParaRPr>
          </a:p>
        </p:txBody>
      </p:sp>
      <p:sp>
        <p:nvSpPr>
          <p:cNvPr id="65" name="PlaceHolder 5"/>
          <p:cNvSpPr>
            <a:spLocks noGrp="1"/>
          </p:cNvSpPr>
          <p:nvPr>
            <p:ph type="ftr" idx="35"/>
          </p:nvPr>
        </p:nvSpPr>
        <p:spPr>
          <a:xfrm>
            <a:off x="0" y="10157400"/>
            <a:ext cx="3280680" cy="534240"/>
          </a:xfrm>
          <a:prstGeom prst="rect">
            <a:avLst/>
          </a:prstGeom>
          <a:noFill/>
          <a:ln w="0">
            <a:noFill/>
          </a:ln>
        </p:spPr>
        <p:txBody>
          <a:bodyPr lIns="0" tIns="0" rIns="0" bIns="0" anchor="b">
            <a:noAutofit/>
          </a:bodyPr>
          <a:lstStyle>
            <a:lvl1pPr indent="0" algn="l">
              <a:buNone/>
              <a:defRPr lang="en-US" sz="1400" b="0" u="none" strike="noStrike">
                <a:solidFill>
                  <a:srgbClr val="000000"/>
                </a:solidFill>
                <a:effectLst/>
                <a:uFillTx/>
                <a:latin typeface="Times New Roman"/>
              </a:defRPr>
            </a:lvl1pPr>
          </a:lstStyle>
          <a:p>
            <a:pPr indent="0" algn="l">
              <a:buNone/>
            </a:pPr>
            <a:r>
              <a:rPr lang="en-US" sz="1400" b="0" u="none" strike="noStrike">
                <a:solidFill>
                  <a:srgbClr val="000000"/>
                </a:solidFill>
                <a:effectLst/>
                <a:uFillTx/>
                <a:latin typeface="Times New Roman"/>
              </a:rPr>
              <a:t>&lt;footer&gt;</a:t>
            </a:r>
            <a:endParaRPr lang="en-US" sz="1400" b="0" u="none" strike="noStrike">
              <a:solidFill>
                <a:srgbClr val="000000"/>
              </a:solidFill>
              <a:effectLst/>
              <a:uFillTx/>
              <a:latin typeface="Times New Roman"/>
            </a:endParaRPr>
          </a:p>
        </p:txBody>
      </p:sp>
      <p:sp>
        <p:nvSpPr>
          <p:cNvPr id="66" name="PlaceHolder 6"/>
          <p:cNvSpPr>
            <a:spLocks noGrp="1"/>
          </p:cNvSpPr>
          <p:nvPr>
            <p:ph type="sldNum" idx="36"/>
          </p:nvPr>
        </p:nvSpPr>
        <p:spPr>
          <a:xfrm>
            <a:off x="4278960" y="10157400"/>
            <a:ext cx="3280680" cy="534240"/>
          </a:xfrm>
          <a:prstGeom prst="rect">
            <a:avLst/>
          </a:prstGeom>
          <a:noFill/>
          <a:ln w="0">
            <a:noFill/>
          </a:ln>
        </p:spPr>
        <p:txBody>
          <a:bodyPr lIns="0" tIns="0" rIns="0" bIns="0" anchor="b">
            <a:noAutofit/>
          </a:bodyPr>
          <a:lstStyle>
            <a:lvl1pPr indent="0" algn="r">
              <a:buNone/>
              <a:defRPr lang="en-US" sz="1400" b="0" u="none" strike="noStrike">
                <a:solidFill>
                  <a:srgbClr val="000000"/>
                </a:solidFill>
                <a:effectLst/>
                <a:uFillTx/>
                <a:latin typeface="Times New Roman"/>
              </a:defRPr>
            </a:lvl1pPr>
          </a:lstStyle>
          <a:p>
            <a:pPr indent="0" algn="r">
              <a:buNone/>
            </a:pPr>
            <a:fld id="{1AA36B8D-1C10-4492-A977-741A6B24B9FB}" type="slidenum">
              <a:rPr lang="en-US" sz="1400" b="0" u="none" strike="noStrike">
                <a:solidFill>
                  <a:srgbClr val="000000"/>
                </a:solidFill>
                <a:effectLst/>
                <a:uFillTx/>
                <a:latin typeface="Times New Roman"/>
              </a:rPr>
              <a:t>&lt;number&gt;</a:t>
            </a:fld>
            <a:endParaRPr lang="en-US" sz="1400" b="0" u="none" strike="noStrike">
              <a:solidFill>
                <a:srgbClr val="000000"/>
              </a:solidFill>
              <a:effectLst/>
              <a:uFillTx/>
              <a:latin typeface="Times New Roman"/>
            </a:endParaRPr>
          </a:p>
        </p:txBody>
      </p:sp>
    </p:spTree>
  </p:cSld>
  <p:clrMap bg1="lt1" bg2="lt2" tx1="dk1" tx2="dk2" accent1="accent1" accent2="accent2" accent3="accent3" accent4="accent4" accent5="accent5" accent6="accent6" hlink="hlink" folHlink="folHlink"/>
</p:notesMaster>
</file>

<file path=ppt/notesSlides/_rels/notesSlide1.xml.rels><?xml version="1.0" encoding="UTF-8"?>
<Relationships xmlns="http://schemas.openxmlformats.org/package/2006/relationships"><Relationship Id="rId1" Type="http://schemas.openxmlformats.org/officeDocument/2006/relationships/slide" Target="../slides/slide1.xml"/><Relationship Id="rId2" Type="http://schemas.openxmlformats.org/officeDocument/2006/relationships/notesMaster" Target="../notesMasters/notesMaster1.xml"/>
</Relationships>
</file>

<file path=ppt/notesSlides/_rels/notesSlide2.xml.rels><?xml version="1.0" encoding="UTF-8"?>
<Relationships xmlns="http://schemas.openxmlformats.org/package/2006/relationships"><Relationship Id="rId1" Type="http://schemas.openxmlformats.org/officeDocument/2006/relationships/slide" Target="../slides/slide2.xml"/><Relationship Id="rId2" Type="http://schemas.openxmlformats.org/officeDocument/2006/relationships/notesMaster" Target="../notesMasters/notesMaster1.xml"/>
</Relationships>
</file>

<file path=ppt/notesSlides/_rels/notesSlide4.xml.rels><?xml version="1.0" encoding="UTF-8"?>
<Relationships xmlns="http://schemas.openxmlformats.org/package/2006/relationships"><Relationship Id="rId1" Type="http://schemas.openxmlformats.org/officeDocument/2006/relationships/slide" Target="../slides/slide4.xml"/><Relationship Id="rId2" Type="http://schemas.openxmlformats.org/officeDocument/2006/relationships/notesMaster" Target="../notesMasters/notesMaster1.xml"/>
</Relationships>
</file>

<file path=ppt/notesSlides/_rels/notesSlide5.xml.rels><?xml version="1.0" encoding="UTF-8"?>
<Relationships xmlns="http://schemas.openxmlformats.org/package/2006/relationships"><Relationship Id="rId1" Type="http://schemas.openxmlformats.org/officeDocument/2006/relationships/slide" Target="../slides/slide5.xml"/><Relationship Id="rId2" Type="http://schemas.openxmlformats.org/officeDocument/2006/relationships/notesMaster" Target="../notesMasters/notesMaster1.xml"/>
</Relationships>
</file>

<file path=ppt/notesSlides/_rels/notesSlide6.xml.rels><?xml version="1.0" encoding="UTF-8"?>
<Relationships xmlns="http://schemas.openxmlformats.org/package/2006/relationships"><Relationship Id="rId1" Type="http://schemas.openxmlformats.org/officeDocument/2006/relationships/slide" Target="../slides/slide6.xml"/><Relationship Id="rId2" Type="http://schemas.openxmlformats.org/officeDocument/2006/relationships/notesMaster" Target="../notesMasters/notesMaster1.xml"/>
</Relationships>
</file>

<file path=ppt/notesSlides/_rels/notesSlide8.xml.rels><?xml version="1.0" encoding="UTF-8"?>
<Relationships xmlns="http://schemas.openxmlformats.org/package/2006/relationships"><Relationship Id="rId1" Type="http://schemas.openxmlformats.org/officeDocument/2006/relationships/slide" Target="../slides/slide8.xml"/><Relationship Id="rId2" Type="http://schemas.openxmlformats.org/officeDocument/2006/relationships/notesMaster" Target="../notesMasters/notesMaster1.xml"/>
</Relationships>
</file>

<file path=ppt/notesSlides/_rels/notesSlide9.xml.rels><?xml version="1.0" encoding="UTF-8"?>
<Relationships xmlns="http://schemas.openxmlformats.org/package/2006/relationships"><Relationship Id="rId1" Type="http://schemas.openxmlformats.org/officeDocument/2006/relationships/slide" Target="../slides/slide9.xml"/><Relationship Id="rId2" Type="http://schemas.openxmlformats.org/officeDocument/2006/relationships/notesMaster" Target="../notesMasters/notesMaster1.xml"/>
</Relationships>
</file>

<file path=ppt/notesSlides/_rels/notesSlide10.xml.rels><?xml version="1.0" encoding="UTF-8"?>
<Relationships xmlns="http://schemas.openxmlformats.org/package/2006/relationships"><Relationship Id="rId1" Type="http://schemas.openxmlformats.org/officeDocument/2006/relationships/slide" Target="../slides/slide10.xml"/><Relationship Id="rId2" Type="http://schemas.openxmlformats.org/officeDocument/2006/relationships/notesMaster" Target="../notesMasters/notesMaster1.xml"/>
</Relationships>
</file>

<file path=ppt/notesSlides/_rels/notesSlide11.xml.rels><?xml version="1.0" encoding="UTF-8"?>
<Relationships xmlns="http://schemas.openxmlformats.org/package/2006/relationships"><Relationship Id="rId1" Type="http://schemas.openxmlformats.org/officeDocument/2006/relationships/slide" Target="../slides/slide11.xml"/><Relationship Id="rId2" Type="http://schemas.openxmlformats.org/officeDocument/2006/relationships/notesMaster" Target="../notesMasters/notesMaster1.xml"/>
</Relationships>
</file>

<file path=ppt/notesSlides/_rels/notesSlide12.xml.rels><?xml version="1.0" encoding="UTF-8"?>
<Relationships xmlns="http://schemas.openxmlformats.org/package/2006/relationships"><Relationship Id="rId1" Type="http://schemas.openxmlformats.org/officeDocument/2006/relationships/slide" Target="../slides/slide12.xml"/><Relationship Id="rId2" Type="http://schemas.openxmlformats.org/officeDocument/2006/relationships/notesMaster" Target="../notesMasters/notesMaster1.xml"/>
</Relationships>
</file>

<file path=ppt/notesSlides/_rels/notesSlide14.xml.rels><?xml version="1.0" encoding="UTF-8"?>
<Relationships xmlns="http://schemas.openxmlformats.org/package/2006/relationships"><Relationship Id="rId1" Type="http://schemas.openxmlformats.org/officeDocument/2006/relationships/slide" Target="../slides/slide14.xml"/><Relationship Id="rId2" Type="http://schemas.openxmlformats.org/officeDocument/2006/relationships/notesMaster" Target="../notesMasters/notesMaster1.xml"/>
</Relationships>
</file>

<file path=ppt/notesSlides/_rels/notesSlide15.xml.rels><?xml version="1.0" encoding="UTF-8"?>
<Relationships xmlns="http://schemas.openxmlformats.org/package/2006/relationships"><Relationship Id="rId1" Type="http://schemas.openxmlformats.org/officeDocument/2006/relationships/slide" Target="../slides/slide15.xml"/><Relationship Id="rId2" Type="http://schemas.openxmlformats.org/officeDocument/2006/relationships/notesMaster" Target="../notesMasters/notesMaster1.xml"/>
</Relationships>
</file>

<file path=ppt/notesSlides/_rels/notesSlide16.xml.rels><?xml version="1.0" encoding="UTF-8"?>
<Relationships xmlns="http://schemas.openxmlformats.org/package/2006/relationships"><Relationship Id="rId1" Type="http://schemas.openxmlformats.org/officeDocument/2006/relationships/slide" Target="../slides/slide16.xml"/><Relationship Id="rId2" Type="http://schemas.openxmlformats.org/officeDocument/2006/relationships/notesMaster" Target="../notesMasters/notesMaster1.xml"/>
</Relationships>
</file>

<file path=ppt/notesSlides/_rels/notesSlide17.xml.rels><?xml version="1.0" encoding="UTF-8"?>
<Relationships xmlns="http://schemas.openxmlformats.org/package/2006/relationships"><Relationship Id="rId1" Type="http://schemas.openxmlformats.org/officeDocument/2006/relationships/slide" Target="../slides/slide17.xml"/><Relationship Id="rId2" Type="http://schemas.openxmlformats.org/officeDocument/2006/relationships/notesMaster" Target="../notesMasters/notesMaster1.xml"/>
</Relationships>
</file>

<file path=ppt/notesSlides/_rels/notesSlide18.xml.rels><?xml version="1.0" encoding="UTF-8"?>
<Relationships xmlns="http://schemas.openxmlformats.org/package/2006/relationships"><Relationship Id="rId1" Type="http://schemas.openxmlformats.org/officeDocument/2006/relationships/slide" Target="../slides/slide18.xml"/><Relationship Id="rId2" Type="http://schemas.openxmlformats.org/officeDocument/2006/relationships/notesMaster" Target="../notesMasters/notesMaster1.xml"/>
</Relationships>
</file>

<file path=ppt/notesSlides/_rels/notesSlide19.xml.rels><?xml version="1.0" encoding="UTF-8"?>
<Relationships xmlns="http://schemas.openxmlformats.org/package/2006/relationships"><Relationship Id="rId1" Type="http://schemas.openxmlformats.org/officeDocument/2006/relationships/slide" Target="../slides/slide19.xml"/><Relationship Id="rId2" Type="http://schemas.openxmlformats.org/officeDocument/2006/relationships/notesMaster" Target="../notesMasters/notesMaster1.xml"/>
</Relationships>
</file>

<file path=ppt/notesSlides/_rels/notesSlide20.xml.rels><?xml version="1.0" encoding="UTF-8"?>
<Relationships xmlns="http://schemas.openxmlformats.org/package/2006/relationships"><Relationship Id="rId1" Type="http://schemas.openxmlformats.org/officeDocument/2006/relationships/slide" Target="../slides/slide20.xml"/><Relationship Id="rId2" Type="http://schemas.openxmlformats.org/officeDocument/2006/relationships/notesMaster" Target="../notesMasters/notesMaster1.xml"/>
</Relationships>
</file>

<file path=ppt/notesSlides/_rels/notesSlide21.xml.rels><?xml version="1.0" encoding="UTF-8"?>
<Relationships xmlns="http://schemas.openxmlformats.org/package/2006/relationships"><Relationship Id="rId1" Type="http://schemas.openxmlformats.org/officeDocument/2006/relationships/slide" Target="../slides/slide21.xml"/><Relationship Id="rId2" Type="http://schemas.openxmlformats.org/officeDocument/2006/relationships/notesMaster" Target="../notesMasters/notesMaster1.xml"/>
</Relationships>
</file>

<file path=ppt/notesSlides/_rels/notesSlide22.xml.rels><?xml version="1.0" encoding="UTF-8"?>
<Relationships xmlns="http://schemas.openxmlformats.org/package/2006/relationships"><Relationship Id="rId1" Type="http://schemas.openxmlformats.org/officeDocument/2006/relationships/slide" Target="../slides/slide22.xml"/><Relationship Id="rId2" Type="http://schemas.openxmlformats.org/officeDocument/2006/relationships/notesMaster" Target="../notesMasters/notesMaster1.xml"/>
</Relationships>
</file>

<file path=ppt/notesSlides/_rels/notesSlide23.xml.rels><?xml version="1.0" encoding="UTF-8"?>
<Relationships xmlns="http://schemas.openxmlformats.org/package/2006/relationships"><Relationship Id="rId1" Type="http://schemas.openxmlformats.org/officeDocument/2006/relationships/slide" Target="../slides/slide23.xml"/><Relationship Id="rId2" Type="http://schemas.openxmlformats.org/officeDocument/2006/relationships/notesMaster" Target="../notesMasters/notesMaster1.xml"/>
</Relationships>
</file>

<file path=ppt/notesSlides/_rels/notesSlide25.xml.rels><?xml version="1.0" encoding="UTF-8"?>
<Relationships xmlns="http://schemas.openxmlformats.org/package/2006/relationships"><Relationship Id="rId1" Type="http://schemas.openxmlformats.org/officeDocument/2006/relationships/slide" Target="../slides/slide25.xml"/><Relationship Id="rId2" Type="http://schemas.openxmlformats.org/officeDocument/2006/relationships/notesMaster" Target="../notesMasters/notesMaster1.xml"/>
</Relationships>
</file>

<file path=ppt/notesSlides/_rels/notesSlide26.xml.rels><?xml version="1.0" encoding="UTF-8"?>
<Relationships xmlns="http://schemas.openxmlformats.org/package/2006/relationships"><Relationship Id="rId1" Type="http://schemas.openxmlformats.org/officeDocument/2006/relationships/slide" Target="../slides/slide26.xml"/><Relationship Id="rId2" Type="http://schemas.openxmlformats.org/officeDocument/2006/relationships/notesMaster" Target="../notesMasters/notesMaster1.xml"/>
</Relationships>
</file>

<file path=ppt/notesSlides/_rels/notesSlide27.xml.rels><?xml version="1.0" encoding="UTF-8"?>
<Relationships xmlns="http://schemas.openxmlformats.org/package/2006/relationships"><Relationship Id="rId1" Type="http://schemas.openxmlformats.org/officeDocument/2006/relationships/slide" Target="../slides/slide27.xml"/><Relationship Id="rId2" Type="http://schemas.openxmlformats.org/officeDocument/2006/relationships/notesMaster" Target="../notesMasters/notesMaster1.xml"/>
</Relationships>
</file>

<file path=ppt/notesSlides/_rels/notesSlide28.xml.rels><?xml version="1.0" encoding="UTF-8"?>
<Relationships xmlns="http://schemas.openxmlformats.org/package/2006/relationships"><Relationship Id="rId1" Type="http://schemas.openxmlformats.org/officeDocument/2006/relationships/slide" Target="../slides/slide28.xml"/><Relationship Id="rId2" Type="http://schemas.openxmlformats.org/officeDocument/2006/relationships/notesMaster" Target="../notesMasters/notesMaster1.xml"/>
</Relationships>
</file>

<file path=ppt/notesSlides/_rels/notesSlide29.xml.rels><?xml version="1.0" encoding="UTF-8"?>
<Relationships xmlns="http://schemas.openxmlformats.org/package/2006/relationships"><Relationship Id="rId1" Type="http://schemas.openxmlformats.org/officeDocument/2006/relationships/slide" Target="../slides/slide29.xml"/><Relationship Id="rId2" Type="http://schemas.openxmlformats.org/officeDocument/2006/relationships/notesMaster" Target="../notesMasters/notesMaster1.xml"/>
</Relationships>
</file>

<file path=ppt/notesSlides/_rels/notesSlide30.xml.rels><?xml version="1.0" encoding="UTF-8"?>
<Relationships xmlns="http://schemas.openxmlformats.org/package/2006/relationships"><Relationship Id="rId1" Type="http://schemas.openxmlformats.org/officeDocument/2006/relationships/slide" Target="../slides/slide30.xml"/><Relationship Id="rId2" Type="http://schemas.openxmlformats.org/officeDocument/2006/relationships/notesMaster" Target="../notesMasters/notesMaster1.xml"/>
</Relationships>
</file>

<file path=ppt/notesSlides/_rels/notesSlide31.xml.rels><?xml version="1.0" encoding="UTF-8"?>
<Relationships xmlns="http://schemas.openxmlformats.org/package/2006/relationships"><Relationship Id="rId1" Type="http://schemas.openxmlformats.org/officeDocument/2006/relationships/slide" Target="../slides/slide31.xml"/><Relationship Id="rId2" Type="http://schemas.openxmlformats.org/officeDocument/2006/relationships/notesMaster" Target="../notesMasters/notesMaster1.xml"/>
</Relationships>
</file>

<file path=ppt/notesSlides/notesSlide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91" name="PlaceHolder 1"/>
          <p:cNvSpPr>
            <a:spLocks noGrp="1"/>
          </p:cNvSpPr>
          <p:nvPr>
            <p:ph type="sldImg"/>
          </p:nvPr>
        </p:nvSpPr>
        <p:spPr>
          <a:xfrm>
            <a:off x="1143000" y="685800"/>
            <a:ext cx="4571640" cy="3428640"/>
          </a:xfrm>
          <a:prstGeom prst="rect">
            <a:avLst/>
          </a:prstGeom>
          <a:ln w="0">
            <a:noFill/>
          </a:ln>
        </p:spPr>
      </p:sp>
      <p:sp>
        <p:nvSpPr>
          <p:cNvPr id="592" name="PlaceHolder 2"/>
          <p:cNvSpPr>
            <a:spLocks noGrp="1"/>
          </p:cNvSpPr>
          <p:nvPr>
            <p:ph type="body"/>
          </p:nvPr>
        </p:nvSpPr>
        <p:spPr>
          <a:xfrm>
            <a:off x="685800" y="4343400"/>
            <a:ext cx="5486040" cy="411444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Opening (30s). 'We built Loan Eligibility AI: a working full-stack system that turns a loan application into an explained decision in milliseconds, and then answers the customer's follow-up questions.' Name the four of us, then state the agenda. Everything shown in this deck is a screenshot of the running app on localhost — no mock-ups.</a:t>
            </a:r>
            <a:endParaRPr lang="en-US" sz="2000" b="0" u="none" strike="noStrike">
              <a:solidFill>
                <a:srgbClr val="000000"/>
              </a:solidFill>
              <a:effectLst/>
              <a:uFillTx/>
              <a:latin typeface="Arial"/>
            </a:endParaRPr>
          </a:p>
        </p:txBody>
      </p:sp>
      <p:sp>
        <p:nvSpPr>
          <p:cNvPr id="593" name="PlaceHolder 3"/>
          <p:cNvSpPr>
            <a:spLocks noGrp="1"/>
          </p:cNvSpPr>
          <p:nvPr>
            <p:ph type="sldNum" idx="37"/>
          </p:nvPr>
        </p:nvSpPr>
        <p:spPr>
          <a:xfrm>
            <a:off x="3884760" y="8685360"/>
            <a:ext cx="2971440" cy="45684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099AC8DA-A917-4CDC-B166-F2B33A46E047}"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94" name="PlaceHolder 1"/>
          <p:cNvSpPr>
            <a:spLocks noGrp="1"/>
          </p:cNvSpPr>
          <p:nvPr>
            <p:ph type="sldImg"/>
          </p:nvPr>
        </p:nvSpPr>
        <p:spPr>
          <a:xfrm>
            <a:off x="1143000" y="685800"/>
            <a:ext cx="4571640" cy="3428640"/>
          </a:xfrm>
          <a:prstGeom prst="rect">
            <a:avLst/>
          </a:prstGeom>
          <a:ln w="0">
            <a:noFill/>
          </a:ln>
        </p:spPr>
      </p:sp>
      <p:sp>
        <p:nvSpPr>
          <p:cNvPr id="595" name="PlaceHolder 2"/>
          <p:cNvSpPr>
            <a:spLocks noGrp="1"/>
          </p:cNvSpPr>
          <p:nvPr>
            <p:ph type="body"/>
          </p:nvPr>
        </p:nvSpPr>
        <p:spPr>
          <a:xfrm>
            <a:off x="685800" y="4343400"/>
            <a:ext cx="5486040" cy="411444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Agenda (30s). Four parts. Suggested split: Ankita opens and takes part 1, Santhoshkumar takes architecture, Vandana drives the live walkthrough, Shubham closes with engineering quality, limitations and value. Point at the black strip: we deliberately separate measured facts from projections.</a:t>
            </a:r>
            <a:endParaRPr lang="en-US" sz="2000" b="0" u="none" strike="noStrike">
              <a:solidFill>
                <a:srgbClr val="000000"/>
              </a:solidFill>
              <a:effectLst/>
              <a:uFillTx/>
              <a:latin typeface="Arial"/>
            </a:endParaRPr>
          </a:p>
        </p:txBody>
      </p:sp>
      <p:sp>
        <p:nvSpPr>
          <p:cNvPr id="596" name="PlaceHolder 3"/>
          <p:cNvSpPr>
            <a:spLocks noGrp="1"/>
          </p:cNvSpPr>
          <p:nvPr>
            <p:ph type="sldNum" idx="38"/>
          </p:nvPr>
        </p:nvSpPr>
        <p:spPr>
          <a:xfrm>
            <a:off x="3884760" y="8685360"/>
            <a:ext cx="2971440" cy="45684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533E38CD-D0AF-4E28-9A07-B6F2F08EFD3F}"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4.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97" name="PlaceHolder 1"/>
          <p:cNvSpPr>
            <a:spLocks noGrp="1"/>
          </p:cNvSpPr>
          <p:nvPr>
            <p:ph type="sldImg"/>
          </p:nvPr>
        </p:nvSpPr>
        <p:spPr>
          <a:xfrm>
            <a:off x="1143000" y="685800"/>
            <a:ext cx="4571640" cy="3428640"/>
          </a:xfrm>
          <a:prstGeom prst="rect">
            <a:avLst/>
          </a:prstGeom>
          <a:ln w="0">
            <a:noFill/>
          </a:ln>
        </p:spPr>
      </p:sp>
      <p:sp>
        <p:nvSpPr>
          <p:cNvPr id="598" name="PlaceHolder 2"/>
          <p:cNvSpPr>
            <a:spLocks noGrp="1"/>
          </p:cNvSpPr>
          <p:nvPr>
            <p:ph type="body"/>
          </p:nvPr>
        </p:nvSpPr>
        <p:spPr>
          <a:xfrm>
            <a:off x="685800" y="4343400"/>
            <a:ext cx="5486040" cy="411444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Problem (60s). Lead with the applicant's experience, not the bank's. Five costs of manual review. Then the pivot: the policy itself is arithmetic — the delay comes from a human doing arithmetic and then not writing down why. Our system automates the arithmetic and keeps a record. Hand over to architecture.</a:t>
            </a:r>
            <a:endParaRPr lang="en-US" sz="2000" b="0" u="none" strike="noStrike">
              <a:solidFill>
                <a:srgbClr val="000000"/>
              </a:solidFill>
              <a:effectLst/>
              <a:uFillTx/>
              <a:latin typeface="Arial"/>
            </a:endParaRPr>
          </a:p>
        </p:txBody>
      </p:sp>
      <p:sp>
        <p:nvSpPr>
          <p:cNvPr id="599" name="PlaceHolder 3"/>
          <p:cNvSpPr>
            <a:spLocks noGrp="1"/>
          </p:cNvSpPr>
          <p:nvPr>
            <p:ph type="sldNum" idx="39"/>
          </p:nvPr>
        </p:nvSpPr>
        <p:spPr>
          <a:xfrm>
            <a:off x="3884760" y="8685360"/>
            <a:ext cx="2971440" cy="45684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77E6930F-75F2-4F02-B885-857AAD122F6C}"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5.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00" name="PlaceHolder 1"/>
          <p:cNvSpPr>
            <a:spLocks noGrp="1"/>
          </p:cNvSpPr>
          <p:nvPr>
            <p:ph type="sldImg"/>
          </p:nvPr>
        </p:nvSpPr>
        <p:spPr>
          <a:xfrm>
            <a:off x="1143000" y="685800"/>
            <a:ext cx="4571640" cy="3428640"/>
          </a:xfrm>
          <a:prstGeom prst="rect">
            <a:avLst/>
          </a:prstGeom>
          <a:ln w="0">
            <a:noFill/>
          </a:ln>
        </p:spPr>
      </p:sp>
      <p:sp>
        <p:nvSpPr>
          <p:cNvPr id="601" name="PlaceHolder 2"/>
          <p:cNvSpPr>
            <a:spLocks noGrp="1"/>
          </p:cNvSpPr>
          <p:nvPr>
            <p:ph type="body"/>
          </p:nvPr>
        </p:nvSpPr>
        <p:spPr>
          <a:xfrm>
            <a:off x="685800" y="4343400"/>
            <a:ext cx="5486040" cy="411444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Solution (60s). Read the three columns as three audiences: applicant, engine, assistant. The closing line is the one to land — the LLM is a phrasing layer, not the decision maker. That is why the demo cannot break on stage.</a:t>
            </a:r>
            <a:endParaRPr lang="en-US" sz="2000" b="0" u="none" strike="noStrike">
              <a:solidFill>
                <a:srgbClr val="000000"/>
              </a:solidFill>
              <a:effectLst/>
              <a:uFillTx/>
              <a:latin typeface="Arial"/>
            </a:endParaRPr>
          </a:p>
        </p:txBody>
      </p:sp>
      <p:sp>
        <p:nvSpPr>
          <p:cNvPr id="602" name="PlaceHolder 3"/>
          <p:cNvSpPr>
            <a:spLocks noGrp="1"/>
          </p:cNvSpPr>
          <p:nvPr>
            <p:ph type="sldNum" idx="40"/>
          </p:nvPr>
        </p:nvSpPr>
        <p:spPr>
          <a:xfrm>
            <a:off x="3884760" y="8685360"/>
            <a:ext cx="2971440" cy="45684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F53DED5E-2CC3-47FB-B664-112571FEE8CA}"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6.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03" name="PlaceHolder 1"/>
          <p:cNvSpPr>
            <a:spLocks noGrp="1"/>
          </p:cNvSpPr>
          <p:nvPr>
            <p:ph type="sldImg"/>
          </p:nvPr>
        </p:nvSpPr>
        <p:spPr>
          <a:xfrm>
            <a:off x="1143000" y="685800"/>
            <a:ext cx="4571640" cy="3428640"/>
          </a:xfrm>
          <a:prstGeom prst="rect">
            <a:avLst/>
          </a:prstGeom>
          <a:ln w="0">
            <a:noFill/>
          </a:ln>
        </p:spPr>
      </p:sp>
      <p:sp>
        <p:nvSpPr>
          <p:cNvPr id="604" name="PlaceHolder 2"/>
          <p:cNvSpPr>
            <a:spLocks noGrp="1"/>
          </p:cNvSpPr>
          <p:nvPr>
            <p:ph type="body"/>
          </p:nvPr>
        </p:nvSpPr>
        <p:spPr>
          <a:xfrm>
            <a:off x="685800" y="4343400"/>
            <a:ext cx="5486040" cy="411444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Feature inventory (45s). Do not read all twelve. Say: 'twelve capabilities, grouped as capture, decide, explain, distribute, converse and observe' and point at one tile per group. Tell the audience the walkthrough in part 3 shows each of these on screen.</a:t>
            </a:r>
            <a:endParaRPr lang="en-US" sz="2000" b="0" u="none" strike="noStrike">
              <a:solidFill>
                <a:srgbClr val="000000"/>
              </a:solidFill>
              <a:effectLst/>
              <a:uFillTx/>
              <a:latin typeface="Arial"/>
            </a:endParaRPr>
          </a:p>
        </p:txBody>
      </p:sp>
      <p:sp>
        <p:nvSpPr>
          <p:cNvPr id="605" name="PlaceHolder 3"/>
          <p:cNvSpPr>
            <a:spLocks noGrp="1"/>
          </p:cNvSpPr>
          <p:nvPr>
            <p:ph type="sldNum" idx="41"/>
          </p:nvPr>
        </p:nvSpPr>
        <p:spPr>
          <a:xfrm>
            <a:off x="3884760" y="8685360"/>
            <a:ext cx="2971440" cy="45684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27BA281C-DCED-42AC-A8EA-9EB979E0A984}"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8.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06" name="PlaceHolder 1"/>
          <p:cNvSpPr>
            <a:spLocks noGrp="1"/>
          </p:cNvSpPr>
          <p:nvPr>
            <p:ph type="sldImg"/>
          </p:nvPr>
        </p:nvSpPr>
        <p:spPr>
          <a:xfrm>
            <a:off x="1143000" y="685800"/>
            <a:ext cx="4571640" cy="3428640"/>
          </a:xfrm>
          <a:prstGeom prst="rect">
            <a:avLst/>
          </a:prstGeom>
          <a:ln w="0">
            <a:noFill/>
          </a:ln>
        </p:spPr>
      </p:sp>
      <p:sp>
        <p:nvSpPr>
          <p:cNvPr id="607" name="PlaceHolder 2"/>
          <p:cNvSpPr>
            <a:spLocks noGrp="1"/>
          </p:cNvSpPr>
          <p:nvPr>
            <p:ph type="body"/>
          </p:nvPr>
        </p:nvSpPr>
        <p:spPr>
          <a:xfrm>
            <a:off x="685800" y="4343400"/>
            <a:ext cx="5486040" cy="411444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Architecture (90s). Trace one request left to right along the top row, then say the bottom row is 'everything that hangs off that path'. Emphasise the HTTP boundary: it is why we can demo the same decision from the browser and from curl, and why the tests do not need a browser.</a:t>
            </a:r>
            <a:endParaRPr lang="en-US" sz="2000" b="0" u="none" strike="noStrike">
              <a:solidFill>
                <a:srgbClr val="000000"/>
              </a:solidFill>
              <a:effectLst/>
              <a:uFillTx/>
              <a:latin typeface="Arial"/>
            </a:endParaRPr>
          </a:p>
        </p:txBody>
      </p:sp>
      <p:sp>
        <p:nvSpPr>
          <p:cNvPr id="608" name="PlaceHolder 3"/>
          <p:cNvSpPr>
            <a:spLocks noGrp="1"/>
          </p:cNvSpPr>
          <p:nvPr>
            <p:ph type="sldNum" idx="42"/>
          </p:nvPr>
        </p:nvSpPr>
        <p:spPr>
          <a:xfrm>
            <a:off x="3884760" y="8685360"/>
            <a:ext cx="2971440" cy="45684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60778430-F867-4F06-B90F-9EBC1A990691}"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9.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09" name="PlaceHolder 1"/>
          <p:cNvSpPr>
            <a:spLocks noGrp="1"/>
          </p:cNvSpPr>
          <p:nvPr>
            <p:ph type="sldImg"/>
          </p:nvPr>
        </p:nvSpPr>
        <p:spPr>
          <a:xfrm>
            <a:off x="1143000" y="685800"/>
            <a:ext cx="4571640" cy="3428640"/>
          </a:xfrm>
          <a:prstGeom prst="rect">
            <a:avLst/>
          </a:prstGeom>
          <a:ln w="0">
            <a:noFill/>
          </a:ln>
        </p:spPr>
      </p:sp>
      <p:sp>
        <p:nvSpPr>
          <p:cNvPr id="610" name="PlaceHolder 2"/>
          <p:cNvSpPr>
            <a:spLocks noGrp="1"/>
          </p:cNvSpPr>
          <p:nvPr>
            <p:ph type="body"/>
          </p:nvPr>
        </p:nvSpPr>
        <p:spPr>
          <a:xfrm>
            <a:off x="685800" y="4343400"/>
            <a:ext cx="5486040" cy="411444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Agents (60s). The point is separation of concerns, not the number four. If asked 'are these real agents or just classes?' — answer honestly: they are cooperating components with narrow contracts; only the chat path is model-backed, and even that is optional. The one-way import rule is a good detail to show engineering discipline.</a:t>
            </a:r>
            <a:endParaRPr lang="en-US" sz="2000" b="0" u="none" strike="noStrike">
              <a:solidFill>
                <a:srgbClr val="000000"/>
              </a:solidFill>
              <a:effectLst/>
              <a:uFillTx/>
              <a:latin typeface="Arial"/>
            </a:endParaRPr>
          </a:p>
        </p:txBody>
      </p:sp>
      <p:sp>
        <p:nvSpPr>
          <p:cNvPr id="611" name="PlaceHolder 3"/>
          <p:cNvSpPr>
            <a:spLocks noGrp="1"/>
          </p:cNvSpPr>
          <p:nvPr>
            <p:ph type="sldNum" idx="43"/>
          </p:nvPr>
        </p:nvSpPr>
        <p:spPr>
          <a:xfrm>
            <a:off x="3884760" y="8685360"/>
            <a:ext cx="2971440" cy="45684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3C809FA8-EB91-4C4F-8F13-3AEC5D24B52D}"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10.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12" name="PlaceHolder 1"/>
          <p:cNvSpPr>
            <a:spLocks noGrp="1"/>
          </p:cNvSpPr>
          <p:nvPr>
            <p:ph type="sldImg"/>
          </p:nvPr>
        </p:nvSpPr>
        <p:spPr>
          <a:xfrm>
            <a:off x="1143000" y="685800"/>
            <a:ext cx="4571640" cy="3428640"/>
          </a:xfrm>
          <a:prstGeom prst="rect">
            <a:avLst/>
          </a:prstGeom>
          <a:ln w="0">
            <a:noFill/>
          </a:ln>
        </p:spPr>
      </p:sp>
      <p:sp>
        <p:nvSpPr>
          <p:cNvPr id="613" name="PlaceHolder 2"/>
          <p:cNvSpPr>
            <a:spLocks noGrp="1"/>
          </p:cNvSpPr>
          <p:nvPr>
            <p:ph type="body"/>
          </p:nvPr>
        </p:nvSpPr>
        <p:spPr>
          <a:xfrm>
            <a:off x="685800" y="4343400"/>
            <a:ext cx="5486040" cy="411444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Rules (75s). This is the slide to be precise on. Call out the strict '&gt;' on 700 — a score of exactly 700 fails the rule, and the borderline band is what catches it as manual review rather than a flat refusal. Read the worked example aloud; the same numbers appear on the next screenshots, so the audience can verify the arithmetic themselves.</a:t>
            </a:r>
            <a:endParaRPr lang="en-US" sz="2000" b="0" u="none" strike="noStrike">
              <a:solidFill>
                <a:srgbClr val="000000"/>
              </a:solidFill>
              <a:effectLst/>
              <a:uFillTx/>
              <a:latin typeface="Arial"/>
            </a:endParaRPr>
          </a:p>
        </p:txBody>
      </p:sp>
      <p:sp>
        <p:nvSpPr>
          <p:cNvPr id="614" name="PlaceHolder 3"/>
          <p:cNvSpPr>
            <a:spLocks noGrp="1"/>
          </p:cNvSpPr>
          <p:nvPr>
            <p:ph type="sldNum" idx="44"/>
          </p:nvPr>
        </p:nvSpPr>
        <p:spPr>
          <a:xfrm>
            <a:off x="3884760" y="8685360"/>
            <a:ext cx="2971440" cy="45684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5E7145A7-D4E1-4F20-ACFD-D7652EF478D5}"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1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15" name="PlaceHolder 1"/>
          <p:cNvSpPr>
            <a:spLocks noGrp="1"/>
          </p:cNvSpPr>
          <p:nvPr>
            <p:ph type="sldImg"/>
          </p:nvPr>
        </p:nvSpPr>
        <p:spPr>
          <a:xfrm>
            <a:off x="1143000" y="685800"/>
            <a:ext cx="4571640" cy="3428640"/>
          </a:xfrm>
          <a:prstGeom prst="rect">
            <a:avLst/>
          </a:prstGeom>
          <a:ln w="0">
            <a:noFill/>
          </a:ln>
        </p:spPr>
      </p:sp>
      <p:sp>
        <p:nvSpPr>
          <p:cNvPr id="616" name="PlaceHolder 2"/>
          <p:cNvSpPr>
            <a:spLocks noGrp="1"/>
          </p:cNvSpPr>
          <p:nvPr>
            <p:ph type="body"/>
          </p:nvPr>
        </p:nvSpPr>
        <p:spPr>
          <a:xfrm>
            <a:off x="685800" y="4343400"/>
            <a:ext cx="5486040" cy="411444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Assistant design (75s). The order of the four layers is the whole argument: safety before retrieval, exact numbers before language. The three cards below are the guarantees we can defend under questioning — especially 'opt-in by flag, not by key', which is a real cost-control decision, and the audit log storing message length rather than text.</a:t>
            </a:r>
            <a:endParaRPr lang="en-US" sz="2000" b="0" u="none" strike="noStrike">
              <a:solidFill>
                <a:srgbClr val="000000"/>
              </a:solidFill>
              <a:effectLst/>
              <a:uFillTx/>
              <a:latin typeface="Arial"/>
            </a:endParaRPr>
          </a:p>
        </p:txBody>
      </p:sp>
      <p:sp>
        <p:nvSpPr>
          <p:cNvPr id="617" name="PlaceHolder 3"/>
          <p:cNvSpPr>
            <a:spLocks noGrp="1"/>
          </p:cNvSpPr>
          <p:nvPr>
            <p:ph type="sldNum" idx="45"/>
          </p:nvPr>
        </p:nvSpPr>
        <p:spPr>
          <a:xfrm>
            <a:off x="3884760" y="8685360"/>
            <a:ext cx="2971440" cy="45684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87ADA24E-A9C7-42F6-8A4D-8C4C882D657B}"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1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18" name="PlaceHolder 1"/>
          <p:cNvSpPr>
            <a:spLocks noGrp="1"/>
          </p:cNvSpPr>
          <p:nvPr>
            <p:ph type="sldImg"/>
          </p:nvPr>
        </p:nvSpPr>
        <p:spPr>
          <a:xfrm>
            <a:off x="1143000" y="685800"/>
            <a:ext cx="4571640" cy="3428640"/>
          </a:xfrm>
          <a:prstGeom prst="rect">
            <a:avLst/>
          </a:prstGeom>
          <a:ln w="0">
            <a:noFill/>
          </a:ln>
        </p:spPr>
      </p:sp>
      <p:sp>
        <p:nvSpPr>
          <p:cNvPr id="619" name="PlaceHolder 2"/>
          <p:cNvSpPr>
            <a:spLocks noGrp="1"/>
          </p:cNvSpPr>
          <p:nvPr>
            <p:ph type="body"/>
          </p:nvPr>
        </p:nvSpPr>
        <p:spPr>
          <a:xfrm>
            <a:off x="685800" y="4343400"/>
            <a:ext cx="5486040" cy="411444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Codebase (45s). Do not read the tree. Say: 'agents hold the logic, service is the HTTP boundary, schemas is the contract, ui is one client, tests cover all of it.' Then move to the API surface on the right — three endpoints, and the request id that ties a decision to its audit line. That id is what we will point at in the observability slide.</a:t>
            </a:r>
            <a:endParaRPr lang="en-US" sz="2000" b="0" u="none" strike="noStrike">
              <a:solidFill>
                <a:srgbClr val="000000"/>
              </a:solidFill>
              <a:effectLst/>
              <a:uFillTx/>
              <a:latin typeface="Arial"/>
            </a:endParaRPr>
          </a:p>
        </p:txBody>
      </p:sp>
      <p:sp>
        <p:nvSpPr>
          <p:cNvPr id="620" name="PlaceHolder 3"/>
          <p:cNvSpPr>
            <a:spLocks noGrp="1"/>
          </p:cNvSpPr>
          <p:nvPr>
            <p:ph type="sldNum" idx="46"/>
          </p:nvPr>
        </p:nvSpPr>
        <p:spPr>
          <a:xfrm>
            <a:off x="3884760" y="8685360"/>
            <a:ext cx="2971440" cy="45684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4DD314E7-DA66-4C10-B72F-9A082213E17F}"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14.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21" name="PlaceHolder 1"/>
          <p:cNvSpPr>
            <a:spLocks noGrp="1"/>
          </p:cNvSpPr>
          <p:nvPr>
            <p:ph type="sldImg"/>
          </p:nvPr>
        </p:nvSpPr>
        <p:spPr>
          <a:xfrm>
            <a:off x="1143000" y="685800"/>
            <a:ext cx="4571640" cy="3428640"/>
          </a:xfrm>
          <a:prstGeom prst="rect">
            <a:avLst/>
          </a:prstGeom>
          <a:ln w="0">
            <a:noFill/>
          </a:ln>
        </p:spPr>
      </p:sp>
      <p:sp>
        <p:nvSpPr>
          <p:cNvPr id="622" name="PlaceHolder 2"/>
          <p:cNvSpPr>
            <a:spLocks noGrp="1"/>
          </p:cNvSpPr>
          <p:nvPr>
            <p:ph type="body"/>
          </p:nvPr>
        </p:nvSpPr>
        <p:spPr>
          <a:xfrm>
            <a:off x="685800" y="4343400"/>
            <a:ext cx="5486040" cy="411444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Walkthrough 1 (45s). Show the real app here rather than the slide if the projector allows. Point out that the eligibility criteria are published in the sidebar before submission — the applicant is never guessing what is being tested. Mention the assistant panel below the guide; we come back to it.</a:t>
            </a:r>
            <a:endParaRPr lang="en-US" sz="2000" b="0" u="none" strike="noStrike">
              <a:solidFill>
                <a:srgbClr val="000000"/>
              </a:solidFill>
              <a:effectLst/>
              <a:uFillTx/>
              <a:latin typeface="Arial"/>
            </a:endParaRPr>
          </a:p>
        </p:txBody>
      </p:sp>
      <p:sp>
        <p:nvSpPr>
          <p:cNvPr id="623" name="PlaceHolder 3"/>
          <p:cNvSpPr>
            <a:spLocks noGrp="1"/>
          </p:cNvSpPr>
          <p:nvPr>
            <p:ph type="sldNum" idx="47"/>
          </p:nvPr>
        </p:nvSpPr>
        <p:spPr>
          <a:xfrm>
            <a:off x="3884760" y="8685360"/>
            <a:ext cx="2971440" cy="45684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6BA771AA-0E9F-4701-8303-36C8D9D8A45E}"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15.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24" name="PlaceHolder 1"/>
          <p:cNvSpPr>
            <a:spLocks noGrp="1"/>
          </p:cNvSpPr>
          <p:nvPr>
            <p:ph type="sldImg"/>
          </p:nvPr>
        </p:nvSpPr>
        <p:spPr>
          <a:xfrm>
            <a:off x="1143000" y="685800"/>
            <a:ext cx="4571640" cy="3428640"/>
          </a:xfrm>
          <a:prstGeom prst="rect">
            <a:avLst/>
          </a:prstGeom>
          <a:ln w="0">
            <a:noFill/>
          </a:ln>
        </p:spPr>
      </p:sp>
      <p:sp>
        <p:nvSpPr>
          <p:cNvPr id="625" name="PlaceHolder 2"/>
          <p:cNvSpPr>
            <a:spLocks noGrp="1"/>
          </p:cNvSpPr>
          <p:nvPr>
            <p:ph type="body"/>
          </p:nvPr>
        </p:nvSpPr>
        <p:spPr>
          <a:xfrm>
            <a:off x="685800" y="4343400"/>
            <a:ext cx="5486040" cy="411444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Walkthrough 2 (40s). Deliberately click Evaluate on an empty form during the live demo — it shows the guard rails and takes five seconds. The message to land: validation is duplicated on purpose, because the API has clients other than this UI.</a:t>
            </a:r>
            <a:endParaRPr lang="en-US" sz="2000" b="0" u="none" strike="noStrike">
              <a:solidFill>
                <a:srgbClr val="000000"/>
              </a:solidFill>
              <a:effectLst/>
              <a:uFillTx/>
              <a:latin typeface="Arial"/>
            </a:endParaRPr>
          </a:p>
        </p:txBody>
      </p:sp>
      <p:sp>
        <p:nvSpPr>
          <p:cNvPr id="626" name="PlaceHolder 3"/>
          <p:cNvSpPr>
            <a:spLocks noGrp="1"/>
          </p:cNvSpPr>
          <p:nvPr>
            <p:ph type="sldNum" idx="48"/>
          </p:nvPr>
        </p:nvSpPr>
        <p:spPr>
          <a:xfrm>
            <a:off x="3884760" y="8685360"/>
            <a:ext cx="2971440" cy="45684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60F9ED24-B8CD-4058-86CD-CD25B9DB8994}"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16.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27" name="PlaceHolder 1"/>
          <p:cNvSpPr>
            <a:spLocks noGrp="1"/>
          </p:cNvSpPr>
          <p:nvPr>
            <p:ph type="sldImg"/>
          </p:nvPr>
        </p:nvSpPr>
        <p:spPr>
          <a:xfrm>
            <a:off x="1143000" y="685800"/>
            <a:ext cx="4571640" cy="3428640"/>
          </a:xfrm>
          <a:prstGeom prst="rect">
            <a:avLst/>
          </a:prstGeom>
          <a:ln w="0">
            <a:noFill/>
          </a:ln>
        </p:spPr>
      </p:sp>
      <p:sp>
        <p:nvSpPr>
          <p:cNvPr id="628" name="PlaceHolder 2"/>
          <p:cNvSpPr>
            <a:spLocks noGrp="1"/>
          </p:cNvSpPr>
          <p:nvPr>
            <p:ph type="body"/>
          </p:nvPr>
        </p:nvSpPr>
        <p:spPr>
          <a:xfrm>
            <a:off x="685800" y="4343400"/>
            <a:ext cx="5486040" cy="411444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Walkthrough 3 (60s). This is the money slide. Do the arithmetic out loud: 8,000 existing plus 25,000 new is 33,000 against 95,000 income, which is 34.7% — under 40, so it passes. The audience should be able to check every number we display. Note the PDF is already generated, not queued.</a:t>
            </a:r>
            <a:endParaRPr lang="en-US" sz="2000" b="0" u="none" strike="noStrike">
              <a:solidFill>
                <a:srgbClr val="000000"/>
              </a:solidFill>
              <a:effectLst/>
              <a:uFillTx/>
              <a:latin typeface="Arial"/>
            </a:endParaRPr>
          </a:p>
        </p:txBody>
      </p:sp>
      <p:sp>
        <p:nvSpPr>
          <p:cNvPr id="629" name="PlaceHolder 3"/>
          <p:cNvSpPr>
            <a:spLocks noGrp="1"/>
          </p:cNvSpPr>
          <p:nvPr>
            <p:ph type="sldNum" idx="49"/>
          </p:nvPr>
        </p:nvSpPr>
        <p:spPr>
          <a:xfrm>
            <a:off x="3884760" y="8685360"/>
            <a:ext cx="2971440" cy="45684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A04D71F6-4EE1-445E-A02E-30865C31FF21}"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17.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30" name="PlaceHolder 1"/>
          <p:cNvSpPr>
            <a:spLocks noGrp="1"/>
          </p:cNvSpPr>
          <p:nvPr>
            <p:ph type="sldImg"/>
          </p:nvPr>
        </p:nvSpPr>
        <p:spPr>
          <a:xfrm>
            <a:off x="1143000" y="685800"/>
            <a:ext cx="4571640" cy="3428640"/>
          </a:xfrm>
          <a:prstGeom prst="rect">
            <a:avLst/>
          </a:prstGeom>
          <a:ln w="0">
            <a:noFill/>
          </a:ln>
        </p:spPr>
      </p:sp>
      <p:sp>
        <p:nvSpPr>
          <p:cNvPr id="631" name="PlaceHolder 2"/>
          <p:cNvSpPr>
            <a:spLocks noGrp="1"/>
          </p:cNvSpPr>
          <p:nvPr>
            <p:ph type="body"/>
          </p:nvPr>
        </p:nvSpPr>
        <p:spPr>
          <a:xfrm>
            <a:off x="685800" y="4343400"/>
            <a:ext cx="5486040" cy="411444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Walkthrough 4 (45s). Explainability is the differentiator against a black-box score. Say: 'the same wording is reused in three places — screen, PDF and chatbot — because they all read from one function.' That is why the assistant can never contradict the page.</a:t>
            </a:r>
            <a:endParaRPr lang="en-US" sz="2000" b="0" u="none" strike="noStrike">
              <a:solidFill>
                <a:srgbClr val="000000"/>
              </a:solidFill>
              <a:effectLst/>
              <a:uFillTx/>
              <a:latin typeface="Arial"/>
            </a:endParaRPr>
          </a:p>
        </p:txBody>
      </p:sp>
      <p:sp>
        <p:nvSpPr>
          <p:cNvPr id="632" name="PlaceHolder 3"/>
          <p:cNvSpPr>
            <a:spLocks noGrp="1"/>
          </p:cNvSpPr>
          <p:nvPr>
            <p:ph type="sldNum" idx="50"/>
          </p:nvPr>
        </p:nvSpPr>
        <p:spPr>
          <a:xfrm>
            <a:off x="3884760" y="8685360"/>
            <a:ext cx="2971440" cy="45684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1C608BEB-F3C3-4892-9C9D-8905519D06AD}"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18.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33" name="PlaceHolder 1"/>
          <p:cNvSpPr>
            <a:spLocks noGrp="1"/>
          </p:cNvSpPr>
          <p:nvPr>
            <p:ph type="sldImg"/>
          </p:nvPr>
        </p:nvSpPr>
        <p:spPr>
          <a:xfrm>
            <a:off x="1143000" y="685800"/>
            <a:ext cx="4571640" cy="3428640"/>
          </a:xfrm>
          <a:prstGeom prst="rect">
            <a:avLst/>
          </a:prstGeom>
          <a:ln w="0">
            <a:noFill/>
          </a:ln>
        </p:spPr>
      </p:sp>
      <p:sp>
        <p:nvSpPr>
          <p:cNvPr id="634" name="PlaceHolder 2"/>
          <p:cNvSpPr>
            <a:spLocks noGrp="1"/>
          </p:cNvSpPr>
          <p:nvPr>
            <p:ph type="body"/>
          </p:nvPr>
        </p:nvSpPr>
        <p:spPr>
          <a:xfrm>
            <a:off x="685800" y="4343400"/>
            <a:ext cx="5486040" cy="411444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Walkthrough 5 (50s). This is the slide that answers 'is this just a hard cut-off?'. No: there is a deliberate tolerance band, and inside it the system defers to a human instead of refusing. Contrast 695 against the 700 rule — five points should not be an automatic rejection, and it isn't.</a:t>
            </a:r>
            <a:endParaRPr lang="en-US" sz="2000" b="0" u="none" strike="noStrike">
              <a:solidFill>
                <a:srgbClr val="000000"/>
              </a:solidFill>
              <a:effectLst/>
              <a:uFillTx/>
              <a:latin typeface="Arial"/>
            </a:endParaRPr>
          </a:p>
        </p:txBody>
      </p:sp>
      <p:sp>
        <p:nvSpPr>
          <p:cNvPr id="635" name="PlaceHolder 3"/>
          <p:cNvSpPr>
            <a:spLocks noGrp="1"/>
          </p:cNvSpPr>
          <p:nvPr>
            <p:ph type="sldNum" idx="51"/>
          </p:nvPr>
        </p:nvSpPr>
        <p:spPr>
          <a:xfrm>
            <a:off x="3884760" y="8685360"/>
            <a:ext cx="2971440" cy="45684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7D606ABC-208A-4E67-9C38-8F6492180C77}"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19.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36" name="PlaceHolder 1"/>
          <p:cNvSpPr>
            <a:spLocks noGrp="1"/>
          </p:cNvSpPr>
          <p:nvPr>
            <p:ph type="sldImg"/>
          </p:nvPr>
        </p:nvSpPr>
        <p:spPr>
          <a:xfrm>
            <a:off x="1143000" y="685800"/>
            <a:ext cx="4571640" cy="3428640"/>
          </a:xfrm>
          <a:prstGeom prst="rect">
            <a:avLst/>
          </a:prstGeom>
          <a:ln w="0">
            <a:noFill/>
          </a:ln>
        </p:spPr>
      </p:sp>
      <p:sp>
        <p:nvSpPr>
          <p:cNvPr id="637" name="PlaceHolder 2"/>
          <p:cNvSpPr>
            <a:spLocks noGrp="1"/>
          </p:cNvSpPr>
          <p:nvPr>
            <p:ph type="body"/>
          </p:nvPr>
        </p:nvSpPr>
        <p:spPr>
          <a:xfrm>
            <a:off x="685800" y="4343400"/>
            <a:ext cx="5486040" cy="411444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Walkthrough 6 (50s). Show that a 120% EMI ratio is an obvious refusal — the request is simply unaffordable at that income. Then pivot to the recommendations: the system never ends on 'no'. Recommendations are generated from the failed rules, so they are specific, not boilerplate.</a:t>
            </a:r>
            <a:endParaRPr lang="en-US" sz="2000" b="0" u="none" strike="noStrike">
              <a:solidFill>
                <a:srgbClr val="000000"/>
              </a:solidFill>
              <a:effectLst/>
              <a:uFillTx/>
              <a:latin typeface="Arial"/>
            </a:endParaRPr>
          </a:p>
        </p:txBody>
      </p:sp>
      <p:sp>
        <p:nvSpPr>
          <p:cNvPr id="638" name="PlaceHolder 3"/>
          <p:cNvSpPr>
            <a:spLocks noGrp="1"/>
          </p:cNvSpPr>
          <p:nvPr>
            <p:ph type="sldNum" idx="52"/>
          </p:nvPr>
        </p:nvSpPr>
        <p:spPr>
          <a:xfrm>
            <a:off x="3884760" y="8685360"/>
            <a:ext cx="2971440" cy="45684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E488AAE0-67FD-4046-A03C-5C9728DC2573}"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20.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39" name="PlaceHolder 1"/>
          <p:cNvSpPr>
            <a:spLocks noGrp="1"/>
          </p:cNvSpPr>
          <p:nvPr>
            <p:ph type="sldImg"/>
          </p:nvPr>
        </p:nvSpPr>
        <p:spPr>
          <a:xfrm>
            <a:off x="1143000" y="685800"/>
            <a:ext cx="4571640" cy="3428640"/>
          </a:xfrm>
          <a:prstGeom prst="rect">
            <a:avLst/>
          </a:prstGeom>
          <a:ln w="0">
            <a:noFill/>
          </a:ln>
        </p:spPr>
      </p:sp>
      <p:sp>
        <p:nvSpPr>
          <p:cNvPr id="640" name="PlaceHolder 2"/>
          <p:cNvSpPr>
            <a:spLocks noGrp="1"/>
          </p:cNvSpPr>
          <p:nvPr>
            <p:ph type="body"/>
          </p:nvPr>
        </p:nvSpPr>
        <p:spPr>
          <a:xfrm>
            <a:off x="685800" y="4343400"/>
            <a:ext cx="5486040" cy="411444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Walkthrough 7 (40s). Download the PDF live — it takes a second and proves it is real. The report is the artefact the applicant keeps and the officer receives, which is why the reasoning and the disclaimer both belong in it. Known cosmetic issue: the rupee glyph is missing from the built-in PDF font, so amounts show a placeholder box; the fix is to register a Unicode font in generate_pdf().</a:t>
            </a:r>
            <a:endParaRPr lang="en-US" sz="2000" b="0" u="none" strike="noStrike">
              <a:solidFill>
                <a:srgbClr val="000000"/>
              </a:solidFill>
              <a:effectLst/>
              <a:uFillTx/>
              <a:latin typeface="Arial"/>
            </a:endParaRPr>
          </a:p>
        </p:txBody>
      </p:sp>
      <p:sp>
        <p:nvSpPr>
          <p:cNvPr id="641" name="PlaceHolder 3"/>
          <p:cNvSpPr>
            <a:spLocks noGrp="1"/>
          </p:cNvSpPr>
          <p:nvPr>
            <p:ph type="sldNum" idx="53"/>
          </p:nvPr>
        </p:nvSpPr>
        <p:spPr>
          <a:xfrm>
            <a:off x="3884760" y="8685360"/>
            <a:ext cx="2971440" cy="45684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81E0FEB3-BC09-4394-9DAB-E38B76824965}"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2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42" name="PlaceHolder 1"/>
          <p:cNvSpPr>
            <a:spLocks noGrp="1"/>
          </p:cNvSpPr>
          <p:nvPr>
            <p:ph type="sldImg"/>
          </p:nvPr>
        </p:nvSpPr>
        <p:spPr>
          <a:xfrm>
            <a:off x="1143000" y="685800"/>
            <a:ext cx="4571640" cy="3428640"/>
          </a:xfrm>
          <a:prstGeom prst="rect">
            <a:avLst/>
          </a:prstGeom>
          <a:ln w="0">
            <a:noFill/>
          </a:ln>
        </p:spPr>
      </p:sp>
      <p:sp>
        <p:nvSpPr>
          <p:cNvPr id="643" name="PlaceHolder 2"/>
          <p:cNvSpPr>
            <a:spLocks noGrp="1"/>
          </p:cNvSpPr>
          <p:nvPr>
            <p:ph type="body"/>
          </p:nvPr>
        </p:nvSpPr>
        <p:spPr>
          <a:xfrm>
            <a:off x="685800" y="4343400"/>
            <a:ext cx="5486040" cy="411444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Walkthrough 8 (60s). Ask the questions live, in this order. The key claim: the numbers in the answers are read from the assessment, so they cannot drift from the page. Point at the source expanders — every answer is attributable. And note the mode badge: this whole conversation ran with no API key and no internet.</a:t>
            </a:r>
            <a:endParaRPr lang="en-US" sz="2000" b="0" u="none" strike="noStrike">
              <a:solidFill>
                <a:srgbClr val="000000"/>
              </a:solidFill>
              <a:effectLst/>
              <a:uFillTx/>
              <a:latin typeface="Arial"/>
            </a:endParaRPr>
          </a:p>
        </p:txBody>
      </p:sp>
      <p:sp>
        <p:nvSpPr>
          <p:cNvPr id="644" name="PlaceHolder 3"/>
          <p:cNvSpPr>
            <a:spLocks noGrp="1"/>
          </p:cNvSpPr>
          <p:nvPr>
            <p:ph type="sldNum" idx="54"/>
          </p:nvPr>
        </p:nvSpPr>
        <p:spPr>
          <a:xfrm>
            <a:off x="3884760" y="8685360"/>
            <a:ext cx="2971440" cy="45684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FE9B7E4C-6CE3-481A-95E3-228E2247AE76}"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2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45" name="PlaceHolder 1"/>
          <p:cNvSpPr>
            <a:spLocks noGrp="1"/>
          </p:cNvSpPr>
          <p:nvPr>
            <p:ph type="sldImg"/>
          </p:nvPr>
        </p:nvSpPr>
        <p:spPr>
          <a:xfrm>
            <a:off x="1143000" y="685800"/>
            <a:ext cx="4571640" cy="3428640"/>
          </a:xfrm>
          <a:prstGeom prst="rect">
            <a:avLst/>
          </a:prstGeom>
          <a:ln w="0">
            <a:noFill/>
          </a:ln>
        </p:spPr>
      </p:sp>
      <p:sp>
        <p:nvSpPr>
          <p:cNvPr id="646" name="PlaceHolder 2"/>
          <p:cNvSpPr>
            <a:spLocks noGrp="1"/>
          </p:cNvSpPr>
          <p:nvPr>
            <p:ph type="body"/>
          </p:nvPr>
        </p:nvSpPr>
        <p:spPr>
          <a:xfrm>
            <a:off x="685800" y="4343400"/>
            <a:ext cx="5486040" cy="411444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Walkthrough 9 (50s). Type a fake card number live — it is the most memorable moment in the demo. Two guarantees: the data goes nowhere, and the log keeps a length instead of the text. Then the weather question: refusing to answer is a feature. A chatbot that invents loan thresholds is a compliance problem.</a:t>
            </a:r>
            <a:endParaRPr lang="en-US" sz="2000" b="0" u="none" strike="noStrike">
              <a:solidFill>
                <a:srgbClr val="000000"/>
              </a:solidFill>
              <a:effectLst/>
              <a:uFillTx/>
              <a:latin typeface="Arial"/>
            </a:endParaRPr>
          </a:p>
        </p:txBody>
      </p:sp>
      <p:sp>
        <p:nvSpPr>
          <p:cNvPr id="647" name="PlaceHolder 3"/>
          <p:cNvSpPr>
            <a:spLocks noGrp="1"/>
          </p:cNvSpPr>
          <p:nvPr>
            <p:ph type="sldNum" idx="55"/>
          </p:nvPr>
        </p:nvSpPr>
        <p:spPr>
          <a:xfrm>
            <a:off x="3884760" y="8685360"/>
            <a:ext cx="2971440" cy="45684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1C06030C-2077-4FFC-AC99-4F2E0DCCA424}"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23.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48" name="PlaceHolder 1"/>
          <p:cNvSpPr>
            <a:spLocks noGrp="1"/>
          </p:cNvSpPr>
          <p:nvPr>
            <p:ph type="sldImg"/>
          </p:nvPr>
        </p:nvSpPr>
        <p:spPr>
          <a:xfrm>
            <a:off x="1143000" y="685800"/>
            <a:ext cx="4571640" cy="3428640"/>
          </a:xfrm>
          <a:prstGeom prst="rect">
            <a:avLst/>
          </a:prstGeom>
          <a:ln w="0">
            <a:noFill/>
          </a:ln>
        </p:spPr>
      </p:sp>
      <p:sp>
        <p:nvSpPr>
          <p:cNvPr id="649" name="PlaceHolder 2"/>
          <p:cNvSpPr>
            <a:spLocks noGrp="1"/>
          </p:cNvSpPr>
          <p:nvPr>
            <p:ph type="body"/>
          </p:nvPr>
        </p:nvSpPr>
        <p:spPr>
          <a:xfrm>
            <a:off x="685800" y="4343400"/>
            <a:ext cx="5486040" cy="411444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Walkthrough 10 (40s). This is the slide for a technical examiner. The UI is one client; the contract is the API. Offer to run the curl command from the next slide if they want to see it outside the browser.</a:t>
            </a:r>
            <a:endParaRPr lang="en-US" sz="2000" b="0" u="none" strike="noStrike">
              <a:solidFill>
                <a:srgbClr val="000000"/>
              </a:solidFill>
              <a:effectLst/>
              <a:uFillTx/>
              <a:latin typeface="Arial"/>
            </a:endParaRPr>
          </a:p>
        </p:txBody>
      </p:sp>
      <p:sp>
        <p:nvSpPr>
          <p:cNvPr id="650" name="PlaceHolder 3"/>
          <p:cNvSpPr>
            <a:spLocks noGrp="1"/>
          </p:cNvSpPr>
          <p:nvPr>
            <p:ph type="sldNum" idx="56"/>
          </p:nvPr>
        </p:nvSpPr>
        <p:spPr>
          <a:xfrm>
            <a:off x="3884760" y="8685360"/>
            <a:ext cx="2971440" cy="45684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C3890ED0-A080-482F-9D45-50C1F5762189}"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25.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51" name="PlaceHolder 1"/>
          <p:cNvSpPr>
            <a:spLocks noGrp="1"/>
          </p:cNvSpPr>
          <p:nvPr>
            <p:ph type="sldImg"/>
          </p:nvPr>
        </p:nvSpPr>
        <p:spPr>
          <a:xfrm>
            <a:off x="1143000" y="685800"/>
            <a:ext cx="4571640" cy="3428640"/>
          </a:xfrm>
          <a:prstGeom prst="rect">
            <a:avLst/>
          </a:prstGeom>
          <a:ln w="0">
            <a:noFill/>
          </a:ln>
        </p:spPr>
      </p:sp>
      <p:sp>
        <p:nvSpPr>
          <p:cNvPr id="652" name="PlaceHolder 2"/>
          <p:cNvSpPr>
            <a:spLocks noGrp="1"/>
          </p:cNvSpPr>
          <p:nvPr>
            <p:ph type="body"/>
          </p:nvPr>
        </p:nvSpPr>
        <p:spPr>
          <a:xfrm>
            <a:off x="685800" y="4343400"/>
            <a:ext cx="5486040" cy="411444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Observability (50s). Say plainly: an auditor's question is 'why did this applicant get this answer on this date?' — and the audit log plus the reasoning list answers it. Note what is deliberately absent from the chat audit lines: the question text. Close on the test count and offer to run pytest live; it finishes in about a second.</a:t>
            </a:r>
            <a:endParaRPr lang="en-US" sz="2000" b="0" u="none" strike="noStrike">
              <a:solidFill>
                <a:srgbClr val="000000"/>
              </a:solidFill>
              <a:effectLst/>
              <a:uFillTx/>
              <a:latin typeface="Arial"/>
            </a:endParaRPr>
          </a:p>
        </p:txBody>
      </p:sp>
      <p:sp>
        <p:nvSpPr>
          <p:cNvPr id="653" name="PlaceHolder 3"/>
          <p:cNvSpPr>
            <a:spLocks noGrp="1"/>
          </p:cNvSpPr>
          <p:nvPr>
            <p:ph type="sldNum" idx="57"/>
          </p:nvPr>
        </p:nvSpPr>
        <p:spPr>
          <a:xfrm>
            <a:off x="3884760" y="8685360"/>
            <a:ext cx="2971440" cy="45684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66A7FA13-9031-4719-93C2-E85D6DB0010A}"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26.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54" name="PlaceHolder 1"/>
          <p:cNvSpPr>
            <a:spLocks noGrp="1"/>
          </p:cNvSpPr>
          <p:nvPr>
            <p:ph type="sldImg"/>
          </p:nvPr>
        </p:nvSpPr>
        <p:spPr>
          <a:xfrm>
            <a:off x="1143000" y="685800"/>
            <a:ext cx="4571640" cy="3428640"/>
          </a:xfrm>
          <a:prstGeom prst="rect">
            <a:avLst/>
          </a:prstGeom>
          <a:ln w="0">
            <a:noFill/>
          </a:ln>
        </p:spPr>
      </p:sp>
      <p:sp>
        <p:nvSpPr>
          <p:cNvPr id="655" name="PlaceHolder 2"/>
          <p:cNvSpPr>
            <a:spLocks noGrp="1"/>
          </p:cNvSpPr>
          <p:nvPr>
            <p:ph type="body"/>
          </p:nvPr>
        </p:nvSpPr>
        <p:spPr>
          <a:xfrm>
            <a:off x="685800" y="4343400"/>
            <a:ext cx="5486040" cy="411444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Quality (50s). Read the six tiles as a set: fast, covered, repeatable. Then the third card is the one that earns credibility with an examiner — we are explicit that these are local numbers on one worker. If asked for production throughput, say we have not load-tested and it is the next step in the roadmap.</a:t>
            </a:r>
            <a:endParaRPr lang="en-US" sz="2000" b="0" u="none" strike="noStrike">
              <a:solidFill>
                <a:srgbClr val="000000"/>
              </a:solidFill>
              <a:effectLst/>
              <a:uFillTx/>
              <a:latin typeface="Arial"/>
            </a:endParaRPr>
          </a:p>
        </p:txBody>
      </p:sp>
      <p:sp>
        <p:nvSpPr>
          <p:cNvPr id="656" name="PlaceHolder 3"/>
          <p:cNvSpPr>
            <a:spLocks noGrp="1"/>
          </p:cNvSpPr>
          <p:nvPr>
            <p:ph type="sldNum" idx="58"/>
          </p:nvPr>
        </p:nvSpPr>
        <p:spPr>
          <a:xfrm>
            <a:off x="3884760" y="8685360"/>
            <a:ext cx="2971440" cy="45684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53A558B5-332C-4A2B-8B79-7D881E99D925}"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27.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57" name="PlaceHolder 1"/>
          <p:cNvSpPr>
            <a:spLocks noGrp="1"/>
          </p:cNvSpPr>
          <p:nvPr>
            <p:ph type="sldImg"/>
          </p:nvPr>
        </p:nvSpPr>
        <p:spPr>
          <a:xfrm>
            <a:off x="1143000" y="685800"/>
            <a:ext cx="4571640" cy="3428640"/>
          </a:xfrm>
          <a:prstGeom prst="rect">
            <a:avLst/>
          </a:prstGeom>
          <a:ln w="0">
            <a:noFill/>
          </a:ln>
        </p:spPr>
      </p:sp>
      <p:sp>
        <p:nvSpPr>
          <p:cNvPr id="658" name="PlaceHolder 2"/>
          <p:cNvSpPr>
            <a:spLocks noGrp="1"/>
          </p:cNvSpPr>
          <p:nvPr>
            <p:ph type="body"/>
          </p:nvPr>
        </p:nvSpPr>
        <p:spPr>
          <a:xfrm>
            <a:off x="685800" y="4343400"/>
            <a:ext cx="5486040" cy="411444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Governance (60s). Present both columns at the same pace — the limitations column is a strength, not an apology. If an examiner asks 'could a bank deploy this tomorrow?', the honest answer is on the right: the decision framework is sound, but EMI maths, a real policy corpus, persistence, auth and verification are prerequisites. Naming them shows we understand the domain.</a:t>
            </a:r>
            <a:endParaRPr lang="en-US" sz="2000" b="0" u="none" strike="noStrike">
              <a:solidFill>
                <a:srgbClr val="000000"/>
              </a:solidFill>
              <a:effectLst/>
              <a:uFillTx/>
              <a:latin typeface="Arial"/>
            </a:endParaRPr>
          </a:p>
        </p:txBody>
      </p:sp>
      <p:sp>
        <p:nvSpPr>
          <p:cNvPr id="659" name="PlaceHolder 3"/>
          <p:cNvSpPr>
            <a:spLocks noGrp="1"/>
          </p:cNvSpPr>
          <p:nvPr>
            <p:ph type="sldNum" idx="59"/>
          </p:nvPr>
        </p:nvSpPr>
        <p:spPr>
          <a:xfrm>
            <a:off x="3884760" y="8685360"/>
            <a:ext cx="2971440" cy="45684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A8BED48E-6A2C-448F-B159-C2A6A59DE692}"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28.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60" name="PlaceHolder 1"/>
          <p:cNvSpPr>
            <a:spLocks noGrp="1"/>
          </p:cNvSpPr>
          <p:nvPr>
            <p:ph type="sldImg"/>
          </p:nvPr>
        </p:nvSpPr>
        <p:spPr>
          <a:xfrm>
            <a:off x="1143000" y="685800"/>
            <a:ext cx="4571640" cy="3428640"/>
          </a:xfrm>
          <a:prstGeom prst="rect">
            <a:avLst/>
          </a:prstGeom>
          <a:ln w="0">
            <a:noFill/>
          </a:ln>
        </p:spPr>
      </p:sp>
      <p:sp>
        <p:nvSpPr>
          <p:cNvPr id="661" name="PlaceHolder 2"/>
          <p:cNvSpPr>
            <a:spLocks noGrp="1"/>
          </p:cNvSpPr>
          <p:nvPr>
            <p:ph type="body"/>
          </p:nvPr>
        </p:nvSpPr>
        <p:spPr>
          <a:xfrm>
            <a:off x="685800" y="4343400"/>
            <a:ext cx="5486040" cy="411444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Value (60s). Be disciplined here. Left column: things this deck actually shows. Right column: a transparent model with the assumptions on screen — 2,000 applications, 20 minutes, ₹400 an hour, 85% clear-cut. Invite challenge to the assumptions; that is the point of showing them. Explicitly say we make no accuracy or ROI claim, because we have not tested against real applications.</a:t>
            </a:r>
            <a:endParaRPr lang="en-US" sz="2000" b="0" u="none" strike="noStrike">
              <a:solidFill>
                <a:srgbClr val="000000"/>
              </a:solidFill>
              <a:effectLst/>
              <a:uFillTx/>
              <a:latin typeface="Arial"/>
            </a:endParaRPr>
          </a:p>
        </p:txBody>
      </p:sp>
      <p:sp>
        <p:nvSpPr>
          <p:cNvPr id="662" name="PlaceHolder 3"/>
          <p:cNvSpPr>
            <a:spLocks noGrp="1"/>
          </p:cNvSpPr>
          <p:nvPr>
            <p:ph type="sldNum" idx="60"/>
          </p:nvPr>
        </p:nvSpPr>
        <p:spPr>
          <a:xfrm>
            <a:off x="3884760" y="8685360"/>
            <a:ext cx="2971440" cy="45684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F2A1DE11-46EB-48B1-816C-F93910ADAEFB}"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29.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63" name="PlaceHolder 1"/>
          <p:cNvSpPr>
            <a:spLocks noGrp="1"/>
          </p:cNvSpPr>
          <p:nvPr>
            <p:ph type="sldImg"/>
          </p:nvPr>
        </p:nvSpPr>
        <p:spPr>
          <a:xfrm>
            <a:off x="1143000" y="685800"/>
            <a:ext cx="4571640" cy="3428640"/>
          </a:xfrm>
          <a:prstGeom prst="rect">
            <a:avLst/>
          </a:prstGeom>
          <a:ln w="0">
            <a:noFill/>
          </a:ln>
        </p:spPr>
      </p:sp>
      <p:sp>
        <p:nvSpPr>
          <p:cNvPr id="664" name="PlaceHolder 2"/>
          <p:cNvSpPr>
            <a:spLocks noGrp="1"/>
          </p:cNvSpPr>
          <p:nvPr>
            <p:ph type="body"/>
          </p:nvPr>
        </p:nvSpPr>
        <p:spPr>
          <a:xfrm>
            <a:off x="685800" y="4343400"/>
            <a:ext cx="5486040" cy="411444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Roadmap (40s). The ordering is the argument: correctness of the maths first, real policy knowledge second, operability third, external verification last. If asked 'why not add more agents or a fancier model?' — because neither fixes the loan / 12 placeholder.</a:t>
            </a:r>
            <a:endParaRPr lang="en-US" sz="2000" b="0" u="none" strike="noStrike">
              <a:solidFill>
                <a:srgbClr val="000000"/>
              </a:solidFill>
              <a:effectLst/>
              <a:uFillTx/>
              <a:latin typeface="Arial"/>
            </a:endParaRPr>
          </a:p>
        </p:txBody>
      </p:sp>
      <p:sp>
        <p:nvSpPr>
          <p:cNvPr id="665" name="PlaceHolder 3"/>
          <p:cNvSpPr>
            <a:spLocks noGrp="1"/>
          </p:cNvSpPr>
          <p:nvPr>
            <p:ph type="sldNum" idx="61"/>
          </p:nvPr>
        </p:nvSpPr>
        <p:spPr>
          <a:xfrm>
            <a:off x="3884760" y="8685360"/>
            <a:ext cx="2971440" cy="45684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7F628667-6C30-4B43-B350-02A0F9C06A00}"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30.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66" name="PlaceHolder 1"/>
          <p:cNvSpPr>
            <a:spLocks noGrp="1"/>
          </p:cNvSpPr>
          <p:nvPr>
            <p:ph type="sldImg"/>
          </p:nvPr>
        </p:nvSpPr>
        <p:spPr>
          <a:xfrm>
            <a:off x="1143000" y="685800"/>
            <a:ext cx="4571640" cy="3428640"/>
          </a:xfrm>
          <a:prstGeom prst="rect">
            <a:avLst/>
          </a:prstGeom>
          <a:ln w="0">
            <a:noFill/>
          </a:ln>
        </p:spPr>
      </p:sp>
      <p:sp>
        <p:nvSpPr>
          <p:cNvPr id="667" name="PlaceHolder 2"/>
          <p:cNvSpPr>
            <a:spLocks noGrp="1"/>
          </p:cNvSpPr>
          <p:nvPr>
            <p:ph type="body"/>
          </p:nvPr>
        </p:nvSpPr>
        <p:spPr>
          <a:xfrm>
            <a:off x="685800" y="4343400"/>
            <a:ext cx="5486040" cy="411444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Runbook. Keep this slide up while driving the app, or print it. Order matters: eligible first so the happy path lands, then borderline, then refusal, then the assistant on top of the last result. The two warnings are from real behaviour we hit while rehearsing: the Clear Form button does not reset Streamlit widget state, and LLM mode adds latency and a dependency you do not need on stage.</a:t>
            </a:r>
            <a:endParaRPr lang="en-US" sz="2000" b="0" u="none" strike="noStrike">
              <a:solidFill>
                <a:srgbClr val="000000"/>
              </a:solidFill>
              <a:effectLst/>
              <a:uFillTx/>
              <a:latin typeface="Arial"/>
            </a:endParaRPr>
          </a:p>
        </p:txBody>
      </p:sp>
      <p:sp>
        <p:nvSpPr>
          <p:cNvPr id="668" name="PlaceHolder 3"/>
          <p:cNvSpPr>
            <a:spLocks noGrp="1"/>
          </p:cNvSpPr>
          <p:nvPr>
            <p:ph type="sldNum" idx="62"/>
          </p:nvPr>
        </p:nvSpPr>
        <p:spPr>
          <a:xfrm>
            <a:off x="3884760" y="8685360"/>
            <a:ext cx="2971440" cy="45684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EE00DD37-101D-41B8-839F-00006AE39A22}"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3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69" name="PlaceHolder 1"/>
          <p:cNvSpPr>
            <a:spLocks noGrp="1"/>
          </p:cNvSpPr>
          <p:nvPr>
            <p:ph type="sldImg"/>
          </p:nvPr>
        </p:nvSpPr>
        <p:spPr>
          <a:xfrm>
            <a:off x="1143000" y="685800"/>
            <a:ext cx="4571640" cy="3428640"/>
          </a:xfrm>
          <a:prstGeom prst="rect">
            <a:avLst/>
          </a:prstGeom>
          <a:ln w="0">
            <a:noFill/>
          </a:ln>
        </p:spPr>
      </p:sp>
      <p:sp>
        <p:nvSpPr>
          <p:cNvPr id="670" name="PlaceHolder 2"/>
          <p:cNvSpPr>
            <a:spLocks noGrp="1"/>
          </p:cNvSpPr>
          <p:nvPr>
            <p:ph type="body"/>
          </p:nvPr>
        </p:nvSpPr>
        <p:spPr>
          <a:xfrm>
            <a:off x="685800" y="4343400"/>
            <a:ext cx="5486040" cy="411444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Close (30s). Restate the four summary cards as one sentence: deterministic, explained, safe, auditable. The presenter split under the names is a suggestion — adjust it to who actually speaks. Then open for questions; the likely ones are the EMI formula, whether this is 'really' agentic, and what happens when the LLM is enabled. Answers to all three are in parts 2 and 4.</a:t>
            </a:r>
            <a:endParaRPr lang="en-US" sz="2000" b="0" u="none" strike="noStrike">
              <a:solidFill>
                <a:srgbClr val="000000"/>
              </a:solidFill>
              <a:effectLst/>
              <a:uFillTx/>
              <a:latin typeface="Arial"/>
            </a:endParaRPr>
          </a:p>
        </p:txBody>
      </p:sp>
      <p:sp>
        <p:nvSpPr>
          <p:cNvPr id="671" name="PlaceHolder 3"/>
          <p:cNvSpPr>
            <a:spLocks noGrp="1"/>
          </p:cNvSpPr>
          <p:nvPr>
            <p:ph type="sldNum" idx="63"/>
          </p:nvPr>
        </p:nvSpPr>
        <p:spPr>
          <a:xfrm>
            <a:off x="3884760" y="8685360"/>
            <a:ext cx="2971440" cy="45684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96DA8146-9B22-4055-A240-3AF518CF4A28}"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slideLayouts/_rels/slideLayout1.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2.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3.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4.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5.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6.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7.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8.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9.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10.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11.xml.rels><?xml version="1.0" encoding="UTF-8"?>
<Relationships xmlns="http://schemas.openxmlformats.org/package/2006/relationships"><Relationship Id="rId1" Type="http://schemas.openxmlformats.org/officeDocument/2006/relationships/slideMaster" Target="../slideMasters/slideMaster1.xml"/>
</Relationships>
</file>

<file path=ppt/slideLayouts/slideLayout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 preserve="1">
  <p:cSld name="Title Slide">
    <p:bg>
      <p:bgPr>
        <a:solidFill>
          <a:srgbClr val="FFFFFF"/>
        </a:solidFill>
      </p:bgPr>
    </p:bg>
    <p:spTree>
      <p:nvGrpSpPr>
        <p:cNvPr id="1" name=""/>
        <p:cNvGrpSpPr/>
        <p:nvPr/>
      </p:nvGrpSpPr>
      <p:grpSpPr>
        <a:xfrm>
          <a:off x="0" y="0"/>
          <a:ext cx="0" cy="0"/>
          <a:chOff x="0" y="0"/>
          <a:chExt cx="0" cy="0"/>
        </a:xfrm>
      </p:grpSpPr>
      <p:sp>
        <p:nvSpPr>
          <p:cNvPr id="2" name="PlaceHolder 1"/>
          <p:cNvSpPr>
            <a:spLocks noGrp="1"/>
          </p:cNvSpPr>
          <p:nvPr>
            <p:ph type="title"/>
          </p:nvPr>
        </p:nvSpPr>
        <p:spPr>
          <a:xfrm>
            <a:off x="685800" y="2130480"/>
            <a:ext cx="7772040" cy="1469520"/>
          </a:xfrm>
          <a:prstGeom prst="rect">
            <a:avLst/>
          </a:prstGeom>
          <a:noFill/>
          <a:ln w="0">
            <a:noFill/>
          </a:ln>
        </p:spPr>
        <p:txBody>
          <a:bodyPr lIns="91440" tIns="45720" rIns="91440" bIns="45720" anchor="ctr">
            <a:noAutofit/>
          </a:bodyPr>
          <a:lstStyle>
            <a:lvl1pPr indent="0" algn="ctr" defTabSz="457200">
              <a:lnSpc>
                <a:spcPct val="100000"/>
              </a:lnSpc>
              <a:buNone/>
              <a:defRPr lang="en-US" sz="4400" b="0" u="none" strike="noStrike">
                <a:solidFill>
                  <a:schemeClr val="dk1"/>
                </a:solidFill>
                <a:effectLst/>
                <a:uFillTx/>
                <a:latin typeface="Calibri"/>
              </a:defRPr>
            </a:lvl1pPr>
          </a:lstStyle>
          <a:p>
            <a:pPr indent="0" algn="ctr" defTabSz="457200">
              <a:lnSpc>
                <a:spcPct val="100000"/>
              </a:lnSpc>
              <a:buNone/>
            </a:pPr>
            <a:r>
              <a:rPr lang="en-US" sz="4400" b="0" u="none" strike="noStrike">
                <a:solidFill>
                  <a:schemeClr val="dk1"/>
                </a:solidFill>
                <a:effectLst/>
                <a:uFillTx/>
                <a:latin typeface="Calibri"/>
              </a:rPr>
              <a:t>Click to edit Master title style</a:t>
            </a:r>
            <a:endParaRPr lang="en-US" sz="4400" b="0" u="none" strike="noStrike">
              <a:solidFill>
                <a:schemeClr val="dk1"/>
              </a:solidFill>
              <a:effectLst/>
              <a:uFillTx/>
              <a:latin typeface="Calibri"/>
            </a:endParaRPr>
          </a:p>
        </p:txBody>
      </p:sp>
      <p:sp>
        <p:nvSpPr>
          <p:cNvPr id="3" name="PlaceHolder 2"/>
          <p:cNvSpPr>
            <a:spLocks noGrp="1"/>
          </p:cNvSpPr>
          <p:nvPr>
            <p:ph type="dt" idx="1"/>
          </p:nvPr>
        </p:nvSpPr>
        <p:spPr>
          <a:xfrm>
            <a:off x="457200" y="6356520"/>
            <a:ext cx="2133360" cy="364680"/>
          </a:xfrm>
          <a:prstGeom prst="rect">
            <a:avLst/>
          </a:prstGeom>
          <a:noFill/>
          <a:ln w="0">
            <a:noFill/>
          </a:ln>
        </p:spPr>
        <p:txBody>
          <a:bodyPr lIns="91440" tIns="45720" rIns="91440" bIns="45720" anchor="ctr">
            <a:noAutofit/>
          </a:bodyPr>
          <a:lstStyle>
            <a:lvl1pPr indent="0" algn="l" defTabSz="457200">
              <a:lnSpc>
                <a:spcPct val="100000"/>
              </a:lnSpc>
              <a:buNone/>
              <a:defRPr lang="en-US" sz="1200" b="0" u="none" strike="noStrike">
                <a:solidFill>
                  <a:schemeClr val="dk1">
                    <a:tint val="75000"/>
                  </a:schemeClr>
                </a:solidFill>
                <a:effectLst/>
                <a:uFillTx/>
                <a:latin typeface="Calibri"/>
              </a:defRPr>
            </a:lvl1pPr>
          </a:lstStyle>
          <a:p>
            <a:pPr indent="0" algn="l" defTabSz="457200">
              <a:lnSpc>
                <a:spcPct val="100000"/>
              </a:lnSpc>
              <a:buNone/>
            </a:pPr>
            <a:r>
              <a:rPr lang="en-US" sz="1200" b="0" u="none" strike="noStrike">
                <a:solidFill>
                  <a:schemeClr val="dk1">
                    <a:tint val="75000"/>
                  </a:schemeClr>
                </a:solidFill>
                <a:effectLst/>
                <a:uFillTx/>
                <a:latin typeface="Calibri"/>
              </a:rPr>
              <a:t>&lt;date/time&gt;</a:t>
            </a:r>
            <a:endParaRPr lang="en-US" sz="1200" b="0" u="none" strike="noStrike">
              <a:solidFill>
                <a:srgbClr val="000000"/>
              </a:solidFill>
              <a:effectLst/>
              <a:uFillTx/>
              <a:latin typeface="Times New Roman"/>
            </a:endParaRPr>
          </a:p>
        </p:txBody>
      </p:sp>
      <p:sp>
        <p:nvSpPr>
          <p:cNvPr id="4" name="PlaceHolder 3"/>
          <p:cNvSpPr>
            <a:spLocks noGrp="1"/>
          </p:cNvSpPr>
          <p:nvPr>
            <p:ph type="ftr" idx="2"/>
          </p:nvPr>
        </p:nvSpPr>
        <p:spPr>
          <a:xfrm>
            <a:off x="3124080" y="6356520"/>
            <a:ext cx="2895120" cy="364680"/>
          </a:xfrm>
          <a:prstGeom prst="rect">
            <a:avLst/>
          </a:prstGeom>
          <a:noFill/>
          <a:ln w="0">
            <a:noFill/>
          </a:ln>
        </p:spPr>
        <p:txBody>
          <a:bodyPr lIns="91440" tIns="45720" rIns="91440" bIns="45720" anchor="ctr">
            <a:noAutofit/>
          </a:bodyPr>
          <a:lstStyle>
            <a:lvl1pPr indent="0" algn="ctr">
              <a:buNone/>
              <a:defRPr lang="en-US" sz="1400" b="0" u="none" strike="noStrike">
                <a:solidFill>
                  <a:srgbClr val="000000"/>
                </a:solidFill>
                <a:effectLst/>
                <a:uFillTx/>
                <a:latin typeface="Times New Roman"/>
              </a:defRPr>
            </a:lvl1pPr>
          </a:lstStyle>
          <a:p>
            <a:pPr indent="0" algn="ctr">
              <a:buNone/>
            </a:pPr>
            <a:r>
              <a:rPr lang="en-US" sz="1400" b="0" u="none" strike="noStrike">
                <a:solidFill>
                  <a:srgbClr val="000000"/>
                </a:solidFill>
                <a:effectLst/>
                <a:uFillTx/>
                <a:latin typeface="Times New Roman"/>
              </a:rPr>
              <a:t>&lt;footer&gt;</a:t>
            </a:r>
            <a:endParaRPr lang="en-US" sz="1400" b="0" u="none" strike="noStrike">
              <a:solidFill>
                <a:srgbClr val="000000"/>
              </a:solidFill>
              <a:effectLst/>
              <a:uFillTx/>
              <a:latin typeface="Times New Roman"/>
            </a:endParaRPr>
          </a:p>
        </p:txBody>
      </p:sp>
      <p:sp>
        <p:nvSpPr>
          <p:cNvPr id="5" name="PlaceHolder 4"/>
          <p:cNvSpPr>
            <a:spLocks noGrp="1"/>
          </p:cNvSpPr>
          <p:nvPr>
            <p:ph type="sldNum" idx="3"/>
          </p:nvPr>
        </p:nvSpPr>
        <p:spPr>
          <a:xfrm>
            <a:off x="6553080" y="6356520"/>
            <a:ext cx="2133360" cy="364680"/>
          </a:xfrm>
          <a:prstGeom prst="rect">
            <a:avLst/>
          </a:prstGeom>
          <a:noFill/>
          <a:ln w="0">
            <a:noFill/>
          </a:ln>
        </p:spPr>
        <p:txBody>
          <a:bodyPr lIns="91440" tIns="45720" rIns="91440" bIns="45720" anchor="ctr">
            <a:noAutofit/>
          </a:bodyPr>
          <a:lstStyle>
            <a:lvl1pPr indent="0" algn="r" defTabSz="457200">
              <a:lnSpc>
                <a:spcPct val="100000"/>
              </a:lnSpc>
              <a:buNone/>
              <a:defRPr lang="en-US" sz="1200" b="0" u="none" strike="noStrike">
                <a:solidFill>
                  <a:schemeClr val="dk1">
                    <a:tint val="75000"/>
                  </a:schemeClr>
                </a:solidFill>
                <a:effectLst/>
                <a:uFillTx/>
                <a:latin typeface="Calibri"/>
              </a:defRPr>
            </a:lvl1pPr>
          </a:lstStyle>
          <a:p>
            <a:pPr indent="0" algn="r" defTabSz="457200">
              <a:lnSpc>
                <a:spcPct val="100000"/>
              </a:lnSpc>
              <a:buNone/>
            </a:pPr>
            <a:fld id="{B83153A0-3DEF-40A9-AE66-9CDB9244197F}" type="slidenum">
              <a:rPr lang="en-US" sz="1200" b="0" u="none" strike="noStrike">
                <a:solidFill>
                  <a:schemeClr val="dk1">
                    <a:tint val="75000"/>
                  </a:schemeClr>
                </a:solidFill>
                <a:effectLst/>
                <a:uFillTx/>
                <a:latin typeface="Calibri"/>
              </a:rPr>
              <a:t>&lt;number&gt;</a:t>
            </a:fld>
            <a:endParaRPr lang="en-US" sz="1200" b="0" u="none" strike="noStrike">
              <a:solidFill>
                <a:srgbClr val="000000"/>
              </a:solidFill>
              <a:effectLst/>
              <a:uFillTx/>
              <a:latin typeface="Times New Roman"/>
            </a:endParaRPr>
          </a:p>
        </p:txBody>
      </p:sp>
    </p:spTree>
  </p:cSld>
</p:sldLayout>
</file>

<file path=ppt/slideLayouts/slideLayout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vertTx" preserve="1">
  <p:cSld name="Title and Vertical Text">
    <p:bg>
      <p:bgPr>
        <a:solidFill>
          <a:srgbClr val="FFFFFF"/>
        </a:solidFill>
      </p:bgPr>
    </p:bg>
    <p:spTree>
      <p:nvGrpSpPr>
        <p:cNvPr id="1" name=""/>
        <p:cNvGrpSpPr/>
        <p:nvPr/>
      </p:nvGrpSpPr>
      <p:grpSpPr>
        <a:xfrm>
          <a:off x="0" y="0"/>
          <a:ext cx="0" cy="0"/>
          <a:chOff x="0" y="0"/>
          <a:chExt cx="0" cy="0"/>
        </a:xfrm>
      </p:grpSpPr>
      <p:sp>
        <p:nvSpPr>
          <p:cNvPr id="6" name="PlaceHolder 1"/>
          <p:cNvSpPr>
            <a:spLocks noGrp="1"/>
          </p:cNvSpPr>
          <p:nvPr>
            <p:ph type="title"/>
          </p:nvPr>
        </p:nvSpPr>
        <p:spPr>
          <a:xfrm>
            <a:off x="457200" y="274680"/>
            <a:ext cx="8229240" cy="1142640"/>
          </a:xfrm>
          <a:prstGeom prst="rect">
            <a:avLst/>
          </a:prstGeom>
          <a:noFill/>
          <a:ln w="0">
            <a:noFill/>
          </a:ln>
        </p:spPr>
        <p:txBody>
          <a:bodyPr lIns="91440" tIns="45720" rIns="91440" bIns="45720" anchor="ctr">
            <a:noAutofit/>
          </a:bodyPr>
          <a:lstStyle>
            <a:lvl1pPr indent="0" algn="ctr" defTabSz="457200">
              <a:lnSpc>
                <a:spcPct val="100000"/>
              </a:lnSpc>
              <a:buNone/>
              <a:defRPr lang="en-US" sz="4400" b="0" u="none" strike="noStrike">
                <a:solidFill>
                  <a:schemeClr val="dk1"/>
                </a:solidFill>
                <a:effectLst/>
                <a:uFillTx/>
                <a:latin typeface="Calibri"/>
              </a:defRPr>
            </a:lvl1pPr>
          </a:lstStyle>
          <a:p>
            <a:pPr indent="0" algn="ctr" defTabSz="457200">
              <a:lnSpc>
                <a:spcPct val="100000"/>
              </a:lnSpc>
              <a:buNone/>
            </a:pPr>
            <a:r>
              <a:rPr lang="en-US" sz="4400" b="0" u="none" strike="noStrike">
                <a:solidFill>
                  <a:schemeClr val="dk1"/>
                </a:solidFill>
                <a:effectLst/>
                <a:uFillTx/>
                <a:latin typeface="Calibri"/>
              </a:rPr>
              <a:t>Click to edit Master title style</a:t>
            </a:r>
            <a:endParaRPr lang="en-US" sz="4400" b="0" u="none" strike="noStrike">
              <a:solidFill>
                <a:schemeClr val="dk1"/>
              </a:solidFill>
              <a:effectLst/>
              <a:uFillTx/>
              <a:latin typeface="Calibri"/>
            </a:endParaRPr>
          </a:p>
        </p:txBody>
      </p:sp>
      <p:sp>
        <p:nvSpPr>
          <p:cNvPr id="7" name="PlaceHolder 2"/>
          <p:cNvSpPr>
            <a:spLocks noGrp="1"/>
          </p:cNvSpPr>
          <p:nvPr>
            <p:ph type="body"/>
          </p:nvPr>
        </p:nvSpPr>
        <p:spPr>
          <a:xfrm>
            <a:off x="457200" y="1600200"/>
            <a:ext cx="8229240" cy="4525560"/>
          </a:xfrm>
          <a:prstGeom prst="rect">
            <a:avLst/>
          </a:prstGeom>
          <a:noFill/>
          <a:ln w="0">
            <a:noFill/>
          </a:ln>
        </p:spPr>
        <p:txBody>
          <a:bodyPr lIns="91440" tIns="45720" rIns="91440" bIns="45720" anchor="t" vert="eaVert">
            <a:noAutofit/>
          </a:bodyPr>
          <a:lstStyle>
            <a:lvl1pPr algn="l" defTabSz="457200">
              <a:lnSpc>
                <a:spcPct val="100000"/>
              </a:lnSpc>
              <a:spcBef>
                <a:spcPts val="641"/>
              </a:spcBef>
              <a:buClr>
                <a:srgbClr val="000000"/>
              </a:buClr>
              <a:buFont typeface="Arial"/>
              <a:buChar char="•"/>
              <a:defRPr lang="en-US" sz="3200" b="0" u="none" strike="noStrike">
                <a:solidFill>
                  <a:schemeClr val="dk1"/>
                </a:solidFill>
                <a:effectLst/>
                <a:uFillTx/>
                <a:latin typeface="Calibri"/>
              </a:defRPr>
            </a:lvl1pPr>
            <a:lvl2pPr lvl="1" algn="l" defTabSz="457200">
              <a:lnSpc>
                <a:spcPct val="100000"/>
              </a:lnSpc>
              <a:spcBef>
                <a:spcPts val="561"/>
              </a:spcBef>
              <a:buClr>
                <a:srgbClr val="000000"/>
              </a:buClr>
              <a:buFont typeface="Arial"/>
              <a:buChar char="–"/>
              <a:defRPr lang="en-US" sz="2800" b="0" u="none" strike="noStrike">
                <a:solidFill>
                  <a:schemeClr val="dk1"/>
                </a:solidFill>
                <a:effectLst/>
                <a:uFillTx/>
                <a:latin typeface="Calibri"/>
              </a:defRPr>
            </a:lvl2pPr>
            <a:lvl3pPr lvl="2" algn="l" defTabSz="457200">
              <a:lnSpc>
                <a:spcPct val="100000"/>
              </a:lnSpc>
              <a:spcBef>
                <a:spcPts val="479"/>
              </a:spcBef>
              <a:buClr>
                <a:srgbClr val="000000"/>
              </a:buClr>
              <a:buFont typeface="Arial"/>
              <a:buChar char="•"/>
              <a:defRPr lang="en-US" sz="2400" b="0" u="none" strike="noStrike">
                <a:solidFill>
                  <a:schemeClr val="dk1"/>
                </a:solidFill>
                <a:effectLst/>
                <a:uFillTx/>
                <a:latin typeface="Calibri"/>
              </a:defRPr>
            </a:lvl3pPr>
            <a:lvl4pPr lvl="3" algn="l" defTabSz="457200">
              <a:lnSpc>
                <a:spcPct val="100000"/>
              </a:lnSpc>
              <a:spcBef>
                <a:spcPts val="400"/>
              </a:spcBef>
              <a:buClr>
                <a:srgbClr val="000000"/>
              </a:buClr>
              <a:buFont typeface="Arial"/>
              <a:buChar char="–"/>
              <a:defRPr lang="en-US" sz="2000" b="0" u="none" strike="noStrike">
                <a:solidFill>
                  <a:schemeClr val="dk1"/>
                </a:solidFill>
                <a:effectLst/>
                <a:uFillTx/>
                <a:latin typeface="Calibri"/>
              </a:defRPr>
            </a:lvl4pPr>
            <a:lvl5pPr lvl="4" algn="l" defTabSz="457200">
              <a:lnSpc>
                <a:spcPct val="100000"/>
              </a:lnSpc>
              <a:spcBef>
                <a:spcPts val="400"/>
              </a:spcBef>
              <a:buClr>
                <a:srgbClr val="000000"/>
              </a:buClr>
              <a:buFont typeface="Arial"/>
              <a:buChar char="»"/>
              <a:defRPr lang="en-US" sz="2000" b="0" u="none" strike="noStrike">
                <a:solidFill>
                  <a:schemeClr val="dk1"/>
                </a:solidFill>
                <a:effectLst/>
                <a:uFillTx/>
                <a:latin typeface="Calibri"/>
              </a:defRPr>
            </a:lvl5pPr>
          </a:lstStyle>
          <a:p>
            <a:pPr marL="343080" indent="-343080" algn="l" defTabSz="457200">
              <a:lnSpc>
                <a:spcPct val="100000"/>
              </a:lnSpc>
              <a:spcBef>
                <a:spcPts val="641"/>
              </a:spcBef>
              <a:buClr>
                <a:srgbClr val="000000"/>
              </a:buClr>
              <a:buFont typeface="Arial"/>
              <a:buChar char="•"/>
            </a:pPr>
            <a:r>
              <a:rPr lang="en-US" sz="3200" b="0" u="none" strike="noStrike">
                <a:solidFill>
                  <a:schemeClr val="dk1"/>
                </a:solidFill>
                <a:effectLst/>
                <a:uFillTx/>
                <a:latin typeface="Calibri"/>
              </a:rPr>
              <a:t>Click to edit Master text styles</a:t>
            </a:r>
            <a:endParaRPr lang="en-US" sz="3200" b="0" u="none" strike="noStrike">
              <a:solidFill>
                <a:schemeClr val="dk1"/>
              </a:solidFill>
              <a:effectLst/>
              <a:uFillTx/>
              <a:latin typeface="Calibri"/>
            </a:endParaRPr>
          </a:p>
          <a:p>
            <a:pPr marL="743040" lvl="1" indent="-285840" algn="l" defTabSz="457200">
              <a:lnSpc>
                <a:spcPct val="100000"/>
              </a:lnSpc>
              <a:spcBef>
                <a:spcPts val="561"/>
              </a:spcBef>
              <a:buClr>
                <a:srgbClr val="000000"/>
              </a:buClr>
              <a:buFont typeface="Arial"/>
              <a:buChar char="–"/>
            </a:pPr>
            <a:r>
              <a:rPr lang="en-US" sz="2800" b="0" u="none" strike="noStrike">
                <a:solidFill>
                  <a:schemeClr val="dk1"/>
                </a:solidFill>
                <a:effectLst/>
                <a:uFillTx/>
                <a:latin typeface="Calibri"/>
              </a:rPr>
              <a:t>Second level</a:t>
            </a:r>
            <a:endParaRPr lang="en-US" sz="2800" b="0" u="none" strike="noStrike">
              <a:solidFill>
                <a:schemeClr val="dk1"/>
              </a:solidFill>
              <a:effectLst/>
              <a:uFillTx/>
              <a:latin typeface="Calibri"/>
            </a:endParaRPr>
          </a:p>
          <a:p>
            <a:pPr marL="1143000" lvl="2" indent="-228600" algn="l" defTabSz="457200">
              <a:lnSpc>
                <a:spcPct val="100000"/>
              </a:lnSpc>
              <a:spcBef>
                <a:spcPts val="479"/>
              </a:spcBef>
              <a:buClr>
                <a:srgbClr val="000000"/>
              </a:buClr>
              <a:buFont typeface="Arial"/>
              <a:buChar char="•"/>
            </a:pPr>
            <a:r>
              <a:rPr lang="en-US" sz="2400" b="0" u="none" strike="noStrike">
                <a:solidFill>
                  <a:schemeClr val="dk1"/>
                </a:solidFill>
                <a:effectLst/>
                <a:uFillTx/>
                <a:latin typeface="Calibri"/>
              </a:rPr>
              <a:t>Third level</a:t>
            </a:r>
            <a:endParaRPr lang="en-US" sz="2400" b="0" u="none" strike="noStrike">
              <a:solidFill>
                <a:schemeClr val="dk1"/>
              </a:solidFill>
              <a:effectLst/>
              <a:uFillTx/>
              <a:latin typeface="Calibri"/>
            </a:endParaRPr>
          </a:p>
          <a:p>
            <a:pPr marL="1600200" lvl="3" indent="-228600" algn="l" defTabSz="457200">
              <a:lnSpc>
                <a:spcPct val="100000"/>
              </a:lnSpc>
              <a:spcBef>
                <a:spcPts val="400"/>
              </a:spcBef>
              <a:buClr>
                <a:srgbClr val="000000"/>
              </a:buClr>
              <a:buFont typeface="Arial"/>
              <a:buChar char="–"/>
            </a:pPr>
            <a:r>
              <a:rPr lang="en-US" sz="2000" b="0" u="none" strike="noStrike">
                <a:solidFill>
                  <a:schemeClr val="dk1"/>
                </a:solidFill>
                <a:effectLst/>
                <a:uFillTx/>
                <a:latin typeface="Calibri"/>
              </a:rPr>
              <a:t>Fourth level</a:t>
            </a:r>
            <a:endParaRPr lang="en-US" sz="2000" b="0" u="none" strike="noStrike">
              <a:solidFill>
                <a:schemeClr val="dk1"/>
              </a:solidFill>
              <a:effectLst/>
              <a:uFillTx/>
              <a:latin typeface="Calibri"/>
            </a:endParaRPr>
          </a:p>
          <a:p>
            <a:pPr marL="2057400" lvl="4" indent="-228600" algn="l" defTabSz="457200">
              <a:lnSpc>
                <a:spcPct val="100000"/>
              </a:lnSpc>
              <a:spcBef>
                <a:spcPts val="400"/>
              </a:spcBef>
              <a:buClr>
                <a:srgbClr val="000000"/>
              </a:buClr>
              <a:buFont typeface="Arial"/>
              <a:buChar char="»"/>
            </a:pPr>
            <a:r>
              <a:rPr lang="en-US" sz="2000" b="0" u="none" strike="noStrike">
                <a:solidFill>
                  <a:schemeClr val="dk1"/>
                </a:solidFill>
                <a:effectLst/>
                <a:uFillTx/>
                <a:latin typeface="Calibri"/>
              </a:rPr>
              <a:t>Fifth level</a:t>
            </a:r>
            <a:endParaRPr lang="en-US" sz="2000" b="0" u="none" strike="noStrike">
              <a:solidFill>
                <a:schemeClr val="dk1"/>
              </a:solidFill>
              <a:effectLst/>
              <a:uFillTx/>
              <a:latin typeface="Calibri"/>
            </a:endParaRPr>
          </a:p>
        </p:txBody>
      </p:sp>
      <p:sp>
        <p:nvSpPr>
          <p:cNvPr id="8" name="PlaceHolder 3"/>
          <p:cNvSpPr>
            <a:spLocks noGrp="1"/>
          </p:cNvSpPr>
          <p:nvPr>
            <p:ph type="dt" idx="4"/>
          </p:nvPr>
        </p:nvSpPr>
        <p:spPr>
          <a:xfrm>
            <a:off x="457200" y="6356520"/>
            <a:ext cx="2133360" cy="364680"/>
          </a:xfrm>
          <a:prstGeom prst="rect">
            <a:avLst/>
          </a:prstGeom>
          <a:noFill/>
          <a:ln w="0">
            <a:noFill/>
          </a:ln>
        </p:spPr>
        <p:txBody>
          <a:bodyPr lIns="91440" tIns="45720" rIns="91440" bIns="45720" anchor="ctr">
            <a:noAutofit/>
          </a:bodyPr>
          <a:lstStyle>
            <a:lvl1pPr indent="0" algn="l" defTabSz="457200">
              <a:lnSpc>
                <a:spcPct val="100000"/>
              </a:lnSpc>
              <a:buNone/>
              <a:defRPr lang="en-US" sz="1200" b="0" u="none" strike="noStrike">
                <a:solidFill>
                  <a:schemeClr val="dk1">
                    <a:tint val="75000"/>
                  </a:schemeClr>
                </a:solidFill>
                <a:effectLst/>
                <a:uFillTx/>
                <a:latin typeface="Calibri"/>
              </a:defRPr>
            </a:lvl1pPr>
          </a:lstStyle>
          <a:p>
            <a:pPr indent="0" algn="l" defTabSz="457200">
              <a:lnSpc>
                <a:spcPct val="100000"/>
              </a:lnSpc>
              <a:buNone/>
            </a:pPr>
            <a:r>
              <a:rPr lang="en-US" sz="1200" b="0" u="none" strike="noStrike">
                <a:solidFill>
                  <a:schemeClr val="dk1">
                    <a:tint val="75000"/>
                  </a:schemeClr>
                </a:solidFill>
                <a:effectLst/>
                <a:uFillTx/>
                <a:latin typeface="Calibri"/>
              </a:rPr>
              <a:t>&lt;date/time&gt;</a:t>
            </a:r>
            <a:endParaRPr lang="en-US" sz="1200" b="0" u="none" strike="noStrike">
              <a:solidFill>
                <a:srgbClr val="000000"/>
              </a:solidFill>
              <a:effectLst/>
              <a:uFillTx/>
              <a:latin typeface="Times New Roman"/>
            </a:endParaRPr>
          </a:p>
        </p:txBody>
      </p:sp>
      <p:sp>
        <p:nvSpPr>
          <p:cNvPr id="9" name="PlaceHolder 4"/>
          <p:cNvSpPr>
            <a:spLocks noGrp="1"/>
          </p:cNvSpPr>
          <p:nvPr>
            <p:ph type="ftr" idx="5"/>
          </p:nvPr>
        </p:nvSpPr>
        <p:spPr>
          <a:xfrm>
            <a:off x="3124080" y="6356520"/>
            <a:ext cx="2895120" cy="364680"/>
          </a:xfrm>
          <a:prstGeom prst="rect">
            <a:avLst/>
          </a:prstGeom>
          <a:noFill/>
          <a:ln w="0">
            <a:noFill/>
          </a:ln>
        </p:spPr>
        <p:txBody>
          <a:bodyPr lIns="91440" tIns="45720" rIns="91440" bIns="45720" anchor="ctr">
            <a:noAutofit/>
          </a:bodyPr>
          <a:lstStyle>
            <a:lvl1pPr indent="0" algn="ctr">
              <a:buNone/>
              <a:defRPr lang="en-US" sz="1400" b="0" u="none" strike="noStrike">
                <a:solidFill>
                  <a:srgbClr val="000000"/>
                </a:solidFill>
                <a:effectLst/>
                <a:uFillTx/>
                <a:latin typeface="Times New Roman"/>
              </a:defRPr>
            </a:lvl1pPr>
          </a:lstStyle>
          <a:p>
            <a:pPr indent="0" algn="ctr">
              <a:buNone/>
            </a:pPr>
            <a:r>
              <a:rPr lang="en-US" sz="1400" b="0" u="none" strike="noStrike">
                <a:solidFill>
                  <a:srgbClr val="000000"/>
                </a:solidFill>
                <a:effectLst/>
                <a:uFillTx/>
                <a:latin typeface="Times New Roman"/>
              </a:rPr>
              <a:t>&lt;footer&gt;</a:t>
            </a:r>
            <a:endParaRPr lang="en-US" sz="1400" b="0" u="none" strike="noStrike">
              <a:solidFill>
                <a:srgbClr val="000000"/>
              </a:solidFill>
              <a:effectLst/>
              <a:uFillTx/>
              <a:latin typeface="Times New Roman"/>
            </a:endParaRPr>
          </a:p>
        </p:txBody>
      </p:sp>
      <p:sp>
        <p:nvSpPr>
          <p:cNvPr id="10" name="PlaceHolder 5"/>
          <p:cNvSpPr>
            <a:spLocks noGrp="1"/>
          </p:cNvSpPr>
          <p:nvPr>
            <p:ph type="sldNum" idx="6"/>
          </p:nvPr>
        </p:nvSpPr>
        <p:spPr>
          <a:xfrm>
            <a:off x="6553080" y="6356520"/>
            <a:ext cx="2133360" cy="364680"/>
          </a:xfrm>
          <a:prstGeom prst="rect">
            <a:avLst/>
          </a:prstGeom>
          <a:noFill/>
          <a:ln w="0">
            <a:noFill/>
          </a:ln>
        </p:spPr>
        <p:txBody>
          <a:bodyPr lIns="91440" tIns="45720" rIns="91440" bIns="45720" anchor="ctr">
            <a:noAutofit/>
          </a:bodyPr>
          <a:lstStyle>
            <a:lvl1pPr indent="0" algn="r" defTabSz="457200">
              <a:lnSpc>
                <a:spcPct val="100000"/>
              </a:lnSpc>
              <a:buNone/>
              <a:defRPr lang="en-US" sz="1200" b="0" u="none" strike="noStrike">
                <a:solidFill>
                  <a:schemeClr val="dk1">
                    <a:tint val="75000"/>
                  </a:schemeClr>
                </a:solidFill>
                <a:effectLst/>
                <a:uFillTx/>
                <a:latin typeface="Calibri"/>
              </a:defRPr>
            </a:lvl1pPr>
          </a:lstStyle>
          <a:p>
            <a:pPr indent="0" algn="r" defTabSz="457200">
              <a:lnSpc>
                <a:spcPct val="100000"/>
              </a:lnSpc>
              <a:buNone/>
            </a:pPr>
            <a:fld id="{93AA90D7-1AB7-4C44-B98A-6893EC6D2FDE}" type="slidenum">
              <a:rPr lang="en-US" sz="1200" b="0" u="none" strike="noStrike">
                <a:solidFill>
                  <a:schemeClr val="dk1">
                    <a:tint val="75000"/>
                  </a:schemeClr>
                </a:solidFill>
                <a:effectLst/>
                <a:uFillTx/>
                <a:latin typeface="Calibri"/>
              </a:rPr>
              <a:t>&lt;number&gt;</a:t>
            </a:fld>
            <a:endParaRPr lang="en-US" sz="1200" b="0" u="none" strike="noStrike">
              <a:solidFill>
                <a:srgbClr val="000000"/>
              </a:solidFill>
              <a:effectLst/>
              <a:uFillTx/>
              <a:latin typeface="Times New Roman"/>
            </a:endParaRPr>
          </a:p>
        </p:txBody>
      </p:sp>
    </p:spTree>
  </p:cSld>
</p:sldLayout>
</file>

<file path=ppt/slideLayouts/slideLayout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vertTitleAndTx" preserve="1">
  <p:cSld name="Vertical Title and Text">
    <p:bg>
      <p:bgPr>
        <a:solidFill>
          <a:srgbClr val="FFFFFF"/>
        </a:solidFill>
      </p:bgPr>
    </p:bg>
    <p:spTree>
      <p:nvGrpSpPr>
        <p:cNvPr id="1" name=""/>
        <p:cNvGrpSpPr/>
        <p:nvPr/>
      </p:nvGrpSpPr>
      <p:grpSpPr>
        <a:xfrm>
          <a:off x="0" y="0"/>
          <a:ext cx="0" cy="0"/>
          <a:chOff x="0" y="0"/>
          <a:chExt cx="0" cy="0"/>
        </a:xfrm>
      </p:grpSpPr>
      <p:sp>
        <p:nvSpPr>
          <p:cNvPr id="11" name="PlaceHolder 1"/>
          <p:cNvSpPr>
            <a:spLocks noGrp="1"/>
          </p:cNvSpPr>
          <p:nvPr>
            <p:ph type="title"/>
          </p:nvPr>
        </p:nvSpPr>
        <p:spPr>
          <a:xfrm>
            <a:off x="6629400" y="274680"/>
            <a:ext cx="2057040" cy="5851080"/>
          </a:xfrm>
          <a:prstGeom prst="rect">
            <a:avLst/>
          </a:prstGeom>
          <a:noFill/>
          <a:ln w="0">
            <a:noFill/>
          </a:ln>
        </p:spPr>
        <p:txBody>
          <a:bodyPr lIns="91440" tIns="45720" rIns="91440" bIns="45720" anchor="ctr" vert="eaVert">
            <a:noAutofit/>
          </a:bodyPr>
          <a:lstStyle>
            <a:lvl1pPr indent="0" algn="ctr" defTabSz="457200">
              <a:lnSpc>
                <a:spcPct val="100000"/>
              </a:lnSpc>
              <a:buNone/>
              <a:defRPr lang="en-US" sz="4400" b="0" u="none" strike="noStrike">
                <a:solidFill>
                  <a:schemeClr val="dk1"/>
                </a:solidFill>
                <a:effectLst/>
                <a:uFillTx/>
                <a:latin typeface="Calibri"/>
              </a:defRPr>
            </a:lvl1pPr>
          </a:lstStyle>
          <a:p>
            <a:pPr indent="0" algn="ctr" defTabSz="457200">
              <a:lnSpc>
                <a:spcPct val="100000"/>
              </a:lnSpc>
              <a:buNone/>
            </a:pPr>
            <a:r>
              <a:rPr lang="en-US" sz="4400" b="0" u="none" strike="noStrike">
                <a:solidFill>
                  <a:schemeClr val="dk1"/>
                </a:solidFill>
                <a:effectLst/>
                <a:uFillTx/>
                <a:latin typeface="Calibri"/>
              </a:rPr>
              <a:t>Click to edit Master title style</a:t>
            </a:r>
            <a:endParaRPr lang="en-US" sz="4400" b="0" u="none" strike="noStrike">
              <a:solidFill>
                <a:schemeClr val="dk1"/>
              </a:solidFill>
              <a:effectLst/>
              <a:uFillTx/>
              <a:latin typeface="Calibri"/>
            </a:endParaRPr>
          </a:p>
        </p:txBody>
      </p:sp>
      <p:sp>
        <p:nvSpPr>
          <p:cNvPr id="12" name="PlaceHolder 2"/>
          <p:cNvSpPr>
            <a:spLocks noGrp="1"/>
          </p:cNvSpPr>
          <p:nvPr>
            <p:ph type="body"/>
          </p:nvPr>
        </p:nvSpPr>
        <p:spPr>
          <a:xfrm>
            <a:off x="457200" y="274680"/>
            <a:ext cx="6019560" cy="5851080"/>
          </a:xfrm>
          <a:prstGeom prst="rect">
            <a:avLst/>
          </a:prstGeom>
          <a:noFill/>
          <a:ln w="0">
            <a:noFill/>
          </a:ln>
        </p:spPr>
        <p:txBody>
          <a:bodyPr lIns="91440" tIns="45720" rIns="91440" bIns="45720" anchor="t" vert="eaVert">
            <a:noAutofit/>
          </a:bodyPr>
          <a:lstStyle>
            <a:lvl1pPr algn="l" defTabSz="457200">
              <a:lnSpc>
                <a:spcPct val="100000"/>
              </a:lnSpc>
              <a:spcBef>
                <a:spcPts val="641"/>
              </a:spcBef>
              <a:buClr>
                <a:srgbClr val="000000"/>
              </a:buClr>
              <a:buFont typeface="Arial"/>
              <a:buChar char="•"/>
              <a:defRPr lang="en-US" sz="3200" b="0" u="none" strike="noStrike">
                <a:solidFill>
                  <a:schemeClr val="dk1"/>
                </a:solidFill>
                <a:effectLst/>
                <a:uFillTx/>
                <a:latin typeface="Calibri"/>
              </a:defRPr>
            </a:lvl1pPr>
            <a:lvl2pPr lvl="1" algn="l" defTabSz="457200">
              <a:lnSpc>
                <a:spcPct val="100000"/>
              </a:lnSpc>
              <a:spcBef>
                <a:spcPts val="561"/>
              </a:spcBef>
              <a:buClr>
                <a:srgbClr val="000000"/>
              </a:buClr>
              <a:buFont typeface="Arial"/>
              <a:buChar char="–"/>
              <a:defRPr lang="en-US" sz="2800" b="0" u="none" strike="noStrike">
                <a:solidFill>
                  <a:schemeClr val="dk1"/>
                </a:solidFill>
                <a:effectLst/>
                <a:uFillTx/>
                <a:latin typeface="Calibri"/>
              </a:defRPr>
            </a:lvl2pPr>
            <a:lvl3pPr lvl="2" algn="l" defTabSz="457200">
              <a:lnSpc>
                <a:spcPct val="100000"/>
              </a:lnSpc>
              <a:spcBef>
                <a:spcPts val="479"/>
              </a:spcBef>
              <a:buClr>
                <a:srgbClr val="000000"/>
              </a:buClr>
              <a:buFont typeface="Arial"/>
              <a:buChar char="•"/>
              <a:defRPr lang="en-US" sz="2400" b="0" u="none" strike="noStrike">
                <a:solidFill>
                  <a:schemeClr val="dk1"/>
                </a:solidFill>
                <a:effectLst/>
                <a:uFillTx/>
                <a:latin typeface="Calibri"/>
              </a:defRPr>
            </a:lvl3pPr>
            <a:lvl4pPr lvl="3" algn="l" defTabSz="457200">
              <a:lnSpc>
                <a:spcPct val="100000"/>
              </a:lnSpc>
              <a:spcBef>
                <a:spcPts val="400"/>
              </a:spcBef>
              <a:buClr>
                <a:srgbClr val="000000"/>
              </a:buClr>
              <a:buFont typeface="Arial"/>
              <a:buChar char="–"/>
              <a:defRPr lang="en-US" sz="2000" b="0" u="none" strike="noStrike">
                <a:solidFill>
                  <a:schemeClr val="dk1"/>
                </a:solidFill>
                <a:effectLst/>
                <a:uFillTx/>
                <a:latin typeface="Calibri"/>
              </a:defRPr>
            </a:lvl4pPr>
            <a:lvl5pPr lvl="4" algn="l" defTabSz="457200">
              <a:lnSpc>
                <a:spcPct val="100000"/>
              </a:lnSpc>
              <a:spcBef>
                <a:spcPts val="400"/>
              </a:spcBef>
              <a:buClr>
                <a:srgbClr val="000000"/>
              </a:buClr>
              <a:buFont typeface="Arial"/>
              <a:buChar char="»"/>
              <a:defRPr lang="en-US" sz="2000" b="0" u="none" strike="noStrike">
                <a:solidFill>
                  <a:schemeClr val="dk1"/>
                </a:solidFill>
                <a:effectLst/>
                <a:uFillTx/>
                <a:latin typeface="Calibri"/>
              </a:defRPr>
            </a:lvl5pPr>
          </a:lstStyle>
          <a:p>
            <a:pPr marL="343080" indent="-343080" algn="l" defTabSz="457200">
              <a:lnSpc>
                <a:spcPct val="100000"/>
              </a:lnSpc>
              <a:spcBef>
                <a:spcPts val="641"/>
              </a:spcBef>
              <a:buClr>
                <a:srgbClr val="000000"/>
              </a:buClr>
              <a:buFont typeface="Arial"/>
              <a:buChar char="•"/>
            </a:pPr>
            <a:r>
              <a:rPr lang="en-US" sz="3200" b="0" u="none" strike="noStrike">
                <a:solidFill>
                  <a:schemeClr val="dk1"/>
                </a:solidFill>
                <a:effectLst/>
                <a:uFillTx/>
                <a:latin typeface="Calibri"/>
              </a:rPr>
              <a:t>Click to edit Master text styles</a:t>
            </a:r>
            <a:endParaRPr lang="en-US" sz="3200" b="0" u="none" strike="noStrike">
              <a:solidFill>
                <a:schemeClr val="dk1"/>
              </a:solidFill>
              <a:effectLst/>
              <a:uFillTx/>
              <a:latin typeface="Calibri"/>
            </a:endParaRPr>
          </a:p>
          <a:p>
            <a:pPr marL="743040" lvl="1" indent="-285840" algn="l" defTabSz="457200">
              <a:lnSpc>
                <a:spcPct val="100000"/>
              </a:lnSpc>
              <a:spcBef>
                <a:spcPts val="561"/>
              </a:spcBef>
              <a:buClr>
                <a:srgbClr val="000000"/>
              </a:buClr>
              <a:buFont typeface="Arial"/>
              <a:buChar char="–"/>
            </a:pPr>
            <a:r>
              <a:rPr lang="en-US" sz="2800" b="0" u="none" strike="noStrike">
                <a:solidFill>
                  <a:schemeClr val="dk1"/>
                </a:solidFill>
                <a:effectLst/>
                <a:uFillTx/>
                <a:latin typeface="Calibri"/>
              </a:rPr>
              <a:t>Second level</a:t>
            </a:r>
            <a:endParaRPr lang="en-US" sz="2800" b="0" u="none" strike="noStrike">
              <a:solidFill>
                <a:schemeClr val="dk1"/>
              </a:solidFill>
              <a:effectLst/>
              <a:uFillTx/>
              <a:latin typeface="Calibri"/>
            </a:endParaRPr>
          </a:p>
          <a:p>
            <a:pPr marL="1143000" lvl="2" indent="-228600" algn="l" defTabSz="457200">
              <a:lnSpc>
                <a:spcPct val="100000"/>
              </a:lnSpc>
              <a:spcBef>
                <a:spcPts val="479"/>
              </a:spcBef>
              <a:buClr>
                <a:srgbClr val="000000"/>
              </a:buClr>
              <a:buFont typeface="Arial"/>
              <a:buChar char="•"/>
            </a:pPr>
            <a:r>
              <a:rPr lang="en-US" sz="2400" b="0" u="none" strike="noStrike">
                <a:solidFill>
                  <a:schemeClr val="dk1"/>
                </a:solidFill>
                <a:effectLst/>
                <a:uFillTx/>
                <a:latin typeface="Calibri"/>
              </a:rPr>
              <a:t>Third level</a:t>
            </a:r>
            <a:endParaRPr lang="en-US" sz="2400" b="0" u="none" strike="noStrike">
              <a:solidFill>
                <a:schemeClr val="dk1"/>
              </a:solidFill>
              <a:effectLst/>
              <a:uFillTx/>
              <a:latin typeface="Calibri"/>
            </a:endParaRPr>
          </a:p>
          <a:p>
            <a:pPr marL="1600200" lvl="3" indent="-228600" algn="l" defTabSz="457200">
              <a:lnSpc>
                <a:spcPct val="100000"/>
              </a:lnSpc>
              <a:spcBef>
                <a:spcPts val="400"/>
              </a:spcBef>
              <a:buClr>
                <a:srgbClr val="000000"/>
              </a:buClr>
              <a:buFont typeface="Arial"/>
              <a:buChar char="–"/>
            </a:pPr>
            <a:r>
              <a:rPr lang="en-US" sz="2000" b="0" u="none" strike="noStrike">
                <a:solidFill>
                  <a:schemeClr val="dk1"/>
                </a:solidFill>
                <a:effectLst/>
                <a:uFillTx/>
                <a:latin typeface="Calibri"/>
              </a:rPr>
              <a:t>Fourth level</a:t>
            </a:r>
            <a:endParaRPr lang="en-US" sz="2000" b="0" u="none" strike="noStrike">
              <a:solidFill>
                <a:schemeClr val="dk1"/>
              </a:solidFill>
              <a:effectLst/>
              <a:uFillTx/>
              <a:latin typeface="Calibri"/>
            </a:endParaRPr>
          </a:p>
          <a:p>
            <a:pPr marL="2057400" lvl="4" indent="-228600" algn="l" defTabSz="457200">
              <a:lnSpc>
                <a:spcPct val="100000"/>
              </a:lnSpc>
              <a:spcBef>
                <a:spcPts val="400"/>
              </a:spcBef>
              <a:buClr>
                <a:srgbClr val="000000"/>
              </a:buClr>
              <a:buFont typeface="Arial"/>
              <a:buChar char="»"/>
            </a:pPr>
            <a:r>
              <a:rPr lang="en-US" sz="2000" b="0" u="none" strike="noStrike">
                <a:solidFill>
                  <a:schemeClr val="dk1"/>
                </a:solidFill>
                <a:effectLst/>
                <a:uFillTx/>
                <a:latin typeface="Calibri"/>
              </a:rPr>
              <a:t>Fifth level</a:t>
            </a:r>
            <a:endParaRPr lang="en-US" sz="2000" b="0" u="none" strike="noStrike">
              <a:solidFill>
                <a:schemeClr val="dk1"/>
              </a:solidFill>
              <a:effectLst/>
              <a:uFillTx/>
              <a:latin typeface="Calibri"/>
            </a:endParaRPr>
          </a:p>
        </p:txBody>
      </p:sp>
      <p:sp>
        <p:nvSpPr>
          <p:cNvPr id="13" name="PlaceHolder 3"/>
          <p:cNvSpPr>
            <a:spLocks noGrp="1"/>
          </p:cNvSpPr>
          <p:nvPr>
            <p:ph type="dt" idx="7"/>
          </p:nvPr>
        </p:nvSpPr>
        <p:spPr>
          <a:xfrm>
            <a:off x="457200" y="6356520"/>
            <a:ext cx="2133360" cy="364680"/>
          </a:xfrm>
          <a:prstGeom prst="rect">
            <a:avLst/>
          </a:prstGeom>
          <a:noFill/>
          <a:ln w="0">
            <a:noFill/>
          </a:ln>
        </p:spPr>
        <p:txBody>
          <a:bodyPr lIns="91440" tIns="45720" rIns="91440" bIns="45720" anchor="ctr">
            <a:noAutofit/>
          </a:bodyPr>
          <a:lstStyle>
            <a:lvl1pPr indent="0" algn="l" defTabSz="457200">
              <a:lnSpc>
                <a:spcPct val="100000"/>
              </a:lnSpc>
              <a:buNone/>
              <a:defRPr lang="en-US" sz="1200" b="0" u="none" strike="noStrike">
                <a:solidFill>
                  <a:schemeClr val="dk1">
                    <a:tint val="75000"/>
                  </a:schemeClr>
                </a:solidFill>
                <a:effectLst/>
                <a:uFillTx/>
                <a:latin typeface="Calibri"/>
              </a:defRPr>
            </a:lvl1pPr>
          </a:lstStyle>
          <a:p>
            <a:pPr indent="0" algn="l" defTabSz="457200">
              <a:lnSpc>
                <a:spcPct val="100000"/>
              </a:lnSpc>
              <a:buNone/>
            </a:pPr>
            <a:r>
              <a:rPr lang="en-US" sz="1200" b="0" u="none" strike="noStrike">
                <a:solidFill>
                  <a:schemeClr val="dk1">
                    <a:tint val="75000"/>
                  </a:schemeClr>
                </a:solidFill>
                <a:effectLst/>
                <a:uFillTx/>
                <a:latin typeface="Calibri"/>
              </a:rPr>
              <a:t>&lt;date/time&gt;</a:t>
            </a:r>
            <a:endParaRPr lang="en-US" sz="1200" b="0" u="none" strike="noStrike">
              <a:solidFill>
                <a:srgbClr val="000000"/>
              </a:solidFill>
              <a:effectLst/>
              <a:uFillTx/>
              <a:latin typeface="Times New Roman"/>
            </a:endParaRPr>
          </a:p>
        </p:txBody>
      </p:sp>
      <p:sp>
        <p:nvSpPr>
          <p:cNvPr id="14" name="PlaceHolder 4"/>
          <p:cNvSpPr>
            <a:spLocks noGrp="1"/>
          </p:cNvSpPr>
          <p:nvPr>
            <p:ph type="ftr" idx="8"/>
          </p:nvPr>
        </p:nvSpPr>
        <p:spPr>
          <a:xfrm>
            <a:off x="3124080" y="6356520"/>
            <a:ext cx="2895120" cy="364680"/>
          </a:xfrm>
          <a:prstGeom prst="rect">
            <a:avLst/>
          </a:prstGeom>
          <a:noFill/>
          <a:ln w="0">
            <a:noFill/>
          </a:ln>
        </p:spPr>
        <p:txBody>
          <a:bodyPr lIns="91440" tIns="45720" rIns="91440" bIns="45720" anchor="ctr">
            <a:noAutofit/>
          </a:bodyPr>
          <a:lstStyle>
            <a:lvl1pPr indent="0" algn="ctr">
              <a:buNone/>
              <a:defRPr lang="en-US" sz="1400" b="0" u="none" strike="noStrike">
                <a:solidFill>
                  <a:srgbClr val="000000"/>
                </a:solidFill>
                <a:effectLst/>
                <a:uFillTx/>
                <a:latin typeface="Times New Roman"/>
              </a:defRPr>
            </a:lvl1pPr>
          </a:lstStyle>
          <a:p>
            <a:pPr indent="0" algn="ctr">
              <a:buNone/>
            </a:pPr>
            <a:r>
              <a:rPr lang="en-US" sz="1400" b="0" u="none" strike="noStrike">
                <a:solidFill>
                  <a:srgbClr val="000000"/>
                </a:solidFill>
                <a:effectLst/>
                <a:uFillTx/>
                <a:latin typeface="Times New Roman"/>
              </a:rPr>
              <a:t>&lt;footer&gt;</a:t>
            </a:r>
            <a:endParaRPr lang="en-US" sz="1400" b="0" u="none" strike="noStrike">
              <a:solidFill>
                <a:srgbClr val="000000"/>
              </a:solidFill>
              <a:effectLst/>
              <a:uFillTx/>
              <a:latin typeface="Times New Roman"/>
            </a:endParaRPr>
          </a:p>
        </p:txBody>
      </p:sp>
      <p:sp>
        <p:nvSpPr>
          <p:cNvPr id="15" name="PlaceHolder 5"/>
          <p:cNvSpPr>
            <a:spLocks noGrp="1"/>
          </p:cNvSpPr>
          <p:nvPr>
            <p:ph type="sldNum" idx="9"/>
          </p:nvPr>
        </p:nvSpPr>
        <p:spPr>
          <a:xfrm>
            <a:off x="6553080" y="6356520"/>
            <a:ext cx="2133360" cy="364680"/>
          </a:xfrm>
          <a:prstGeom prst="rect">
            <a:avLst/>
          </a:prstGeom>
          <a:noFill/>
          <a:ln w="0">
            <a:noFill/>
          </a:ln>
        </p:spPr>
        <p:txBody>
          <a:bodyPr lIns="91440" tIns="45720" rIns="91440" bIns="45720" anchor="ctr">
            <a:noAutofit/>
          </a:bodyPr>
          <a:lstStyle>
            <a:lvl1pPr indent="0" algn="r" defTabSz="457200">
              <a:lnSpc>
                <a:spcPct val="100000"/>
              </a:lnSpc>
              <a:buNone/>
              <a:defRPr lang="en-US" sz="1200" b="0" u="none" strike="noStrike">
                <a:solidFill>
                  <a:schemeClr val="dk1">
                    <a:tint val="75000"/>
                  </a:schemeClr>
                </a:solidFill>
                <a:effectLst/>
                <a:uFillTx/>
                <a:latin typeface="Calibri"/>
              </a:defRPr>
            </a:lvl1pPr>
          </a:lstStyle>
          <a:p>
            <a:pPr indent="0" algn="r" defTabSz="457200">
              <a:lnSpc>
                <a:spcPct val="100000"/>
              </a:lnSpc>
              <a:buNone/>
            </a:pPr>
            <a:fld id="{4A93A2B4-8FBC-4C6F-B8EE-0310C2C782C6}" type="slidenum">
              <a:rPr lang="en-US" sz="1200" b="0" u="none" strike="noStrike">
                <a:solidFill>
                  <a:schemeClr val="dk1">
                    <a:tint val="75000"/>
                  </a:schemeClr>
                </a:solidFill>
                <a:effectLst/>
                <a:uFillTx/>
                <a:latin typeface="Calibri"/>
              </a:rPr>
              <a:t>&lt;number&gt;</a:t>
            </a:fld>
            <a:endParaRPr lang="en-US" sz="1200" b="0" u="none" strike="noStrike">
              <a:solidFill>
                <a:srgbClr val="000000"/>
              </a:solidFill>
              <a:effectLst/>
              <a:uFillTx/>
              <a:latin typeface="Times New Roman"/>
            </a:endParaRPr>
          </a:p>
        </p:txBody>
      </p:sp>
    </p:spTree>
  </p:cSld>
</p:sldLayout>
</file>

<file path=ppt/slideLayouts/slideLayout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 preserve="1">
  <p:cSld name="Title and Content">
    <p:bg>
      <p:bgPr>
        <a:solidFill>
          <a:srgbClr val="FFFFFF"/>
        </a:solidFill>
      </p:bgPr>
    </p:bg>
    <p:spTree>
      <p:nvGrpSpPr>
        <p:cNvPr id="1" name=""/>
        <p:cNvGrpSpPr/>
        <p:nvPr/>
      </p:nvGrpSpPr>
      <p:grpSpPr>
        <a:xfrm>
          <a:off x="0" y="0"/>
          <a:ext cx="0" cy="0"/>
          <a:chOff x="0" y="0"/>
          <a:chExt cx="0" cy="0"/>
        </a:xfrm>
      </p:grpSpPr>
      <p:sp>
        <p:nvSpPr>
          <p:cNvPr id="16" name="PlaceHolder 1"/>
          <p:cNvSpPr>
            <a:spLocks noGrp="1"/>
          </p:cNvSpPr>
          <p:nvPr>
            <p:ph type="title"/>
          </p:nvPr>
        </p:nvSpPr>
        <p:spPr>
          <a:xfrm>
            <a:off x="457200" y="274680"/>
            <a:ext cx="8229240" cy="1142640"/>
          </a:xfrm>
          <a:prstGeom prst="rect">
            <a:avLst/>
          </a:prstGeom>
          <a:noFill/>
          <a:ln w="0">
            <a:noFill/>
          </a:ln>
        </p:spPr>
        <p:txBody>
          <a:bodyPr lIns="91440" tIns="45720" rIns="91440" bIns="45720" anchor="ctr">
            <a:noAutofit/>
          </a:bodyPr>
          <a:lstStyle>
            <a:lvl1pPr indent="0" algn="ctr" defTabSz="457200">
              <a:lnSpc>
                <a:spcPct val="100000"/>
              </a:lnSpc>
              <a:buNone/>
              <a:defRPr lang="en-US" sz="4400" b="0" u="none" strike="noStrike">
                <a:solidFill>
                  <a:schemeClr val="dk1"/>
                </a:solidFill>
                <a:effectLst/>
                <a:uFillTx/>
                <a:latin typeface="Calibri"/>
              </a:defRPr>
            </a:lvl1pPr>
          </a:lstStyle>
          <a:p>
            <a:pPr indent="0" algn="ctr" defTabSz="457200">
              <a:lnSpc>
                <a:spcPct val="100000"/>
              </a:lnSpc>
              <a:buNone/>
            </a:pPr>
            <a:r>
              <a:rPr lang="en-US" sz="4400" b="0" u="none" strike="noStrike">
                <a:solidFill>
                  <a:schemeClr val="dk1"/>
                </a:solidFill>
                <a:effectLst/>
                <a:uFillTx/>
                <a:latin typeface="Calibri"/>
              </a:rPr>
              <a:t>Click to edit Master title style</a:t>
            </a:r>
            <a:endParaRPr lang="en-US" sz="4400" b="0" u="none" strike="noStrike">
              <a:solidFill>
                <a:schemeClr val="dk1"/>
              </a:solidFill>
              <a:effectLst/>
              <a:uFillTx/>
              <a:latin typeface="Calibri"/>
            </a:endParaRPr>
          </a:p>
        </p:txBody>
      </p:sp>
      <p:sp>
        <p:nvSpPr>
          <p:cNvPr id="17" name="PlaceHolder 2"/>
          <p:cNvSpPr>
            <a:spLocks noGrp="1"/>
          </p:cNvSpPr>
          <p:nvPr>
            <p:ph type="body"/>
          </p:nvPr>
        </p:nvSpPr>
        <p:spPr>
          <a:xfrm>
            <a:off x="457200" y="1600200"/>
            <a:ext cx="8229240" cy="4525560"/>
          </a:xfrm>
          <a:prstGeom prst="rect">
            <a:avLst/>
          </a:prstGeom>
          <a:noFill/>
          <a:ln w="0">
            <a:noFill/>
          </a:ln>
        </p:spPr>
        <p:txBody>
          <a:bodyPr lIns="91440" tIns="45720" rIns="91440" bIns="45720" anchor="t">
            <a:noAutofit/>
          </a:bodyPr>
          <a:lstStyle>
            <a:lvl1pPr algn="l" defTabSz="457200">
              <a:lnSpc>
                <a:spcPct val="100000"/>
              </a:lnSpc>
              <a:spcBef>
                <a:spcPts val="641"/>
              </a:spcBef>
              <a:buClr>
                <a:srgbClr val="000000"/>
              </a:buClr>
              <a:buFont typeface="Arial"/>
              <a:buChar char="•"/>
              <a:defRPr lang="en-US" sz="3200" b="0" u="none" strike="noStrike">
                <a:solidFill>
                  <a:schemeClr val="dk1"/>
                </a:solidFill>
                <a:effectLst/>
                <a:uFillTx/>
                <a:latin typeface="Calibri"/>
              </a:defRPr>
            </a:lvl1pPr>
            <a:lvl2pPr lvl="1" algn="l" defTabSz="457200">
              <a:lnSpc>
                <a:spcPct val="100000"/>
              </a:lnSpc>
              <a:spcBef>
                <a:spcPts val="561"/>
              </a:spcBef>
              <a:buClr>
                <a:srgbClr val="000000"/>
              </a:buClr>
              <a:buFont typeface="Arial"/>
              <a:buChar char="–"/>
              <a:defRPr lang="en-US" sz="2800" b="0" u="none" strike="noStrike">
                <a:solidFill>
                  <a:schemeClr val="dk1"/>
                </a:solidFill>
                <a:effectLst/>
                <a:uFillTx/>
                <a:latin typeface="Calibri"/>
              </a:defRPr>
            </a:lvl2pPr>
            <a:lvl3pPr lvl="2" algn="l" defTabSz="457200">
              <a:lnSpc>
                <a:spcPct val="100000"/>
              </a:lnSpc>
              <a:spcBef>
                <a:spcPts val="479"/>
              </a:spcBef>
              <a:buClr>
                <a:srgbClr val="000000"/>
              </a:buClr>
              <a:buFont typeface="Arial"/>
              <a:buChar char="•"/>
              <a:defRPr lang="en-US" sz="2400" b="0" u="none" strike="noStrike">
                <a:solidFill>
                  <a:schemeClr val="dk1"/>
                </a:solidFill>
                <a:effectLst/>
                <a:uFillTx/>
                <a:latin typeface="Calibri"/>
              </a:defRPr>
            </a:lvl3pPr>
            <a:lvl4pPr lvl="3" algn="l" defTabSz="457200">
              <a:lnSpc>
                <a:spcPct val="100000"/>
              </a:lnSpc>
              <a:spcBef>
                <a:spcPts val="400"/>
              </a:spcBef>
              <a:buClr>
                <a:srgbClr val="000000"/>
              </a:buClr>
              <a:buFont typeface="Arial"/>
              <a:buChar char="–"/>
              <a:defRPr lang="en-US" sz="2000" b="0" u="none" strike="noStrike">
                <a:solidFill>
                  <a:schemeClr val="dk1"/>
                </a:solidFill>
                <a:effectLst/>
                <a:uFillTx/>
                <a:latin typeface="Calibri"/>
              </a:defRPr>
            </a:lvl4pPr>
            <a:lvl5pPr lvl="4" algn="l" defTabSz="457200">
              <a:lnSpc>
                <a:spcPct val="100000"/>
              </a:lnSpc>
              <a:spcBef>
                <a:spcPts val="400"/>
              </a:spcBef>
              <a:buClr>
                <a:srgbClr val="000000"/>
              </a:buClr>
              <a:buFont typeface="Arial"/>
              <a:buChar char="»"/>
              <a:defRPr lang="en-US" sz="2000" b="0" u="none" strike="noStrike">
                <a:solidFill>
                  <a:schemeClr val="dk1"/>
                </a:solidFill>
                <a:effectLst/>
                <a:uFillTx/>
                <a:latin typeface="Calibri"/>
              </a:defRPr>
            </a:lvl5pPr>
          </a:lstStyle>
          <a:p>
            <a:pPr marL="343080" indent="-343080" algn="l" defTabSz="457200">
              <a:lnSpc>
                <a:spcPct val="100000"/>
              </a:lnSpc>
              <a:spcBef>
                <a:spcPts val="641"/>
              </a:spcBef>
              <a:buClr>
                <a:srgbClr val="000000"/>
              </a:buClr>
              <a:buFont typeface="Arial"/>
              <a:buChar char="•"/>
            </a:pPr>
            <a:r>
              <a:rPr lang="en-US" sz="3200" b="0" u="none" strike="noStrike">
                <a:solidFill>
                  <a:schemeClr val="dk1"/>
                </a:solidFill>
                <a:effectLst/>
                <a:uFillTx/>
                <a:latin typeface="Calibri"/>
              </a:rPr>
              <a:t>Click to edit Master text styles</a:t>
            </a:r>
            <a:endParaRPr lang="en-US" sz="3200" b="0" u="none" strike="noStrike">
              <a:solidFill>
                <a:schemeClr val="dk1"/>
              </a:solidFill>
              <a:effectLst/>
              <a:uFillTx/>
              <a:latin typeface="Calibri"/>
            </a:endParaRPr>
          </a:p>
          <a:p>
            <a:pPr marL="743040" lvl="1" indent="-285840" algn="l" defTabSz="457200">
              <a:lnSpc>
                <a:spcPct val="100000"/>
              </a:lnSpc>
              <a:spcBef>
                <a:spcPts val="561"/>
              </a:spcBef>
              <a:buClr>
                <a:srgbClr val="000000"/>
              </a:buClr>
              <a:buFont typeface="Arial"/>
              <a:buChar char="–"/>
            </a:pPr>
            <a:r>
              <a:rPr lang="en-US" sz="2800" b="0" u="none" strike="noStrike">
                <a:solidFill>
                  <a:schemeClr val="dk1"/>
                </a:solidFill>
                <a:effectLst/>
                <a:uFillTx/>
                <a:latin typeface="Calibri"/>
              </a:rPr>
              <a:t>Second level</a:t>
            </a:r>
            <a:endParaRPr lang="en-US" sz="2800" b="0" u="none" strike="noStrike">
              <a:solidFill>
                <a:schemeClr val="dk1"/>
              </a:solidFill>
              <a:effectLst/>
              <a:uFillTx/>
              <a:latin typeface="Calibri"/>
            </a:endParaRPr>
          </a:p>
          <a:p>
            <a:pPr marL="1143000" lvl="2" indent="-228600" algn="l" defTabSz="457200">
              <a:lnSpc>
                <a:spcPct val="100000"/>
              </a:lnSpc>
              <a:spcBef>
                <a:spcPts val="479"/>
              </a:spcBef>
              <a:buClr>
                <a:srgbClr val="000000"/>
              </a:buClr>
              <a:buFont typeface="Arial"/>
              <a:buChar char="•"/>
            </a:pPr>
            <a:r>
              <a:rPr lang="en-US" sz="2400" b="0" u="none" strike="noStrike">
                <a:solidFill>
                  <a:schemeClr val="dk1"/>
                </a:solidFill>
                <a:effectLst/>
                <a:uFillTx/>
                <a:latin typeface="Calibri"/>
              </a:rPr>
              <a:t>Third level</a:t>
            </a:r>
            <a:endParaRPr lang="en-US" sz="2400" b="0" u="none" strike="noStrike">
              <a:solidFill>
                <a:schemeClr val="dk1"/>
              </a:solidFill>
              <a:effectLst/>
              <a:uFillTx/>
              <a:latin typeface="Calibri"/>
            </a:endParaRPr>
          </a:p>
          <a:p>
            <a:pPr marL="1600200" lvl="3" indent="-228600" algn="l" defTabSz="457200">
              <a:lnSpc>
                <a:spcPct val="100000"/>
              </a:lnSpc>
              <a:spcBef>
                <a:spcPts val="400"/>
              </a:spcBef>
              <a:buClr>
                <a:srgbClr val="000000"/>
              </a:buClr>
              <a:buFont typeface="Arial"/>
              <a:buChar char="–"/>
            </a:pPr>
            <a:r>
              <a:rPr lang="en-US" sz="2000" b="0" u="none" strike="noStrike">
                <a:solidFill>
                  <a:schemeClr val="dk1"/>
                </a:solidFill>
                <a:effectLst/>
                <a:uFillTx/>
                <a:latin typeface="Calibri"/>
              </a:rPr>
              <a:t>Fourth level</a:t>
            </a:r>
            <a:endParaRPr lang="en-US" sz="2000" b="0" u="none" strike="noStrike">
              <a:solidFill>
                <a:schemeClr val="dk1"/>
              </a:solidFill>
              <a:effectLst/>
              <a:uFillTx/>
              <a:latin typeface="Calibri"/>
            </a:endParaRPr>
          </a:p>
          <a:p>
            <a:pPr marL="2057400" lvl="4" indent="-228600" algn="l" defTabSz="457200">
              <a:lnSpc>
                <a:spcPct val="100000"/>
              </a:lnSpc>
              <a:spcBef>
                <a:spcPts val="400"/>
              </a:spcBef>
              <a:buClr>
                <a:srgbClr val="000000"/>
              </a:buClr>
              <a:buFont typeface="Arial"/>
              <a:buChar char="»"/>
            </a:pPr>
            <a:r>
              <a:rPr lang="en-US" sz="2000" b="0" u="none" strike="noStrike">
                <a:solidFill>
                  <a:schemeClr val="dk1"/>
                </a:solidFill>
                <a:effectLst/>
                <a:uFillTx/>
                <a:latin typeface="Calibri"/>
              </a:rPr>
              <a:t>Fifth level</a:t>
            </a:r>
            <a:endParaRPr lang="en-US" sz="2000" b="0" u="none" strike="noStrike">
              <a:solidFill>
                <a:schemeClr val="dk1"/>
              </a:solidFill>
              <a:effectLst/>
              <a:uFillTx/>
              <a:latin typeface="Calibri"/>
            </a:endParaRPr>
          </a:p>
        </p:txBody>
      </p:sp>
      <p:sp>
        <p:nvSpPr>
          <p:cNvPr id="18" name="PlaceHolder 3"/>
          <p:cNvSpPr>
            <a:spLocks noGrp="1"/>
          </p:cNvSpPr>
          <p:nvPr>
            <p:ph type="dt" idx="10"/>
          </p:nvPr>
        </p:nvSpPr>
        <p:spPr>
          <a:xfrm>
            <a:off x="457200" y="6356520"/>
            <a:ext cx="2133360" cy="364680"/>
          </a:xfrm>
          <a:prstGeom prst="rect">
            <a:avLst/>
          </a:prstGeom>
          <a:noFill/>
          <a:ln w="0">
            <a:noFill/>
          </a:ln>
        </p:spPr>
        <p:txBody>
          <a:bodyPr lIns="91440" tIns="45720" rIns="91440" bIns="45720" anchor="ctr">
            <a:noAutofit/>
          </a:bodyPr>
          <a:lstStyle>
            <a:lvl1pPr indent="0" algn="l" defTabSz="457200">
              <a:lnSpc>
                <a:spcPct val="100000"/>
              </a:lnSpc>
              <a:buNone/>
              <a:defRPr lang="en-US" sz="1200" b="0" u="none" strike="noStrike">
                <a:solidFill>
                  <a:schemeClr val="dk1">
                    <a:tint val="75000"/>
                  </a:schemeClr>
                </a:solidFill>
                <a:effectLst/>
                <a:uFillTx/>
                <a:latin typeface="Calibri"/>
              </a:defRPr>
            </a:lvl1pPr>
          </a:lstStyle>
          <a:p>
            <a:pPr indent="0" algn="l" defTabSz="457200">
              <a:lnSpc>
                <a:spcPct val="100000"/>
              </a:lnSpc>
              <a:buNone/>
            </a:pPr>
            <a:r>
              <a:rPr lang="en-US" sz="1200" b="0" u="none" strike="noStrike">
                <a:solidFill>
                  <a:schemeClr val="dk1">
                    <a:tint val="75000"/>
                  </a:schemeClr>
                </a:solidFill>
                <a:effectLst/>
                <a:uFillTx/>
                <a:latin typeface="Calibri"/>
              </a:rPr>
              <a:t>&lt;date/time&gt;</a:t>
            </a:r>
            <a:endParaRPr lang="en-US" sz="1200" b="0" u="none" strike="noStrike">
              <a:solidFill>
                <a:srgbClr val="000000"/>
              </a:solidFill>
              <a:effectLst/>
              <a:uFillTx/>
              <a:latin typeface="Times New Roman"/>
            </a:endParaRPr>
          </a:p>
        </p:txBody>
      </p:sp>
      <p:sp>
        <p:nvSpPr>
          <p:cNvPr id="19" name="PlaceHolder 4"/>
          <p:cNvSpPr>
            <a:spLocks noGrp="1"/>
          </p:cNvSpPr>
          <p:nvPr>
            <p:ph type="ftr" idx="11"/>
          </p:nvPr>
        </p:nvSpPr>
        <p:spPr>
          <a:xfrm>
            <a:off x="3124080" y="6356520"/>
            <a:ext cx="2895120" cy="364680"/>
          </a:xfrm>
          <a:prstGeom prst="rect">
            <a:avLst/>
          </a:prstGeom>
          <a:noFill/>
          <a:ln w="0">
            <a:noFill/>
          </a:ln>
        </p:spPr>
        <p:txBody>
          <a:bodyPr lIns="91440" tIns="45720" rIns="91440" bIns="45720" anchor="ctr">
            <a:noAutofit/>
          </a:bodyPr>
          <a:lstStyle>
            <a:lvl1pPr indent="0" algn="ctr">
              <a:buNone/>
              <a:defRPr lang="en-US" sz="1400" b="0" u="none" strike="noStrike">
                <a:solidFill>
                  <a:srgbClr val="000000"/>
                </a:solidFill>
                <a:effectLst/>
                <a:uFillTx/>
                <a:latin typeface="Times New Roman"/>
              </a:defRPr>
            </a:lvl1pPr>
          </a:lstStyle>
          <a:p>
            <a:pPr indent="0" algn="ctr">
              <a:buNone/>
            </a:pPr>
            <a:r>
              <a:rPr lang="en-US" sz="1400" b="0" u="none" strike="noStrike">
                <a:solidFill>
                  <a:srgbClr val="000000"/>
                </a:solidFill>
                <a:effectLst/>
                <a:uFillTx/>
                <a:latin typeface="Times New Roman"/>
              </a:rPr>
              <a:t>&lt;footer&gt;</a:t>
            </a:r>
            <a:endParaRPr lang="en-US" sz="1400" b="0" u="none" strike="noStrike">
              <a:solidFill>
                <a:srgbClr val="000000"/>
              </a:solidFill>
              <a:effectLst/>
              <a:uFillTx/>
              <a:latin typeface="Times New Roman"/>
            </a:endParaRPr>
          </a:p>
        </p:txBody>
      </p:sp>
      <p:sp>
        <p:nvSpPr>
          <p:cNvPr id="20" name="PlaceHolder 5"/>
          <p:cNvSpPr>
            <a:spLocks noGrp="1"/>
          </p:cNvSpPr>
          <p:nvPr>
            <p:ph type="sldNum" idx="12"/>
          </p:nvPr>
        </p:nvSpPr>
        <p:spPr>
          <a:xfrm>
            <a:off x="6553080" y="6356520"/>
            <a:ext cx="2133360" cy="364680"/>
          </a:xfrm>
          <a:prstGeom prst="rect">
            <a:avLst/>
          </a:prstGeom>
          <a:noFill/>
          <a:ln w="0">
            <a:noFill/>
          </a:ln>
        </p:spPr>
        <p:txBody>
          <a:bodyPr lIns="91440" tIns="45720" rIns="91440" bIns="45720" anchor="ctr">
            <a:noAutofit/>
          </a:bodyPr>
          <a:lstStyle>
            <a:lvl1pPr indent="0" algn="r" defTabSz="457200">
              <a:lnSpc>
                <a:spcPct val="100000"/>
              </a:lnSpc>
              <a:buNone/>
              <a:defRPr lang="en-US" sz="1200" b="0" u="none" strike="noStrike">
                <a:solidFill>
                  <a:schemeClr val="dk1">
                    <a:tint val="75000"/>
                  </a:schemeClr>
                </a:solidFill>
                <a:effectLst/>
                <a:uFillTx/>
                <a:latin typeface="Calibri"/>
              </a:defRPr>
            </a:lvl1pPr>
          </a:lstStyle>
          <a:p>
            <a:pPr indent="0" algn="r" defTabSz="457200">
              <a:lnSpc>
                <a:spcPct val="100000"/>
              </a:lnSpc>
              <a:buNone/>
            </a:pPr>
            <a:fld id="{D89238B6-A9D3-4ABF-AB94-4A269F6195C9}" type="slidenum">
              <a:rPr lang="en-US" sz="1200" b="0" u="none" strike="noStrike">
                <a:solidFill>
                  <a:schemeClr val="dk1">
                    <a:tint val="75000"/>
                  </a:schemeClr>
                </a:solidFill>
                <a:effectLst/>
                <a:uFillTx/>
                <a:latin typeface="Calibri"/>
              </a:rPr>
              <a:t>&lt;number&gt;</a:t>
            </a:fld>
            <a:endParaRPr lang="en-US" sz="1200" b="0" u="none" strike="noStrike">
              <a:solidFill>
                <a:srgbClr val="000000"/>
              </a:solidFill>
              <a:effectLst/>
              <a:uFillTx/>
              <a:latin typeface="Times New Roman"/>
            </a:endParaRPr>
          </a:p>
        </p:txBody>
      </p:sp>
    </p:spTree>
  </p:cSld>
</p:sldLayout>
</file>

<file path=ppt/slideLayouts/slideLayout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Section Header">
    <p:bg>
      <p:bgPr>
        <a:solidFill>
          <a:srgbClr val="FFFFFF"/>
        </a:solidFill>
      </p:bgPr>
    </p:bg>
    <p:spTree>
      <p:nvGrpSpPr>
        <p:cNvPr id="1" name=""/>
        <p:cNvGrpSpPr/>
        <p:nvPr/>
      </p:nvGrpSpPr>
      <p:grpSpPr>
        <a:xfrm>
          <a:off x="0" y="0"/>
          <a:ext cx="0" cy="0"/>
          <a:chOff x="0" y="0"/>
          <a:chExt cx="0" cy="0"/>
        </a:xfrm>
      </p:grpSpPr>
      <p:sp>
        <p:nvSpPr>
          <p:cNvPr id="21" name="PlaceHolder 1"/>
          <p:cNvSpPr>
            <a:spLocks noGrp="1"/>
          </p:cNvSpPr>
          <p:nvPr>
            <p:ph type="title"/>
          </p:nvPr>
        </p:nvSpPr>
        <p:spPr>
          <a:xfrm>
            <a:off x="722160" y="4406760"/>
            <a:ext cx="7772040" cy="1361880"/>
          </a:xfrm>
          <a:prstGeom prst="rect">
            <a:avLst/>
          </a:prstGeom>
          <a:noFill/>
          <a:ln w="0">
            <a:noFill/>
          </a:ln>
        </p:spPr>
        <p:txBody>
          <a:bodyPr lIns="91440" tIns="45720" rIns="91440" bIns="45720" anchor="t">
            <a:noAutofit/>
          </a:bodyPr>
          <a:lstStyle>
            <a:lvl1pPr indent="0" algn="l" defTabSz="457200">
              <a:lnSpc>
                <a:spcPct val="100000"/>
              </a:lnSpc>
              <a:buNone/>
              <a:defRPr lang="en-US" sz="4000" b="1" u="none" strike="noStrike" cap="all">
                <a:solidFill>
                  <a:schemeClr val="dk1"/>
                </a:solidFill>
                <a:effectLst/>
                <a:uFillTx/>
                <a:latin typeface="Calibri"/>
              </a:defRPr>
            </a:lvl1pPr>
          </a:lstStyle>
          <a:p>
            <a:pPr indent="0" algn="l" defTabSz="457200">
              <a:lnSpc>
                <a:spcPct val="100000"/>
              </a:lnSpc>
              <a:buNone/>
            </a:pPr>
            <a:r>
              <a:rPr lang="en-US" sz="4000" b="1" u="none" strike="noStrike" cap="all">
                <a:solidFill>
                  <a:schemeClr val="dk1"/>
                </a:solidFill>
                <a:effectLst/>
                <a:uFillTx/>
                <a:latin typeface="Calibri"/>
              </a:rPr>
              <a:t>Click to edit Master title style</a:t>
            </a:r>
            <a:endParaRPr lang="en-US" sz="4000" b="1" u="none" strike="noStrike" cap="all">
              <a:solidFill>
                <a:schemeClr val="dk1"/>
              </a:solidFill>
              <a:effectLst/>
              <a:uFillTx/>
              <a:latin typeface="Calibri"/>
            </a:endParaRPr>
          </a:p>
        </p:txBody>
      </p:sp>
      <p:sp>
        <p:nvSpPr>
          <p:cNvPr id="22" name="PlaceHolder 2"/>
          <p:cNvSpPr>
            <a:spLocks noGrp="1"/>
          </p:cNvSpPr>
          <p:nvPr>
            <p:ph type="body"/>
          </p:nvPr>
        </p:nvSpPr>
        <p:spPr>
          <a:xfrm>
            <a:off x="722160" y="2906640"/>
            <a:ext cx="7772040" cy="1499760"/>
          </a:xfrm>
          <a:prstGeom prst="rect">
            <a:avLst/>
          </a:prstGeom>
          <a:noFill/>
          <a:ln w="0">
            <a:noFill/>
          </a:ln>
        </p:spPr>
        <p:txBody>
          <a:bodyPr lIns="91440" tIns="45720" rIns="91440" bIns="45720" anchor="b">
            <a:noAutofit/>
          </a:bodyPr>
          <a:lstStyle>
            <a:lvl1pPr indent="0" algn="l" defTabSz="457200">
              <a:lnSpc>
                <a:spcPct val="100000"/>
              </a:lnSpc>
              <a:spcBef>
                <a:spcPts val="400"/>
              </a:spcBef>
              <a:buNone/>
              <a:tabLst>
                <a:tab pos="0" algn="l"/>
              </a:tabLst>
              <a:defRPr lang="en-US" sz="2000" b="0" u="none" strike="noStrike">
                <a:solidFill>
                  <a:schemeClr val="dk1">
                    <a:tint val="75000"/>
                  </a:schemeClr>
                </a:solidFill>
                <a:effectLst/>
                <a:uFillTx/>
                <a:latin typeface="Calibri"/>
              </a:defRPr>
            </a:lvl1pPr>
          </a:lstStyle>
          <a:p>
            <a:pPr indent="0" algn="l" defTabSz="457200">
              <a:lnSpc>
                <a:spcPct val="100000"/>
              </a:lnSpc>
              <a:spcBef>
                <a:spcPts val="400"/>
              </a:spcBef>
              <a:buNone/>
              <a:tabLst>
                <a:tab pos="0" algn="l"/>
              </a:tabLst>
            </a:pPr>
            <a:r>
              <a:rPr lang="en-US" sz="2000" b="0" u="none" strike="noStrike">
                <a:solidFill>
                  <a:schemeClr val="dk1">
                    <a:tint val="75000"/>
                  </a:schemeClr>
                </a:solidFill>
                <a:effectLst/>
                <a:uFillTx/>
                <a:latin typeface="Calibri"/>
              </a:rPr>
              <a:t>Click to edit Master text styles</a:t>
            </a:r>
            <a:endParaRPr lang="en-US" sz="2000" b="0" u="none" strike="noStrike">
              <a:solidFill>
                <a:schemeClr val="dk1">
                  <a:tint val="75000"/>
                </a:schemeClr>
              </a:solidFill>
              <a:effectLst/>
              <a:uFillTx/>
              <a:latin typeface="Calibri"/>
            </a:endParaRPr>
          </a:p>
        </p:txBody>
      </p:sp>
      <p:sp>
        <p:nvSpPr>
          <p:cNvPr id="23" name="PlaceHolder 3"/>
          <p:cNvSpPr>
            <a:spLocks noGrp="1"/>
          </p:cNvSpPr>
          <p:nvPr>
            <p:ph type="dt" idx="13"/>
          </p:nvPr>
        </p:nvSpPr>
        <p:spPr>
          <a:xfrm>
            <a:off x="457200" y="6356520"/>
            <a:ext cx="2133360" cy="364680"/>
          </a:xfrm>
          <a:prstGeom prst="rect">
            <a:avLst/>
          </a:prstGeom>
          <a:noFill/>
          <a:ln w="0">
            <a:noFill/>
          </a:ln>
        </p:spPr>
        <p:txBody>
          <a:bodyPr lIns="91440" tIns="45720" rIns="91440" bIns="45720" anchor="ctr">
            <a:noAutofit/>
          </a:bodyPr>
          <a:lstStyle>
            <a:lvl1pPr indent="0" algn="l" defTabSz="457200">
              <a:lnSpc>
                <a:spcPct val="100000"/>
              </a:lnSpc>
              <a:buNone/>
              <a:defRPr lang="en-US" sz="1200" b="0" u="none" strike="noStrike">
                <a:solidFill>
                  <a:schemeClr val="dk1">
                    <a:tint val="75000"/>
                  </a:schemeClr>
                </a:solidFill>
                <a:effectLst/>
                <a:uFillTx/>
                <a:latin typeface="Calibri"/>
              </a:defRPr>
            </a:lvl1pPr>
          </a:lstStyle>
          <a:p>
            <a:pPr indent="0" algn="l" defTabSz="457200">
              <a:lnSpc>
                <a:spcPct val="100000"/>
              </a:lnSpc>
              <a:buNone/>
            </a:pPr>
            <a:r>
              <a:rPr lang="en-US" sz="1200" b="0" u="none" strike="noStrike">
                <a:solidFill>
                  <a:schemeClr val="dk1">
                    <a:tint val="75000"/>
                  </a:schemeClr>
                </a:solidFill>
                <a:effectLst/>
                <a:uFillTx/>
                <a:latin typeface="Calibri"/>
              </a:rPr>
              <a:t>&lt;date/time&gt;</a:t>
            </a:r>
            <a:endParaRPr lang="en-US" sz="1200" b="0" u="none" strike="noStrike">
              <a:solidFill>
                <a:srgbClr val="000000"/>
              </a:solidFill>
              <a:effectLst/>
              <a:uFillTx/>
              <a:latin typeface="Times New Roman"/>
            </a:endParaRPr>
          </a:p>
        </p:txBody>
      </p:sp>
      <p:sp>
        <p:nvSpPr>
          <p:cNvPr id="24" name="PlaceHolder 4"/>
          <p:cNvSpPr>
            <a:spLocks noGrp="1"/>
          </p:cNvSpPr>
          <p:nvPr>
            <p:ph type="ftr" idx="14"/>
          </p:nvPr>
        </p:nvSpPr>
        <p:spPr>
          <a:xfrm>
            <a:off x="3124080" y="6356520"/>
            <a:ext cx="2895120" cy="364680"/>
          </a:xfrm>
          <a:prstGeom prst="rect">
            <a:avLst/>
          </a:prstGeom>
          <a:noFill/>
          <a:ln w="0">
            <a:noFill/>
          </a:ln>
        </p:spPr>
        <p:txBody>
          <a:bodyPr lIns="91440" tIns="45720" rIns="91440" bIns="45720" anchor="ctr">
            <a:noAutofit/>
          </a:bodyPr>
          <a:lstStyle>
            <a:lvl1pPr indent="0" algn="ctr">
              <a:buNone/>
              <a:defRPr lang="en-US" sz="1400" b="0" u="none" strike="noStrike">
                <a:solidFill>
                  <a:srgbClr val="000000"/>
                </a:solidFill>
                <a:effectLst/>
                <a:uFillTx/>
                <a:latin typeface="Times New Roman"/>
              </a:defRPr>
            </a:lvl1pPr>
          </a:lstStyle>
          <a:p>
            <a:pPr indent="0" algn="ctr">
              <a:buNone/>
            </a:pPr>
            <a:r>
              <a:rPr lang="en-US" sz="1400" b="0" u="none" strike="noStrike">
                <a:solidFill>
                  <a:srgbClr val="000000"/>
                </a:solidFill>
                <a:effectLst/>
                <a:uFillTx/>
                <a:latin typeface="Times New Roman"/>
              </a:rPr>
              <a:t>&lt;footer&gt;</a:t>
            </a:r>
            <a:endParaRPr lang="en-US" sz="1400" b="0" u="none" strike="noStrike">
              <a:solidFill>
                <a:srgbClr val="000000"/>
              </a:solidFill>
              <a:effectLst/>
              <a:uFillTx/>
              <a:latin typeface="Times New Roman"/>
            </a:endParaRPr>
          </a:p>
        </p:txBody>
      </p:sp>
      <p:sp>
        <p:nvSpPr>
          <p:cNvPr id="25" name="PlaceHolder 5"/>
          <p:cNvSpPr>
            <a:spLocks noGrp="1"/>
          </p:cNvSpPr>
          <p:nvPr>
            <p:ph type="sldNum" idx="15"/>
          </p:nvPr>
        </p:nvSpPr>
        <p:spPr>
          <a:xfrm>
            <a:off x="6553080" y="6356520"/>
            <a:ext cx="2133360" cy="364680"/>
          </a:xfrm>
          <a:prstGeom prst="rect">
            <a:avLst/>
          </a:prstGeom>
          <a:noFill/>
          <a:ln w="0">
            <a:noFill/>
          </a:ln>
        </p:spPr>
        <p:txBody>
          <a:bodyPr lIns="91440" tIns="45720" rIns="91440" bIns="45720" anchor="ctr">
            <a:noAutofit/>
          </a:bodyPr>
          <a:lstStyle>
            <a:lvl1pPr indent="0" algn="r" defTabSz="457200">
              <a:lnSpc>
                <a:spcPct val="100000"/>
              </a:lnSpc>
              <a:buNone/>
              <a:defRPr lang="en-US" sz="1200" b="0" u="none" strike="noStrike">
                <a:solidFill>
                  <a:schemeClr val="dk1">
                    <a:tint val="75000"/>
                  </a:schemeClr>
                </a:solidFill>
                <a:effectLst/>
                <a:uFillTx/>
                <a:latin typeface="Calibri"/>
              </a:defRPr>
            </a:lvl1pPr>
          </a:lstStyle>
          <a:p>
            <a:pPr indent="0" algn="r" defTabSz="457200">
              <a:lnSpc>
                <a:spcPct val="100000"/>
              </a:lnSpc>
              <a:buNone/>
            </a:pPr>
            <a:fld id="{60F4DC20-8855-4370-BAAD-32CB79E5C729}" type="slidenum">
              <a:rPr lang="en-US" sz="1200" b="0" u="none" strike="noStrike">
                <a:solidFill>
                  <a:schemeClr val="dk1">
                    <a:tint val="75000"/>
                  </a:schemeClr>
                </a:solidFill>
                <a:effectLst/>
                <a:uFillTx/>
                <a:latin typeface="Calibri"/>
              </a:rPr>
              <a:t>&lt;number&gt;</a:t>
            </a:fld>
            <a:endParaRPr lang="en-US" sz="1200" b="0" u="none" strike="noStrike">
              <a:solidFill>
                <a:srgbClr val="000000"/>
              </a:solidFill>
              <a:effectLst/>
              <a:uFillTx/>
              <a:latin typeface="Times New Roman"/>
            </a:endParaRPr>
          </a:p>
        </p:txBody>
      </p:sp>
    </p:spTree>
  </p:cSld>
</p:sldLayout>
</file>

<file path=ppt/slideLayouts/slideLayout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 preserve="1">
  <p:cSld name="Two Content">
    <p:bg>
      <p:bgPr>
        <a:solidFill>
          <a:srgbClr val="FFFFFF"/>
        </a:solidFill>
      </p:bgPr>
    </p:bg>
    <p:spTree>
      <p:nvGrpSpPr>
        <p:cNvPr id="1" name=""/>
        <p:cNvGrpSpPr/>
        <p:nvPr/>
      </p:nvGrpSpPr>
      <p:grpSpPr>
        <a:xfrm>
          <a:off x="0" y="0"/>
          <a:ext cx="0" cy="0"/>
          <a:chOff x="0" y="0"/>
          <a:chExt cx="0" cy="0"/>
        </a:xfrm>
      </p:grpSpPr>
      <p:sp>
        <p:nvSpPr>
          <p:cNvPr id="26" name="PlaceHolder 1"/>
          <p:cNvSpPr>
            <a:spLocks noGrp="1"/>
          </p:cNvSpPr>
          <p:nvPr>
            <p:ph type="title"/>
          </p:nvPr>
        </p:nvSpPr>
        <p:spPr>
          <a:xfrm>
            <a:off x="457200" y="274680"/>
            <a:ext cx="8229240" cy="1142640"/>
          </a:xfrm>
          <a:prstGeom prst="rect">
            <a:avLst/>
          </a:prstGeom>
          <a:noFill/>
          <a:ln w="0">
            <a:noFill/>
          </a:ln>
        </p:spPr>
        <p:txBody>
          <a:bodyPr lIns="91440" tIns="45720" rIns="91440" bIns="45720" anchor="ctr">
            <a:noAutofit/>
          </a:bodyPr>
          <a:lstStyle>
            <a:lvl1pPr indent="0" algn="ctr" defTabSz="457200">
              <a:lnSpc>
                <a:spcPct val="100000"/>
              </a:lnSpc>
              <a:buNone/>
              <a:defRPr lang="en-US" sz="4400" b="0" u="none" strike="noStrike">
                <a:solidFill>
                  <a:schemeClr val="dk1"/>
                </a:solidFill>
                <a:effectLst/>
                <a:uFillTx/>
                <a:latin typeface="Calibri"/>
              </a:defRPr>
            </a:lvl1pPr>
          </a:lstStyle>
          <a:p>
            <a:pPr indent="0" algn="ctr" defTabSz="457200">
              <a:lnSpc>
                <a:spcPct val="100000"/>
              </a:lnSpc>
              <a:buNone/>
            </a:pPr>
            <a:r>
              <a:rPr lang="en-US" sz="4400" b="0" u="none" strike="noStrike">
                <a:solidFill>
                  <a:schemeClr val="dk1"/>
                </a:solidFill>
                <a:effectLst/>
                <a:uFillTx/>
                <a:latin typeface="Calibri"/>
              </a:rPr>
              <a:t>Click to edit Master title style</a:t>
            </a:r>
            <a:endParaRPr lang="en-US" sz="4400" b="0" u="none" strike="noStrike">
              <a:solidFill>
                <a:schemeClr val="dk1"/>
              </a:solidFill>
              <a:effectLst/>
              <a:uFillTx/>
              <a:latin typeface="Calibri"/>
            </a:endParaRPr>
          </a:p>
        </p:txBody>
      </p:sp>
      <p:sp>
        <p:nvSpPr>
          <p:cNvPr id="27" name="PlaceHolder 2"/>
          <p:cNvSpPr>
            <a:spLocks noGrp="1"/>
          </p:cNvSpPr>
          <p:nvPr>
            <p:ph type="body"/>
          </p:nvPr>
        </p:nvSpPr>
        <p:spPr>
          <a:xfrm>
            <a:off x="457200" y="1600200"/>
            <a:ext cx="4038120" cy="4525560"/>
          </a:xfrm>
          <a:prstGeom prst="rect">
            <a:avLst/>
          </a:prstGeom>
          <a:noFill/>
          <a:ln w="0">
            <a:noFill/>
          </a:ln>
        </p:spPr>
        <p:txBody>
          <a:bodyPr lIns="91440" tIns="45720" rIns="91440" bIns="45720" anchor="t">
            <a:noAutofit/>
          </a:bodyPr>
          <a:lstStyle>
            <a:lvl1pPr algn="l" defTabSz="457200">
              <a:lnSpc>
                <a:spcPct val="100000"/>
              </a:lnSpc>
              <a:spcBef>
                <a:spcPts val="561"/>
              </a:spcBef>
              <a:buClr>
                <a:srgbClr val="000000"/>
              </a:buClr>
              <a:buFont typeface="Arial"/>
              <a:buChar char="•"/>
              <a:defRPr lang="en-US" sz="2800" b="0" u="none" strike="noStrike">
                <a:solidFill>
                  <a:schemeClr val="dk1"/>
                </a:solidFill>
                <a:effectLst/>
                <a:uFillTx/>
                <a:latin typeface="Calibri"/>
              </a:defRPr>
            </a:lvl1pPr>
            <a:lvl2pPr lvl="1" algn="l" defTabSz="457200">
              <a:lnSpc>
                <a:spcPct val="100000"/>
              </a:lnSpc>
              <a:spcBef>
                <a:spcPts val="479"/>
              </a:spcBef>
              <a:buClr>
                <a:srgbClr val="000000"/>
              </a:buClr>
              <a:buFont typeface="Arial"/>
              <a:buChar char="–"/>
              <a:defRPr lang="en-US" sz="2400" b="0" u="none" strike="noStrike">
                <a:solidFill>
                  <a:schemeClr val="dk1"/>
                </a:solidFill>
                <a:effectLst/>
                <a:uFillTx/>
                <a:latin typeface="Calibri"/>
              </a:defRPr>
            </a:lvl2pPr>
            <a:lvl3pPr lvl="2" algn="l" defTabSz="457200">
              <a:lnSpc>
                <a:spcPct val="100000"/>
              </a:lnSpc>
              <a:spcBef>
                <a:spcPts val="400"/>
              </a:spcBef>
              <a:buClr>
                <a:srgbClr val="000000"/>
              </a:buClr>
              <a:buFont typeface="Arial"/>
              <a:buChar char="•"/>
              <a:defRPr lang="en-US" sz="2000" b="0" u="none" strike="noStrike">
                <a:solidFill>
                  <a:schemeClr val="dk1"/>
                </a:solidFill>
                <a:effectLst/>
                <a:uFillTx/>
                <a:latin typeface="Calibri"/>
              </a:defRPr>
            </a:lvl3pPr>
            <a:lvl4pPr lvl="3" algn="l" defTabSz="457200">
              <a:lnSpc>
                <a:spcPct val="100000"/>
              </a:lnSpc>
              <a:spcBef>
                <a:spcPts val="360"/>
              </a:spcBef>
              <a:buClr>
                <a:srgbClr val="000000"/>
              </a:buClr>
              <a:buFont typeface="Arial"/>
              <a:buChar char="–"/>
              <a:defRPr lang="en-US" sz="1800" b="0" u="none" strike="noStrike">
                <a:solidFill>
                  <a:schemeClr val="dk1"/>
                </a:solidFill>
                <a:effectLst/>
                <a:uFillTx/>
                <a:latin typeface="Calibri"/>
              </a:defRPr>
            </a:lvl4pPr>
            <a:lvl5pPr lvl="4" algn="l" defTabSz="457200">
              <a:lnSpc>
                <a:spcPct val="100000"/>
              </a:lnSpc>
              <a:spcBef>
                <a:spcPts val="360"/>
              </a:spcBef>
              <a:buClr>
                <a:srgbClr val="000000"/>
              </a:buClr>
              <a:buFont typeface="Arial"/>
              <a:buChar char="»"/>
              <a:defRPr lang="en-US" sz="1800" b="0" u="none" strike="noStrike">
                <a:solidFill>
                  <a:schemeClr val="dk1"/>
                </a:solidFill>
                <a:effectLst/>
                <a:uFillTx/>
                <a:latin typeface="Calibri"/>
              </a:defRPr>
            </a:lvl5pPr>
          </a:lstStyle>
          <a:p>
            <a:pPr marL="343080" indent="-343080" algn="l" defTabSz="457200">
              <a:lnSpc>
                <a:spcPct val="100000"/>
              </a:lnSpc>
              <a:spcBef>
                <a:spcPts val="561"/>
              </a:spcBef>
              <a:buClr>
                <a:srgbClr val="000000"/>
              </a:buClr>
              <a:buFont typeface="Arial"/>
              <a:buChar char="•"/>
            </a:pPr>
            <a:r>
              <a:rPr lang="en-US" sz="2800" b="0" u="none" strike="noStrike">
                <a:solidFill>
                  <a:schemeClr val="dk1"/>
                </a:solidFill>
                <a:effectLst/>
                <a:uFillTx/>
                <a:latin typeface="Calibri"/>
              </a:rPr>
              <a:t>Click to edit Master text styles</a:t>
            </a:r>
            <a:endParaRPr lang="en-US" sz="2800" b="0" u="none" strike="noStrike">
              <a:solidFill>
                <a:schemeClr val="dk1"/>
              </a:solidFill>
              <a:effectLst/>
              <a:uFillTx/>
              <a:latin typeface="Calibri"/>
            </a:endParaRPr>
          </a:p>
          <a:p>
            <a:pPr marL="743040" lvl="1" indent="-285840" algn="l" defTabSz="457200">
              <a:lnSpc>
                <a:spcPct val="100000"/>
              </a:lnSpc>
              <a:spcBef>
                <a:spcPts val="479"/>
              </a:spcBef>
              <a:buClr>
                <a:srgbClr val="000000"/>
              </a:buClr>
              <a:buFont typeface="Arial"/>
              <a:buChar char="–"/>
            </a:pPr>
            <a:r>
              <a:rPr lang="en-US" sz="2400" b="0" u="none" strike="noStrike">
                <a:solidFill>
                  <a:schemeClr val="dk1"/>
                </a:solidFill>
                <a:effectLst/>
                <a:uFillTx/>
                <a:latin typeface="Calibri"/>
              </a:rPr>
              <a:t>Second level</a:t>
            </a:r>
            <a:endParaRPr lang="en-US" sz="2400" b="0" u="none" strike="noStrike">
              <a:solidFill>
                <a:schemeClr val="dk1"/>
              </a:solidFill>
              <a:effectLst/>
              <a:uFillTx/>
              <a:latin typeface="Calibri"/>
            </a:endParaRPr>
          </a:p>
          <a:p>
            <a:pPr marL="1143000" lvl="2" indent="-228600" algn="l" defTabSz="457200">
              <a:lnSpc>
                <a:spcPct val="100000"/>
              </a:lnSpc>
              <a:spcBef>
                <a:spcPts val="400"/>
              </a:spcBef>
              <a:buClr>
                <a:srgbClr val="000000"/>
              </a:buClr>
              <a:buFont typeface="Arial"/>
              <a:buChar char="•"/>
            </a:pPr>
            <a:r>
              <a:rPr lang="en-US" sz="2000" b="0" u="none" strike="noStrike">
                <a:solidFill>
                  <a:schemeClr val="dk1"/>
                </a:solidFill>
                <a:effectLst/>
                <a:uFillTx/>
                <a:latin typeface="Calibri"/>
              </a:rPr>
              <a:t>Third level</a:t>
            </a:r>
            <a:endParaRPr lang="en-US" sz="2000" b="0" u="none" strike="noStrike">
              <a:solidFill>
                <a:schemeClr val="dk1"/>
              </a:solidFill>
              <a:effectLst/>
              <a:uFillTx/>
              <a:latin typeface="Calibri"/>
            </a:endParaRPr>
          </a:p>
          <a:p>
            <a:pPr marL="1600200" lvl="3" indent="-228600" algn="l" defTabSz="457200">
              <a:lnSpc>
                <a:spcPct val="100000"/>
              </a:lnSpc>
              <a:spcBef>
                <a:spcPts val="360"/>
              </a:spcBef>
              <a:buClr>
                <a:srgbClr val="000000"/>
              </a:buClr>
              <a:buFont typeface="Arial"/>
              <a:buChar char="–"/>
            </a:pPr>
            <a:r>
              <a:rPr lang="en-US" sz="1800" b="0" u="none" strike="noStrike">
                <a:solidFill>
                  <a:schemeClr val="dk1"/>
                </a:solidFill>
                <a:effectLst/>
                <a:uFillTx/>
                <a:latin typeface="Calibri"/>
              </a:rPr>
              <a:t>Fourth level</a:t>
            </a:r>
            <a:endParaRPr lang="en-US" sz="1800" b="0" u="none" strike="noStrike">
              <a:solidFill>
                <a:schemeClr val="dk1"/>
              </a:solidFill>
              <a:effectLst/>
              <a:uFillTx/>
              <a:latin typeface="Calibri"/>
            </a:endParaRPr>
          </a:p>
          <a:p>
            <a:pPr marL="2057400" lvl="4" indent="-228600" algn="l" defTabSz="457200">
              <a:lnSpc>
                <a:spcPct val="100000"/>
              </a:lnSpc>
              <a:spcBef>
                <a:spcPts val="360"/>
              </a:spcBef>
              <a:buClr>
                <a:srgbClr val="000000"/>
              </a:buClr>
              <a:buFont typeface="Arial"/>
              <a:buChar char="»"/>
            </a:pPr>
            <a:r>
              <a:rPr lang="en-US" sz="1800" b="0" u="none" strike="noStrike">
                <a:solidFill>
                  <a:schemeClr val="dk1"/>
                </a:solidFill>
                <a:effectLst/>
                <a:uFillTx/>
                <a:latin typeface="Calibri"/>
              </a:rPr>
              <a:t>Fifth level</a:t>
            </a:r>
            <a:endParaRPr lang="en-US" sz="1800" b="0" u="none" strike="noStrike">
              <a:solidFill>
                <a:schemeClr val="dk1"/>
              </a:solidFill>
              <a:effectLst/>
              <a:uFillTx/>
              <a:latin typeface="Calibri"/>
            </a:endParaRPr>
          </a:p>
        </p:txBody>
      </p:sp>
      <p:sp>
        <p:nvSpPr>
          <p:cNvPr id="28" name="PlaceHolder 3"/>
          <p:cNvSpPr>
            <a:spLocks noGrp="1"/>
          </p:cNvSpPr>
          <p:nvPr>
            <p:ph type="body"/>
          </p:nvPr>
        </p:nvSpPr>
        <p:spPr>
          <a:xfrm>
            <a:off x="4648320" y="1600200"/>
            <a:ext cx="4038120" cy="4525560"/>
          </a:xfrm>
          <a:prstGeom prst="rect">
            <a:avLst/>
          </a:prstGeom>
          <a:noFill/>
          <a:ln w="0">
            <a:noFill/>
          </a:ln>
        </p:spPr>
        <p:txBody>
          <a:bodyPr lIns="91440" tIns="45720" rIns="91440" bIns="45720" anchor="t">
            <a:noAutofit/>
          </a:bodyPr>
          <a:lstStyle>
            <a:lvl1pPr algn="l" defTabSz="457200">
              <a:lnSpc>
                <a:spcPct val="100000"/>
              </a:lnSpc>
              <a:spcBef>
                <a:spcPts val="561"/>
              </a:spcBef>
              <a:buClr>
                <a:srgbClr val="000000"/>
              </a:buClr>
              <a:buFont typeface="Arial"/>
              <a:buChar char="•"/>
              <a:defRPr lang="en-US" sz="2800" b="0" u="none" strike="noStrike">
                <a:solidFill>
                  <a:schemeClr val="dk1"/>
                </a:solidFill>
                <a:effectLst/>
                <a:uFillTx/>
                <a:latin typeface="Calibri"/>
              </a:defRPr>
            </a:lvl1pPr>
            <a:lvl2pPr lvl="1" algn="l" defTabSz="457200">
              <a:lnSpc>
                <a:spcPct val="100000"/>
              </a:lnSpc>
              <a:spcBef>
                <a:spcPts val="479"/>
              </a:spcBef>
              <a:buClr>
                <a:srgbClr val="000000"/>
              </a:buClr>
              <a:buFont typeface="Arial"/>
              <a:buChar char="–"/>
              <a:defRPr lang="en-US" sz="2400" b="0" u="none" strike="noStrike">
                <a:solidFill>
                  <a:schemeClr val="dk1"/>
                </a:solidFill>
                <a:effectLst/>
                <a:uFillTx/>
                <a:latin typeface="Calibri"/>
              </a:defRPr>
            </a:lvl2pPr>
            <a:lvl3pPr lvl="2" algn="l" defTabSz="457200">
              <a:lnSpc>
                <a:spcPct val="100000"/>
              </a:lnSpc>
              <a:spcBef>
                <a:spcPts val="400"/>
              </a:spcBef>
              <a:buClr>
                <a:srgbClr val="000000"/>
              </a:buClr>
              <a:buFont typeface="Arial"/>
              <a:buChar char="•"/>
              <a:defRPr lang="en-US" sz="2000" b="0" u="none" strike="noStrike">
                <a:solidFill>
                  <a:schemeClr val="dk1"/>
                </a:solidFill>
                <a:effectLst/>
                <a:uFillTx/>
                <a:latin typeface="Calibri"/>
              </a:defRPr>
            </a:lvl3pPr>
            <a:lvl4pPr lvl="3" algn="l" defTabSz="457200">
              <a:lnSpc>
                <a:spcPct val="100000"/>
              </a:lnSpc>
              <a:spcBef>
                <a:spcPts val="360"/>
              </a:spcBef>
              <a:buClr>
                <a:srgbClr val="000000"/>
              </a:buClr>
              <a:buFont typeface="Arial"/>
              <a:buChar char="–"/>
              <a:defRPr lang="en-US" sz="1800" b="0" u="none" strike="noStrike">
                <a:solidFill>
                  <a:schemeClr val="dk1"/>
                </a:solidFill>
                <a:effectLst/>
                <a:uFillTx/>
                <a:latin typeface="Calibri"/>
              </a:defRPr>
            </a:lvl4pPr>
            <a:lvl5pPr lvl="4" algn="l" defTabSz="457200">
              <a:lnSpc>
                <a:spcPct val="100000"/>
              </a:lnSpc>
              <a:spcBef>
                <a:spcPts val="360"/>
              </a:spcBef>
              <a:buClr>
                <a:srgbClr val="000000"/>
              </a:buClr>
              <a:buFont typeface="Arial"/>
              <a:buChar char="»"/>
              <a:defRPr lang="en-US" sz="1800" b="0" u="none" strike="noStrike">
                <a:solidFill>
                  <a:schemeClr val="dk1"/>
                </a:solidFill>
                <a:effectLst/>
                <a:uFillTx/>
                <a:latin typeface="Calibri"/>
              </a:defRPr>
            </a:lvl5pPr>
          </a:lstStyle>
          <a:p>
            <a:pPr marL="343080" indent="-343080" algn="l" defTabSz="457200">
              <a:lnSpc>
                <a:spcPct val="100000"/>
              </a:lnSpc>
              <a:spcBef>
                <a:spcPts val="561"/>
              </a:spcBef>
              <a:buClr>
                <a:srgbClr val="000000"/>
              </a:buClr>
              <a:buFont typeface="Arial"/>
              <a:buChar char="•"/>
            </a:pPr>
            <a:r>
              <a:rPr lang="en-US" sz="2800" b="0" u="none" strike="noStrike">
                <a:solidFill>
                  <a:schemeClr val="dk1"/>
                </a:solidFill>
                <a:effectLst/>
                <a:uFillTx/>
                <a:latin typeface="Calibri"/>
              </a:rPr>
              <a:t>Click to edit Master text styles</a:t>
            </a:r>
            <a:endParaRPr lang="en-US" sz="2800" b="0" u="none" strike="noStrike">
              <a:solidFill>
                <a:schemeClr val="dk1"/>
              </a:solidFill>
              <a:effectLst/>
              <a:uFillTx/>
              <a:latin typeface="Calibri"/>
            </a:endParaRPr>
          </a:p>
          <a:p>
            <a:pPr marL="743040" lvl="1" indent="-285840" algn="l" defTabSz="457200">
              <a:lnSpc>
                <a:spcPct val="100000"/>
              </a:lnSpc>
              <a:spcBef>
                <a:spcPts val="479"/>
              </a:spcBef>
              <a:buClr>
                <a:srgbClr val="000000"/>
              </a:buClr>
              <a:buFont typeface="Arial"/>
              <a:buChar char="–"/>
            </a:pPr>
            <a:r>
              <a:rPr lang="en-US" sz="2400" b="0" u="none" strike="noStrike">
                <a:solidFill>
                  <a:schemeClr val="dk1"/>
                </a:solidFill>
                <a:effectLst/>
                <a:uFillTx/>
                <a:latin typeface="Calibri"/>
              </a:rPr>
              <a:t>Second level</a:t>
            </a:r>
            <a:endParaRPr lang="en-US" sz="2400" b="0" u="none" strike="noStrike">
              <a:solidFill>
                <a:schemeClr val="dk1"/>
              </a:solidFill>
              <a:effectLst/>
              <a:uFillTx/>
              <a:latin typeface="Calibri"/>
            </a:endParaRPr>
          </a:p>
          <a:p>
            <a:pPr marL="1143000" lvl="2" indent="-228600" algn="l" defTabSz="457200">
              <a:lnSpc>
                <a:spcPct val="100000"/>
              </a:lnSpc>
              <a:spcBef>
                <a:spcPts val="400"/>
              </a:spcBef>
              <a:buClr>
                <a:srgbClr val="000000"/>
              </a:buClr>
              <a:buFont typeface="Arial"/>
              <a:buChar char="•"/>
            </a:pPr>
            <a:r>
              <a:rPr lang="en-US" sz="2000" b="0" u="none" strike="noStrike">
                <a:solidFill>
                  <a:schemeClr val="dk1"/>
                </a:solidFill>
                <a:effectLst/>
                <a:uFillTx/>
                <a:latin typeface="Calibri"/>
              </a:rPr>
              <a:t>Third level</a:t>
            </a:r>
            <a:endParaRPr lang="en-US" sz="2000" b="0" u="none" strike="noStrike">
              <a:solidFill>
                <a:schemeClr val="dk1"/>
              </a:solidFill>
              <a:effectLst/>
              <a:uFillTx/>
              <a:latin typeface="Calibri"/>
            </a:endParaRPr>
          </a:p>
          <a:p>
            <a:pPr marL="1600200" lvl="3" indent="-228600" algn="l" defTabSz="457200">
              <a:lnSpc>
                <a:spcPct val="100000"/>
              </a:lnSpc>
              <a:spcBef>
                <a:spcPts val="360"/>
              </a:spcBef>
              <a:buClr>
                <a:srgbClr val="000000"/>
              </a:buClr>
              <a:buFont typeface="Arial"/>
              <a:buChar char="–"/>
            </a:pPr>
            <a:r>
              <a:rPr lang="en-US" sz="1800" b="0" u="none" strike="noStrike">
                <a:solidFill>
                  <a:schemeClr val="dk1"/>
                </a:solidFill>
                <a:effectLst/>
                <a:uFillTx/>
                <a:latin typeface="Calibri"/>
              </a:rPr>
              <a:t>Fourth level</a:t>
            </a:r>
            <a:endParaRPr lang="en-US" sz="1800" b="0" u="none" strike="noStrike">
              <a:solidFill>
                <a:schemeClr val="dk1"/>
              </a:solidFill>
              <a:effectLst/>
              <a:uFillTx/>
              <a:latin typeface="Calibri"/>
            </a:endParaRPr>
          </a:p>
          <a:p>
            <a:pPr marL="2057400" lvl="4" indent="-228600" algn="l" defTabSz="457200">
              <a:lnSpc>
                <a:spcPct val="100000"/>
              </a:lnSpc>
              <a:spcBef>
                <a:spcPts val="360"/>
              </a:spcBef>
              <a:buClr>
                <a:srgbClr val="000000"/>
              </a:buClr>
              <a:buFont typeface="Arial"/>
              <a:buChar char="»"/>
            </a:pPr>
            <a:r>
              <a:rPr lang="en-US" sz="1800" b="0" u="none" strike="noStrike">
                <a:solidFill>
                  <a:schemeClr val="dk1"/>
                </a:solidFill>
                <a:effectLst/>
                <a:uFillTx/>
                <a:latin typeface="Calibri"/>
              </a:rPr>
              <a:t>Fifth level</a:t>
            </a:r>
            <a:endParaRPr lang="en-US" sz="1800" b="0" u="none" strike="noStrike">
              <a:solidFill>
                <a:schemeClr val="dk1"/>
              </a:solidFill>
              <a:effectLst/>
              <a:uFillTx/>
              <a:latin typeface="Calibri"/>
            </a:endParaRPr>
          </a:p>
        </p:txBody>
      </p:sp>
      <p:sp>
        <p:nvSpPr>
          <p:cNvPr id="29" name="PlaceHolder 4"/>
          <p:cNvSpPr>
            <a:spLocks noGrp="1"/>
          </p:cNvSpPr>
          <p:nvPr>
            <p:ph type="dt" idx="16"/>
          </p:nvPr>
        </p:nvSpPr>
        <p:spPr>
          <a:xfrm>
            <a:off x="457200" y="6356520"/>
            <a:ext cx="2133360" cy="364680"/>
          </a:xfrm>
          <a:prstGeom prst="rect">
            <a:avLst/>
          </a:prstGeom>
          <a:noFill/>
          <a:ln w="0">
            <a:noFill/>
          </a:ln>
        </p:spPr>
        <p:txBody>
          <a:bodyPr lIns="91440" tIns="45720" rIns="91440" bIns="45720" anchor="ctr">
            <a:noAutofit/>
          </a:bodyPr>
          <a:lstStyle>
            <a:lvl1pPr indent="0" algn="l" defTabSz="457200">
              <a:lnSpc>
                <a:spcPct val="100000"/>
              </a:lnSpc>
              <a:buNone/>
              <a:defRPr lang="en-US" sz="1200" b="0" u="none" strike="noStrike">
                <a:solidFill>
                  <a:schemeClr val="dk1">
                    <a:tint val="75000"/>
                  </a:schemeClr>
                </a:solidFill>
                <a:effectLst/>
                <a:uFillTx/>
                <a:latin typeface="Calibri"/>
              </a:defRPr>
            </a:lvl1pPr>
          </a:lstStyle>
          <a:p>
            <a:pPr indent="0" algn="l" defTabSz="457200">
              <a:lnSpc>
                <a:spcPct val="100000"/>
              </a:lnSpc>
              <a:buNone/>
            </a:pPr>
            <a:r>
              <a:rPr lang="en-US" sz="1200" b="0" u="none" strike="noStrike">
                <a:solidFill>
                  <a:schemeClr val="dk1">
                    <a:tint val="75000"/>
                  </a:schemeClr>
                </a:solidFill>
                <a:effectLst/>
                <a:uFillTx/>
                <a:latin typeface="Calibri"/>
              </a:rPr>
              <a:t>&lt;date/time&gt;</a:t>
            </a:r>
            <a:endParaRPr lang="en-US" sz="1200" b="0" u="none" strike="noStrike">
              <a:solidFill>
                <a:srgbClr val="000000"/>
              </a:solidFill>
              <a:effectLst/>
              <a:uFillTx/>
              <a:latin typeface="Times New Roman"/>
            </a:endParaRPr>
          </a:p>
        </p:txBody>
      </p:sp>
      <p:sp>
        <p:nvSpPr>
          <p:cNvPr id="30" name="PlaceHolder 5"/>
          <p:cNvSpPr>
            <a:spLocks noGrp="1"/>
          </p:cNvSpPr>
          <p:nvPr>
            <p:ph type="ftr" idx="17"/>
          </p:nvPr>
        </p:nvSpPr>
        <p:spPr>
          <a:xfrm>
            <a:off x="3124080" y="6356520"/>
            <a:ext cx="2895120" cy="364680"/>
          </a:xfrm>
          <a:prstGeom prst="rect">
            <a:avLst/>
          </a:prstGeom>
          <a:noFill/>
          <a:ln w="0">
            <a:noFill/>
          </a:ln>
        </p:spPr>
        <p:txBody>
          <a:bodyPr lIns="91440" tIns="45720" rIns="91440" bIns="45720" anchor="ctr">
            <a:noAutofit/>
          </a:bodyPr>
          <a:lstStyle>
            <a:lvl1pPr indent="0" algn="ctr">
              <a:buNone/>
              <a:defRPr lang="en-US" sz="1400" b="0" u="none" strike="noStrike">
                <a:solidFill>
                  <a:srgbClr val="000000"/>
                </a:solidFill>
                <a:effectLst/>
                <a:uFillTx/>
                <a:latin typeface="Times New Roman"/>
              </a:defRPr>
            </a:lvl1pPr>
          </a:lstStyle>
          <a:p>
            <a:pPr indent="0" algn="ctr">
              <a:buNone/>
            </a:pPr>
            <a:r>
              <a:rPr lang="en-US" sz="1400" b="0" u="none" strike="noStrike">
                <a:solidFill>
                  <a:srgbClr val="000000"/>
                </a:solidFill>
                <a:effectLst/>
                <a:uFillTx/>
                <a:latin typeface="Times New Roman"/>
              </a:rPr>
              <a:t>&lt;footer&gt;</a:t>
            </a:r>
            <a:endParaRPr lang="en-US" sz="1400" b="0" u="none" strike="noStrike">
              <a:solidFill>
                <a:srgbClr val="000000"/>
              </a:solidFill>
              <a:effectLst/>
              <a:uFillTx/>
              <a:latin typeface="Times New Roman"/>
            </a:endParaRPr>
          </a:p>
        </p:txBody>
      </p:sp>
      <p:sp>
        <p:nvSpPr>
          <p:cNvPr id="31" name="PlaceHolder 6"/>
          <p:cNvSpPr>
            <a:spLocks noGrp="1"/>
          </p:cNvSpPr>
          <p:nvPr>
            <p:ph type="sldNum" idx="18"/>
          </p:nvPr>
        </p:nvSpPr>
        <p:spPr>
          <a:xfrm>
            <a:off x="6553080" y="6356520"/>
            <a:ext cx="2133360" cy="364680"/>
          </a:xfrm>
          <a:prstGeom prst="rect">
            <a:avLst/>
          </a:prstGeom>
          <a:noFill/>
          <a:ln w="0">
            <a:noFill/>
          </a:ln>
        </p:spPr>
        <p:txBody>
          <a:bodyPr lIns="91440" tIns="45720" rIns="91440" bIns="45720" anchor="ctr">
            <a:noAutofit/>
          </a:bodyPr>
          <a:lstStyle>
            <a:lvl1pPr indent="0" algn="r" defTabSz="457200">
              <a:lnSpc>
                <a:spcPct val="100000"/>
              </a:lnSpc>
              <a:buNone/>
              <a:defRPr lang="en-US" sz="1200" b="0" u="none" strike="noStrike">
                <a:solidFill>
                  <a:schemeClr val="dk1">
                    <a:tint val="75000"/>
                  </a:schemeClr>
                </a:solidFill>
                <a:effectLst/>
                <a:uFillTx/>
                <a:latin typeface="Calibri"/>
              </a:defRPr>
            </a:lvl1pPr>
          </a:lstStyle>
          <a:p>
            <a:pPr indent="0" algn="r" defTabSz="457200">
              <a:lnSpc>
                <a:spcPct val="100000"/>
              </a:lnSpc>
              <a:buNone/>
            </a:pPr>
            <a:fld id="{87C97217-561C-4D2D-83AC-6ABD3FA7C975}" type="slidenum">
              <a:rPr lang="en-US" sz="1200" b="0" u="none" strike="noStrike">
                <a:solidFill>
                  <a:schemeClr val="dk1">
                    <a:tint val="75000"/>
                  </a:schemeClr>
                </a:solidFill>
                <a:effectLst/>
                <a:uFillTx/>
                <a:latin typeface="Calibri"/>
              </a:rPr>
              <a:t>&lt;number&gt;</a:t>
            </a:fld>
            <a:endParaRPr lang="en-US" sz="1200" b="0" u="none" strike="noStrike">
              <a:solidFill>
                <a:srgbClr val="000000"/>
              </a:solidFill>
              <a:effectLst/>
              <a:uFillTx/>
              <a:latin typeface="Times New Roman"/>
            </a:endParaRPr>
          </a:p>
        </p:txBody>
      </p:sp>
    </p:spTree>
  </p:cSld>
</p:sldLayout>
</file>

<file path=ppt/slideLayouts/slideLayout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Comparison">
    <p:bg>
      <p:bgPr>
        <a:solidFill>
          <a:srgbClr val="FFFFFF"/>
        </a:solidFill>
      </p:bgPr>
    </p:bg>
    <p:spTree>
      <p:nvGrpSpPr>
        <p:cNvPr id="1" name=""/>
        <p:cNvGrpSpPr/>
        <p:nvPr/>
      </p:nvGrpSpPr>
      <p:grpSpPr>
        <a:xfrm>
          <a:off x="0" y="0"/>
          <a:ext cx="0" cy="0"/>
          <a:chOff x="0" y="0"/>
          <a:chExt cx="0" cy="0"/>
        </a:xfrm>
      </p:grpSpPr>
      <p:sp>
        <p:nvSpPr>
          <p:cNvPr id="32" name="PlaceHolder 1"/>
          <p:cNvSpPr>
            <a:spLocks noGrp="1"/>
          </p:cNvSpPr>
          <p:nvPr>
            <p:ph type="title"/>
          </p:nvPr>
        </p:nvSpPr>
        <p:spPr>
          <a:xfrm>
            <a:off x="457200" y="274680"/>
            <a:ext cx="8229240" cy="1142640"/>
          </a:xfrm>
          <a:prstGeom prst="rect">
            <a:avLst/>
          </a:prstGeom>
          <a:noFill/>
          <a:ln w="0">
            <a:noFill/>
          </a:ln>
        </p:spPr>
        <p:txBody>
          <a:bodyPr lIns="91440" tIns="45720" rIns="91440" bIns="45720" anchor="ctr">
            <a:noAutofit/>
          </a:bodyPr>
          <a:lstStyle>
            <a:lvl1pPr indent="0" algn="ctr" defTabSz="457200">
              <a:lnSpc>
                <a:spcPct val="100000"/>
              </a:lnSpc>
              <a:buNone/>
              <a:defRPr lang="en-US" sz="4400" b="0" u="none" strike="noStrike">
                <a:solidFill>
                  <a:schemeClr val="dk1"/>
                </a:solidFill>
                <a:effectLst/>
                <a:uFillTx/>
                <a:latin typeface="Calibri"/>
              </a:defRPr>
            </a:lvl1pPr>
          </a:lstStyle>
          <a:p>
            <a:pPr indent="0" algn="ctr" defTabSz="457200">
              <a:lnSpc>
                <a:spcPct val="100000"/>
              </a:lnSpc>
              <a:buNone/>
            </a:pPr>
            <a:r>
              <a:rPr lang="en-US" sz="4400" b="0" u="none" strike="noStrike">
                <a:solidFill>
                  <a:schemeClr val="dk1"/>
                </a:solidFill>
                <a:effectLst/>
                <a:uFillTx/>
                <a:latin typeface="Calibri"/>
              </a:rPr>
              <a:t>Click to edit Master title style</a:t>
            </a:r>
            <a:endParaRPr lang="en-US" sz="4400" b="0" u="none" strike="noStrike">
              <a:solidFill>
                <a:schemeClr val="dk1"/>
              </a:solidFill>
              <a:effectLst/>
              <a:uFillTx/>
              <a:latin typeface="Calibri"/>
            </a:endParaRPr>
          </a:p>
        </p:txBody>
      </p:sp>
      <p:sp>
        <p:nvSpPr>
          <p:cNvPr id="33" name="PlaceHolder 2"/>
          <p:cNvSpPr>
            <a:spLocks noGrp="1"/>
          </p:cNvSpPr>
          <p:nvPr>
            <p:ph type="body"/>
          </p:nvPr>
        </p:nvSpPr>
        <p:spPr>
          <a:xfrm>
            <a:off x="457200" y="1535040"/>
            <a:ext cx="4039920" cy="639360"/>
          </a:xfrm>
          <a:prstGeom prst="rect">
            <a:avLst/>
          </a:prstGeom>
          <a:noFill/>
          <a:ln w="0">
            <a:noFill/>
          </a:ln>
        </p:spPr>
        <p:txBody>
          <a:bodyPr lIns="91440" tIns="45720" rIns="91440" bIns="45720" anchor="b">
            <a:noAutofit/>
          </a:bodyPr>
          <a:lstStyle>
            <a:lvl1pPr indent="0" algn="l" defTabSz="457200">
              <a:lnSpc>
                <a:spcPct val="100000"/>
              </a:lnSpc>
              <a:spcBef>
                <a:spcPts val="479"/>
              </a:spcBef>
              <a:buNone/>
              <a:tabLst>
                <a:tab pos="0" algn="l"/>
              </a:tabLst>
              <a:defRPr lang="en-US" sz="2400" b="1" u="none" strike="noStrike">
                <a:solidFill>
                  <a:schemeClr val="dk1"/>
                </a:solidFill>
                <a:effectLst/>
                <a:uFillTx/>
                <a:latin typeface="Calibri"/>
              </a:defRPr>
            </a:lvl1pPr>
          </a:lstStyle>
          <a:p>
            <a:pPr indent="0" algn="l" defTabSz="457200">
              <a:lnSpc>
                <a:spcPct val="100000"/>
              </a:lnSpc>
              <a:spcBef>
                <a:spcPts val="479"/>
              </a:spcBef>
              <a:buNone/>
              <a:tabLst>
                <a:tab pos="0" algn="l"/>
              </a:tabLst>
            </a:pPr>
            <a:r>
              <a:rPr lang="en-US" sz="2400" b="1" u="none" strike="noStrike">
                <a:solidFill>
                  <a:schemeClr val="dk1"/>
                </a:solidFill>
                <a:effectLst/>
                <a:uFillTx/>
                <a:latin typeface="Calibri"/>
              </a:rPr>
              <a:t>Click to edit Master text styles</a:t>
            </a:r>
            <a:endParaRPr lang="en-US" sz="2400" b="0" u="none" strike="noStrike">
              <a:solidFill>
                <a:schemeClr val="dk1"/>
              </a:solidFill>
              <a:effectLst/>
              <a:uFillTx/>
              <a:latin typeface="Calibri"/>
            </a:endParaRPr>
          </a:p>
        </p:txBody>
      </p:sp>
      <p:sp>
        <p:nvSpPr>
          <p:cNvPr id="34" name="PlaceHolder 3"/>
          <p:cNvSpPr>
            <a:spLocks noGrp="1"/>
          </p:cNvSpPr>
          <p:nvPr>
            <p:ph type="body"/>
          </p:nvPr>
        </p:nvSpPr>
        <p:spPr>
          <a:xfrm>
            <a:off x="457200" y="2174760"/>
            <a:ext cx="4039920" cy="3951000"/>
          </a:xfrm>
          <a:prstGeom prst="rect">
            <a:avLst/>
          </a:prstGeom>
          <a:noFill/>
          <a:ln w="0">
            <a:noFill/>
          </a:ln>
        </p:spPr>
        <p:txBody>
          <a:bodyPr lIns="91440" tIns="45720" rIns="91440" bIns="45720" anchor="t">
            <a:noAutofit/>
          </a:bodyPr>
          <a:lstStyle>
            <a:lvl1pPr algn="l" defTabSz="457200">
              <a:lnSpc>
                <a:spcPct val="100000"/>
              </a:lnSpc>
              <a:spcBef>
                <a:spcPts val="479"/>
              </a:spcBef>
              <a:buClr>
                <a:srgbClr val="000000"/>
              </a:buClr>
              <a:buFont typeface="Arial"/>
              <a:buChar char="•"/>
              <a:tabLst>
                <a:tab pos="0" algn="l"/>
              </a:tabLst>
              <a:defRPr lang="en-US" sz="2400" b="0" u="none" strike="noStrike">
                <a:solidFill>
                  <a:schemeClr val="dk1"/>
                </a:solidFill>
                <a:effectLst/>
                <a:uFillTx/>
                <a:latin typeface="Calibri"/>
              </a:defRPr>
            </a:lvl1pPr>
            <a:lvl2pPr lvl="1" algn="l" defTabSz="457200">
              <a:lnSpc>
                <a:spcPct val="100000"/>
              </a:lnSpc>
              <a:spcBef>
                <a:spcPts val="400"/>
              </a:spcBef>
              <a:buClr>
                <a:srgbClr val="000000"/>
              </a:buClr>
              <a:buFont typeface="Arial"/>
              <a:buChar char="–"/>
              <a:tabLst>
                <a:tab pos="0" algn="l"/>
              </a:tabLst>
              <a:defRPr lang="en-US" sz="2000" b="0" u="none" strike="noStrike">
                <a:solidFill>
                  <a:schemeClr val="dk1"/>
                </a:solidFill>
                <a:effectLst/>
                <a:uFillTx/>
                <a:latin typeface="Calibri"/>
              </a:defRPr>
            </a:lvl2pPr>
            <a:lvl3pPr lvl="2" algn="l" defTabSz="457200">
              <a:lnSpc>
                <a:spcPct val="100000"/>
              </a:lnSpc>
              <a:spcBef>
                <a:spcPts val="360"/>
              </a:spcBef>
              <a:buClr>
                <a:srgbClr val="000000"/>
              </a:buClr>
              <a:buFont typeface="Arial"/>
              <a:buChar char="•"/>
              <a:tabLst>
                <a:tab pos="0" algn="l"/>
              </a:tabLst>
              <a:defRPr lang="en-US" sz="1800" b="0" u="none" strike="noStrike">
                <a:solidFill>
                  <a:schemeClr val="dk1"/>
                </a:solidFill>
                <a:effectLst/>
                <a:uFillTx/>
                <a:latin typeface="Calibri"/>
              </a:defRPr>
            </a:lvl3pPr>
            <a:lvl4pPr lvl="3" algn="l" defTabSz="457200">
              <a:lnSpc>
                <a:spcPct val="100000"/>
              </a:lnSpc>
              <a:spcBef>
                <a:spcPts val="320"/>
              </a:spcBef>
              <a:buClr>
                <a:srgbClr val="000000"/>
              </a:buClr>
              <a:buFont typeface="Arial"/>
              <a:buChar char="–"/>
              <a:tabLst>
                <a:tab pos="0" algn="l"/>
              </a:tabLst>
              <a:defRPr lang="en-US" sz="1600" b="0" u="none" strike="noStrike">
                <a:solidFill>
                  <a:schemeClr val="dk1"/>
                </a:solidFill>
                <a:effectLst/>
                <a:uFillTx/>
                <a:latin typeface="Calibri"/>
              </a:defRPr>
            </a:lvl4pPr>
            <a:lvl5pPr lvl="4" algn="l" defTabSz="457200">
              <a:lnSpc>
                <a:spcPct val="100000"/>
              </a:lnSpc>
              <a:spcBef>
                <a:spcPts val="320"/>
              </a:spcBef>
              <a:buClr>
                <a:srgbClr val="000000"/>
              </a:buClr>
              <a:buFont typeface="Arial"/>
              <a:buChar char="»"/>
              <a:tabLst>
                <a:tab pos="0" algn="l"/>
              </a:tabLst>
              <a:defRPr lang="en-US" sz="1600" b="0" u="none" strike="noStrike">
                <a:solidFill>
                  <a:schemeClr val="dk1"/>
                </a:solidFill>
                <a:effectLst/>
                <a:uFillTx/>
                <a:latin typeface="Calibri"/>
              </a:defRPr>
            </a:lvl5pPr>
          </a:lstStyle>
          <a:p>
            <a:pPr marL="343080" indent="-343080" algn="l" defTabSz="457200">
              <a:lnSpc>
                <a:spcPct val="100000"/>
              </a:lnSpc>
              <a:spcBef>
                <a:spcPts val="479"/>
              </a:spcBef>
              <a:buClr>
                <a:srgbClr val="000000"/>
              </a:buClr>
              <a:buFont typeface="Arial"/>
              <a:buChar char="•"/>
              <a:tabLst>
                <a:tab pos="0" algn="l"/>
              </a:tabLst>
            </a:pPr>
            <a:r>
              <a:rPr lang="en-US" sz="2400" b="0" u="none" strike="noStrike">
                <a:solidFill>
                  <a:schemeClr val="dk1"/>
                </a:solidFill>
                <a:effectLst/>
                <a:uFillTx/>
                <a:latin typeface="Calibri"/>
              </a:rPr>
              <a:t>Click to edit Master text styles</a:t>
            </a:r>
            <a:endParaRPr lang="en-US" sz="2400" b="0" u="none" strike="noStrike">
              <a:solidFill>
                <a:schemeClr val="dk1"/>
              </a:solidFill>
              <a:effectLst/>
              <a:uFillTx/>
              <a:latin typeface="Calibri"/>
            </a:endParaRPr>
          </a:p>
          <a:p>
            <a:pPr marL="743040" lvl="1" indent="-285840" algn="l" defTabSz="457200">
              <a:lnSpc>
                <a:spcPct val="100000"/>
              </a:lnSpc>
              <a:spcBef>
                <a:spcPts val="400"/>
              </a:spcBef>
              <a:buClr>
                <a:srgbClr val="000000"/>
              </a:buClr>
              <a:buFont typeface="Arial"/>
              <a:buChar char="–"/>
              <a:tabLst>
                <a:tab pos="0" algn="l"/>
              </a:tabLst>
            </a:pPr>
            <a:r>
              <a:rPr lang="en-US" sz="2000" b="0" u="none" strike="noStrike">
                <a:solidFill>
                  <a:schemeClr val="dk1"/>
                </a:solidFill>
                <a:effectLst/>
                <a:uFillTx/>
                <a:latin typeface="Calibri"/>
              </a:rPr>
              <a:t>Second level</a:t>
            </a:r>
            <a:endParaRPr lang="en-US" sz="2000" b="0" u="none" strike="noStrike">
              <a:solidFill>
                <a:schemeClr val="dk1"/>
              </a:solidFill>
              <a:effectLst/>
              <a:uFillTx/>
              <a:latin typeface="Calibri"/>
            </a:endParaRPr>
          </a:p>
          <a:p>
            <a:pPr marL="1143000" lvl="2" indent="-228600" algn="l" defTabSz="457200">
              <a:lnSpc>
                <a:spcPct val="100000"/>
              </a:lnSpc>
              <a:spcBef>
                <a:spcPts val="360"/>
              </a:spcBef>
              <a:buClr>
                <a:srgbClr val="000000"/>
              </a:buClr>
              <a:buFont typeface="Arial"/>
              <a:buChar char="•"/>
              <a:tabLst>
                <a:tab pos="0" algn="l"/>
              </a:tabLst>
            </a:pPr>
            <a:r>
              <a:rPr lang="en-US" sz="1800" b="0" u="none" strike="noStrike">
                <a:solidFill>
                  <a:schemeClr val="dk1"/>
                </a:solidFill>
                <a:effectLst/>
                <a:uFillTx/>
                <a:latin typeface="Calibri"/>
              </a:rPr>
              <a:t>Third level</a:t>
            </a:r>
            <a:endParaRPr lang="en-US" sz="1800" b="0" u="none" strike="noStrike">
              <a:solidFill>
                <a:schemeClr val="dk1"/>
              </a:solidFill>
              <a:effectLst/>
              <a:uFillTx/>
              <a:latin typeface="Calibri"/>
            </a:endParaRPr>
          </a:p>
          <a:p>
            <a:pPr marL="1600200" lvl="3" indent="-228600" algn="l" defTabSz="457200">
              <a:lnSpc>
                <a:spcPct val="100000"/>
              </a:lnSpc>
              <a:spcBef>
                <a:spcPts val="320"/>
              </a:spcBef>
              <a:buClr>
                <a:srgbClr val="000000"/>
              </a:buClr>
              <a:buFont typeface="Arial"/>
              <a:buChar char="–"/>
              <a:tabLst>
                <a:tab pos="0" algn="l"/>
              </a:tabLst>
            </a:pPr>
            <a:r>
              <a:rPr lang="en-US" sz="1600" b="0" u="none" strike="noStrike">
                <a:solidFill>
                  <a:schemeClr val="dk1"/>
                </a:solidFill>
                <a:effectLst/>
                <a:uFillTx/>
                <a:latin typeface="Calibri"/>
              </a:rPr>
              <a:t>Fourth level</a:t>
            </a:r>
            <a:endParaRPr lang="en-US" sz="1600" b="0" u="none" strike="noStrike">
              <a:solidFill>
                <a:schemeClr val="dk1"/>
              </a:solidFill>
              <a:effectLst/>
              <a:uFillTx/>
              <a:latin typeface="Calibri"/>
            </a:endParaRPr>
          </a:p>
          <a:p>
            <a:pPr marL="2057400" lvl="4" indent="-228600" algn="l" defTabSz="457200">
              <a:lnSpc>
                <a:spcPct val="100000"/>
              </a:lnSpc>
              <a:spcBef>
                <a:spcPts val="320"/>
              </a:spcBef>
              <a:buClr>
                <a:srgbClr val="000000"/>
              </a:buClr>
              <a:buFont typeface="Arial"/>
              <a:buChar char="»"/>
              <a:tabLst>
                <a:tab pos="0" algn="l"/>
              </a:tabLst>
            </a:pPr>
            <a:r>
              <a:rPr lang="en-US" sz="1600" b="0" u="none" strike="noStrike">
                <a:solidFill>
                  <a:schemeClr val="dk1"/>
                </a:solidFill>
                <a:effectLst/>
                <a:uFillTx/>
                <a:latin typeface="Calibri"/>
              </a:rPr>
              <a:t>Fifth level</a:t>
            </a:r>
            <a:endParaRPr lang="en-US" sz="1600" b="0" u="none" strike="noStrike">
              <a:solidFill>
                <a:schemeClr val="dk1"/>
              </a:solidFill>
              <a:effectLst/>
              <a:uFillTx/>
              <a:latin typeface="Calibri"/>
            </a:endParaRPr>
          </a:p>
        </p:txBody>
      </p:sp>
      <p:sp>
        <p:nvSpPr>
          <p:cNvPr id="35" name="PlaceHolder 4"/>
          <p:cNvSpPr>
            <a:spLocks noGrp="1"/>
          </p:cNvSpPr>
          <p:nvPr>
            <p:ph type="body"/>
          </p:nvPr>
        </p:nvSpPr>
        <p:spPr>
          <a:xfrm>
            <a:off x="4645080" y="1535040"/>
            <a:ext cx="4041360" cy="639360"/>
          </a:xfrm>
          <a:prstGeom prst="rect">
            <a:avLst/>
          </a:prstGeom>
          <a:noFill/>
          <a:ln w="0">
            <a:noFill/>
          </a:ln>
        </p:spPr>
        <p:txBody>
          <a:bodyPr lIns="91440" tIns="45720" rIns="91440" bIns="45720" anchor="b">
            <a:noAutofit/>
          </a:bodyPr>
          <a:lstStyle>
            <a:lvl1pPr indent="0" algn="l" defTabSz="457200">
              <a:lnSpc>
                <a:spcPct val="100000"/>
              </a:lnSpc>
              <a:spcBef>
                <a:spcPts val="479"/>
              </a:spcBef>
              <a:buNone/>
              <a:tabLst>
                <a:tab pos="0" algn="l"/>
              </a:tabLst>
              <a:defRPr lang="en-US" sz="2400" b="1" u="none" strike="noStrike">
                <a:solidFill>
                  <a:schemeClr val="dk1"/>
                </a:solidFill>
                <a:effectLst/>
                <a:uFillTx/>
                <a:latin typeface="Calibri"/>
              </a:defRPr>
            </a:lvl1pPr>
          </a:lstStyle>
          <a:p>
            <a:pPr indent="0" algn="l" defTabSz="457200">
              <a:lnSpc>
                <a:spcPct val="100000"/>
              </a:lnSpc>
              <a:spcBef>
                <a:spcPts val="479"/>
              </a:spcBef>
              <a:buNone/>
              <a:tabLst>
                <a:tab pos="0" algn="l"/>
              </a:tabLst>
            </a:pPr>
            <a:r>
              <a:rPr lang="en-US" sz="2400" b="1" u="none" strike="noStrike">
                <a:solidFill>
                  <a:schemeClr val="dk1"/>
                </a:solidFill>
                <a:effectLst/>
                <a:uFillTx/>
                <a:latin typeface="Calibri"/>
              </a:rPr>
              <a:t>Click to edit Master text styles</a:t>
            </a:r>
            <a:endParaRPr lang="en-US" sz="2400" b="0" u="none" strike="noStrike">
              <a:solidFill>
                <a:schemeClr val="dk1"/>
              </a:solidFill>
              <a:effectLst/>
              <a:uFillTx/>
              <a:latin typeface="Calibri"/>
            </a:endParaRPr>
          </a:p>
        </p:txBody>
      </p:sp>
      <p:sp>
        <p:nvSpPr>
          <p:cNvPr id="36" name="PlaceHolder 5"/>
          <p:cNvSpPr>
            <a:spLocks noGrp="1"/>
          </p:cNvSpPr>
          <p:nvPr>
            <p:ph type="body"/>
          </p:nvPr>
        </p:nvSpPr>
        <p:spPr>
          <a:xfrm>
            <a:off x="4645080" y="2174760"/>
            <a:ext cx="4041360" cy="3951000"/>
          </a:xfrm>
          <a:prstGeom prst="rect">
            <a:avLst/>
          </a:prstGeom>
          <a:noFill/>
          <a:ln w="0">
            <a:noFill/>
          </a:ln>
        </p:spPr>
        <p:txBody>
          <a:bodyPr lIns="91440" tIns="45720" rIns="91440" bIns="45720" anchor="t">
            <a:noAutofit/>
          </a:bodyPr>
          <a:lstStyle>
            <a:lvl1pPr algn="l" defTabSz="457200">
              <a:lnSpc>
                <a:spcPct val="100000"/>
              </a:lnSpc>
              <a:spcBef>
                <a:spcPts val="479"/>
              </a:spcBef>
              <a:buClr>
                <a:srgbClr val="000000"/>
              </a:buClr>
              <a:buFont typeface="Arial"/>
              <a:buChar char="•"/>
              <a:tabLst>
                <a:tab pos="0" algn="l"/>
              </a:tabLst>
              <a:defRPr lang="en-US" sz="2400" b="0" u="none" strike="noStrike">
                <a:solidFill>
                  <a:schemeClr val="dk1"/>
                </a:solidFill>
                <a:effectLst/>
                <a:uFillTx/>
                <a:latin typeface="Calibri"/>
              </a:defRPr>
            </a:lvl1pPr>
            <a:lvl2pPr lvl="1" algn="l" defTabSz="457200">
              <a:lnSpc>
                <a:spcPct val="100000"/>
              </a:lnSpc>
              <a:spcBef>
                <a:spcPts val="400"/>
              </a:spcBef>
              <a:buClr>
                <a:srgbClr val="000000"/>
              </a:buClr>
              <a:buFont typeface="Arial"/>
              <a:buChar char="–"/>
              <a:tabLst>
                <a:tab pos="0" algn="l"/>
              </a:tabLst>
              <a:defRPr lang="en-US" sz="2000" b="0" u="none" strike="noStrike">
                <a:solidFill>
                  <a:schemeClr val="dk1"/>
                </a:solidFill>
                <a:effectLst/>
                <a:uFillTx/>
                <a:latin typeface="Calibri"/>
              </a:defRPr>
            </a:lvl2pPr>
            <a:lvl3pPr lvl="2" algn="l" defTabSz="457200">
              <a:lnSpc>
                <a:spcPct val="100000"/>
              </a:lnSpc>
              <a:spcBef>
                <a:spcPts val="360"/>
              </a:spcBef>
              <a:buClr>
                <a:srgbClr val="000000"/>
              </a:buClr>
              <a:buFont typeface="Arial"/>
              <a:buChar char="•"/>
              <a:tabLst>
                <a:tab pos="0" algn="l"/>
              </a:tabLst>
              <a:defRPr lang="en-US" sz="1800" b="0" u="none" strike="noStrike">
                <a:solidFill>
                  <a:schemeClr val="dk1"/>
                </a:solidFill>
                <a:effectLst/>
                <a:uFillTx/>
                <a:latin typeface="Calibri"/>
              </a:defRPr>
            </a:lvl3pPr>
            <a:lvl4pPr lvl="3" algn="l" defTabSz="457200">
              <a:lnSpc>
                <a:spcPct val="100000"/>
              </a:lnSpc>
              <a:spcBef>
                <a:spcPts val="320"/>
              </a:spcBef>
              <a:buClr>
                <a:srgbClr val="000000"/>
              </a:buClr>
              <a:buFont typeface="Arial"/>
              <a:buChar char="–"/>
              <a:tabLst>
                <a:tab pos="0" algn="l"/>
              </a:tabLst>
              <a:defRPr lang="en-US" sz="1600" b="0" u="none" strike="noStrike">
                <a:solidFill>
                  <a:schemeClr val="dk1"/>
                </a:solidFill>
                <a:effectLst/>
                <a:uFillTx/>
                <a:latin typeface="Calibri"/>
              </a:defRPr>
            </a:lvl4pPr>
            <a:lvl5pPr lvl="4" algn="l" defTabSz="457200">
              <a:lnSpc>
                <a:spcPct val="100000"/>
              </a:lnSpc>
              <a:spcBef>
                <a:spcPts val="320"/>
              </a:spcBef>
              <a:buClr>
                <a:srgbClr val="000000"/>
              </a:buClr>
              <a:buFont typeface="Arial"/>
              <a:buChar char="»"/>
              <a:tabLst>
                <a:tab pos="0" algn="l"/>
              </a:tabLst>
              <a:defRPr lang="en-US" sz="1600" b="0" u="none" strike="noStrike">
                <a:solidFill>
                  <a:schemeClr val="dk1"/>
                </a:solidFill>
                <a:effectLst/>
                <a:uFillTx/>
                <a:latin typeface="Calibri"/>
              </a:defRPr>
            </a:lvl5pPr>
          </a:lstStyle>
          <a:p>
            <a:pPr marL="343080" indent="-343080" algn="l" defTabSz="457200">
              <a:lnSpc>
                <a:spcPct val="100000"/>
              </a:lnSpc>
              <a:spcBef>
                <a:spcPts val="479"/>
              </a:spcBef>
              <a:buClr>
                <a:srgbClr val="000000"/>
              </a:buClr>
              <a:buFont typeface="Arial"/>
              <a:buChar char="•"/>
              <a:tabLst>
                <a:tab pos="0" algn="l"/>
              </a:tabLst>
            </a:pPr>
            <a:r>
              <a:rPr lang="en-US" sz="2400" b="0" u="none" strike="noStrike">
                <a:solidFill>
                  <a:schemeClr val="dk1"/>
                </a:solidFill>
                <a:effectLst/>
                <a:uFillTx/>
                <a:latin typeface="Calibri"/>
              </a:rPr>
              <a:t>Click to edit Master text styles</a:t>
            </a:r>
            <a:endParaRPr lang="en-US" sz="2400" b="0" u="none" strike="noStrike">
              <a:solidFill>
                <a:schemeClr val="dk1"/>
              </a:solidFill>
              <a:effectLst/>
              <a:uFillTx/>
              <a:latin typeface="Calibri"/>
            </a:endParaRPr>
          </a:p>
          <a:p>
            <a:pPr marL="743040" lvl="1" indent="-285840" algn="l" defTabSz="457200">
              <a:lnSpc>
                <a:spcPct val="100000"/>
              </a:lnSpc>
              <a:spcBef>
                <a:spcPts val="400"/>
              </a:spcBef>
              <a:buClr>
                <a:srgbClr val="000000"/>
              </a:buClr>
              <a:buFont typeface="Arial"/>
              <a:buChar char="–"/>
              <a:tabLst>
                <a:tab pos="0" algn="l"/>
              </a:tabLst>
            </a:pPr>
            <a:r>
              <a:rPr lang="en-US" sz="2000" b="0" u="none" strike="noStrike">
                <a:solidFill>
                  <a:schemeClr val="dk1"/>
                </a:solidFill>
                <a:effectLst/>
                <a:uFillTx/>
                <a:latin typeface="Calibri"/>
              </a:rPr>
              <a:t>Second level</a:t>
            </a:r>
            <a:endParaRPr lang="en-US" sz="2000" b="0" u="none" strike="noStrike">
              <a:solidFill>
                <a:schemeClr val="dk1"/>
              </a:solidFill>
              <a:effectLst/>
              <a:uFillTx/>
              <a:latin typeface="Calibri"/>
            </a:endParaRPr>
          </a:p>
          <a:p>
            <a:pPr marL="1143000" lvl="2" indent="-228600" algn="l" defTabSz="457200">
              <a:lnSpc>
                <a:spcPct val="100000"/>
              </a:lnSpc>
              <a:spcBef>
                <a:spcPts val="360"/>
              </a:spcBef>
              <a:buClr>
                <a:srgbClr val="000000"/>
              </a:buClr>
              <a:buFont typeface="Arial"/>
              <a:buChar char="•"/>
              <a:tabLst>
                <a:tab pos="0" algn="l"/>
              </a:tabLst>
            </a:pPr>
            <a:r>
              <a:rPr lang="en-US" sz="1800" b="0" u="none" strike="noStrike">
                <a:solidFill>
                  <a:schemeClr val="dk1"/>
                </a:solidFill>
                <a:effectLst/>
                <a:uFillTx/>
                <a:latin typeface="Calibri"/>
              </a:rPr>
              <a:t>Third level</a:t>
            </a:r>
            <a:endParaRPr lang="en-US" sz="1800" b="0" u="none" strike="noStrike">
              <a:solidFill>
                <a:schemeClr val="dk1"/>
              </a:solidFill>
              <a:effectLst/>
              <a:uFillTx/>
              <a:latin typeface="Calibri"/>
            </a:endParaRPr>
          </a:p>
          <a:p>
            <a:pPr marL="1600200" lvl="3" indent="-228600" algn="l" defTabSz="457200">
              <a:lnSpc>
                <a:spcPct val="100000"/>
              </a:lnSpc>
              <a:spcBef>
                <a:spcPts val="320"/>
              </a:spcBef>
              <a:buClr>
                <a:srgbClr val="000000"/>
              </a:buClr>
              <a:buFont typeface="Arial"/>
              <a:buChar char="–"/>
              <a:tabLst>
                <a:tab pos="0" algn="l"/>
              </a:tabLst>
            </a:pPr>
            <a:r>
              <a:rPr lang="en-US" sz="1600" b="0" u="none" strike="noStrike">
                <a:solidFill>
                  <a:schemeClr val="dk1"/>
                </a:solidFill>
                <a:effectLst/>
                <a:uFillTx/>
                <a:latin typeface="Calibri"/>
              </a:rPr>
              <a:t>Fourth level</a:t>
            </a:r>
            <a:endParaRPr lang="en-US" sz="1600" b="0" u="none" strike="noStrike">
              <a:solidFill>
                <a:schemeClr val="dk1"/>
              </a:solidFill>
              <a:effectLst/>
              <a:uFillTx/>
              <a:latin typeface="Calibri"/>
            </a:endParaRPr>
          </a:p>
          <a:p>
            <a:pPr marL="2057400" lvl="4" indent="-228600" algn="l" defTabSz="457200">
              <a:lnSpc>
                <a:spcPct val="100000"/>
              </a:lnSpc>
              <a:spcBef>
                <a:spcPts val="320"/>
              </a:spcBef>
              <a:buClr>
                <a:srgbClr val="000000"/>
              </a:buClr>
              <a:buFont typeface="Arial"/>
              <a:buChar char="»"/>
              <a:tabLst>
                <a:tab pos="0" algn="l"/>
              </a:tabLst>
            </a:pPr>
            <a:r>
              <a:rPr lang="en-US" sz="1600" b="0" u="none" strike="noStrike">
                <a:solidFill>
                  <a:schemeClr val="dk1"/>
                </a:solidFill>
                <a:effectLst/>
                <a:uFillTx/>
                <a:latin typeface="Calibri"/>
              </a:rPr>
              <a:t>Fifth level</a:t>
            </a:r>
            <a:endParaRPr lang="en-US" sz="1600" b="0" u="none" strike="noStrike">
              <a:solidFill>
                <a:schemeClr val="dk1"/>
              </a:solidFill>
              <a:effectLst/>
              <a:uFillTx/>
              <a:latin typeface="Calibri"/>
            </a:endParaRPr>
          </a:p>
        </p:txBody>
      </p:sp>
      <p:sp>
        <p:nvSpPr>
          <p:cNvPr id="37" name="PlaceHolder 6"/>
          <p:cNvSpPr>
            <a:spLocks noGrp="1"/>
          </p:cNvSpPr>
          <p:nvPr>
            <p:ph type="dt" idx="19"/>
          </p:nvPr>
        </p:nvSpPr>
        <p:spPr>
          <a:xfrm>
            <a:off x="457200" y="6356520"/>
            <a:ext cx="2133360" cy="364680"/>
          </a:xfrm>
          <a:prstGeom prst="rect">
            <a:avLst/>
          </a:prstGeom>
          <a:noFill/>
          <a:ln w="0">
            <a:noFill/>
          </a:ln>
        </p:spPr>
        <p:txBody>
          <a:bodyPr lIns="91440" tIns="45720" rIns="91440" bIns="45720" anchor="ctr">
            <a:noAutofit/>
          </a:bodyPr>
          <a:lstStyle>
            <a:lvl1pPr indent="0" algn="l" defTabSz="457200">
              <a:lnSpc>
                <a:spcPct val="100000"/>
              </a:lnSpc>
              <a:buNone/>
              <a:defRPr lang="en-US" sz="1200" b="0" u="none" strike="noStrike">
                <a:solidFill>
                  <a:schemeClr val="dk1">
                    <a:tint val="75000"/>
                  </a:schemeClr>
                </a:solidFill>
                <a:effectLst/>
                <a:uFillTx/>
                <a:latin typeface="Calibri"/>
              </a:defRPr>
            </a:lvl1pPr>
          </a:lstStyle>
          <a:p>
            <a:pPr indent="0" algn="l" defTabSz="457200">
              <a:lnSpc>
                <a:spcPct val="100000"/>
              </a:lnSpc>
              <a:buNone/>
            </a:pPr>
            <a:r>
              <a:rPr lang="en-US" sz="1200" b="0" u="none" strike="noStrike">
                <a:solidFill>
                  <a:schemeClr val="dk1">
                    <a:tint val="75000"/>
                  </a:schemeClr>
                </a:solidFill>
                <a:effectLst/>
                <a:uFillTx/>
                <a:latin typeface="Calibri"/>
              </a:rPr>
              <a:t>&lt;date/time&gt;</a:t>
            </a:r>
            <a:endParaRPr lang="en-US" sz="1200" b="0" u="none" strike="noStrike">
              <a:solidFill>
                <a:srgbClr val="000000"/>
              </a:solidFill>
              <a:effectLst/>
              <a:uFillTx/>
              <a:latin typeface="Times New Roman"/>
            </a:endParaRPr>
          </a:p>
        </p:txBody>
      </p:sp>
      <p:sp>
        <p:nvSpPr>
          <p:cNvPr id="38" name="PlaceHolder 7"/>
          <p:cNvSpPr>
            <a:spLocks noGrp="1"/>
          </p:cNvSpPr>
          <p:nvPr>
            <p:ph type="ftr" idx="20"/>
          </p:nvPr>
        </p:nvSpPr>
        <p:spPr>
          <a:xfrm>
            <a:off x="3124080" y="6356520"/>
            <a:ext cx="2895120" cy="364680"/>
          </a:xfrm>
          <a:prstGeom prst="rect">
            <a:avLst/>
          </a:prstGeom>
          <a:noFill/>
          <a:ln w="0">
            <a:noFill/>
          </a:ln>
        </p:spPr>
        <p:txBody>
          <a:bodyPr lIns="91440" tIns="45720" rIns="91440" bIns="45720" anchor="ctr">
            <a:noAutofit/>
          </a:bodyPr>
          <a:lstStyle>
            <a:lvl1pPr indent="0" algn="ctr">
              <a:buNone/>
              <a:defRPr lang="en-US" sz="1400" b="0" u="none" strike="noStrike">
                <a:solidFill>
                  <a:srgbClr val="000000"/>
                </a:solidFill>
                <a:effectLst/>
                <a:uFillTx/>
                <a:latin typeface="Times New Roman"/>
              </a:defRPr>
            </a:lvl1pPr>
          </a:lstStyle>
          <a:p>
            <a:pPr indent="0" algn="ctr">
              <a:buNone/>
            </a:pPr>
            <a:r>
              <a:rPr lang="en-US" sz="1400" b="0" u="none" strike="noStrike">
                <a:solidFill>
                  <a:srgbClr val="000000"/>
                </a:solidFill>
                <a:effectLst/>
                <a:uFillTx/>
                <a:latin typeface="Times New Roman"/>
              </a:rPr>
              <a:t>&lt;footer&gt;</a:t>
            </a:r>
            <a:endParaRPr lang="en-US" sz="1400" b="0" u="none" strike="noStrike">
              <a:solidFill>
                <a:srgbClr val="000000"/>
              </a:solidFill>
              <a:effectLst/>
              <a:uFillTx/>
              <a:latin typeface="Times New Roman"/>
            </a:endParaRPr>
          </a:p>
        </p:txBody>
      </p:sp>
      <p:sp>
        <p:nvSpPr>
          <p:cNvPr id="39" name="PlaceHolder 8"/>
          <p:cNvSpPr>
            <a:spLocks noGrp="1"/>
          </p:cNvSpPr>
          <p:nvPr>
            <p:ph type="sldNum" idx="21"/>
          </p:nvPr>
        </p:nvSpPr>
        <p:spPr>
          <a:xfrm>
            <a:off x="6553080" y="6356520"/>
            <a:ext cx="2133360" cy="364680"/>
          </a:xfrm>
          <a:prstGeom prst="rect">
            <a:avLst/>
          </a:prstGeom>
          <a:noFill/>
          <a:ln w="0">
            <a:noFill/>
          </a:ln>
        </p:spPr>
        <p:txBody>
          <a:bodyPr lIns="91440" tIns="45720" rIns="91440" bIns="45720" anchor="ctr">
            <a:noAutofit/>
          </a:bodyPr>
          <a:lstStyle>
            <a:lvl1pPr indent="0" algn="r" defTabSz="457200">
              <a:lnSpc>
                <a:spcPct val="100000"/>
              </a:lnSpc>
              <a:buNone/>
              <a:defRPr lang="en-US" sz="1200" b="0" u="none" strike="noStrike">
                <a:solidFill>
                  <a:schemeClr val="dk1">
                    <a:tint val="75000"/>
                  </a:schemeClr>
                </a:solidFill>
                <a:effectLst/>
                <a:uFillTx/>
                <a:latin typeface="Calibri"/>
              </a:defRPr>
            </a:lvl1pPr>
          </a:lstStyle>
          <a:p>
            <a:pPr indent="0" algn="r" defTabSz="457200">
              <a:lnSpc>
                <a:spcPct val="100000"/>
              </a:lnSpc>
              <a:buNone/>
            </a:pPr>
            <a:fld id="{9E5C378F-00F6-46C3-96EF-9C4A94C79D25}" type="slidenum">
              <a:rPr lang="en-US" sz="1200" b="0" u="none" strike="noStrike">
                <a:solidFill>
                  <a:schemeClr val="dk1">
                    <a:tint val="75000"/>
                  </a:schemeClr>
                </a:solidFill>
                <a:effectLst/>
                <a:uFillTx/>
                <a:latin typeface="Calibri"/>
              </a:rPr>
              <a:t>&lt;number&gt;</a:t>
            </a:fld>
            <a:endParaRPr lang="en-US" sz="1200" b="0" u="none" strike="noStrike">
              <a:solidFill>
                <a:srgbClr val="000000"/>
              </a:solidFill>
              <a:effectLst/>
              <a:uFillTx/>
              <a:latin typeface="Times New Roman"/>
            </a:endParaRPr>
          </a:p>
        </p:txBody>
      </p:sp>
    </p:spTree>
  </p:cSld>
</p:sldLayout>
</file>

<file path=ppt/slideLayouts/slideLayout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Only" preserve="1">
  <p:cSld name="Title Only">
    <p:bg>
      <p:bgPr>
        <a:solidFill>
          <a:srgbClr val="FFFFFF"/>
        </a:solidFill>
      </p:bgPr>
    </p:bg>
    <p:spTree>
      <p:nvGrpSpPr>
        <p:cNvPr id="1" name=""/>
        <p:cNvGrpSpPr/>
        <p:nvPr/>
      </p:nvGrpSpPr>
      <p:grpSpPr>
        <a:xfrm>
          <a:off x="0" y="0"/>
          <a:ext cx="0" cy="0"/>
          <a:chOff x="0" y="0"/>
          <a:chExt cx="0" cy="0"/>
        </a:xfrm>
      </p:grpSpPr>
      <p:sp>
        <p:nvSpPr>
          <p:cNvPr id="40" name="PlaceHolder 1"/>
          <p:cNvSpPr>
            <a:spLocks noGrp="1"/>
          </p:cNvSpPr>
          <p:nvPr>
            <p:ph type="title"/>
          </p:nvPr>
        </p:nvSpPr>
        <p:spPr>
          <a:xfrm>
            <a:off x="457200" y="274680"/>
            <a:ext cx="8229240" cy="1142640"/>
          </a:xfrm>
          <a:prstGeom prst="rect">
            <a:avLst/>
          </a:prstGeom>
          <a:noFill/>
          <a:ln w="0">
            <a:noFill/>
          </a:ln>
        </p:spPr>
        <p:txBody>
          <a:bodyPr lIns="91440" tIns="45720" rIns="91440" bIns="45720" anchor="ctr">
            <a:noAutofit/>
          </a:bodyPr>
          <a:lstStyle>
            <a:lvl1pPr indent="0" algn="ctr" defTabSz="457200">
              <a:lnSpc>
                <a:spcPct val="100000"/>
              </a:lnSpc>
              <a:buNone/>
              <a:defRPr lang="en-US" sz="4400" b="0" u="none" strike="noStrike">
                <a:solidFill>
                  <a:schemeClr val="dk1"/>
                </a:solidFill>
                <a:effectLst/>
                <a:uFillTx/>
                <a:latin typeface="Calibri"/>
              </a:defRPr>
            </a:lvl1pPr>
          </a:lstStyle>
          <a:p>
            <a:pPr indent="0" algn="ctr" defTabSz="457200">
              <a:lnSpc>
                <a:spcPct val="100000"/>
              </a:lnSpc>
              <a:buNone/>
            </a:pPr>
            <a:r>
              <a:rPr lang="en-US" sz="4400" b="0" u="none" strike="noStrike">
                <a:solidFill>
                  <a:schemeClr val="dk1"/>
                </a:solidFill>
                <a:effectLst/>
                <a:uFillTx/>
                <a:latin typeface="Calibri"/>
              </a:rPr>
              <a:t>Click to edit Master title style</a:t>
            </a:r>
            <a:endParaRPr lang="en-US" sz="4400" b="0" u="none" strike="noStrike">
              <a:solidFill>
                <a:schemeClr val="dk1"/>
              </a:solidFill>
              <a:effectLst/>
              <a:uFillTx/>
              <a:latin typeface="Calibri"/>
            </a:endParaRPr>
          </a:p>
        </p:txBody>
      </p:sp>
      <p:sp>
        <p:nvSpPr>
          <p:cNvPr id="41" name="PlaceHolder 2"/>
          <p:cNvSpPr>
            <a:spLocks noGrp="1"/>
          </p:cNvSpPr>
          <p:nvPr>
            <p:ph type="dt" idx="22"/>
          </p:nvPr>
        </p:nvSpPr>
        <p:spPr>
          <a:xfrm>
            <a:off x="457200" y="6356520"/>
            <a:ext cx="2133360" cy="364680"/>
          </a:xfrm>
          <a:prstGeom prst="rect">
            <a:avLst/>
          </a:prstGeom>
          <a:noFill/>
          <a:ln w="0">
            <a:noFill/>
          </a:ln>
        </p:spPr>
        <p:txBody>
          <a:bodyPr lIns="91440" tIns="45720" rIns="91440" bIns="45720" anchor="ctr">
            <a:noAutofit/>
          </a:bodyPr>
          <a:lstStyle>
            <a:lvl1pPr indent="0" algn="l" defTabSz="457200">
              <a:lnSpc>
                <a:spcPct val="100000"/>
              </a:lnSpc>
              <a:buNone/>
              <a:defRPr lang="en-US" sz="1200" b="0" u="none" strike="noStrike">
                <a:solidFill>
                  <a:schemeClr val="dk1">
                    <a:tint val="75000"/>
                  </a:schemeClr>
                </a:solidFill>
                <a:effectLst/>
                <a:uFillTx/>
                <a:latin typeface="Calibri"/>
              </a:defRPr>
            </a:lvl1pPr>
          </a:lstStyle>
          <a:p>
            <a:pPr indent="0" algn="l" defTabSz="457200">
              <a:lnSpc>
                <a:spcPct val="100000"/>
              </a:lnSpc>
              <a:buNone/>
            </a:pPr>
            <a:r>
              <a:rPr lang="en-US" sz="1200" b="0" u="none" strike="noStrike">
                <a:solidFill>
                  <a:schemeClr val="dk1">
                    <a:tint val="75000"/>
                  </a:schemeClr>
                </a:solidFill>
                <a:effectLst/>
                <a:uFillTx/>
                <a:latin typeface="Calibri"/>
              </a:rPr>
              <a:t>&lt;date/time&gt;</a:t>
            </a:r>
            <a:endParaRPr lang="en-US" sz="1200" b="0" u="none" strike="noStrike">
              <a:solidFill>
                <a:srgbClr val="000000"/>
              </a:solidFill>
              <a:effectLst/>
              <a:uFillTx/>
              <a:latin typeface="Times New Roman"/>
            </a:endParaRPr>
          </a:p>
        </p:txBody>
      </p:sp>
      <p:sp>
        <p:nvSpPr>
          <p:cNvPr id="42" name="PlaceHolder 3"/>
          <p:cNvSpPr>
            <a:spLocks noGrp="1"/>
          </p:cNvSpPr>
          <p:nvPr>
            <p:ph type="ftr" idx="23"/>
          </p:nvPr>
        </p:nvSpPr>
        <p:spPr>
          <a:xfrm>
            <a:off x="3124080" y="6356520"/>
            <a:ext cx="2895120" cy="364680"/>
          </a:xfrm>
          <a:prstGeom prst="rect">
            <a:avLst/>
          </a:prstGeom>
          <a:noFill/>
          <a:ln w="0">
            <a:noFill/>
          </a:ln>
        </p:spPr>
        <p:txBody>
          <a:bodyPr lIns="91440" tIns="45720" rIns="91440" bIns="45720" anchor="ctr">
            <a:noAutofit/>
          </a:bodyPr>
          <a:lstStyle>
            <a:lvl1pPr indent="0" algn="ctr">
              <a:buNone/>
              <a:defRPr lang="en-US" sz="1400" b="0" u="none" strike="noStrike">
                <a:solidFill>
                  <a:srgbClr val="000000"/>
                </a:solidFill>
                <a:effectLst/>
                <a:uFillTx/>
                <a:latin typeface="Times New Roman"/>
              </a:defRPr>
            </a:lvl1pPr>
          </a:lstStyle>
          <a:p>
            <a:pPr indent="0" algn="ctr">
              <a:buNone/>
            </a:pPr>
            <a:r>
              <a:rPr lang="en-US" sz="1400" b="0" u="none" strike="noStrike">
                <a:solidFill>
                  <a:srgbClr val="000000"/>
                </a:solidFill>
                <a:effectLst/>
                <a:uFillTx/>
                <a:latin typeface="Times New Roman"/>
              </a:rPr>
              <a:t>&lt;footer&gt;</a:t>
            </a:r>
            <a:endParaRPr lang="en-US" sz="1400" b="0" u="none" strike="noStrike">
              <a:solidFill>
                <a:srgbClr val="000000"/>
              </a:solidFill>
              <a:effectLst/>
              <a:uFillTx/>
              <a:latin typeface="Times New Roman"/>
            </a:endParaRPr>
          </a:p>
        </p:txBody>
      </p:sp>
      <p:sp>
        <p:nvSpPr>
          <p:cNvPr id="43" name="PlaceHolder 4"/>
          <p:cNvSpPr>
            <a:spLocks noGrp="1"/>
          </p:cNvSpPr>
          <p:nvPr>
            <p:ph type="sldNum" idx="24"/>
          </p:nvPr>
        </p:nvSpPr>
        <p:spPr>
          <a:xfrm>
            <a:off x="6553080" y="6356520"/>
            <a:ext cx="2133360" cy="364680"/>
          </a:xfrm>
          <a:prstGeom prst="rect">
            <a:avLst/>
          </a:prstGeom>
          <a:noFill/>
          <a:ln w="0">
            <a:noFill/>
          </a:ln>
        </p:spPr>
        <p:txBody>
          <a:bodyPr lIns="91440" tIns="45720" rIns="91440" bIns="45720" anchor="ctr">
            <a:noAutofit/>
          </a:bodyPr>
          <a:lstStyle>
            <a:lvl1pPr indent="0" algn="r" defTabSz="457200">
              <a:lnSpc>
                <a:spcPct val="100000"/>
              </a:lnSpc>
              <a:buNone/>
              <a:defRPr lang="en-US" sz="1200" b="0" u="none" strike="noStrike">
                <a:solidFill>
                  <a:schemeClr val="dk1">
                    <a:tint val="75000"/>
                  </a:schemeClr>
                </a:solidFill>
                <a:effectLst/>
                <a:uFillTx/>
                <a:latin typeface="Calibri"/>
              </a:defRPr>
            </a:lvl1pPr>
          </a:lstStyle>
          <a:p>
            <a:pPr indent="0" algn="r" defTabSz="457200">
              <a:lnSpc>
                <a:spcPct val="100000"/>
              </a:lnSpc>
              <a:buNone/>
            </a:pPr>
            <a:fld id="{1D7CDBF2-0A44-4BEB-96E6-1085CD390179}" type="slidenum">
              <a:rPr lang="en-US" sz="1200" b="0" u="none" strike="noStrike">
                <a:solidFill>
                  <a:schemeClr val="dk1">
                    <a:tint val="75000"/>
                  </a:schemeClr>
                </a:solidFill>
                <a:effectLst/>
                <a:uFillTx/>
                <a:latin typeface="Calibri"/>
              </a:rPr>
              <a:t>&lt;number&gt;</a:t>
            </a:fld>
            <a:endParaRPr lang="en-US" sz="1200" b="0" u="none" strike="noStrike">
              <a:solidFill>
                <a:srgbClr val="000000"/>
              </a:solidFill>
              <a:effectLst/>
              <a:uFillTx/>
              <a:latin typeface="Times New Roman"/>
            </a:endParaRPr>
          </a:p>
        </p:txBody>
      </p:sp>
    </p:spTree>
  </p:cSld>
</p:sldLayout>
</file>

<file path=ppt/slideLayouts/slideLayout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Blank">
    <p:bg>
      <p:bgPr>
        <a:solidFill>
          <a:srgbClr val="FFFFFF"/>
        </a:solidFill>
      </p:bgPr>
    </p:bg>
    <p:spTree>
      <p:nvGrpSpPr>
        <p:cNvPr id="1" name=""/>
        <p:cNvGrpSpPr/>
        <p:nvPr/>
      </p:nvGrpSpPr>
      <p:grpSpPr>
        <a:xfrm>
          <a:off x="0" y="0"/>
          <a:ext cx="0" cy="0"/>
          <a:chOff x="0" y="0"/>
          <a:chExt cx="0" cy="0"/>
        </a:xfrm>
      </p:grpSpPr>
      <p:sp>
        <p:nvSpPr>
          <p:cNvPr id="44" name="PlaceHolder 1"/>
          <p:cNvSpPr>
            <a:spLocks noGrp="1"/>
          </p:cNvSpPr>
          <p:nvPr>
            <p:ph type="dt" idx="25"/>
          </p:nvPr>
        </p:nvSpPr>
        <p:spPr>
          <a:xfrm>
            <a:off x="457200" y="6356520"/>
            <a:ext cx="2133360" cy="364680"/>
          </a:xfrm>
          <a:prstGeom prst="rect">
            <a:avLst/>
          </a:prstGeom>
          <a:noFill/>
          <a:ln w="0">
            <a:noFill/>
          </a:ln>
        </p:spPr>
        <p:txBody>
          <a:bodyPr lIns="91440" tIns="45720" rIns="91440" bIns="45720" anchor="ctr">
            <a:noAutofit/>
          </a:bodyPr>
          <a:lstStyle>
            <a:lvl1pPr indent="0" algn="l" defTabSz="457200">
              <a:lnSpc>
                <a:spcPct val="100000"/>
              </a:lnSpc>
              <a:buNone/>
              <a:defRPr lang="en-US" sz="1200" b="0" u="none" strike="noStrike">
                <a:solidFill>
                  <a:schemeClr val="dk1">
                    <a:tint val="75000"/>
                  </a:schemeClr>
                </a:solidFill>
                <a:effectLst/>
                <a:uFillTx/>
                <a:latin typeface="Calibri"/>
              </a:defRPr>
            </a:lvl1pPr>
          </a:lstStyle>
          <a:p>
            <a:pPr indent="0" algn="l" defTabSz="457200">
              <a:lnSpc>
                <a:spcPct val="100000"/>
              </a:lnSpc>
              <a:buNone/>
            </a:pPr>
            <a:r>
              <a:rPr lang="en-US" sz="1200" b="0" u="none" strike="noStrike">
                <a:solidFill>
                  <a:schemeClr val="dk1">
                    <a:tint val="75000"/>
                  </a:schemeClr>
                </a:solidFill>
                <a:effectLst/>
                <a:uFillTx/>
                <a:latin typeface="Calibri"/>
              </a:rPr>
              <a:t>&lt;date/time&gt;</a:t>
            </a:r>
            <a:endParaRPr lang="en-US" sz="1200" b="0" u="none" strike="noStrike">
              <a:solidFill>
                <a:srgbClr val="000000"/>
              </a:solidFill>
              <a:effectLst/>
              <a:uFillTx/>
              <a:latin typeface="Times New Roman"/>
            </a:endParaRPr>
          </a:p>
        </p:txBody>
      </p:sp>
      <p:sp>
        <p:nvSpPr>
          <p:cNvPr id="45" name="PlaceHolder 2"/>
          <p:cNvSpPr>
            <a:spLocks noGrp="1"/>
          </p:cNvSpPr>
          <p:nvPr>
            <p:ph type="ftr" idx="26"/>
          </p:nvPr>
        </p:nvSpPr>
        <p:spPr>
          <a:xfrm>
            <a:off x="3124080" y="6356520"/>
            <a:ext cx="2895120" cy="364680"/>
          </a:xfrm>
          <a:prstGeom prst="rect">
            <a:avLst/>
          </a:prstGeom>
          <a:noFill/>
          <a:ln w="0">
            <a:noFill/>
          </a:ln>
        </p:spPr>
        <p:txBody>
          <a:bodyPr lIns="91440" tIns="45720" rIns="91440" bIns="45720" anchor="ctr">
            <a:noAutofit/>
          </a:bodyPr>
          <a:lstStyle>
            <a:lvl1pPr indent="0" algn="ctr">
              <a:buNone/>
              <a:defRPr lang="en-US" sz="1400" b="0" u="none" strike="noStrike">
                <a:solidFill>
                  <a:srgbClr val="000000"/>
                </a:solidFill>
                <a:effectLst/>
                <a:uFillTx/>
                <a:latin typeface="Times New Roman"/>
              </a:defRPr>
            </a:lvl1pPr>
          </a:lstStyle>
          <a:p>
            <a:pPr indent="0" algn="ctr">
              <a:buNone/>
            </a:pPr>
            <a:r>
              <a:rPr lang="en-US" sz="1400" b="0" u="none" strike="noStrike">
                <a:solidFill>
                  <a:srgbClr val="000000"/>
                </a:solidFill>
                <a:effectLst/>
                <a:uFillTx/>
                <a:latin typeface="Times New Roman"/>
              </a:rPr>
              <a:t>&lt;footer&gt;</a:t>
            </a:r>
            <a:endParaRPr lang="en-US" sz="1400" b="0" u="none" strike="noStrike">
              <a:solidFill>
                <a:srgbClr val="000000"/>
              </a:solidFill>
              <a:effectLst/>
              <a:uFillTx/>
              <a:latin typeface="Times New Roman"/>
            </a:endParaRPr>
          </a:p>
        </p:txBody>
      </p:sp>
      <p:sp>
        <p:nvSpPr>
          <p:cNvPr id="46" name="PlaceHolder 3"/>
          <p:cNvSpPr>
            <a:spLocks noGrp="1"/>
          </p:cNvSpPr>
          <p:nvPr>
            <p:ph type="sldNum" idx="27"/>
          </p:nvPr>
        </p:nvSpPr>
        <p:spPr>
          <a:xfrm>
            <a:off x="6553080" y="6356520"/>
            <a:ext cx="2133360" cy="364680"/>
          </a:xfrm>
          <a:prstGeom prst="rect">
            <a:avLst/>
          </a:prstGeom>
          <a:noFill/>
          <a:ln w="0">
            <a:noFill/>
          </a:ln>
        </p:spPr>
        <p:txBody>
          <a:bodyPr lIns="91440" tIns="45720" rIns="91440" bIns="45720" anchor="ctr">
            <a:noAutofit/>
          </a:bodyPr>
          <a:lstStyle>
            <a:lvl1pPr indent="0" algn="r" defTabSz="457200">
              <a:lnSpc>
                <a:spcPct val="100000"/>
              </a:lnSpc>
              <a:buNone/>
              <a:defRPr lang="en-US" sz="1200" b="0" u="none" strike="noStrike">
                <a:solidFill>
                  <a:schemeClr val="dk1">
                    <a:tint val="75000"/>
                  </a:schemeClr>
                </a:solidFill>
                <a:effectLst/>
                <a:uFillTx/>
                <a:latin typeface="Calibri"/>
              </a:defRPr>
            </a:lvl1pPr>
          </a:lstStyle>
          <a:p>
            <a:pPr indent="0" algn="r" defTabSz="457200">
              <a:lnSpc>
                <a:spcPct val="100000"/>
              </a:lnSpc>
              <a:buNone/>
            </a:pPr>
            <a:fld id="{217E7610-F192-49FA-B352-3E98A0F91BC4}" type="slidenum">
              <a:rPr lang="en-US" sz="1200" b="0" u="none" strike="noStrike">
                <a:solidFill>
                  <a:schemeClr val="dk1">
                    <a:tint val="75000"/>
                  </a:schemeClr>
                </a:solidFill>
                <a:effectLst/>
                <a:uFillTx/>
                <a:latin typeface="Calibri"/>
              </a:rPr>
              <a:t>&lt;number&gt;</a:t>
            </a:fld>
            <a:endParaRPr lang="en-US" sz="1200" b="0" u="none" strike="noStrike">
              <a:solidFill>
                <a:srgbClr val="000000"/>
              </a:solidFill>
              <a:effectLst/>
              <a:uFillTx/>
              <a:latin typeface="Times New Roman"/>
            </a:endParaRPr>
          </a:p>
        </p:txBody>
      </p:sp>
      <p:sp>
        <p:nvSpPr>
          <p:cNvPr id="47" name="PlaceHolder 4"/>
          <p:cNvSpPr>
            <a:spLocks noGrp="1"/>
          </p:cNvSpPr>
          <p:nvPr>
            <p:ph type="title"/>
          </p:nvPr>
        </p:nvSpPr>
        <p:spPr>
          <a:xfrm>
            <a:off x="609480" y="273600"/>
            <a:ext cx="10972080" cy="1144800"/>
          </a:xfrm>
          <a:prstGeom prst="rect">
            <a:avLst/>
          </a:prstGeom>
          <a:noFill/>
          <a:ln w="0">
            <a:noFill/>
          </a:ln>
        </p:spPr>
        <p:txBody>
          <a:bodyPr lIns="0" tIns="0" rIns="0" bIns="0" anchor="ctr">
            <a:noAutofit/>
          </a:bodyPr>
          <a:lstStyle>
            <a:lvl1pPr indent="0" algn="ctr" defTabSz="457200">
              <a:buNone/>
              <a:defRPr lang="en-US" sz="4400" b="0" u="none" strike="noStrike">
                <a:solidFill>
                  <a:schemeClr val="dk1"/>
                </a:solidFill>
                <a:effectLst/>
                <a:uFillTx/>
                <a:latin typeface="Calibri"/>
              </a:defRPr>
            </a:lvl1pPr>
          </a:lstStyle>
          <a:p>
            <a:pPr indent="0" algn="ctr" defTabSz="457200">
              <a:buNone/>
            </a:pPr>
            <a:r>
              <a:rPr lang="en-US" sz="4400" b="0" u="none" strike="noStrike">
                <a:solidFill>
                  <a:schemeClr val="dk1"/>
                </a:solidFill>
                <a:effectLst/>
                <a:uFillTx/>
                <a:latin typeface="Calibri"/>
              </a:rPr>
              <a:t>Click to edit the title text format</a:t>
            </a:r>
            <a:endParaRPr lang="en-US" sz="4400" b="0" u="none" strike="noStrike">
              <a:solidFill>
                <a:schemeClr val="dk1"/>
              </a:solidFill>
              <a:effectLst/>
              <a:uFillTx/>
              <a:latin typeface="Calibri"/>
            </a:endParaRPr>
          </a:p>
        </p:txBody>
      </p:sp>
      <p:sp>
        <p:nvSpPr>
          <p:cNvPr id="48" name="PlaceHolder 5"/>
          <p:cNvSpPr>
            <a:spLocks noGrp="1"/>
          </p:cNvSpPr>
          <p:nvPr>
            <p:ph type="body"/>
          </p:nvPr>
        </p:nvSpPr>
        <p:spPr>
          <a:xfrm>
            <a:off x="609480" y="1604520"/>
            <a:ext cx="10972080" cy="3977280"/>
          </a:xfrm>
          <a:prstGeom prst="rect">
            <a:avLst/>
          </a:prstGeom>
          <a:noFill/>
          <a:ln w="0">
            <a:noFill/>
          </a:ln>
        </p:spPr>
        <p:txBody>
          <a:bodyPr lIns="0" tIns="0" rIns="0" bIns="0" anchor="t">
            <a:normAutofit/>
          </a:bodyPr>
          <a:lstStyle>
            <a:lvl1pPr algn="l" defTabSz="457200">
              <a:spcBef>
                <a:spcPts val="641"/>
              </a:spcBef>
              <a:buClr>
                <a:srgbClr val="000000"/>
              </a:buClr>
              <a:buFont typeface="Arial"/>
              <a:buChar char="•"/>
              <a:defRPr lang="en-US" sz="3200" b="0" u="none" strike="noStrike">
                <a:solidFill>
                  <a:schemeClr val="dk1"/>
                </a:solidFill>
                <a:effectLst/>
                <a:uFillTx/>
                <a:latin typeface="Calibri"/>
              </a:defRPr>
            </a:lvl1pPr>
            <a:lvl2pPr lvl="1" algn="l" defTabSz="457200">
              <a:spcBef>
                <a:spcPts val="561"/>
              </a:spcBef>
              <a:buClr>
                <a:srgbClr val="000000"/>
              </a:buClr>
              <a:buSzPct val="75000"/>
              <a:buFont typeface="Symbol" charset="2"/>
              <a:buChar char=""/>
              <a:defRPr lang="en-US" sz="2800" b="0" u="none" strike="noStrike">
                <a:solidFill>
                  <a:schemeClr val="dk1"/>
                </a:solidFill>
                <a:effectLst/>
                <a:uFillTx/>
                <a:latin typeface="Calibri"/>
              </a:defRPr>
            </a:lvl2pPr>
            <a:lvl3pPr lvl="2" algn="l" defTabSz="457200">
              <a:spcBef>
                <a:spcPts val="479"/>
              </a:spcBef>
              <a:buClr>
                <a:srgbClr val="000000"/>
              </a:buClr>
              <a:buSzPct val="45000"/>
              <a:buFont typeface="Wingdings" charset="2"/>
              <a:buChar char=""/>
              <a:defRPr lang="en-US" sz="2400" b="0" u="none" strike="noStrike">
                <a:solidFill>
                  <a:schemeClr val="dk1"/>
                </a:solidFill>
                <a:effectLst/>
                <a:uFillTx/>
                <a:latin typeface="Calibri"/>
              </a:defRPr>
            </a:lvl3pPr>
            <a:lvl4pPr lvl="3" algn="l" defTabSz="457200">
              <a:spcBef>
                <a:spcPts val="400"/>
              </a:spcBef>
              <a:buClr>
                <a:srgbClr val="000000"/>
              </a:buClr>
              <a:buSzPct val="75000"/>
              <a:buFont typeface="Symbol" charset="2"/>
              <a:buChar char=""/>
              <a:defRPr lang="en-US" sz="2000" b="0" u="none" strike="noStrike">
                <a:solidFill>
                  <a:schemeClr val="dk1"/>
                </a:solidFill>
                <a:effectLst/>
                <a:uFillTx/>
                <a:latin typeface="Calibri"/>
              </a:defRPr>
            </a:lvl4pPr>
            <a:lvl5pPr lvl="4" algn="l" defTabSz="457200">
              <a:spcBef>
                <a:spcPts val="400"/>
              </a:spcBef>
              <a:buClr>
                <a:srgbClr val="000000"/>
              </a:buClr>
              <a:buSzPct val="45000"/>
              <a:buFont typeface="Wingdings" charset="2"/>
              <a:buChar char=""/>
              <a:defRPr lang="en-US" sz="2000" b="0" u="none" strike="noStrike">
                <a:solidFill>
                  <a:schemeClr val="dk1"/>
                </a:solidFill>
                <a:effectLst/>
                <a:uFillTx/>
                <a:latin typeface="Calibri"/>
              </a:defRPr>
            </a:lvl5pPr>
            <a:lvl6pPr lvl="5" algn="l" defTabSz="457200">
              <a:spcBef>
                <a:spcPts val="283"/>
              </a:spcBef>
              <a:buClr>
                <a:srgbClr val="000000"/>
              </a:buClr>
              <a:buSzPct val="45000"/>
              <a:buFont typeface="Wingdings" charset="2"/>
              <a:buChar char=""/>
              <a:defRPr lang="en-US" sz="2000" b="0" u="none" strike="noStrike">
                <a:solidFill>
                  <a:schemeClr val="dk1"/>
                </a:solidFill>
                <a:effectLst/>
                <a:uFillTx/>
                <a:latin typeface="Calibri"/>
              </a:defRPr>
            </a:lvl6pPr>
            <a:lvl7pPr lvl="6" algn="l" defTabSz="457200">
              <a:spcBef>
                <a:spcPts val="283"/>
              </a:spcBef>
              <a:buClr>
                <a:srgbClr val="000000"/>
              </a:buClr>
              <a:buSzPct val="45000"/>
              <a:buFont typeface="Wingdings" charset="2"/>
              <a:buChar char=""/>
              <a:defRPr lang="en-US" sz="2000" b="0" u="none" strike="noStrike">
                <a:solidFill>
                  <a:schemeClr val="dk1"/>
                </a:solidFill>
                <a:effectLst/>
                <a:uFillTx/>
                <a:latin typeface="Calibri"/>
              </a:defRPr>
            </a:lvl7pPr>
          </a:lstStyle>
          <a:p>
            <a:pPr marL="343080" indent="-343080" algn="l" defTabSz="457200">
              <a:spcBef>
                <a:spcPts val="641"/>
              </a:spcBef>
              <a:buClr>
                <a:srgbClr val="000000"/>
              </a:buClr>
              <a:buFont typeface="Arial"/>
              <a:buChar char="•"/>
            </a:pPr>
            <a:r>
              <a:rPr lang="en-US" sz="3200" b="0" u="none" strike="noStrike">
                <a:solidFill>
                  <a:schemeClr val="dk1"/>
                </a:solidFill>
                <a:effectLst/>
                <a:uFillTx/>
                <a:latin typeface="Calibri"/>
              </a:rPr>
              <a:t>Click to edit the outline text format</a:t>
            </a:r>
            <a:endParaRPr lang="en-US" sz="3200" b="0" u="none" strike="noStrike">
              <a:solidFill>
                <a:schemeClr val="dk1"/>
              </a:solidFill>
              <a:effectLst/>
              <a:uFillTx/>
              <a:latin typeface="Calibri"/>
            </a:endParaRPr>
          </a:p>
          <a:p>
            <a:pPr marL="864000" lvl="1" indent="-324000" algn="l" defTabSz="457200">
              <a:spcBef>
                <a:spcPts val="561"/>
              </a:spcBef>
              <a:buClr>
                <a:srgbClr val="000000"/>
              </a:buClr>
              <a:buSzPct val="75000"/>
              <a:buFont typeface="Symbol" charset="2"/>
              <a:buChar char=""/>
            </a:pPr>
            <a:r>
              <a:rPr lang="en-US" sz="2800" b="0" u="none" strike="noStrike">
                <a:solidFill>
                  <a:schemeClr val="dk1"/>
                </a:solidFill>
                <a:effectLst/>
                <a:uFillTx/>
                <a:latin typeface="Calibri"/>
              </a:rPr>
              <a:t>Second Outline Level</a:t>
            </a:r>
            <a:endParaRPr lang="en-US" sz="2800" b="0" u="none" strike="noStrike">
              <a:solidFill>
                <a:schemeClr val="dk1"/>
              </a:solidFill>
              <a:effectLst/>
              <a:uFillTx/>
              <a:latin typeface="Calibri"/>
            </a:endParaRPr>
          </a:p>
          <a:p>
            <a:pPr marL="1296000" lvl="2" indent="-288000" algn="l" defTabSz="457200">
              <a:spcBef>
                <a:spcPts val="479"/>
              </a:spcBef>
              <a:buClr>
                <a:srgbClr val="000000"/>
              </a:buClr>
              <a:buSzPct val="45000"/>
              <a:buFont typeface="Wingdings" charset="2"/>
              <a:buChar char=""/>
            </a:pPr>
            <a:r>
              <a:rPr lang="en-US" sz="2400" b="0" u="none" strike="noStrike">
                <a:solidFill>
                  <a:schemeClr val="dk1"/>
                </a:solidFill>
                <a:effectLst/>
                <a:uFillTx/>
                <a:latin typeface="Calibri"/>
              </a:rPr>
              <a:t>Third Outline Level</a:t>
            </a:r>
            <a:endParaRPr lang="en-US" sz="2400" b="0" u="none" strike="noStrike">
              <a:solidFill>
                <a:schemeClr val="dk1"/>
              </a:solidFill>
              <a:effectLst/>
              <a:uFillTx/>
              <a:latin typeface="Calibri"/>
            </a:endParaRPr>
          </a:p>
          <a:p>
            <a:pPr marL="1728000" lvl="3" indent="-216000" algn="l" defTabSz="457200">
              <a:spcBef>
                <a:spcPts val="400"/>
              </a:spcBef>
              <a:buClr>
                <a:srgbClr val="000000"/>
              </a:buClr>
              <a:buSzPct val="75000"/>
              <a:buFont typeface="Symbol" charset="2"/>
              <a:buChar char=""/>
            </a:pPr>
            <a:r>
              <a:rPr lang="en-US" sz="2000" b="0" u="none" strike="noStrike">
                <a:solidFill>
                  <a:schemeClr val="dk1"/>
                </a:solidFill>
                <a:effectLst/>
                <a:uFillTx/>
                <a:latin typeface="Calibri"/>
              </a:rPr>
              <a:t>Fourth Outline Level</a:t>
            </a:r>
            <a:endParaRPr lang="en-US" sz="2000" b="0" u="none" strike="noStrike">
              <a:solidFill>
                <a:schemeClr val="dk1"/>
              </a:solidFill>
              <a:effectLst/>
              <a:uFillTx/>
              <a:latin typeface="Calibri"/>
            </a:endParaRPr>
          </a:p>
          <a:p>
            <a:pPr marL="2160000" lvl="4" indent="-216000" algn="l" defTabSz="457200">
              <a:spcBef>
                <a:spcPts val="400"/>
              </a:spcBef>
              <a:buClr>
                <a:srgbClr val="000000"/>
              </a:buClr>
              <a:buSzPct val="45000"/>
              <a:buFont typeface="Wingdings" charset="2"/>
              <a:buChar char=""/>
            </a:pPr>
            <a:r>
              <a:rPr lang="en-US" sz="2000" b="0" u="none" strike="noStrike">
                <a:solidFill>
                  <a:schemeClr val="dk1"/>
                </a:solidFill>
                <a:effectLst/>
                <a:uFillTx/>
                <a:latin typeface="Calibri"/>
              </a:rPr>
              <a:t>Fifth Outline Level</a:t>
            </a:r>
            <a:endParaRPr lang="en-US" sz="2000" b="0" u="none" strike="noStrike">
              <a:solidFill>
                <a:schemeClr val="dk1"/>
              </a:solidFill>
              <a:effectLst/>
              <a:uFillTx/>
              <a:latin typeface="Calibri"/>
            </a:endParaRPr>
          </a:p>
          <a:p>
            <a:pPr marL="2592000" lvl="5" indent="-216000" algn="l" defTabSz="457200">
              <a:spcBef>
                <a:spcPts val="283"/>
              </a:spcBef>
              <a:buClr>
                <a:srgbClr val="000000"/>
              </a:buClr>
              <a:buSzPct val="45000"/>
              <a:buFont typeface="Wingdings" charset="2"/>
              <a:buChar char=""/>
            </a:pPr>
            <a:r>
              <a:rPr lang="en-US" sz="2000" b="0" u="none" strike="noStrike">
                <a:solidFill>
                  <a:schemeClr val="dk1"/>
                </a:solidFill>
                <a:effectLst/>
                <a:uFillTx/>
                <a:latin typeface="Calibri"/>
              </a:rPr>
              <a:t>Sixth Outline Level</a:t>
            </a:r>
            <a:endParaRPr lang="en-US" sz="2000" b="0" u="none" strike="noStrike">
              <a:solidFill>
                <a:schemeClr val="dk1"/>
              </a:solidFill>
              <a:effectLst/>
              <a:uFillTx/>
              <a:latin typeface="Calibri"/>
            </a:endParaRPr>
          </a:p>
          <a:p>
            <a:pPr marL="3024000" lvl="6" indent="-216000" algn="l" defTabSz="457200">
              <a:spcBef>
                <a:spcPts val="283"/>
              </a:spcBef>
              <a:buClr>
                <a:srgbClr val="000000"/>
              </a:buClr>
              <a:buSzPct val="45000"/>
              <a:buFont typeface="Wingdings" charset="2"/>
              <a:buChar char=""/>
            </a:pPr>
            <a:r>
              <a:rPr lang="en-US" sz="2000" b="0" u="none" strike="noStrike">
                <a:solidFill>
                  <a:schemeClr val="dk1"/>
                </a:solidFill>
                <a:effectLst/>
                <a:uFillTx/>
                <a:latin typeface="Calibri"/>
              </a:rPr>
              <a:t>Seventh Outline Level</a:t>
            </a:r>
            <a:endParaRPr lang="en-US" sz="2000" b="0" u="none" strike="noStrike">
              <a:solidFill>
                <a:schemeClr val="dk1"/>
              </a:solidFill>
              <a:effectLst/>
              <a:uFillTx/>
              <a:latin typeface="Calibri"/>
            </a:endParaRPr>
          </a:p>
        </p:txBody>
      </p:sp>
    </p:spTree>
  </p:cSld>
</p:sldLayout>
</file>

<file path=ppt/slideLayouts/slideLayout1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Content with Caption">
    <p:bg>
      <p:bgPr>
        <a:solidFill>
          <a:srgbClr val="FFFFFF"/>
        </a:solidFill>
      </p:bgPr>
    </p:bg>
    <p:spTree>
      <p:nvGrpSpPr>
        <p:cNvPr id="1" name=""/>
        <p:cNvGrpSpPr/>
        <p:nvPr/>
      </p:nvGrpSpPr>
      <p:grpSpPr>
        <a:xfrm>
          <a:off x="0" y="0"/>
          <a:ext cx="0" cy="0"/>
          <a:chOff x="0" y="0"/>
          <a:chExt cx="0" cy="0"/>
        </a:xfrm>
      </p:grpSpPr>
      <p:sp>
        <p:nvSpPr>
          <p:cNvPr id="49" name="PlaceHolder 1"/>
          <p:cNvSpPr>
            <a:spLocks noGrp="1"/>
          </p:cNvSpPr>
          <p:nvPr>
            <p:ph type="title"/>
          </p:nvPr>
        </p:nvSpPr>
        <p:spPr>
          <a:xfrm>
            <a:off x="457200" y="272880"/>
            <a:ext cx="3007800" cy="1161720"/>
          </a:xfrm>
          <a:prstGeom prst="rect">
            <a:avLst/>
          </a:prstGeom>
          <a:noFill/>
          <a:ln w="0">
            <a:noFill/>
          </a:ln>
        </p:spPr>
        <p:txBody>
          <a:bodyPr lIns="91440" tIns="45720" rIns="91440" bIns="45720" anchor="b">
            <a:noAutofit/>
          </a:bodyPr>
          <a:lstStyle>
            <a:lvl1pPr indent="0" algn="l" defTabSz="457200">
              <a:lnSpc>
                <a:spcPct val="100000"/>
              </a:lnSpc>
              <a:buNone/>
              <a:defRPr lang="en-US" sz="2000" b="1" u="none" strike="noStrike">
                <a:solidFill>
                  <a:schemeClr val="dk1"/>
                </a:solidFill>
                <a:effectLst/>
                <a:uFillTx/>
                <a:latin typeface="Calibri"/>
              </a:defRPr>
            </a:lvl1pPr>
          </a:lstStyle>
          <a:p>
            <a:pPr indent="0" algn="l" defTabSz="457200">
              <a:lnSpc>
                <a:spcPct val="100000"/>
              </a:lnSpc>
              <a:buNone/>
            </a:pPr>
            <a:r>
              <a:rPr lang="en-US" sz="2000" b="1" u="none" strike="noStrike">
                <a:solidFill>
                  <a:schemeClr val="dk1"/>
                </a:solidFill>
                <a:effectLst/>
                <a:uFillTx/>
                <a:latin typeface="Calibri"/>
              </a:rPr>
              <a:t>Click to edit Master title style</a:t>
            </a:r>
            <a:endParaRPr lang="en-US" sz="2000" b="1" u="none" strike="noStrike">
              <a:solidFill>
                <a:schemeClr val="dk1"/>
              </a:solidFill>
              <a:effectLst/>
              <a:uFillTx/>
              <a:latin typeface="Calibri"/>
            </a:endParaRPr>
          </a:p>
        </p:txBody>
      </p:sp>
      <p:sp>
        <p:nvSpPr>
          <p:cNvPr id="50" name="PlaceHolder 2"/>
          <p:cNvSpPr>
            <a:spLocks noGrp="1"/>
          </p:cNvSpPr>
          <p:nvPr>
            <p:ph type="body"/>
          </p:nvPr>
        </p:nvSpPr>
        <p:spPr>
          <a:xfrm>
            <a:off x="3575160" y="272880"/>
            <a:ext cx="5111280" cy="5852880"/>
          </a:xfrm>
          <a:prstGeom prst="rect">
            <a:avLst/>
          </a:prstGeom>
          <a:noFill/>
          <a:ln w="0">
            <a:noFill/>
          </a:ln>
        </p:spPr>
        <p:txBody>
          <a:bodyPr lIns="91440" tIns="45720" rIns="91440" bIns="45720" anchor="t">
            <a:noAutofit/>
          </a:bodyPr>
          <a:lstStyle>
            <a:lvl1pPr algn="l" defTabSz="457200">
              <a:lnSpc>
                <a:spcPct val="100000"/>
              </a:lnSpc>
              <a:spcBef>
                <a:spcPts val="641"/>
              </a:spcBef>
              <a:buClr>
                <a:srgbClr val="000000"/>
              </a:buClr>
              <a:buFont typeface="Arial"/>
              <a:buChar char="•"/>
              <a:defRPr lang="en-US" sz="3200" b="0" u="none" strike="noStrike">
                <a:solidFill>
                  <a:schemeClr val="dk1"/>
                </a:solidFill>
                <a:effectLst/>
                <a:uFillTx/>
                <a:latin typeface="Calibri"/>
              </a:defRPr>
            </a:lvl1pPr>
            <a:lvl2pPr lvl="1" algn="l" defTabSz="457200">
              <a:lnSpc>
                <a:spcPct val="100000"/>
              </a:lnSpc>
              <a:spcBef>
                <a:spcPts val="561"/>
              </a:spcBef>
              <a:buClr>
                <a:srgbClr val="000000"/>
              </a:buClr>
              <a:buFont typeface="Arial"/>
              <a:buChar char="–"/>
              <a:defRPr lang="en-US" sz="2800" b="0" u="none" strike="noStrike">
                <a:solidFill>
                  <a:schemeClr val="dk1"/>
                </a:solidFill>
                <a:effectLst/>
                <a:uFillTx/>
                <a:latin typeface="Calibri"/>
              </a:defRPr>
            </a:lvl2pPr>
            <a:lvl3pPr lvl="2" algn="l" defTabSz="457200">
              <a:lnSpc>
                <a:spcPct val="100000"/>
              </a:lnSpc>
              <a:spcBef>
                <a:spcPts val="479"/>
              </a:spcBef>
              <a:buClr>
                <a:srgbClr val="000000"/>
              </a:buClr>
              <a:buFont typeface="Arial"/>
              <a:buChar char="•"/>
              <a:defRPr lang="en-US" sz="2400" b="0" u="none" strike="noStrike">
                <a:solidFill>
                  <a:schemeClr val="dk1"/>
                </a:solidFill>
                <a:effectLst/>
                <a:uFillTx/>
                <a:latin typeface="Calibri"/>
              </a:defRPr>
            </a:lvl3pPr>
            <a:lvl4pPr lvl="3" algn="l" defTabSz="457200">
              <a:lnSpc>
                <a:spcPct val="100000"/>
              </a:lnSpc>
              <a:spcBef>
                <a:spcPts val="400"/>
              </a:spcBef>
              <a:buClr>
                <a:srgbClr val="000000"/>
              </a:buClr>
              <a:buFont typeface="Arial"/>
              <a:buChar char="–"/>
              <a:defRPr lang="en-US" sz="2000" b="0" u="none" strike="noStrike">
                <a:solidFill>
                  <a:schemeClr val="dk1"/>
                </a:solidFill>
                <a:effectLst/>
                <a:uFillTx/>
                <a:latin typeface="Calibri"/>
              </a:defRPr>
            </a:lvl4pPr>
            <a:lvl5pPr lvl="4" algn="l" defTabSz="457200">
              <a:lnSpc>
                <a:spcPct val="100000"/>
              </a:lnSpc>
              <a:spcBef>
                <a:spcPts val="400"/>
              </a:spcBef>
              <a:buClr>
                <a:srgbClr val="000000"/>
              </a:buClr>
              <a:buFont typeface="Arial"/>
              <a:buChar char="»"/>
              <a:defRPr lang="en-US" sz="2000" b="0" u="none" strike="noStrike">
                <a:solidFill>
                  <a:schemeClr val="dk1"/>
                </a:solidFill>
                <a:effectLst/>
                <a:uFillTx/>
                <a:latin typeface="Calibri"/>
              </a:defRPr>
            </a:lvl5pPr>
          </a:lstStyle>
          <a:p>
            <a:pPr marL="343080" indent="-343080" algn="l" defTabSz="457200">
              <a:lnSpc>
                <a:spcPct val="100000"/>
              </a:lnSpc>
              <a:spcBef>
                <a:spcPts val="641"/>
              </a:spcBef>
              <a:buClr>
                <a:srgbClr val="000000"/>
              </a:buClr>
              <a:buFont typeface="Arial"/>
              <a:buChar char="•"/>
            </a:pPr>
            <a:r>
              <a:rPr lang="en-US" sz="3200" b="0" u="none" strike="noStrike">
                <a:solidFill>
                  <a:schemeClr val="dk1"/>
                </a:solidFill>
                <a:effectLst/>
                <a:uFillTx/>
                <a:latin typeface="Calibri"/>
              </a:rPr>
              <a:t>Click to edit Master text styles</a:t>
            </a:r>
            <a:endParaRPr lang="en-US" sz="3200" b="0" u="none" strike="noStrike">
              <a:solidFill>
                <a:schemeClr val="dk1"/>
              </a:solidFill>
              <a:effectLst/>
              <a:uFillTx/>
              <a:latin typeface="Calibri"/>
            </a:endParaRPr>
          </a:p>
          <a:p>
            <a:pPr marL="743040" lvl="1" indent="-285840" algn="l" defTabSz="457200">
              <a:lnSpc>
                <a:spcPct val="100000"/>
              </a:lnSpc>
              <a:spcBef>
                <a:spcPts val="561"/>
              </a:spcBef>
              <a:buClr>
                <a:srgbClr val="000000"/>
              </a:buClr>
              <a:buFont typeface="Arial"/>
              <a:buChar char="–"/>
            </a:pPr>
            <a:r>
              <a:rPr lang="en-US" sz="2800" b="0" u="none" strike="noStrike">
                <a:solidFill>
                  <a:schemeClr val="dk1"/>
                </a:solidFill>
                <a:effectLst/>
                <a:uFillTx/>
                <a:latin typeface="Calibri"/>
              </a:rPr>
              <a:t>Second level</a:t>
            </a:r>
            <a:endParaRPr lang="en-US" sz="2800" b="0" u="none" strike="noStrike">
              <a:solidFill>
                <a:schemeClr val="dk1"/>
              </a:solidFill>
              <a:effectLst/>
              <a:uFillTx/>
              <a:latin typeface="Calibri"/>
            </a:endParaRPr>
          </a:p>
          <a:p>
            <a:pPr marL="1143000" lvl="2" indent="-228600" algn="l" defTabSz="457200">
              <a:lnSpc>
                <a:spcPct val="100000"/>
              </a:lnSpc>
              <a:spcBef>
                <a:spcPts val="479"/>
              </a:spcBef>
              <a:buClr>
                <a:srgbClr val="000000"/>
              </a:buClr>
              <a:buFont typeface="Arial"/>
              <a:buChar char="•"/>
            </a:pPr>
            <a:r>
              <a:rPr lang="en-US" sz="2400" b="0" u="none" strike="noStrike">
                <a:solidFill>
                  <a:schemeClr val="dk1"/>
                </a:solidFill>
                <a:effectLst/>
                <a:uFillTx/>
                <a:latin typeface="Calibri"/>
              </a:rPr>
              <a:t>Third level</a:t>
            </a:r>
            <a:endParaRPr lang="en-US" sz="2400" b="0" u="none" strike="noStrike">
              <a:solidFill>
                <a:schemeClr val="dk1"/>
              </a:solidFill>
              <a:effectLst/>
              <a:uFillTx/>
              <a:latin typeface="Calibri"/>
            </a:endParaRPr>
          </a:p>
          <a:p>
            <a:pPr marL="1600200" lvl="3" indent="-228600" algn="l" defTabSz="457200">
              <a:lnSpc>
                <a:spcPct val="100000"/>
              </a:lnSpc>
              <a:spcBef>
                <a:spcPts val="400"/>
              </a:spcBef>
              <a:buClr>
                <a:srgbClr val="000000"/>
              </a:buClr>
              <a:buFont typeface="Arial"/>
              <a:buChar char="–"/>
            </a:pPr>
            <a:r>
              <a:rPr lang="en-US" sz="2000" b="0" u="none" strike="noStrike">
                <a:solidFill>
                  <a:schemeClr val="dk1"/>
                </a:solidFill>
                <a:effectLst/>
                <a:uFillTx/>
                <a:latin typeface="Calibri"/>
              </a:rPr>
              <a:t>Fourth level</a:t>
            </a:r>
            <a:endParaRPr lang="en-US" sz="2000" b="0" u="none" strike="noStrike">
              <a:solidFill>
                <a:schemeClr val="dk1"/>
              </a:solidFill>
              <a:effectLst/>
              <a:uFillTx/>
              <a:latin typeface="Calibri"/>
            </a:endParaRPr>
          </a:p>
          <a:p>
            <a:pPr marL="2057400" lvl="4" indent="-228600" algn="l" defTabSz="457200">
              <a:lnSpc>
                <a:spcPct val="100000"/>
              </a:lnSpc>
              <a:spcBef>
                <a:spcPts val="400"/>
              </a:spcBef>
              <a:buClr>
                <a:srgbClr val="000000"/>
              </a:buClr>
              <a:buFont typeface="Arial"/>
              <a:buChar char="»"/>
            </a:pPr>
            <a:r>
              <a:rPr lang="en-US" sz="2000" b="0" u="none" strike="noStrike">
                <a:solidFill>
                  <a:schemeClr val="dk1"/>
                </a:solidFill>
                <a:effectLst/>
                <a:uFillTx/>
                <a:latin typeface="Calibri"/>
              </a:rPr>
              <a:t>Fifth level</a:t>
            </a:r>
            <a:endParaRPr lang="en-US" sz="2000" b="0" u="none" strike="noStrike">
              <a:solidFill>
                <a:schemeClr val="dk1"/>
              </a:solidFill>
              <a:effectLst/>
              <a:uFillTx/>
              <a:latin typeface="Calibri"/>
            </a:endParaRPr>
          </a:p>
        </p:txBody>
      </p:sp>
      <p:sp>
        <p:nvSpPr>
          <p:cNvPr id="51" name="PlaceHolder 3"/>
          <p:cNvSpPr>
            <a:spLocks noGrp="1"/>
          </p:cNvSpPr>
          <p:nvPr>
            <p:ph type="body"/>
          </p:nvPr>
        </p:nvSpPr>
        <p:spPr>
          <a:xfrm>
            <a:off x="457200" y="1434960"/>
            <a:ext cx="3007800" cy="4690800"/>
          </a:xfrm>
          <a:prstGeom prst="rect">
            <a:avLst/>
          </a:prstGeom>
          <a:noFill/>
          <a:ln w="0">
            <a:noFill/>
          </a:ln>
        </p:spPr>
        <p:txBody>
          <a:bodyPr lIns="91440" tIns="45720" rIns="91440" bIns="45720" anchor="t">
            <a:noAutofit/>
          </a:bodyPr>
          <a:lstStyle>
            <a:lvl1pPr indent="0" algn="l" defTabSz="457200">
              <a:lnSpc>
                <a:spcPct val="100000"/>
              </a:lnSpc>
              <a:spcBef>
                <a:spcPts val="281"/>
              </a:spcBef>
              <a:buNone/>
              <a:tabLst>
                <a:tab pos="0" algn="l"/>
              </a:tabLst>
              <a:defRPr lang="en-US" sz="1400" b="0" u="none" strike="noStrike">
                <a:solidFill>
                  <a:schemeClr val="dk1"/>
                </a:solidFill>
                <a:effectLst/>
                <a:uFillTx/>
                <a:latin typeface="Calibri"/>
              </a:defRPr>
            </a:lvl1pPr>
          </a:lstStyle>
          <a:p>
            <a:pPr indent="0" algn="l" defTabSz="457200">
              <a:lnSpc>
                <a:spcPct val="100000"/>
              </a:lnSpc>
              <a:spcBef>
                <a:spcPts val="281"/>
              </a:spcBef>
              <a:buNone/>
              <a:tabLst>
                <a:tab pos="0" algn="l"/>
              </a:tabLst>
            </a:pPr>
            <a:r>
              <a:rPr lang="en-US" sz="1400" b="0" u="none" strike="noStrike">
                <a:solidFill>
                  <a:schemeClr val="dk1"/>
                </a:solidFill>
                <a:effectLst/>
                <a:uFillTx/>
                <a:latin typeface="Calibri"/>
              </a:rPr>
              <a:t>Click to edit Master text styles</a:t>
            </a:r>
            <a:endParaRPr lang="en-US" sz="1400" b="0" u="none" strike="noStrike">
              <a:solidFill>
                <a:schemeClr val="dk1"/>
              </a:solidFill>
              <a:effectLst/>
              <a:uFillTx/>
              <a:latin typeface="Calibri"/>
            </a:endParaRPr>
          </a:p>
        </p:txBody>
      </p:sp>
      <p:sp>
        <p:nvSpPr>
          <p:cNvPr id="52" name="PlaceHolder 4"/>
          <p:cNvSpPr>
            <a:spLocks noGrp="1"/>
          </p:cNvSpPr>
          <p:nvPr>
            <p:ph type="dt" idx="28"/>
          </p:nvPr>
        </p:nvSpPr>
        <p:spPr>
          <a:xfrm>
            <a:off x="457200" y="6356520"/>
            <a:ext cx="2133360" cy="364680"/>
          </a:xfrm>
          <a:prstGeom prst="rect">
            <a:avLst/>
          </a:prstGeom>
          <a:noFill/>
          <a:ln w="0">
            <a:noFill/>
          </a:ln>
        </p:spPr>
        <p:txBody>
          <a:bodyPr lIns="91440" tIns="45720" rIns="91440" bIns="45720" anchor="ctr">
            <a:noAutofit/>
          </a:bodyPr>
          <a:lstStyle>
            <a:lvl1pPr indent="0" algn="l" defTabSz="457200">
              <a:lnSpc>
                <a:spcPct val="100000"/>
              </a:lnSpc>
              <a:buNone/>
              <a:defRPr lang="en-US" sz="1200" b="0" u="none" strike="noStrike">
                <a:solidFill>
                  <a:schemeClr val="dk1">
                    <a:tint val="75000"/>
                  </a:schemeClr>
                </a:solidFill>
                <a:effectLst/>
                <a:uFillTx/>
                <a:latin typeface="Calibri"/>
              </a:defRPr>
            </a:lvl1pPr>
          </a:lstStyle>
          <a:p>
            <a:pPr indent="0" algn="l" defTabSz="457200">
              <a:lnSpc>
                <a:spcPct val="100000"/>
              </a:lnSpc>
              <a:buNone/>
            </a:pPr>
            <a:r>
              <a:rPr lang="en-US" sz="1200" b="0" u="none" strike="noStrike">
                <a:solidFill>
                  <a:schemeClr val="dk1">
                    <a:tint val="75000"/>
                  </a:schemeClr>
                </a:solidFill>
                <a:effectLst/>
                <a:uFillTx/>
                <a:latin typeface="Calibri"/>
              </a:rPr>
              <a:t>&lt;date/time&gt;</a:t>
            </a:r>
            <a:endParaRPr lang="en-US" sz="1200" b="0" u="none" strike="noStrike">
              <a:solidFill>
                <a:srgbClr val="000000"/>
              </a:solidFill>
              <a:effectLst/>
              <a:uFillTx/>
              <a:latin typeface="Times New Roman"/>
            </a:endParaRPr>
          </a:p>
        </p:txBody>
      </p:sp>
      <p:sp>
        <p:nvSpPr>
          <p:cNvPr id="53" name="PlaceHolder 5"/>
          <p:cNvSpPr>
            <a:spLocks noGrp="1"/>
          </p:cNvSpPr>
          <p:nvPr>
            <p:ph type="ftr" idx="29"/>
          </p:nvPr>
        </p:nvSpPr>
        <p:spPr>
          <a:xfrm>
            <a:off x="3124080" y="6356520"/>
            <a:ext cx="2895120" cy="364680"/>
          </a:xfrm>
          <a:prstGeom prst="rect">
            <a:avLst/>
          </a:prstGeom>
          <a:noFill/>
          <a:ln w="0">
            <a:noFill/>
          </a:ln>
        </p:spPr>
        <p:txBody>
          <a:bodyPr lIns="91440" tIns="45720" rIns="91440" bIns="45720" anchor="ctr">
            <a:noAutofit/>
          </a:bodyPr>
          <a:lstStyle>
            <a:lvl1pPr indent="0" algn="ctr">
              <a:buNone/>
              <a:defRPr lang="en-US" sz="1400" b="0" u="none" strike="noStrike">
                <a:solidFill>
                  <a:srgbClr val="000000"/>
                </a:solidFill>
                <a:effectLst/>
                <a:uFillTx/>
                <a:latin typeface="Times New Roman"/>
              </a:defRPr>
            </a:lvl1pPr>
          </a:lstStyle>
          <a:p>
            <a:pPr indent="0" algn="ctr">
              <a:buNone/>
            </a:pPr>
            <a:r>
              <a:rPr lang="en-US" sz="1400" b="0" u="none" strike="noStrike">
                <a:solidFill>
                  <a:srgbClr val="000000"/>
                </a:solidFill>
                <a:effectLst/>
                <a:uFillTx/>
                <a:latin typeface="Times New Roman"/>
              </a:rPr>
              <a:t>&lt;footer&gt;</a:t>
            </a:r>
            <a:endParaRPr lang="en-US" sz="1400" b="0" u="none" strike="noStrike">
              <a:solidFill>
                <a:srgbClr val="000000"/>
              </a:solidFill>
              <a:effectLst/>
              <a:uFillTx/>
              <a:latin typeface="Times New Roman"/>
            </a:endParaRPr>
          </a:p>
        </p:txBody>
      </p:sp>
      <p:sp>
        <p:nvSpPr>
          <p:cNvPr id="54" name="PlaceHolder 6"/>
          <p:cNvSpPr>
            <a:spLocks noGrp="1"/>
          </p:cNvSpPr>
          <p:nvPr>
            <p:ph type="sldNum" idx="30"/>
          </p:nvPr>
        </p:nvSpPr>
        <p:spPr>
          <a:xfrm>
            <a:off x="6553080" y="6356520"/>
            <a:ext cx="2133360" cy="364680"/>
          </a:xfrm>
          <a:prstGeom prst="rect">
            <a:avLst/>
          </a:prstGeom>
          <a:noFill/>
          <a:ln w="0">
            <a:noFill/>
          </a:ln>
        </p:spPr>
        <p:txBody>
          <a:bodyPr lIns="91440" tIns="45720" rIns="91440" bIns="45720" anchor="ctr">
            <a:noAutofit/>
          </a:bodyPr>
          <a:lstStyle>
            <a:lvl1pPr indent="0" algn="r" defTabSz="457200">
              <a:lnSpc>
                <a:spcPct val="100000"/>
              </a:lnSpc>
              <a:buNone/>
              <a:defRPr lang="en-US" sz="1200" b="0" u="none" strike="noStrike">
                <a:solidFill>
                  <a:schemeClr val="dk1">
                    <a:tint val="75000"/>
                  </a:schemeClr>
                </a:solidFill>
                <a:effectLst/>
                <a:uFillTx/>
                <a:latin typeface="Calibri"/>
              </a:defRPr>
            </a:lvl1pPr>
          </a:lstStyle>
          <a:p>
            <a:pPr indent="0" algn="r" defTabSz="457200">
              <a:lnSpc>
                <a:spcPct val="100000"/>
              </a:lnSpc>
              <a:buNone/>
            </a:pPr>
            <a:fld id="{023A0812-A31B-4FB8-A5E5-EC6A4AE4EFB9}" type="slidenum">
              <a:rPr lang="en-US" sz="1200" b="0" u="none" strike="noStrike">
                <a:solidFill>
                  <a:schemeClr val="dk1">
                    <a:tint val="75000"/>
                  </a:schemeClr>
                </a:solidFill>
                <a:effectLst/>
                <a:uFillTx/>
                <a:latin typeface="Calibri"/>
              </a:rPr>
              <a:t>&lt;number&gt;</a:t>
            </a:fld>
            <a:endParaRPr lang="en-US" sz="1200" b="0" u="none" strike="noStrike">
              <a:solidFill>
                <a:srgbClr val="000000"/>
              </a:solidFill>
              <a:effectLst/>
              <a:uFillTx/>
              <a:latin typeface="Times New Roman"/>
            </a:endParaRPr>
          </a:p>
        </p:txBody>
      </p:sp>
    </p:spTree>
  </p:cSld>
</p:sldLayout>
</file>

<file path=ppt/slideLayouts/slideLayout1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Picture with Caption">
    <p:bg>
      <p:bgPr>
        <a:solidFill>
          <a:srgbClr val="FFFFFF"/>
        </a:solidFill>
      </p:bgPr>
    </p:bg>
    <p:spTree>
      <p:nvGrpSpPr>
        <p:cNvPr id="1" name=""/>
        <p:cNvGrpSpPr/>
        <p:nvPr/>
      </p:nvGrpSpPr>
      <p:grpSpPr>
        <a:xfrm>
          <a:off x="0" y="0"/>
          <a:ext cx="0" cy="0"/>
          <a:chOff x="0" y="0"/>
          <a:chExt cx="0" cy="0"/>
        </a:xfrm>
      </p:grpSpPr>
      <p:sp>
        <p:nvSpPr>
          <p:cNvPr id="55" name="PlaceHolder 1"/>
          <p:cNvSpPr>
            <a:spLocks noGrp="1"/>
          </p:cNvSpPr>
          <p:nvPr>
            <p:ph type="title"/>
          </p:nvPr>
        </p:nvSpPr>
        <p:spPr>
          <a:xfrm>
            <a:off x="1792440" y="4800600"/>
            <a:ext cx="5486040" cy="566280"/>
          </a:xfrm>
          <a:prstGeom prst="rect">
            <a:avLst/>
          </a:prstGeom>
          <a:noFill/>
          <a:ln w="0">
            <a:noFill/>
          </a:ln>
        </p:spPr>
        <p:txBody>
          <a:bodyPr lIns="91440" tIns="45720" rIns="91440" bIns="45720" anchor="b">
            <a:noAutofit/>
          </a:bodyPr>
          <a:lstStyle>
            <a:lvl1pPr indent="0" algn="l" defTabSz="457200">
              <a:lnSpc>
                <a:spcPct val="100000"/>
              </a:lnSpc>
              <a:buNone/>
              <a:defRPr lang="en-US" sz="2000" b="1" u="none" strike="noStrike">
                <a:solidFill>
                  <a:schemeClr val="dk1"/>
                </a:solidFill>
                <a:effectLst/>
                <a:uFillTx/>
                <a:latin typeface="Calibri"/>
              </a:defRPr>
            </a:lvl1pPr>
          </a:lstStyle>
          <a:p>
            <a:pPr indent="0" algn="l" defTabSz="457200">
              <a:lnSpc>
                <a:spcPct val="100000"/>
              </a:lnSpc>
              <a:buNone/>
            </a:pPr>
            <a:r>
              <a:rPr lang="en-US" sz="2000" b="1" u="none" strike="noStrike">
                <a:solidFill>
                  <a:schemeClr val="dk1"/>
                </a:solidFill>
                <a:effectLst/>
                <a:uFillTx/>
                <a:latin typeface="Calibri"/>
              </a:rPr>
              <a:t>Click to edit Master title style</a:t>
            </a:r>
            <a:endParaRPr lang="en-US" sz="2000" b="1" u="none" strike="noStrike">
              <a:solidFill>
                <a:schemeClr val="dk1"/>
              </a:solidFill>
              <a:effectLst/>
              <a:uFillTx/>
              <a:latin typeface="Calibri"/>
            </a:endParaRPr>
          </a:p>
        </p:txBody>
      </p:sp>
      <p:sp>
        <p:nvSpPr>
          <p:cNvPr id="56" name="PlaceHolder 2"/>
          <p:cNvSpPr>
            <a:spLocks noGrp="1"/>
          </p:cNvSpPr>
          <p:nvPr>
            <p:ph type="body"/>
          </p:nvPr>
        </p:nvSpPr>
        <p:spPr>
          <a:xfrm>
            <a:off x="1792440" y="612720"/>
            <a:ext cx="5486040" cy="4114440"/>
          </a:xfrm>
          <a:prstGeom prst="rect">
            <a:avLst/>
          </a:prstGeom>
          <a:noFill/>
          <a:ln w="0">
            <a:noFill/>
          </a:ln>
        </p:spPr>
        <p:txBody>
          <a:bodyPr lIns="90000" tIns="45000" rIns="90000" bIns="45000" anchor="t">
            <a:noAutofit/>
          </a:bodyPr>
          <a:lstStyle>
            <a:lvl1pPr algn="l" defTabSz="457200">
              <a:spcBef>
                <a:spcPts val="281"/>
              </a:spcBef>
              <a:buClr>
                <a:srgbClr val="000000"/>
              </a:buClr>
              <a:buFont typeface="Arial"/>
              <a:buChar char="•"/>
              <a:tabLst>
                <a:tab pos="0" algn="l"/>
              </a:tabLst>
              <a:defRPr lang="en-US" sz="3200" b="0" u="none" strike="noStrike">
                <a:solidFill>
                  <a:schemeClr val="dk1"/>
                </a:solidFill>
                <a:effectLst/>
                <a:uFillTx/>
                <a:latin typeface="Calibri"/>
              </a:defRPr>
            </a:lvl1pPr>
            <a:lvl2pPr lvl="1" algn="l" defTabSz="457200">
              <a:spcBef>
                <a:spcPts val="561"/>
              </a:spcBef>
              <a:buClr>
                <a:srgbClr val="000000"/>
              </a:buClr>
              <a:buSzPct val="75000"/>
              <a:buFont typeface="Symbol" charset="2"/>
              <a:buChar char=""/>
              <a:defRPr lang="en-US" sz="3200" b="0" u="none" strike="noStrike">
                <a:solidFill>
                  <a:schemeClr val="dk1"/>
                </a:solidFill>
                <a:effectLst/>
                <a:uFillTx/>
                <a:latin typeface="Calibri"/>
              </a:defRPr>
            </a:lvl2pPr>
            <a:lvl3pPr lvl="2" algn="l" defTabSz="457200">
              <a:spcBef>
                <a:spcPts val="479"/>
              </a:spcBef>
              <a:buClr>
                <a:srgbClr val="000000"/>
              </a:buClr>
              <a:buSzPct val="45000"/>
              <a:buFont typeface="Wingdings" charset="2"/>
              <a:buChar char=""/>
              <a:defRPr lang="en-US" sz="3200" b="0" u="none" strike="noStrike">
                <a:solidFill>
                  <a:schemeClr val="dk1"/>
                </a:solidFill>
                <a:effectLst/>
                <a:uFillTx/>
                <a:latin typeface="Calibri"/>
              </a:defRPr>
            </a:lvl3pPr>
            <a:lvl4pPr lvl="3" algn="l" defTabSz="457200">
              <a:spcBef>
                <a:spcPts val="400"/>
              </a:spcBef>
              <a:buClr>
                <a:srgbClr val="000000"/>
              </a:buClr>
              <a:buSzPct val="75000"/>
              <a:buFont typeface="Symbol" charset="2"/>
              <a:buChar char=""/>
              <a:defRPr lang="en-US" sz="3200" b="0" u="none" strike="noStrike">
                <a:solidFill>
                  <a:schemeClr val="dk1"/>
                </a:solidFill>
                <a:effectLst/>
                <a:uFillTx/>
                <a:latin typeface="Calibri"/>
              </a:defRPr>
            </a:lvl4pPr>
            <a:lvl5pPr lvl="4" algn="l" defTabSz="457200">
              <a:spcBef>
                <a:spcPts val="400"/>
              </a:spcBef>
              <a:buClr>
                <a:srgbClr val="000000"/>
              </a:buClr>
              <a:buSzPct val="45000"/>
              <a:buFont typeface="Wingdings" charset="2"/>
              <a:buChar char=""/>
              <a:defRPr lang="en-US" sz="3200" b="0" u="none" strike="noStrike">
                <a:solidFill>
                  <a:schemeClr val="dk1"/>
                </a:solidFill>
                <a:effectLst/>
                <a:uFillTx/>
                <a:latin typeface="Calibri"/>
              </a:defRPr>
            </a:lvl5pPr>
            <a:lvl6pPr lvl="5" algn="l" defTabSz="457200">
              <a:spcBef>
                <a:spcPts val="283"/>
              </a:spcBef>
              <a:buClr>
                <a:srgbClr val="000000"/>
              </a:buClr>
              <a:buSzPct val="45000"/>
              <a:buFont typeface="Wingdings" charset="2"/>
              <a:buChar char=""/>
              <a:defRPr lang="en-US" sz="3200" b="0" u="none" strike="noStrike">
                <a:solidFill>
                  <a:schemeClr val="dk1"/>
                </a:solidFill>
                <a:effectLst/>
                <a:uFillTx/>
                <a:latin typeface="Calibri"/>
              </a:defRPr>
            </a:lvl6pPr>
            <a:lvl7pPr lvl="6" algn="l" defTabSz="457200">
              <a:spcBef>
                <a:spcPts val="283"/>
              </a:spcBef>
              <a:buClr>
                <a:srgbClr val="000000"/>
              </a:buClr>
              <a:buSzPct val="45000"/>
              <a:buFont typeface="Wingdings" charset="2"/>
              <a:buChar char=""/>
              <a:defRPr lang="en-US" sz="3200" b="0" u="none" strike="noStrike">
                <a:solidFill>
                  <a:schemeClr val="dk1"/>
                </a:solidFill>
                <a:effectLst/>
                <a:uFillTx/>
                <a:latin typeface="Calibri"/>
              </a:defRPr>
            </a:lvl7pPr>
          </a:lstStyle>
          <a:p>
            <a:pPr algn="l" defTabSz="457200">
              <a:spcBef>
                <a:spcPts val="281"/>
              </a:spcBef>
              <a:buClr>
                <a:srgbClr val="000000"/>
              </a:buClr>
              <a:buFont typeface="Arial"/>
              <a:buChar char="•"/>
              <a:tabLst>
                <a:tab pos="0" algn="l"/>
              </a:tabLst>
            </a:pPr>
            <a:r>
              <a:rPr lang="en-US" sz="3200" b="0" u="none" strike="noStrike">
                <a:solidFill>
                  <a:schemeClr val="dk1"/>
                </a:solidFill>
                <a:effectLst/>
                <a:uFillTx/>
                <a:latin typeface="Calibri"/>
              </a:rPr>
              <a:t>Click to edit the outline text format</a:t>
            </a:r>
            <a:endParaRPr lang="en-US" sz="3200" b="0" u="none" strike="noStrike">
              <a:solidFill>
                <a:schemeClr val="dk1"/>
              </a:solidFill>
              <a:effectLst/>
              <a:uFillTx/>
              <a:latin typeface="Calibri"/>
            </a:endParaRPr>
          </a:p>
          <a:p>
            <a:pPr marL="457200" lvl="1" algn="l" defTabSz="457200">
              <a:spcBef>
                <a:spcPts val="561"/>
              </a:spcBef>
              <a:buClr>
                <a:srgbClr val="000000"/>
              </a:buClr>
              <a:buSzPct val="75000"/>
              <a:buFont typeface="Symbol" charset="2"/>
              <a:buChar char=""/>
            </a:pPr>
            <a:r>
              <a:rPr lang="en-US" sz="3200" b="0" u="none" strike="noStrike">
                <a:solidFill>
                  <a:schemeClr val="dk1"/>
                </a:solidFill>
                <a:effectLst/>
                <a:uFillTx/>
                <a:latin typeface="Calibri"/>
              </a:rPr>
              <a:t>Second Outline Level</a:t>
            </a:r>
            <a:endParaRPr lang="en-US" sz="3200" b="0" u="none" strike="noStrike">
              <a:solidFill>
                <a:schemeClr val="dk1"/>
              </a:solidFill>
              <a:effectLst/>
              <a:uFillTx/>
              <a:latin typeface="Calibri"/>
            </a:endParaRPr>
          </a:p>
          <a:p>
            <a:pPr marL="914400" lvl="2" algn="l" defTabSz="457200">
              <a:spcBef>
                <a:spcPts val="479"/>
              </a:spcBef>
              <a:buClr>
                <a:srgbClr val="000000"/>
              </a:buClr>
              <a:buSzPct val="45000"/>
              <a:buFont typeface="Wingdings" charset="2"/>
              <a:buChar char=""/>
            </a:pPr>
            <a:r>
              <a:rPr lang="en-US" sz="3200" b="0" u="none" strike="noStrike">
                <a:solidFill>
                  <a:schemeClr val="dk1"/>
                </a:solidFill>
                <a:effectLst/>
                <a:uFillTx/>
                <a:latin typeface="Calibri"/>
              </a:rPr>
              <a:t>Third Outline Level</a:t>
            </a:r>
            <a:endParaRPr lang="en-US" sz="3200" b="0" u="none" strike="noStrike">
              <a:solidFill>
                <a:schemeClr val="dk1"/>
              </a:solidFill>
              <a:effectLst/>
              <a:uFillTx/>
              <a:latin typeface="Calibri"/>
            </a:endParaRPr>
          </a:p>
          <a:p>
            <a:pPr marL="1371600" lvl="3" algn="l" defTabSz="457200">
              <a:spcBef>
                <a:spcPts val="400"/>
              </a:spcBef>
              <a:buClr>
                <a:srgbClr val="000000"/>
              </a:buClr>
              <a:buSzPct val="75000"/>
              <a:buFont typeface="Symbol" charset="2"/>
              <a:buChar char=""/>
            </a:pPr>
            <a:r>
              <a:rPr lang="en-US" sz="3200" b="0" u="none" strike="noStrike">
                <a:solidFill>
                  <a:schemeClr val="dk1"/>
                </a:solidFill>
                <a:effectLst/>
                <a:uFillTx/>
                <a:latin typeface="Calibri"/>
              </a:rPr>
              <a:t>Fourth Outline Level</a:t>
            </a:r>
            <a:endParaRPr lang="en-US" sz="3200" b="0" u="none" strike="noStrike">
              <a:solidFill>
                <a:schemeClr val="dk1"/>
              </a:solidFill>
              <a:effectLst/>
              <a:uFillTx/>
              <a:latin typeface="Calibri"/>
            </a:endParaRPr>
          </a:p>
          <a:p>
            <a:pPr marL="1828800" lvl="4" algn="l" defTabSz="457200">
              <a:spcBef>
                <a:spcPts val="400"/>
              </a:spcBef>
              <a:buClr>
                <a:srgbClr val="000000"/>
              </a:buClr>
              <a:buSzPct val="45000"/>
              <a:buFont typeface="Wingdings" charset="2"/>
              <a:buChar char=""/>
            </a:pPr>
            <a:r>
              <a:rPr lang="en-US" sz="3200" b="0" u="none" strike="noStrike">
                <a:solidFill>
                  <a:schemeClr val="dk1"/>
                </a:solidFill>
                <a:effectLst/>
                <a:uFillTx/>
                <a:latin typeface="Calibri"/>
              </a:rPr>
              <a:t>Fifth Outline Level</a:t>
            </a:r>
            <a:endParaRPr lang="en-US" sz="3200" b="0" u="none" strike="noStrike">
              <a:solidFill>
                <a:schemeClr val="dk1"/>
              </a:solidFill>
              <a:effectLst/>
              <a:uFillTx/>
              <a:latin typeface="Calibri"/>
            </a:endParaRPr>
          </a:p>
          <a:p>
            <a:pPr marL="2286000" lvl="5" algn="l" defTabSz="457200">
              <a:spcBef>
                <a:spcPts val="283"/>
              </a:spcBef>
              <a:buClr>
                <a:srgbClr val="000000"/>
              </a:buClr>
              <a:buSzPct val="45000"/>
              <a:buFont typeface="Wingdings" charset="2"/>
              <a:buChar char=""/>
            </a:pPr>
            <a:r>
              <a:rPr lang="en-US" sz="3200" b="0" u="none" strike="noStrike">
                <a:solidFill>
                  <a:schemeClr val="dk1"/>
                </a:solidFill>
                <a:effectLst/>
                <a:uFillTx/>
                <a:latin typeface="Calibri"/>
              </a:rPr>
              <a:t>Sixth Outline Level</a:t>
            </a:r>
            <a:endParaRPr lang="en-US" sz="3200" b="0" u="none" strike="noStrike">
              <a:solidFill>
                <a:schemeClr val="dk1"/>
              </a:solidFill>
              <a:effectLst/>
              <a:uFillTx/>
              <a:latin typeface="Calibri"/>
            </a:endParaRPr>
          </a:p>
          <a:p>
            <a:pPr marL="2743200" lvl="6" algn="l" defTabSz="457200">
              <a:spcBef>
                <a:spcPts val="283"/>
              </a:spcBef>
              <a:buClr>
                <a:srgbClr val="000000"/>
              </a:buClr>
              <a:buSzPct val="45000"/>
              <a:buFont typeface="Wingdings" charset="2"/>
              <a:buChar char=""/>
            </a:pPr>
            <a:r>
              <a:rPr lang="en-US" sz="3200" b="0" u="none" strike="noStrike">
                <a:solidFill>
                  <a:schemeClr val="dk1"/>
                </a:solidFill>
                <a:effectLst/>
                <a:uFillTx/>
                <a:latin typeface="Calibri"/>
              </a:rPr>
              <a:t>Seventh Outline Level</a:t>
            </a:r>
            <a:endParaRPr lang="en-US" sz="3200" b="0" u="none" strike="noStrike">
              <a:solidFill>
                <a:schemeClr val="dk1"/>
              </a:solidFill>
              <a:effectLst/>
              <a:uFillTx/>
              <a:latin typeface="Calibri"/>
            </a:endParaRPr>
          </a:p>
        </p:txBody>
      </p:sp>
      <p:sp>
        <p:nvSpPr>
          <p:cNvPr id="57" name="PlaceHolder 3"/>
          <p:cNvSpPr>
            <a:spLocks noGrp="1"/>
          </p:cNvSpPr>
          <p:nvPr>
            <p:ph type="body"/>
          </p:nvPr>
        </p:nvSpPr>
        <p:spPr>
          <a:xfrm>
            <a:off x="1792440" y="5367240"/>
            <a:ext cx="5486040" cy="804600"/>
          </a:xfrm>
          <a:prstGeom prst="rect">
            <a:avLst/>
          </a:prstGeom>
          <a:noFill/>
          <a:ln w="0">
            <a:noFill/>
          </a:ln>
        </p:spPr>
        <p:txBody>
          <a:bodyPr lIns="91440" tIns="45720" rIns="91440" bIns="45720" anchor="t">
            <a:noAutofit/>
          </a:bodyPr>
          <a:lstStyle>
            <a:lvl1pPr indent="0" algn="l" defTabSz="457200">
              <a:lnSpc>
                <a:spcPct val="100000"/>
              </a:lnSpc>
              <a:spcBef>
                <a:spcPts val="281"/>
              </a:spcBef>
              <a:buNone/>
              <a:tabLst>
                <a:tab pos="0" algn="l"/>
              </a:tabLst>
              <a:defRPr lang="en-US" sz="1400" b="0" u="none" strike="noStrike">
                <a:solidFill>
                  <a:schemeClr val="dk1"/>
                </a:solidFill>
                <a:effectLst/>
                <a:uFillTx/>
                <a:latin typeface="Calibri"/>
              </a:defRPr>
            </a:lvl1pPr>
          </a:lstStyle>
          <a:p>
            <a:pPr indent="0" algn="l" defTabSz="457200">
              <a:lnSpc>
                <a:spcPct val="100000"/>
              </a:lnSpc>
              <a:spcBef>
                <a:spcPts val="281"/>
              </a:spcBef>
              <a:buNone/>
              <a:tabLst>
                <a:tab pos="0" algn="l"/>
              </a:tabLst>
            </a:pPr>
            <a:r>
              <a:rPr lang="en-US" sz="1400" b="0" u="none" strike="noStrike">
                <a:solidFill>
                  <a:schemeClr val="dk1"/>
                </a:solidFill>
                <a:effectLst/>
                <a:uFillTx/>
                <a:latin typeface="Calibri"/>
              </a:rPr>
              <a:t>Click to edit Master text styles</a:t>
            </a:r>
            <a:endParaRPr lang="en-US" sz="1400" b="0" u="none" strike="noStrike">
              <a:solidFill>
                <a:schemeClr val="dk1"/>
              </a:solidFill>
              <a:effectLst/>
              <a:uFillTx/>
              <a:latin typeface="Calibri"/>
            </a:endParaRPr>
          </a:p>
        </p:txBody>
      </p:sp>
      <p:sp>
        <p:nvSpPr>
          <p:cNvPr id="58" name="PlaceHolder 4"/>
          <p:cNvSpPr>
            <a:spLocks noGrp="1"/>
          </p:cNvSpPr>
          <p:nvPr>
            <p:ph type="dt" idx="31"/>
          </p:nvPr>
        </p:nvSpPr>
        <p:spPr>
          <a:xfrm>
            <a:off x="457200" y="6356520"/>
            <a:ext cx="2133360" cy="364680"/>
          </a:xfrm>
          <a:prstGeom prst="rect">
            <a:avLst/>
          </a:prstGeom>
          <a:noFill/>
          <a:ln w="0">
            <a:noFill/>
          </a:ln>
        </p:spPr>
        <p:txBody>
          <a:bodyPr lIns="91440" tIns="45720" rIns="91440" bIns="45720" anchor="ctr">
            <a:noAutofit/>
          </a:bodyPr>
          <a:lstStyle>
            <a:lvl1pPr indent="0" algn="l" defTabSz="457200">
              <a:lnSpc>
                <a:spcPct val="100000"/>
              </a:lnSpc>
              <a:buNone/>
              <a:defRPr lang="en-US" sz="1200" b="0" u="none" strike="noStrike">
                <a:solidFill>
                  <a:schemeClr val="dk1">
                    <a:tint val="75000"/>
                  </a:schemeClr>
                </a:solidFill>
                <a:effectLst/>
                <a:uFillTx/>
                <a:latin typeface="Calibri"/>
              </a:defRPr>
            </a:lvl1pPr>
          </a:lstStyle>
          <a:p>
            <a:pPr indent="0" algn="l" defTabSz="457200">
              <a:lnSpc>
                <a:spcPct val="100000"/>
              </a:lnSpc>
              <a:buNone/>
            </a:pPr>
            <a:r>
              <a:rPr lang="en-US" sz="1200" b="0" u="none" strike="noStrike">
                <a:solidFill>
                  <a:schemeClr val="dk1">
                    <a:tint val="75000"/>
                  </a:schemeClr>
                </a:solidFill>
                <a:effectLst/>
                <a:uFillTx/>
                <a:latin typeface="Calibri"/>
              </a:rPr>
              <a:t>&lt;date/time&gt;</a:t>
            </a:r>
            <a:endParaRPr lang="en-US" sz="1200" b="0" u="none" strike="noStrike">
              <a:solidFill>
                <a:srgbClr val="000000"/>
              </a:solidFill>
              <a:effectLst/>
              <a:uFillTx/>
              <a:latin typeface="Times New Roman"/>
            </a:endParaRPr>
          </a:p>
        </p:txBody>
      </p:sp>
      <p:sp>
        <p:nvSpPr>
          <p:cNvPr id="59" name="PlaceHolder 5"/>
          <p:cNvSpPr>
            <a:spLocks noGrp="1"/>
          </p:cNvSpPr>
          <p:nvPr>
            <p:ph type="ftr" idx="32"/>
          </p:nvPr>
        </p:nvSpPr>
        <p:spPr>
          <a:xfrm>
            <a:off x="3124080" y="6356520"/>
            <a:ext cx="2895120" cy="364680"/>
          </a:xfrm>
          <a:prstGeom prst="rect">
            <a:avLst/>
          </a:prstGeom>
          <a:noFill/>
          <a:ln w="0">
            <a:noFill/>
          </a:ln>
        </p:spPr>
        <p:txBody>
          <a:bodyPr lIns="91440" tIns="45720" rIns="91440" bIns="45720" anchor="ctr">
            <a:noAutofit/>
          </a:bodyPr>
          <a:lstStyle>
            <a:lvl1pPr indent="0" algn="ctr">
              <a:buNone/>
              <a:defRPr lang="en-US" sz="1400" b="0" u="none" strike="noStrike">
                <a:solidFill>
                  <a:srgbClr val="000000"/>
                </a:solidFill>
                <a:effectLst/>
                <a:uFillTx/>
                <a:latin typeface="Times New Roman"/>
              </a:defRPr>
            </a:lvl1pPr>
          </a:lstStyle>
          <a:p>
            <a:pPr indent="0" algn="ctr">
              <a:buNone/>
            </a:pPr>
            <a:r>
              <a:rPr lang="en-US" sz="1400" b="0" u="none" strike="noStrike">
                <a:solidFill>
                  <a:srgbClr val="000000"/>
                </a:solidFill>
                <a:effectLst/>
                <a:uFillTx/>
                <a:latin typeface="Times New Roman"/>
              </a:rPr>
              <a:t>&lt;footer&gt;</a:t>
            </a:r>
            <a:endParaRPr lang="en-US" sz="1400" b="0" u="none" strike="noStrike">
              <a:solidFill>
                <a:srgbClr val="000000"/>
              </a:solidFill>
              <a:effectLst/>
              <a:uFillTx/>
              <a:latin typeface="Times New Roman"/>
            </a:endParaRPr>
          </a:p>
        </p:txBody>
      </p:sp>
      <p:sp>
        <p:nvSpPr>
          <p:cNvPr id="60" name="PlaceHolder 6"/>
          <p:cNvSpPr>
            <a:spLocks noGrp="1"/>
          </p:cNvSpPr>
          <p:nvPr>
            <p:ph type="sldNum" idx="33"/>
          </p:nvPr>
        </p:nvSpPr>
        <p:spPr>
          <a:xfrm>
            <a:off x="6553080" y="6356520"/>
            <a:ext cx="2133360" cy="364680"/>
          </a:xfrm>
          <a:prstGeom prst="rect">
            <a:avLst/>
          </a:prstGeom>
          <a:noFill/>
          <a:ln w="0">
            <a:noFill/>
          </a:ln>
        </p:spPr>
        <p:txBody>
          <a:bodyPr lIns="91440" tIns="45720" rIns="91440" bIns="45720" anchor="ctr">
            <a:noAutofit/>
          </a:bodyPr>
          <a:lstStyle>
            <a:lvl1pPr indent="0" algn="r" defTabSz="457200">
              <a:lnSpc>
                <a:spcPct val="100000"/>
              </a:lnSpc>
              <a:buNone/>
              <a:defRPr lang="en-US" sz="1200" b="0" u="none" strike="noStrike">
                <a:solidFill>
                  <a:schemeClr val="dk1">
                    <a:tint val="75000"/>
                  </a:schemeClr>
                </a:solidFill>
                <a:effectLst/>
                <a:uFillTx/>
                <a:latin typeface="Calibri"/>
              </a:defRPr>
            </a:lvl1pPr>
          </a:lstStyle>
          <a:p>
            <a:pPr indent="0" algn="r" defTabSz="457200">
              <a:lnSpc>
                <a:spcPct val="100000"/>
              </a:lnSpc>
              <a:buNone/>
            </a:pPr>
            <a:fld id="{DCACBF71-D765-451E-8AC8-1D1AD25FEEC7}" type="slidenum">
              <a:rPr lang="en-US" sz="1200" b="0" u="none" strike="noStrike">
                <a:solidFill>
                  <a:schemeClr val="dk1">
                    <a:tint val="75000"/>
                  </a:schemeClr>
                </a:solidFill>
                <a:effectLst/>
                <a:uFillTx/>
                <a:latin typeface="Calibri"/>
              </a:rPr>
              <a:t>&lt;number&gt;</a:t>
            </a:fld>
            <a:endParaRPr lang="en-US" sz="1200" b="0" u="none" strike="noStrike">
              <a:solidFill>
                <a:srgbClr val="000000"/>
              </a:solidFill>
              <a:effectLst/>
              <a:uFillTx/>
              <a:latin typeface="Times New Roman"/>
            </a:endParaRPr>
          </a:p>
        </p:txBody>
      </p:sp>
    </p:spTree>
  </p:cSld>
</p:sldLayout>
</file>

<file path=ppt/slideMasters/_rels/slideMaster1.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Layout" Target="../slideLayouts/slideLayout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
</Relationships>
</file>

<file path=ppt/slideMasters/slideMaster1.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sldMaster>
</file>

<file path=ppt/slides/_rels/slide1.xml.rels><?xml version="1.0" encoding="UTF-8"?>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xml"/>
</Relationships>
</file>

<file path=ppt/slides/_rels/slide2.xml.rels><?xml version="1.0" encoding="UTF-8"?>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2.xml"/>
</Relationships>
</file>

<file path=ppt/slides/_rels/slide3.xml.rels><?xml version="1.0" encoding="UTF-8"?>
<Relationships xmlns="http://schemas.openxmlformats.org/package/2006/relationships"><Relationship Id="rId1" Type="http://schemas.openxmlformats.org/officeDocument/2006/relationships/slideLayout" Target="../slideLayouts/slideLayout9.xml"/>
</Relationships>
</file>

<file path=ppt/slides/_rels/slide4.xml.rels><?xml version="1.0" encoding="UTF-8"?>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4.xml"/>
</Relationships>
</file>

<file path=ppt/slides/_rels/slide5.xml.rels><?xml version="1.0" encoding="UTF-8"?>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5.xml"/>
</Relationships>
</file>

<file path=ppt/slides/_rels/slide6.xml.rels><?xml version="1.0" encoding="UTF-8"?>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6.xml"/>
</Relationships>
</file>

<file path=ppt/slides/_rels/slide7.xml.rels><?xml version="1.0" encoding="UTF-8"?>
<Relationships xmlns="http://schemas.openxmlformats.org/package/2006/relationships"><Relationship Id="rId1" Type="http://schemas.openxmlformats.org/officeDocument/2006/relationships/slideLayout" Target="../slideLayouts/slideLayout9.xml"/>
</Relationships>
</file>

<file path=ppt/slides/_rels/slide8.xml.rels><?xml version="1.0" encoding="UTF-8"?>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8.xml"/>
</Relationships>
</file>

<file path=ppt/slides/_rels/slide9.xml.rels><?xml version="1.0" encoding="UTF-8"?>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9.xml"/>
</Relationships>
</file>

<file path=ppt/slides/_rels/slide10.xml.rels><?xml version="1.0" encoding="UTF-8"?>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0.xml"/>
</Relationships>
</file>

<file path=ppt/slides/_rels/slide11.xml.rels><?xml version="1.0" encoding="UTF-8"?>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1.xml"/>
</Relationships>
</file>

<file path=ppt/slides/_rels/slide12.xml.rels><?xml version="1.0" encoding="UTF-8"?>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2.xml"/>
</Relationships>
</file>

<file path=ppt/slides/_rels/slide13.xml.rels><?xml version="1.0" encoding="UTF-8"?>
<Relationships xmlns="http://schemas.openxmlformats.org/package/2006/relationships"><Relationship Id="rId1" Type="http://schemas.openxmlformats.org/officeDocument/2006/relationships/slideLayout" Target="../slideLayouts/slideLayout9.xml"/>
</Relationships>
</file>

<file path=ppt/slides/_rels/slide14.xml.rels><?xml version="1.0" encoding="UTF-8"?>
<Relationships xmlns="http://schemas.openxmlformats.org/package/2006/relationships"><Relationship Id="rId1" Type="http://schemas.openxmlformats.org/officeDocument/2006/relationships/image" Target="../media/image1.png"/><Relationship Id="rId2" Type="http://schemas.openxmlformats.org/officeDocument/2006/relationships/slideLayout" Target="../slideLayouts/slideLayout9.xml"/><Relationship Id="rId3" Type="http://schemas.openxmlformats.org/officeDocument/2006/relationships/notesSlide" Target="../notesSlides/notesSlide14.xml"/>
</Relationships>
</file>

<file path=ppt/slides/_rels/slide15.xml.rels><?xml version="1.0" encoding="UTF-8"?>
<Relationships xmlns="http://schemas.openxmlformats.org/package/2006/relationships"><Relationship Id="rId1" Type="http://schemas.openxmlformats.org/officeDocument/2006/relationships/image" Target="../media/image2.png"/><Relationship Id="rId2" Type="http://schemas.openxmlformats.org/officeDocument/2006/relationships/slideLayout" Target="../slideLayouts/slideLayout9.xml"/><Relationship Id="rId3" Type="http://schemas.openxmlformats.org/officeDocument/2006/relationships/notesSlide" Target="../notesSlides/notesSlide15.xml"/>
</Relationships>
</file>

<file path=ppt/slides/_rels/slide16.xml.rels><?xml version="1.0" encoding="UTF-8"?>
<Relationships xmlns="http://schemas.openxmlformats.org/package/2006/relationships"><Relationship Id="rId1" Type="http://schemas.openxmlformats.org/officeDocument/2006/relationships/image" Target="../media/image3.png"/><Relationship Id="rId2" Type="http://schemas.openxmlformats.org/officeDocument/2006/relationships/slideLayout" Target="../slideLayouts/slideLayout9.xml"/><Relationship Id="rId3" Type="http://schemas.openxmlformats.org/officeDocument/2006/relationships/notesSlide" Target="../notesSlides/notesSlide16.xml"/>
</Relationships>
</file>

<file path=ppt/slides/_rels/slide17.xml.rels><?xml version="1.0" encoding="UTF-8"?>
<Relationships xmlns="http://schemas.openxmlformats.org/package/2006/relationships"><Relationship Id="rId1" Type="http://schemas.openxmlformats.org/officeDocument/2006/relationships/image" Target="../media/image4.png"/><Relationship Id="rId2" Type="http://schemas.openxmlformats.org/officeDocument/2006/relationships/slideLayout" Target="../slideLayouts/slideLayout9.xml"/><Relationship Id="rId3" Type="http://schemas.openxmlformats.org/officeDocument/2006/relationships/notesSlide" Target="../notesSlides/notesSlide17.xml"/>
</Relationships>
</file>

<file path=ppt/slides/_rels/slide18.xml.rels><?xml version="1.0" encoding="UTF-8"?>
<Relationships xmlns="http://schemas.openxmlformats.org/package/2006/relationships"><Relationship Id="rId1" Type="http://schemas.openxmlformats.org/officeDocument/2006/relationships/image" Target="../media/image5.png"/><Relationship Id="rId2" Type="http://schemas.openxmlformats.org/officeDocument/2006/relationships/slideLayout" Target="../slideLayouts/slideLayout9.xml"/><Relationship Id="rId3" Type="http://schemas.openxmlformats.org/officeDocument/2006/relationships/notesSlide" Target="../notesSlides/notesSlide18.xml"/>
</Relationships>
</file>

<file path=ppt/slides/_rels/slide19.xml.rels><?xml version="1.0" encoding="UTF-8"?>
<Relationships xmlns="http://schemas.openxmlformats.org/package/2006/relationships"><Relationship Id="rId1" Type="http://schemas.openxmlformats.org/officeDocument/2006/relationships/image" Target="../media/image6.png"/><Relationship Id="rId2" Type="http://schemas.openxmlformats.org/officeDocument/2006/relationships/image" Target="../media/image7.png"/><Relationship Id="rId3" Type="http://schemas.openxmlformats.org/officeDocument/2006/relationships/slideLayout" Target="../slideLayouts/slideLayout9.xml"/><Relationship Id="rId4" Type="http://schemas.openxmlformats.org/officeDocument/2006/relationships/notesSlide" Target="../notesSlides/notesSlide19.xml"/>
</Relationships>
</file>

<file path=ppt/slides/_rels/slide20.xml.rels><?xml version="1.0" encoding="UTF-8"?>
<Relationships xmlns="http://schemas.openxmlformats.org/package/2006/relationships"><Relationship Id="rId1" Type="http://schemas.openxmlformats.org/officeDocument/2006/relationships/image" Target="../media/image8.png"/><Relationship Id="rId2" Type="http://schemas.openxmlformats.org/officeDocument/2006/relationships/slideLayout" Target="../slideLayouts/slideLayout9.xml"/><Relationship Id="rId3" Type="http://schemas.openxmlformats.org/officeDocument/2006/relationships/notesSlide" Target="../notesSlides/notesSlide20.xml"/>
</Relationships>
</file>

<file path=ppt/slides/_rels/slide21.xml.rels><?xml version="1.0" encoding="UTF-8"?>
<Relationships xmlns="http://schemas.openxmlformats.org/package/2006/relationships"><Relationship Id="rId1" Type="http://schemas.openxmlformats.org/officeDocument/2006/relationships/image" Target="../media/image9.png"/><Relationship Id="rId2" Type="http://schemas.openxmlformats.org/officeDocument/2006/relationships/slideLayout" Target="../slideLayouts/slideLayout9.xml"/><Relationship Id="rId3" Type="http://schemas.openxmlformats.org/officeDocument/2006/relationships/notesSlide" Target="../notesSlides/notesSlide21.xml"/>
</Relationships>
</file>

<file path=ppt/slides/_rels/slide22.xml.rels><?xml version="1.0" encoding="UTF-8"?>
<Relationships xmlns="http://schemas.openxmlformats.org/package/2006/relationships"><Relationship Id="rId1" Type="http://schemas.openxmlformats.org/officeDocument/2006/relationships/image" Target="../media/image10.png"/><Relationship Id="rId2" Type="http://schemas.openxmlformats.org/officeDocument/2006/relationships/slideLayout" Target="../slideLayouts/slideLayout9.xml"/><Relationship Id="rId3" Type="http://schemas.openxmlformats.org/officeDocument/2006/relationships/notesSlide" Target="../notesSlides/notesSlide22.xml"/>
</Relationships>
</file>

<file path=ppt/slides/_rels/slide23.xml.rels><?xml version="1.0" encoding="UTF-8"?>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9.xml"/><Relationship Id="rId3" Type="http://schemas.openxmlformats.org/officeDocument/2006/relationships/notesSlide" Target="../notesSlides/notesSlide23.xml"/>
</Relationships>
</file>

<file path=ppt/slides/_rels/slide24.xml.rels><?xml version="1.0" encoding="UTF-8"?>
<Relationships xmlns="http://schemas.openxmlformats.org/package/2006/relationships"><Relationship Id="rId1" Type="http://schemas.openxmlformats.org/officeDocument/2006/relationships/slideLayout" Target="../slideLayouts/slideLayout9.xml"/>
</Relationships>
</file>

<file path=ppt/slides/_rels/slide25.xml.rels><?xml version="1.0" encoding="UTF-8"?>
<Relationships xmlns="http://schemas.openxmlformats.org/package/2006/relationships"><Relationship Id="rId1" Type="http://schemas.openxmlformats.org/officeDocument/2006/relationships/image" Target="../media/image12.png"/><Relationship Id="rId2" Type="http://schemas.openxmlformats.org/officeDocument/2006/relationships/slideLayout" Target="../slideLayouts/slideLayout9.xml"/><Relationship Id="rId3" Type="http://schemas.openxmlformats.org/officeDocument/2006/relationships/notesSlide" Target="../notesSlides/notesSlide25.xml"/>
</Relationships>
</file>

<file path=ppt/slides/_rels/slide26.xml.rels><?xml version="1.0" encoding="UTF-8"?>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26.xml"/>
</Relationships>
</file>

<file path=ppt/slides/_rels/slide27.xml.rels><?xml version="1.0" encoding="UTF-8"?>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27.xml"/>
</Relationships>
</file>

<file path=ppt/slides/_rels/slide28.xml.rels><?xml version="1.0" encoding="UTF-8"?>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28.xml"/>
</Relationships>
</file>

<file path=ppt/slides/_rels/slide29.xml.rels><?xml version="1.0" encoding="UTF-8"?>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29.xml"/>
</Relationships>
</file>

<file path=ppt/slides/_rels/slide30.xml.rels><?xml version="1.0" encoding="UTF-8"?>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30.xml"/>
</Relationships>
</file>

<file path=ppt/slides/_rels/slide31.xml.rels><?xml version="1.0" encoding="UTF-8"?>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31.xml"/>
</Relationships>
</file>

<file path=ppt/slides/slide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7" name="Rectangle 1"/>
          <p:cNvSpPr/>
          <p:nvPr/>
        </p:nvSpPr>
        <p:spPr>
          <a:xfrm>
            <a:off x="0" y="0"/>
            <a:ext cx="12191400" cy="6857640"/>
          </a:xfrm>
          <a:prstGeom prst="rect">
            <a:avLst/>
          </a:prstGeom>
          <a:solidFill>
            <a:srgbClr val="0E1A33"/>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68" name="Rectangle 2"/>
          <p:cNvSpPr/>
          <p:nvPr/>
        </p:nvSpPr>
        <p:spPr>
          <a:xfrm>
            <a:off x="0" y="0"/>
            <a:ext cx="12191400" cy="376920"/>
          </a:xfrm>
          <a:prstGeom prst="rect">
            <a:avLst/>
          </a:prstGeom>
          <a:gradFill rotWithShape="0">
            <a:gsLst>
              <a:gs pos="0">
                <a:srgbClr val="4F46E5"/>
              </a:gs>
              <a:gs pos="100000">
                <a:srgbClr val="7C3AED"/>
              </a:gs>
            </a:gsLst>
            <a:lin ang="0"/>
          </a:gra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69" name="Rectangle 3"/>
          <p:cNvSpPr/>
          <p:nvPr/>
        </p:nvSpPr>
        <p:spPr>
          <a:xfrm>
            <a:off x="8625600" y="822960"/>
            <a:ext cx="3017160" cy="5120280"/>
          </a:xfrm>
          <a:prstGeom prst="rect">
            <a:avLst/>
          </a:prstGeom>
          <a:gradFill rotWithShape="0">
            <a:gsLst>
              <a:gs pos="0">
                <a:srgbClr val="17224A"/>
              </a:gs>
              <a:gs pos="100000">
                <a:srgbClr val="0E1A33"/>
              </a:gs>
            </a:gsLst>
            <a:lin ang="18900000"/>
          </a:gra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70" name="Rectangle 4"/>
          <p:cNvSpPr/>
          <p:nvPr/>
        </p:nvSpPr>
        <p:spPr>
          <a:xfrm>
            <a:off x="8625600" y="822960"/>
            <a:ext cx="54360" cy="5120280"/>
          </a:xfrm>
          <a:prstGeom prst="rect">
            <a:avLst/>
          </a:prstGeom>
          <a:solidFill>
            <a:srgbClr val="7C3AED"/>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71" name="TextBox 5"/>
          <p:cNvSpPr/>
          <p:nvPr/>
        </p:nvSpPr>
        <p:spPr>
          <a:xfrm>
            <a:off x="795600" y="1417320"/>
            <a:ext cx="7680600" cy="365400"/>
          </a:xfrm>
          <a:prstGeom prst="rect">
            <a:avLst/>
          </a:prstGeom>
          <a:noFill/>
          <a:ln w="0">
            <a:noFill/>
          </a:ln>
        </p:spPr>
        <p:style>
          <a:lnRef idx="0"/>
          <a:fillRef idx="0"/>
          <a:effectRef idx="0"/>
          <a:fontRef idx="minor"/>
        </p:style>
        <p:txBody>
          <a:bodyPr lIns="0" tIns="0" rIns="0" bIns="0" anchor="t">
            <a:spAutoFit/>
          </a:bodyPr>
          <a:p>
            <a:pPr defTabSz="457200">
              <a:lnSpc>
                <a:spcPct val="106000"/>
              </a:lnSpc>
            </a:pPr>
            <a:r>
              <a:rPr lang="en-US" sz="1100" b="1" u="none" strike="noStrike">
                <a:solidFill>
                  <a:srgbClr val="06B6D4"/>
                </a:solidFill>
                <a:effectLst/>
                <a:uFillTx/>
                <a:latin typeface="Calibri"/>
              </a:rPr>
              <a:t>CAPSTONE PROJECT  ·  AGENTIC AI</a:t>
            </a:r>
            <a:endParaRPr lang="en-US" sz="1100" b="0" u="none" strike="noStrike">
              <a:solidFill>
                <a:srgbClr val="000000"/>
              </a:solidFill>
              <a:effectLst/>
              <a:uFillTx/>
              <a:latin typeface="Arial"/>
            </a:endParaRPr>
          </a:p>
        </p:txBody>
      </p:sp>
      <p:sp>
        <p:nvSpPr>
          <p:cNvPr id="72" name="TextBox 6"/>
          <p:cNvSpPr/>
          <p:nvPr/>
        </p:nvSpPr>
        <p:spPr>
          <a:xfrm>
            <a:off x="795600" y="1828800"/>
            <a:ext cx="7954920" cy="1737000"/>
          </a:xfrm>
          <a:prstGeom prst="rect">
            <a:avLst/>
          </a:prstGeom>
          <a:noFill/>
          <a:ln w="0">
            <a:noFill/>
          </a:ln>
        </p:spPr>
        <p:style>
          <a:lnRef idx="0"/>
          <a:fillRef idx="0"/>
          <a:effectRef idx="0"/>
          <a:fontRef idx="minor"/>
        </p:style>
        <p:txBody>
          <a:bodyPr lIns="0" tIns="0" rIns="0" bIns="0" anchor="t">
            <a:spAutoFit/>
          </a:bodyPr>
          <a:p>
            <a:pPr defTabSz="457200">
              <a:lnSpc>
                <a:spcPct val="106000"/>
              </a:lnSpc>
              <a:spcAft>
                <a:spcPts val="601"/>
              </a:spcAft>
            </a:pPr>
            <a:r>
              <a:rPr lang="en-US" sz="5400" b="1" u="none" strike="noStrike">
                <a:solidFill>
                  <a:srgbClr val="FFFFFF"/>
                </a:solidFill>
                <a:effectLst/>
                <a:uFillTx/>
                <a:latin typeface="Calibri"/>
              </a:rPr>
              <a:t>Loan Eligibility AI</a:t>
            </a:r>
            <a:endParaRPr lang="en-US" sz="5400" b="0" u="none" strike="noStrike">
              <a:solidFill>
                <a:srgbClr val="000000"/>
              </a:solidFill>
              <a:effectLst/>
              <a:uFillTx/>
              <a:latin typeface="Arial"/>
            </a:endParaRPr>
          </a:p>
          <a:p>
            <a:pPr defTabSz="457200">
              <a:lnSpc>
                <a:spcPct val="114000"/>
              </a:lnSpc>
            </a:pPr>
            <a:r>
              <a:rPr lang="en-US" sz="1900" b="0" u="none" strike="noStrike">
                <a:solidFill>
                  <a:srgbClr val="AEB9D2"/>
                </a:solidFill>
                <a:effectLst/>
                <a:uFillTx/>
                <a:latin typeface="Calibri"/>
              </a:rPr>
              <a:t>A multi-agent decision engine with a customer-facing assistant</a:t>
            </a:r>
            <a:endParaRPr lang="en-US" sz="1900" b="0" u="none" strike="noStrike">
              <a:solidFill>
                <a:srgbClr val="000000"/>
              </a:solidFill>
              <a:effectLst/>
              <a:uFillTx/>
              <a:latin typeface="Arial"/>
            </a:endParaRPr>
          </a:p>
        </p:txBody>
      </p:sp>
      <p:sp>
        <p:nvSpPr>
          <p:cNvPr id="73" name="Rectangle 7"/>
          <p:cNvSpPr/>
          <p:nvPr/>
        </p:nvSpPr>
        <p:spPr>
          <a:xfrm>
            <a:off x="795600" y="3858840"/>
            <a:ext cx="1371240" cy="40680"/>
          </a:xfrm>
          <a:prstGeom prst="rect">
            <a:avLst/>
          </a:prstGeom>
          <a:solidFill>
            <a:srgbClr val="7C3AED"/>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3960" rIns="90000" bIns="-3960" anchor="ctr">
            <a:noAutofit/>
          </a:bodyPr>
          <a:p>
            <a:endParaRPr lang="en-US" sz="1800" b="0" u="none" strike="noStrike">
              <a:solidFill>
                <a:schemeClr val="lt1"/>
              </a:solidFill>
              <a:effectLst/>
              <a:uFillTx/>
              <a:latin typeface="Calibri"/>
            </a:endParaRPr>
          </a:p>
        </p:txBody>
      </p:sp>
      <p:sp>
        <p:nvSpPr>
          <p:cNvPr id="74" name="TextBox 8"/>
          <p:cNvSpPr/>
          <p:nvPr/>
        </p:nvSpPr>
        <p:spPr>
          <a:xfrm>
            <a:off x="795600" y="4133160"/>
            <a:ext cx="8229240" cy="460440"/>
          </a:xfrm>
          <a:prstGeom prst="rect">
            <a:avLst/>
          </a:prstGeom>
          <a:noFill/>
          <a:ln w="0">
            <a:noFill/>
          </a:ln>
        </p:spPr>
        <p:style>
          <a:lnRef idx="0"/>
          <a:fillRef idx="0"/>
          <a:effectRef idx="0"/>
          <a:fontRef idx="minor"/>
        </p:style>
        <p:txBody>
          <a:bodyPr lIns="0" tIns="0" rIns="0" bIns="0" anchor="t">
            <a:spAutoFit/>
          </a:bodyPr>
          <a:p>
            <a:pPr defTabSz="457200">
              <a:lnSpc>
                <a:spcPct val="106000"/>
              </a:lnSpc>
              <a:spcAft>
                <a:spcPts val="601"/>
              </a:spcAft>
            </a:pPr>
            <a:r>
              <a:rPr lang="en-US" sz="950" b="1" u="none" strike="noStrike">
                <a:solidFill>
                  <a:srgbClr val="9AA3B2"/>
                </a:solidFill>
                <a:effectLst/>
                <a:uFillTx/>
                <a:latin typeface="Calibri"/>
              </a:rPr>
              <a:t>PRESENTED BY</a:t>
            </a:r>
            <a:endParaRPr lang="en-US" sz="950" b="0" u="none" strike="noStrike">
              <a:solidFill>
                <a:srgbClr val="000000"/>
              </a:solidFill>
              <a:effectLst/>
              <a:uFillTx/>
              <a:latin typeface="Arial"/>
            </a:endParaRPr>
          </a:p>
          <a:p>
            <a:pPr defTabSz="457200">
              <a:lnSpc>
                <a:spcPct val="108000"/>
              </a:lnSpc>
            </a:pPr>
            <a:r>
              <a:rPr lang="en-US" sz="1400" b="1" u="none" strike="noStrike">
                <a:solidFill>
                  <a:srgbClr val="FFFFFF"/>
                </a:solidFill>
                <a:effectLst/>
                <a:uFillTx/>
                <a:latin typeface="Calibri"/>
                <a:ea typeface="Noto Sans"/>
              </a:rPr>
              <a:t>Santhoshkumar PS    </a:t>
            </a:r>
            <a:r>
              <a:rPr lang="en-US" sz="1400" b="0" u="none" strike="noStrike">
                <a:solidFill>
                  <a:srgbClr val="7C3AED"/>
                </a:solidFill>
                <a:effectLst/>
                <a:uFillTx/>
                <a:latin typeface="Calibri"/>
                <a:ea typeface="Noto Sans"/>
              </a:rPr>
              <a:t>·  </a:t>
            </a:r>
            <a:r>
              <a:rPr lang="en-US" sz="1400" b="1" u="none" strike="noStrike">
                <a:solidFill>
                  <a:srgbClr val="FFFFFF"/>
                </a:solidFill>
                <a:effectLst/>
                <a:uFillTx/>
                <a:latin typeface="Calibri"/>
                <a:ea typeface="Noto Sans"/>
              </a:rPr>
              <a:t>Vandana H K   </a:t>
            </a:r>
            <a:r>
              <a:rPr lang="en-US" sz="1400" b="0" u="none" strike="noStrike">
                <a:solidFill>
                  <a:srgbClr val="7C3AED"/>
                </a:solidFill>
                <a:effectLst/>
                <a:uFillTx/>
                <a:latin typeface="Calibri"/>
                <a:ea typeface="Noto Sans"/>
              </a:rPr>
              <a:t>·  </a:t>
            </a:r>
            <a:r>
              <a:rPr lang="en-US" sz="1400" b="1" u="none" strike="noStrike">
                <a:solidFill>
                  <a:srgbClr val="FFFFFF"/>
                </a:solidFill>
                <a:effectLst/>
                <a:uFillTx/>
                <a:latin typeface="Calibri"/>
              </a:rPr>
              <a:t>Ankita Vyas </a:t>
            </a:r>
            <a:r>
              <a:rPr lang="en-US" sz="1400" b="0" u="none" strike="noStrike">
                <a:solidFill>
                  <a:srgbClr val="7C3AED"/>
                </a:solidFill>
                <a:effectLst/>
                <a:uFillTx/>
                <a:latin typeface="Calibri"/>
              </a:rPr>
              <a:t>  </a:t>
            </a:r>
            <a:r>
              <a:rPr lang="en-US" sz="1400" b="1" u="none" strike="noStrike">
                <a:solidFill>
                  <a:srgbClr val="FFFFFF"/>
                </a:solidFill>
                <a:effectLst/>
                <a:uFillTx/>
                <a:latin typeface="Calibri"/>
              </a:rPr>
              <a:t> </a:t>
            </a:r>
            <a:r>
              <a:rPr lang="en-US" sz="1400" b="0" u="none" strike="noStrike">
                <a:solidFill>
                  <a:srgbClr val="7C3AED"/>
                </a:solidFill>
                <a:effectLst/>
                <a:uFillTx/>
                <a:latin typeface="Calibri"/>
              </a:rPr>
              <a:t>·   </a:t>
            </a:r>
            <a:r>
              <a:rPr lang="en-US" sz="1400" b="1" u="none" strike="noStrike">
                <a:solidFill>
                  <a:srgbClr val="FFFFFF"/>
                </a:solidFill>
                <a:effectLst/>
                <a:uFillTx/>
                <a:latin typeface="Calibri"/>
              </a:rPr>
              <a:t>Shubham Kumar</a:t>
            </a:r>
            <a:endParaRPr lang="en-US" sz="1400" b="0" u="none" strike="noStrike">
              <a:solidFill>
                <a:srgbClr val="000000"/>
              </a:solidFill>
              <a:effectLst/>
              <a:uFillTx/>
              <a:latin typeface="Arial"/>
            </a:endParaRPr>
          </a:p>
        </p:txBody>
      </p:sp>
      <p:sp>
        <p:nvSpPr>
          <p:cNvPr id="75" name="TextBox 9"/>
          <p:cNvSpPr/>
          <p:nvPr/>
        </p:nvSpPr>
        <p:spPr>
          <a:xfrm>
            <a:off x="795600" y="5440680"/>
            <a:ext cx="8229240" cy="365400"/>
          </a:xfrm>
          <a:prstGeom prst="rect">
            <a:avLst/>
          </a:prstGeom>
          <a:noFill/>
          <a:ln w="0">
            <a:noFill/>
          </a:ln>
        </p:spPr>
        <p:style>
          <a:lnRef idx="0"/>
          <a:fillRef idx="0"/>
          <a:effectRef idx="0"/>
          <a:fontRef idx="minor"/>
        </p:style>
        <p:txBody>
          <a:bodyPr lIns="0" tIns="0" rIns="0" bIns="0" anchor="t">
            <a:spAutoFit/>
          </a:bodyPr>
          <a:p>
            <a:pPr defTabSz="457200">
              <a:lnSpc>
                <a:spcPct val="106000"/>
              </a:lnSpc>
            </a:pPr>
            <a:r>
              <a:rPr lang="en-US" sz="1100" b="0" u="none" strike="noStrike">
                <a:solidFill>
                  <a:srgbClr val="9AA3B2"/>
                </a:solidFill>
                <a:effectLst/>
                <a:uFillTx/>
                <a:latin typeface="Calibri"/>
              </a:rPr>
              <a:t>Streamlit  ·  FastAPI  ·  Pydantic  ·  RAG retrieval  ·  Claude (optional)  |  August 2026</a:t>
            </a:r>
            <a:endParaRPr lang="en-US" sz="1100" b="0" u="none" strike="noStrike">
              <a:solidFill>
                <a:srgbClr val="000000"/>
              </a:solidFill>
              <a:effectLst/>
              <a:uFillTx/>
              <a:latin typeface="Arial"/>
            </a:endParaRPr>
          </a:p>
        </p:txBody>
      </p:sp>
      <p:sp>
        <p:nvSpPr>
          <p:cNvPr id="76" name="TextBox 10"/>
          <p:cNvSpPr/>
          <p:nvPr/>
        </p:nvSpPr>
        <p:spPr>
          <a:xfrm>
            <a:off x="567000" y="6382440"/>
            <a:ext cx="7740000" cy="273960"/>
          </a:xfrm>
          <a:prstGeom prst="rect">
            <a:avLst/>
          </a:prstGeom>
          <a:noFill/>
          <a:ln w="0">
            <a:noFill/>
          </a:ln>
        </p:spPr>
        <p:style>
          <a:lnRef idx="0"/>
          <a:fillRef idx="0"/>
          <a:effectRef idx="0"/>
          <a:fontRef idx="minor"/>
        </p:style>
        <p:txBody>
          <a:bodyPr lIns="0" tIns="0" rIns="0" bIns="0" anchor="t">
            <a:spAutoFit/>
          </a:bodyPr>
          <a:p>
            <a:pPr defTabSz="457200">
              <a:lnSpc>
                <a:spcPct val="106000"/>
              </a:lnSpc>
            </a:pPr>
            <a:r>
              <a:rPr lang="en-US" sz="900" b="0" u="none" strike="noStrike">
                <a:solidFill>
                  <a:srgbClr val="9AA3B2"/>
                </a:solidFill>
                <a:effectLst/>
                <a:uFillTx/>
                <a:latin typeface="Calibri"/>
              </a:rPr>
              <a:t>Loan Eligibility AI  ·  Capstone Demonstration</a:t>
            </a:r>
            <a:endParaRPr lang="en-US" sz="900" b="0" u="none" strike="noStrike">
              <a:solidFill>
                <a:srgbClr val="000000"/>
              </a:solidFill>
              <a:effectLst/>
              <a:uFillTx/>
              <a:latin typeface="Arial"/>
            </a:endParaRPr>
          </a:p>
        </p:txBody>
      </p:sp>
      <p:sp>
        <p:nvSpPr>
          <p:cNvPr id="77" name="TextBox 11"/>
          <p:cNvSpPr/>
          <p:nvPr/>
        </p:nvSpPr>
        <p:spPr>
          <a:xfrm>
            <a:off x="10527480" y="6382440"/>
            <a:ext cx="1096920" cy="273960"/>
          </a:xfrm>
          <a:prstGeom prst="rect">
            <a:avLst/>
          </a:prstGeom>
          <a:noFill/>
          <a:ln w="0">
            <a:noFill/>
          </a:ln>
        </p:spPr>
        <p:style>
          <a:lnRef idx="0"/>
          <a:fillRef idx="0"/>
          <a:effectRef idx="0"/>
          <a:fontRef idx="minor"/>
        </p:style>
        <p:txBody>
          <a:bodyPr lIns="0" tIns="0" rIns="0" bIns="0" anchor="t">
            <a:spAutoFit/>
          </a:bodyPr>
          <a:p>
            <a:pPr algn="r" defTabSz="457200">
              <a:lnSpc>
                <a:spcPct val="106000"/>
              </a:lnSpc>
            </a:pPr>
            <a:r>
              <a:rPr lang="en-US" sz="900" b="0" u="none" strike="noStrike">
                <a:solidFill>
                  <a:srgbClr val="9AA3B2"/>
                </a:solidFill>
                <a:effectLst/>
                <a:uFillTx/>
                <a:latin typeface="Calibri"/>
              </a:rPr>
              <a:t>01</a:t>
            </a:r>
            <a:endParaRPr lang="en-US" sz="9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8" name="Rectangle 1"/>
          <p:cNvSpPr/>
          <p:nvPr/>
        </p:nvSpPr>
        <p:spPr>
          <a:xfrm>
            <a:off x="0" y="0"/>
            <a:ext cx="12191400" cy="6857640"/>
          </a:xfrm>
          <a:prstGeom prst="rect">
            <a:avLst/>
          </a:prstGeom>
          <a:solidFill>
            <a:srgbClr val="FFFFFF"/>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79" name="Rectangle 2"/>
          <p:cNvSpPr/>
          <p:nvPr/>
        </p:nvSpPr>
        <p:spPr>
          <a:xfrm>
            <a:off x="0" y="0"/>
            <a:ext cx="12191400" cy="77400"/>
          </a:xfrm>
          <a:prstGeom prst="rect">
            <a:avLst/>
          </a:prstGeom>
          <a:gradFill rotWithShape="0">
            <a:gsLst>
              <a:gs pos="0">
                <a:srgbClr val="4F46E5"/>
              </a:gs>
              <a:gs pos="100000">
                <a:srgbClr val="7C3AED"/>
              </a:gs>
            </a:gsLst>
            <a:lin ang="0"/>
          </a:gra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32760" rIns="90000" bIns="32760" anchor="ctr">
            <a:noAutofit/>
          </a:bodyPr>
          <a:p>
            <a:endParaRPr lang="en-US" sz="1800" b="0" u="none" strike="noStrike">
              <a:solidFill>
                <a:schemeClr val="lt1"/>
              </a:solidFill>
              <a:effectLst/>
              <a:uFillTx/>
              <a:latin typeface="Calibri"/>
            </a:endParaRPr>
          </a:p>
        </p:txBody>
      </p:sp>
      <p:sp>
        <p:nvSpPr>
          <p:cNvPr id="80" name="TextBox 3"/>
          <p:cNvSpPr/>
          <p:nvPr/>
        </p:nvSpPr>
        <p:spPr>
          <a:xfrm>
            <a:off x="567000" y="384120"/>
            <a:ext cx="11057400" cy="237240"/>
          </a:xfrm>
          <a:prstGeom prst="rect">
            <a:avLst/>
          </a:prstGeom>
          <a:noFill/>
          <a:ln w="0">
            <a:noFill/>
          </a:ln>
        </p:spPr>
        <p:style>
          <a:lnRef idx="0"/>
          <a:fillRef idx="0"/>
          <a:effectRef idx="0"/>
          <a:fontRef idx="minor"/>
        </p:style>
        <p:txBody>
          <a:bodyPr lIns="0" tIns="0" rIns="0" bIns="0" anchor="t">
            <a:spAutoFit/>
          </a:bodyPr>
          <a:p>
            <a:pPr defTabSz="457200">
              <a:lnSpc>
                <a:spcPct val="106000"/>
              </a:lnSpc>
            </a:pPr>
            <a:r>
              <a:rPr lang="en-US" sz="950" b="1" u="none" strike="noStrike">
                <a:solidFill>
                  <a:srgbClr val="4F46E5"/>
                </a:solidFill>
                <a:effectLst/>
                <a:uFillTx/>
                <a:latin typeface="Calibri"/>
              </a:rPr>
              <a:t>AGENDA</a:t>
            </a:r>
            <a:endParaRPr lang="en-US" sz="950" b="0" u="none" strike="noStrike">
              <a:solidFill>
                <a:srgbClr val="000000"/>
              </a:solidFill>
              <a:effectLst/>
              <a:uFillTx/>
              <a:latin typeface="Arial"/>
            </a:endParaRPr>
          </a:p>
        </p:txBody>
      </p:sp>
      <p:sp>
        <p:nvSpPr>
          <p:cNvPr id="81" name="TextBox 4"/>
          <p:cNvSpPr/>
          <p:nvPr/>
        </p:nvSpPr>
        <p:spPr>
          <a:xfrm>
            <a:off x="567000" y="658440"/>
            <a:ext cx="11057400" cy="502560"/>
          </a:xfrm>
          <a:prstGeom prst="rect">
            <a:avLst/>
          </a:prstGeom>
          <a:noFill/>
          <a:ln w="0">
            <a:noFill/>
          </a:ln>
        </p:spPr>
        <p:style>
          <a:lnRef idx="0"/>
          <a:fillRef idx="0"/>
          <a:effectRef idx="0"/>
          <a:fontRef idx="minor"/>
        </p:style>
        <p:txBody>
          <a:bodyPr lIns="0" tIns="0" rIns="0" bIns="0" anchor="t">
            <a:spAutoFit/>
          </a:bodyPr>
          <a:p>
            <a:pPr defTabSz="457200">
              <a:lnSpc>
                <a:spcPct val="106000"/>
              </a:lnSpc>
            </a:pPr>
            <a:r>
              <a:rPr lang="en-US" sz="2700" b="1" u="none" strike="noStrike">
                <a:solidFill>
                  <a:srgbClr val="0E1A33"/>
                </a:solidFill>
                <a:effectLst/>
                <a:uFillTx/>
                <a:latin typeface="Calibri"/>
              </a:rPr>
              <a:t>What we will cover in this session</a:t>
            </a:r>
            <a:endParaRPr lang="en-US" sz="2700" b="0" u="none" strike="noStrike">
              <a:solidFill>
                <a:srgbClr val="000000"/>
              </a:solidFill>
              <a:effectLst/>
              <a:uFillTx/>
              <a:latin typeface="Arial"/>
            </a:endParaRPr>
          </a:p>
        </p:txBody>
      </p:sp>
      <p:sp>
        <p:nvSpPr>
          <p:cNvPr id="82" name="TextBox 5"/>
          <p:cNvSpPr/>
          <p:nvPr/>
        </p:nvSpPr>
        <p:spPr>
          <a:xfrm>
            <a:off x="567000" y="6382440"/>
            <a:ext cx="7740000" cy="273960"/>
          </a:xfrm>
          <a:prstGeom prst="rect">
            <a:avLst/>
          </a:prstGeom>
          <a:noFill/>
          <a:ln w="0">
            <a:noFill/>
          </a:ln>
        </p:spPr>
        <p:style>
          <a:lnRef idx="0"/>
          <a:fillRef idx="0"/>
          <a:effectRef idx="0"/>
          <a:fontRef idx="minor"/>
        </p:style>
        <p:txBody>
          <a:bodyPr lIns="0" tIns="0" rIns="0" bIns="0" anchor="t">
            <a:spAutoFit/>
          </a:bodyPr>
          <a:p>
            <a:pPr defTabSz="457200">
              <a:lnSpc>
                <a:spcPct val="106000"/>
              </a:lnSpc>
            </a:pPr>
            <a:r>
              <a:rPr lang="en-US" sz="900" b="0" u="none" strike="noStrike">
                <a:solidFill>
                  <a:srgbClr val="6B7280"/>
                </a:solidFill>
                <a:effectLst/>
                <a:uFillTx/>
                <a:latin typeface="Calibri"/>
              </a:rPr>
              <a:t>Loan Eligibility AI  ·  Capstone Demonstration</a:t>
            </a:r>
            <a:endParaRPr lang="en-US" sz="900" b="0" u="none" strike="noStrike">
              <a:solidFill>
                <a:srgbClr val="000000"/>
              </a:solidFill>
              <a:effectLst/>
              <a:uFillTx/>
              <a:latin typeface="Arial"/>
            </a:endParaRPr>
          </a:p>
        </p:txBody>
      </p:sp>
      <p:sp>
        <p:nvSpPr>
          <p:cNvPr id="83" name="TextBox 6"/>
          <p:cNvSpPr/>
          <p:nvPr/>
        </p:nvSpPr>
        <p:spPr>
          <a:xfrm>
            <a:off x="10527480" y="6382440"/>
            <a:ext cx="1096920" cy="273960"/>
          </a:xfrm>
          <a:prstGeom prst="rect">
            <a:avLst/>
          </a:prstGeom>
          <a:noFill/>
          <a:ln w="0">
            <a:noFill/>
          </a:ln>
        </p:spPr>
        <p:style>
          <a:lnRef idx="0"/>
          <a:fillRef idx="0"/>
          <a:effectRef idx="0"/>
          <a:fontRef idx="minor"/>
        </p:style>
        <p:txBody>
          <a:bodyPr lIns="0" tIns="0" rIns="0" bIns="0" anchor="t">
            <a:spAutoFit/>
          </a:bodyPr>
          <a:p>
            <a:pPr algn="r" defTabSz="457200">
              <a:lnSpc>
                <a:spcPct val="106000"/>
              </a:lnSpc>
            </a:pPr>
            <a:r>
              <a:rPr lang="en-US" sz="900" b="0" u="none" strike="noStrike">
                <a:solidFill>
                  <a:srgbClr val="6B7280"/>
                </a:solidFill>
                <a:effectLst/>
                <a:uFillTx/>
                <a:latin typeface="Calibri"/>
              </a:rPr>
              <a:t>02</a:t>
            </a:r>
            <a:endParaRPr lang="en-US" sz="900" b="0" u="none" strike="noStrike">
              <a:solidFill>
                <a:srgbClr val="000000"/>
              </a:solidFill>
              <a:effectLst/>
              <a:uFillTx/>
              <a:latin typeface="Arial"/>
            </a:endParaRPr>
          </a:p>
        </p:txBody>
      </p:sp>
      <p:sp>
        <p:nvSpPr>
          <p:cNvPr id="84" name="Rounded Rectangle 7"/>
          <p:cNvSpPr/>
          <p:nvPr/>
        </p:nvSpPr>
        <p:spPr>
          <a:xfrm>
            <a:off x="567000" y="1316880"/>
            <a:ext cx="2572200" cy="3245760"/>
          </a:xfrm>
          <a:prstGeom prst="roundRect">
            <a:avLst>
              <a:gd name="adj" fmla="val 5500"/>
            </a:avLst>
          </a:prstGeom>
          <a:solidFill>
            <a:srgbClr val="FFFFFF"/>
          </a:solidFill>
          <a:ln w="12700">
            <a:solidFill>
              <a:srgbClr val="E3E8F0"/>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219600" tIns="274320" rIns="182880" bIns="45000" anchor="ctr">
            <a:noAutofit/>
          </a:bodyPr>
          <a:p>
            <a:pPr defTabSz="457200">
              <a:lnSpc>
                <a:spcPct val="106000"/>
              </a:lnSpc>
              <a:spcAft>
                <a:spcPts val="799"/>
              </a:spcAft>
            </a:pPr>
            <a:r>
              <a:rPr lang="en-US" sz="3000" b="1" u="none" strike="noStrike">
                <a:solidFill>
                  <a:srgbClr val="4F46E5"/>
                </a:solidFill>
                <a:effectLst/>
                <a:uFillTx/>
                <a:latin typeface="Calibri"/>
              </a:rPr>
              <a:t>01</a:t>
            </a:r>
            <a:endParaRPr lang="en-US" sz="3000" b="0" u="none" strike="noStrike">
              <a:solidFill>
                <a:srgbClr val="000000"/>
              </a:solidFill>
              <a:effectLst/>
              <a:uFillTx/>
              <a:latin typeface="Arial"/>
            </a:endParaRPr>
          </a:p>
          <a:p>
            <a:pPr defTabSz="457200">
              <a:lnSpc>
                <a:spcPct val="106000"/>
              </a:lnSpc>
              <a:spcAft>
                <a:spcPts val="601"/>
              </a:spcAft>
            </a:pPr>
            <a:r>
              <a:rPr lang="en-US" sz="1550" b="1" u="none" strike="noStrike">
                <a:solidFill>
                  <a:srgbClr val="0E1A33"/>
                </a:solidFill>
                <a:effectLst/>
                <a:uFillTx/>
                <a:latin typeface="Calibri"/>
              </a:rPr>
              <a:t>Problem &amp; solution</a:t>
            </a:r>
            <a:endParaRPr lang="en-US" sz="1550" b="0" u="none" strike="noStrike">
              <a:solidFill>
                <a:srgbClr val="000000"/>
              </a:solidFill>
              <a:effectLst/>
              <a:uFillTx/>
              <a:latin typeface="Arial"/>
            </a:endParaRPr>
          </a:p>
          <a:p>
            <a:pPr defTabSz="457200">
              <a:lnSpc>
                <a:spcPct val="116000"/>
              </a:lnSpc>
            </a:pPr>
            <a:r>
              <a:rPr lang="en-US" sz="1150" b="0" u="none" strike="noStrike">
                <a:solidFill>
                  <a:srgbClr val="6B7280"/>
                </a:solidFill>
                <a:effectLst/>
                <a:uFillTx/>
                <a:latin typeface="Calibri"/>
              </a:rPr>
              <a:t>Why manual eligibility review does not scale, and what we built instead.</a:t>
            </a:r>
            <a:endParaRPr lang="en-US" sz="1150" b="0" u="none" strike="noStrike">
              <a:solidFill>
                <a:srgbClr val="000000"/>
              </a:solidFill>
              <a:effectLst/>
              <a:uFillTx/>
              <a:latin typeface="Arial"/>
            </a:endParaRPr>
          </a:p>
        </p:txBody>
      </p:sp>
      <p:sp>
        <p:nvSpPr>
          <p:cNvPr id="85" name="Rectangle 8"/>
          <p:cNvSpPr/>
          <p:nvPr/>
        </p:nvSpPr>
        <p:spPr>
          <a:xfrm>
            <a:off x="567720" y="1316880"/>
            <a:ext cx="2570400" cy="50040"/>
          </a:xfrm>
          <a:prstGeom prst="rect">
            <a:avLst/>
          </a:prstGeom>
          <a:solidFill>
            <a:srgbClr val="4F46E5"/>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5400" rIns="90000" bIns="5400" anchor="ctr">
            <a:noAutofit/>
          </a:bodyPr>
          <a:p>
            <a:endParaRPr lang="en-US" sz="1800" b="0" u="none" strike="noStrike">
              <a:solidFill>
                <a:schemeClr val="lt1"/>
              </a:solidFill>
              <a:effectLst/>
              <a:uFillTx/>
              <a:latin typeface="Calibri"/>
            </a:endParaRPr>
          </a:p>
        </p:txBody>
      </p:sp>
      <p:sp>
        <p:nvSpPr>
          <p:cNvPr id="86" name="Rounded Rectangle 9"/>
          <p:cNvSpPr/>
          <p:nvPr/>
        </p:nvSpPr>
        <p:spPr>
          <a:xfrm>
            <a:off x="3395520" y="1316880"/>
            <a:ext cx="2572200" cy="3245760"/>
          </a:xfrm>
          <a:prstGeom prst="roundRect">
            <a:avLst>
              <a:gd name="adj" fmla="val 5500"/>
            </a:avLst>
          </a:prstGeom>
          <a:solidFill>
            <a:srgbClr val="FFFFFF"/>
          </a:solidFill>
          <a:ln w="12700">
            <a:solidFill>
              <a:srgbClr val="E3E8F0"/>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219600" tIns="274320" rIns="182880" bIns="45000" anchor="ctr">
            <a:noAutofit/>
          </a:bodyPr>
          <a:p>
            <a:pPr defTabSz="457200">
              <a:lnSpc>
                <a:spcPct val="106000"/>
              </a:lnSpc>
              <a:spcAft>
                <a:spcPts val="799"/>
              </a:spcAft>
            </a:pPr>
            <a:r>
              <a:rPr lang="en-US" sz="3000" b="1" u="none" strike="noStrike">
                <a:solidFill>
                  <a:srgbClr val="7C3AED"/>
                </a:solidFill>
                <a:effectLst/>
                <a:uFillTx/>
                <a:latin typeface="Calibri"/>
              </a:rPr>
              <a:t>02</a:t>
            </a:r>
            <a:endParaRPr lang="en-US" sz="3000" b="0" u="none" strike="noStrike">
              <a:solidFill>
                <a:srgbClr val="000000"/>
              </a:solidFill>
              <a:effectLst/>
              <a:uFillTx/>
              <a:latin typeface="Arial"/>
            </a:endParaRPr>
          </a:p>
          <a:p>
            <a:pPr defTabSz="457200">
              <a:lnSpc>
                <a:spcPct val="106000"/>
              </a:lnSpc>
              <a:spcAft>
                <a:spcPts val="601"/>
              </a:spcAft>
            </a:pPr>
            <a:r>
              <a:rPr lang="en-US" sz="1550" b="1" u="none" strike="noStrike">
                <a:solidFill>
                  <a:srgbClr val="0E1A33"/>
                </a:solidFill>
                <a:effectLst/>
                <a:uFillTx/>
                <a:latin typeface="Calibri"/>
              </a:rPr>
              <a:t>Architecture &amp; design</a:t>
            </a:r>
            <a:endParaRPr lang="en-US" sz="1550" b="0" u="none" strike="noStrike">
              <a:solidFill>
                <a:srgbClr val="000000"/>
              </a:solidFill>
              <a:effectLst/>
              <a:uFillTx/>
              <a:latin typeface="Arial"/>
            </a:endParaRPr>
          </a:p>
          <a:p>
            <a:pPr defTabSz="457200">
              <a:lnSpc>
                <a:spcPct val="116000"/>
              </a:lnSpc>
            </a:pPr>
            <a:r>
              <a:rPr lang="en-US" sz="1150" b="0" u="none" strike="noStrike">
                <a:solidFill>
                  <a:srgbClr val="6B7280"/>
                </a:solidFill>
                <a:effectLst/>
                <a:uFillTx/>
                <a:latin typeface="Calibri"/>
              </a:rPr>
              <a:t>Multi-agent flow, the rule engine, the chatbot's two layers, repo map.</a:t>
            </a:r>
            <a:endParaRPr lang="en-US" sz="1150" b="0" u="none" strike="noStrike">
              <a:solidFill>
                <a:srgbClr val="000000"/>
              </a:solidFill>
              <a:effectLst/>
              <a:uFillTx/>
              <a:latin typeface="Arial"/>
            </a:endParaRPr>
          </a:p>
        </p:txBody>
      </p:sp>
      <p:sp>
        <p:nvSpPr>
          <p:cNvPr id="87" name="Rectangle 10"/>
          <p:cNvSpPr/>
          <p:nvPr/>
        </p:nvSpPr>
        <p:spPr>
          <a:xfrm>
            <a:off x="3396240" y="1316880"/>
            <a:ext cx="2570400" cy="50040"/>
          </a:xfrm>
          <a:prstGeom prst="rect">
            <a:avLst/>
          </a:prstGeom>
          <a:solidFill>
            <a:srgbClr val="7C3AED"/>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5400" rIns="90000" bIns="5400" anchor="ctr">
            <a:noAutofit/>
          </a:bodyPr>
          <a:p>
            <a:endParaRPr lang="en-US" sz="1800" b="0" u="none" strike="noStrike">
              <a:solidFill>
                <a:schemeClr val="lt1"/>
              </a:solidFill>
              <a:effectLst/>
              <a:uFillTx/>
              <a:latin typeface="Calibri"/>
            </a:endParaRPr>
          </a:p>
        </p:txBody>
      </p:sp>
      <p:sp>
        <p:nvSpPr>
          <p:cNvPr id="88" name="Rounded Rectangle 11"/>
          <p:cNvSpPr/>
          <p:nvPr/>
        </p:nvSpPr>
        <p:spPr>
          <a:xfrm>
            <a:off x="6224040" y="1316880"/>
            <a:ext cx="2572200" cy="3245760"/>
          </a:xfrm>
          <a:prstGeom prst="roundRect">
            <a:avLst>
              <a:gd name="adj" fmla="val 5500"/>
            </a:avLst>
          </a:prstGeom>
          <a:solidFill>
            <a:srgbClr val="FFFFFF"/>
          </a:solidFill>
          <a:ln w="12700">
            <a:solidFill>
              <a:srgbClr val="E3E8F0"/>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219600" tIns="274320" rIns="182880" bIns="45000" anchor="ctr">
            <a:noAutofit/>
          </a:bodyPr>
          <a:p>
            <a:pPr defTabSz="457200">
              <a:lnSpc>
                <a:spcPct val="106000"/>
              </a:lnSpc>
              <a:spcAft>
                <a:spcPts val="799"/>
              </a:spcAft>
            </a:pPr>
            <a:r>
              <a:rPr lang="en-US" sz="3000" b="1" u="none" strike="noStrike">
                <a:solidFill>
                  <a:srgbClr val="06B6D4"/>
                </a:solidFill>
                <a:effectLst/>
                <a:uFillTx/>
                <a:latin typeface="Calibri"/>
              </a:rPr>
              <a:t>03</a:t>
            </a:r>
            <a:endParaRPr lang="en-US" sz="3000" b="0" u="none" strike="noStrike">
              <a:solidFill>
                <a:srgbClr val="000000"/>
              </a:solidFill>
              <a:effectLst/>
              <a:uFillTx/>
              <a:latin typeface="Arial"/>
            </a:endParaRPr>
          </a:p>
          <a:p>
            <a:pPr defTabSz="457200">
              <a:lnSpc>
                <a:spcPct val="106000"/>
              </a:lnSpc>
              <a:spcAft>
                <a:spcPts val="601"/>
              </a:spcAft>
            </a:pPr>
            <a:r>
              <a:rPr lang="en-US" sz="1550" b="1" u="none" strike="noStrike">
                <a:solidFill>
                  <a:srgbClr val="0E1A33"/>
                </a:solidFill>
                <a:effectLst/>
                <a:uFillTx/>
                <a:latin typeface="Calibri"/>
              </a:rPr>
              <a:t>Live walkthrough</a:t>
            </a:r>
            <a:endParaRPr lang="en-US" sz="1550" b="0" u="none" strike="noStrike">
              <a:solidFill>
                <a:srgbClr val="000000"/>
              </a:solidFill>
              <a:effectLst/>
              <a:uFillTx/>
              <a:latin typeface="Arial"/>
            </a:endParaRPr>
          </a:p>
          <a:p>
            <a:pPr defTabSz="457200">
              <a:lnSpc>
                <a:spcPct val="116000"/>
              </a:lnSpc>
            </a:pPr>
            <a:r>
              <a:rPr lang="en-US" sz="1150" b="0" u="none" strike="noStrike">
                <a:solidFill>
                  <a:srgbClr val="6B7280"/>
                </a:solidFill>
                <a:effectLst/>
                <a:uFillTx/>
                <a:latin typeface="Calibri"/>
              </a:rPr>
              <a:t>Every screen of the running app: form, three </a:t>
            </a:r>
            <a:r>
              <a:rPr lang="en-US" sz="1150" b="0" u="none" strike="noStrike">
                <a:solidFill>
                  <a:srgbClr val="6B7280"/>
                </a:solidFill>
                <a:effectLst/>
                <a:uFillTx/>
                <a:latin typeface="Calibri"/>
              </a:rPr>
              <a:t>decisions, PDF, assistant, API.</a:t>
            </a:r>
            <a:endParaRPr lang="en-US" sz="1150" b="0" u="none" strike="noStrike">
              <a:solidFill>
                <a:srgbClr val="000000"/>
              </a:solidFill>
              <a:effectLst/>
              <a:uFillTx/>
              <a:latin typeface="Arial"/>
            </a:endParaRPr>
          </a:p>
        </p:txBody>
      </p:sp>
      <p:sp>
        <p:nvSpPr>
          <p:cNvPr id="89" name="Rectangle 12"/>
          <p:cNvSpPr/>
          <p:nvPr/>
        </p:nvSpPr>
        <p:spPr>
          <a:xfrm>
            <a:off x="6224760" y="1316880"/>
            <a:ext cx="2570400" cy="50040"/>
          </a:xfrm>
          <a:prstGeom prst="rect">
            <a:avLst/>
          </a:prstGeom>
          <a:solidFill>
            <a:srgbClr val="06B6D4"/>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5400" rIns="90000" bIns="5400" anchor="ctr">
            <a:noAutofit/>
          </a:bodyPr>
          <a:p>
            <a:endParaRPr lang="en-US" sz="1800" b="0" u="none" strike="noStrike">
              <a:solidFill>
                <a:schemeClr val="lt1"/>
              </a:solidFill>
              <a:effectLst/>
              <a:uFillTx/>
              <a:latin typeface="Calibri"/>
            </a:endParaRPr>
          </a:p>
        </p:txBody>
      </p:sp>
      <p:sp>
        <p:nvSpPr>
          <p:cNvPr id="90" name="Rounded Rectangle 13"/>
          <p:cNvSpPr/>
          <p:nvPr/>
        </p:nvSpPr>
        <p:spPr>
          <a:xfrm>
            <a:off x="9052200" y="1316880"/>
            <a:ext cx="2572200" cy="3245760"/>
          </a:xfrm>
          <a:prstGeom prst="roundRect">
            <a:avLst>
              <a:gd name="adj" fmla="val 5500"/>
            </a:avLst>
          </a:prstGeom>
          <a:solidFill>
            <a:srgbClr val="FFFFFF"/>
          </a:solidFill>
          <a:ln w="12700">
            <a:solidFill>
              <a:srgbClr val="E3E8F0"/>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219600" tIns="274320" rIns="182880" bIns="45000" anchor="ctr">
            <a:noAutofit/>
          </a:bodyPr>
          <a:p>
            <a:pPr defTabSz="457200">
              <a:lnSpc>
                <a:spcPct val="106000"/>
              </a:lnSpc>
              <a:spcAft>
                <a:spcPts val="799"/>
              </a:spcAft>
            </a:pPr>
            <a:r>
              <a:rPr lang="en-US" sz="3000" b="1" u="none" strike="noStrike">
                <a:solidFill>
                  <a:srgbClr val="15A34A"/>
                </a:solidFill>
                <a:effectLst/>
                <a:uFillTx/>
                <a:latin typeface="Calibri"/>
              </a:rPr>
              <a:t>04</a:t>
            </a:r>
            <a:endParaRPr lang="en-US" sz="3000" b="0" u="none" strike="noStrike">
              <a:solidFill>
                <a:srgbClr val="000000"/>
              </a:solidFill>
              <a:effectLst/>
              <a:uFillTx/>
              <a:latin typeface="Arial"/>
            </a:endParaRPr>
          </a:p>
          <a:p>
            <a:pPr defTabSz="457200">
              <a:lnSpc>
                <a:spcPct val="106000"/>
              </a:lnSpc>
              <a:spcAft>
                <a:spcPts val="601"/>
              </a:spcAft>
            </a:pPr>
            <a:r>
              <a:rPr lang="en-US" sz="1550" b="1" u="none" strike="noStrike">
                <a:solidFill>
                  <a:srgbClr val="0E1A33"/>
                </a:solidFill>
                <a:effectLst/>
                <a:uFillTx/>
                <a:latin typeface="Calibri"/>
              </a:rPr>
              <a:t>Engineering &amp; value</a:t>
            </a:r>
            <a:endParaRPr lang="en-US" sz="1550" b="0" u="none" strike="noStrike">
              <a:solidFill>
                <a:srgbClr val="000000"/>
              </a:solidFill>
              <a:effectLst/>
              <a:uFillTx/>
              <a:latin typeface="Arial"/>
            </a:endParaRPr>
          </a:p>
          <a:p>
            <a:pPr defTabSz="457200">
              <a:lnSpc>
                <a:spcPct val="116000"/>
              </a:lnSpc>
            </a:pPr>
            <a:r>
              <a:rPr lang="en-US" sz="1150" b="0" u="none" strike="noStrike">
                <a:solidFill>
                  <a:srgbClr val="6B7280"/>
                </a:solidFill>
                <a:effectLst/>
                <a:uFillTx/>
                <a:latin typeface="Calibri"/>
              </a:rPr>
              <a:t>Tests, measured latency, governance, limitations, roadmap, live demo runbook.</a:t>
            </a:r>
            <a:endParaRPr lang="en-US" sz="1150" b="0" u="none" strike="noStrike">
              <a:solidFill>
                <a:srgbClr val="000000"/>
              </a:solidFill>
              <a:effectLst/>
              <a:uFillTx/>
              <a:latin typeface="Arial"/>
            </a:endParaRPr>
          </a:p>
        </p:txBody>
      </p:sp>
      <p:sp>
        <p:nvSpPr>
          <p:cNvPr id="91" name="Rectangle 14"/>
          <p:cNvSpPr/>
          <p:nvPr/>
        </p:nvSpPr>
        <p:spPr>
          <a:xfrm>
            <a:off x="9053280" y="1316880"/>
            <a:ext cx="2570400" cy="50040"/>
          </a:xfrm>
          <a:prstGeom prst="rect">
            <a:avLst/>
          </a:prstGeom>
          <a:solidFill>
            <a:srgbClr val="15A34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5400" rIns="90000" bIns="5400" anchor="ctr">
            <a:noAutofit/>
          </a:bodyPr>
          <a:p>
            <a:endParaRPr lang="en-US" sz="1800" b="0" u="none" strike="noStrike">
              <a:solidFill>
                <a:schemeClr val="lt1"/>
              </a:solidFill>
              <a:effectLst/>
              <a:uFillTx/>
              <a:latin typeface="Calibri"/>
            </a:endParaRPr>
          </a:p>
        </p:txBody>
      </p:sp>
      <p:sp>
        <p:nvSpPr>
          <p:cNvPr id="92" name="Rounded Rectangle 15"/>
          <p:cNvSpPr/>
          <p:nvPr/>
        </p:nvSpPr>
        <p:spPr>
          <a:xfrm>
            <a:off x="567000" y="4809600"/>
            <a:ext cx="11057400" cy="785880"/>
          </a:xfrm>
          <a:prstGeom prst="roundRect">
            <a:avLst>
              <a:gd name="adj" fmla="val 5500"/>
            </a:avLst>
          </a:prstGeom>
          <a:solidFill>
            <a:srgbClr val="0E1A33"/>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274320" tIns="45000" rIns="90000" bIns="45000" anchor="ctr">
            <a:noAutofit/>
          </a:bodyPr>
          <a:p>
            <a:pPr defTabSz="457200">
              <a:lnSpc>
                <a:spcPct val="108000"/>
              </a:lnSpc>
            </a:pPr>
            <a:r>
              <a:rPr lang="en-US" sz="1250" b="1" u="none" strike="noStrike">
                <a:solidFill>
                  <a:srgbClr val="FFFFFF"/>
                </a:solidFill>
                <a:effectLst/>
                <a:uFillTx/>
                <a:latin typeface="Calibri"/>
              </a:rPr>
              <a:t>Ground rule for this demo:  </a:t>
            </a:r>
            <a:r>
              <a:rPr lang="en-US" sz="1250" b="0" u="none" strike="noStrike">
                <a:solidFill>
                  <a:srgbClr val="C6CFE2"/>
                </a:solidFill>
                <a:effectLst/>
                <a:uFillTx/>
                <a:latin typeface="Calibri"/>
              </a:rPr>
              <a:t>every number and every screen in this deck comes from the code in this repository, measured on a local run. Projections are labelled as projections.</a:t>
            </a:r>
            <a:endParaRPr lang="en-US" sz="125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93" name="Rectangle 1"/>
          <p:cNvSpPr/>
          <p:nvPr/>
        </p:nvSpPr>
        <p:spPr>
          <a:xfrm>
            <a:off x="0" y="0"/>
            <a:ext cx="12191400" cy="6857640"/>
          </a:xfrm>
          <a:prstGeom prst="rect">
            <a:avLst/>
          </a:prstGeom>
          <a:solidFill>
            <a:srgbClr val="0E1A33"/>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94" name="Rectangle 2"/>
          <p:cNvSpPr/>
          <p:nvPr/>
        </p:nvSpPr>
        <p:spPr>
          <a:xfrm>
            <a:off x="0" y="0"/>
            <a:ext cx="200880" cy="6857640"/>
          </a:xfrm>
          <a:prstGeom prst="rect">
            <a:avLst/>
          </a:prstGeom>
          <a:gradFill rotWithShape="0">
            <a:gsLst>
              <a:gs pos="0">
                <a:srgbClr val="4F46E5"/>
              </a:gs>
              <a:gs pos="100000">
                <a:srgbClr val="7C3AED"/>
              </a:gs>
            </a:gsLst>
            <a:lin ang="16200000"/>
          </a:gra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95" name="TextBox 3"/>
          <p:cNvSpPr/>
          <p:nvPr/>
        </p:nvSpPr>
        <p:spPr>
          <a:xfrm>
            <a:off x="1371600" y="2148840"/>
            <a:ext cx="2742840" cy="1462680"/>
          </a:xfrm>
          <a:prstGeom prst="rect">
            <a:avLst/>
          </a:prstGeom>
          <a:noFill/>
          <a:ln w="0">
            <a:noFill/>
          </a:ln>
        </p:spPr>
        <p:style>
          <a:lnRef idx="0"/>
          <a:fillRef idx="0"/>
          <a:effectRef idx="0"/>
          <a:fontRef idx="minor"/>
        </p:style>
        <p:txBody>
          <a:bodyPr lIns="0" tIns="0" rIns="0" bIns="0" anchor="t">
            <a:spAutoFit/>
          </a:bodyPr>
          <a:p>
            <a:pPr defTabSz="457200">
              <a:lnSpc>
                <a:spcPct val="106000"/>
              </a:lnSpc>
            </a:pPr>
            <a:r>
              <a:rPr lang="en-US" sz="9600" b="1" u="none" strike="noStrike">
                <a:solidFill>
                  <a:srgbClr val="4F46E5"/>
                </a:solidFill>
                <a:effectLst/>
                <a:uFillTx/>
                <a:latin typeface="Calibri"/>
              </a:rPr>
              <a:t>01</a:t>
            </a:r>
            <a:endParaRPr lang="en-US" sz="9600" b="0" u="none" strike="noStrike">
              <a:solidFill>
                <a:srgbClr val="000000"/>
              </a:solidFill>
              <a:effectLst/>
              <a:uFillTx/>
              <a:latin typeface="Arial"/>
            </a:endParaRPr>
          </a:p>
        </p:txBody>
      </p:sp>
      <p:sp>
        <p:nvSpPr>
          <p:cNvPr id="96" name="TextBox 4"/>
          <p:cNvSpPr/>
          <p:nvPr/>
        </p:nvSpPr>
        <p:spPr>
          <a:xfrm>
            <a:off x="3108960" y="2331720"/>
            <a:ext cx="7680600" cy="914040"/>
          </a:xfrm>
          <a:prstGeom prst="rect">
            <a:avLst/>
          </a:prstGeom>
          <a:noFill/>
          <a:ln w="0">
            <a:noFill/>
          </a:ln>
        </p:spPr>
        <p:style>
          <a:lnRef idx="0"/>
          <a:fillRef idx="0"/>
          <a:effectRef idx="0"/>
          <a:fontRef idx="minor"/>
        </p:style>
        <p:txBody>
          <a:bodyPr lIns="0" tIns="0" rIns="0" bIns="0" anchor="t">
            <a:spAutoFit/>
          </a:bodyPr>
          <a:p>
            <a:pPr defTabSz="457200">
              <a:lnSpc>
                <a:spcPct val="106000"/>
              </a:lnSpc>
              <a:spcAft>
                <a:spcPts val="601"/>
              </a:spcAft>
            </a:pPr>
            <a:r>
              <a:rPr lang="en-US" sz="3600" b="1" u="none" strike="noStrike">
                <a:solidFill>
                  <a:srgbClr val="FFFFFF"/>
                </a:solidFill>
                <a:effectLst/>
                <a:uFillTx/>
                <a:latin typeface="Calibri"/>
              </a:rPr>
              <a:t>Problem &amp; Solution</a:t>
            </a:r>
            <a:endParaRPr lang="en-US" sz="3600" b="0" u="none" strike="noStrike">
              <a:solidFill>
                <a:srgbClr val="000000"/>
              </a:solidFill>
              <a:effectLst/>
              <a:uFillTx/>
              <a:latin typeface="Arial"/>
            </a:endParaRPr>
          </a:p>
          <a:p>
            <a:pPr defTabSz="457200">
              <a:lnSpc>
                <a:spcPct val="106000"/>
              </a:lnSpc>
            </a:pPr>
            <a:r>
              <a:rPr lang="en-US" sz="1400" b="0" u="none" strike="noStrike">
                <a:solidFill>
                  <a:srgbClr val="B9C2D6"/>
                </a:solidFill>
                <a:effectLst/>
                <a:uFillTx/>
                <a:latin typeface="Calibri"/>
              </a:rPr>
              <a:t>Why manual eligibility review does not scale, and what we built instead.</a:t>
            </a:r>
            <a:endParaRPr lang="en-US" sz="1400" b="0" u="none" strike="noStrike">
              <a:solidFill>
                <a:srgbClr val="000000"/>
              </a:solidFill>
              <a:effectLst/>
              <a:uFillTx/>
              <a:latin typeface="Arial"/>
            </a:endParaRPr>
          </a:p>
        </p:txBody>
      </p:sp>
      <p:sp>
        <p:nvSpPr>
          <p:cNvPr id="97" name="TextBox 5"/>
          <p:cNvSpPr/>
          <p:nvPr/>
        </p:nvSpPr>
        <p:spPr>
          <a:xfrm>
            <a:off x="3108960" y="3794760"/>
            <a:ext cx="7680600" cy="186120"/>
          </a:xfrm>
          <a:prstGeom prst="rect">
            <a:avLst/>
          </a:prstGeom>
          <a:noFill/>
          <a:ln w="0">
            <a:noFill/>
          </a:ln>
        </p:spPr>
        <p:style>
          <a:lnRef idx="0"/>
          <a:fillRef idx="0"/>
          <a:effectRef idx="0"/>
          <a:fontRef idx="minor"/>
        </p:style>
        <p:txBody>
          <a:bodyPr lIns="0" tIns="0" rIns="0" bIns="0" anchor="t">
            <a:spAutoFit/>
          </a:bodyPr>
          <a:p>
            <a:pPr defTabSz="457200">
              <a:lnSpc>
                <a:spcPct val="106000"/>
              </a:lnSpc>
            </a:pPr>
            <a:endParaRPr lang="en-US" sz="1800" b="0" u="none" strike="noStrike">
              <a:solidFill>
                <a:srgbClr val="000000"/>
              </a:solidFill>
              <a:effectLst/>
              <a:uFillTx/>
              <a:latin typeface="Arial"/>
            </a:endParaRPr>
          </a:p>
        </p:txBody>
      </p:sp>
      <p:sp>
        <p:nvSpPr>
          <p:cNvPr id="98" name="TextBox 6"/>
          <p:cNvSpPr/>
          <p:nvPr/>
        </p:nvSpPr>
        <p:spPr>
          <a:xfrm>
            <a:off x="567000" y="6382440"/>
            <a:ext cx="7740000" cy="273960"/>
          </a:xfrm>
          <a:prstGeom prst="rect">
            <a:avLst/>
          </a:prstGeom>
          <a:noFill/>
          <a:ln w="0">
            <a:noFill/>
          </a:ln>
        </p:spPr>
        <p:style>
          <a:lnRef idx="0"/>
          <a:fillRef idx="0"/>
          <a:effectRef idx="0"/>
          <a:fontRef idx="minor"/>
        </p:style>
        <p:txBody>
          <a:bodyPr lIns="0" tIns="0" rIns="0" bIns="0" anchor="t">
            <a:spAutoFit/>
          </a:bodyPr>
          <a:p>
            <a:pPr defTabSz="457200">
              <a:lnSpc>
                <a:spcPct val="106000"/>
              </a:lnSpc>
            </a:pPr>
            <a:r>
              <a:rPr lang="en-US" sz="900" b="0" u="none" strike="noStrike">
                <a:solidFill>
                  <a:srgbClr val="9AA3B2"/>
                </a:solidFill>
                <a:effectLst/>
                <a:uFillTx/>
                <a:latin typeface="Calibri"/>
              </a:rPr>
              <a:t>Loan Eligibility AI  ·  Capstone Demonstration</a:t>
            </a:r>
            <a:endParaRPr lang="en-US" sz="900" b="0" u="none" strike="noStrike">
              <a:solidFill>
                <a:srgbClr val="000000"/>
              </a:solidFill>
              <a:effectLst/>
              <a:uFillTx/>
              <a:latin typeface="Arial"/>
            </a:endParaRPr>
          </a:p>
        </p:txBody>
      </p:sp>
      <p:sp>
        <p:nvSpPr>
          <p:cNvPr id="99" name="TextBox 7"/>
          <p:cNvSpPr/>
          <p:nvPr/>
        </p:nvSpPr>
        <p:spPr>
          <a:xfrm>
            <a:off x="10527480" y="6382440"/>
            <a:ext cx="1096920" cy="273960"/>
          </a:xfrm>
          <a:prstGeom prst="rect">
            <a:avLst/>
          </a:prstGeom>
          <a:noFill/>
          <a:ln w="0">
            <a:noFill/>
          </a:ln>
        </p:spPr>
        <p:style>
          <a:lnRef idx="0"/>
          <a:fillRef idx="0"/>
          <a:effectRef idx="0"/>
          <a:fontRef idx="minor"/>
        </p:style>
        <p:txBody>
          <a:bodyPr lIns="0" tIns="0" rIns="0" bIns="0" anchor="t">
            <a:spAutoFit/>
          </a:bodyPr>
          <a:p>
            <a:pPr algn="r" defTabSz="457200">
              <a:lnSpc>
                <a:spcPct val="106000"/>
              </a:lnSpc>
            </a:pPr>
            <a:r>
              <a:rPr lang="en-US" sz="900" b="0" u="none" strike="noStrike">
                <a:solidFill>
                  <a:srgbClr val="9AA3B2"/>
                </a:solidFill>
                <a:effectLst/>
                <a:uFillTx/>
                <a:latin typeface="Calibri"/>
              </a:rPr>
              <a:t>03</a:t>
            </a:r>
            <a:endParaRPr lang="en-US" sz="9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00" name="Rectangle 1"/>
          <p:cNvSpPr/>
          <p:nvPr/>
        </p:nvSpPr>
        <p:spPr>
          <a:xfrm>
            <a:off x="0" y="0"/>
            <a:ext cx="12191400" cy="6857640"/>
          </a:xfrm>
          <a:prstGeom prst="rect">
            <a:avLst/>
          </a:prstGeom>
          <a:solidFill>
            <a:srgbClr val="FFFFFF"/>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101" name="Rectangle 2"/>
          <p:cNvSpPr/>
          <p:nvPr/>
        </p:nvSpPr>
        <p:spPr>
          <a:xfrm>
            <a:off x="0" y="0"/>
            <a:ext cx="12191400" cy="77400"/>
          </a:xfrm>
          <a:prstGeom prst="rect">
            <a:avLst/>
          </a:prstGeom>
          <a:gradFill rotWithShape="0">
            <a:gsLst>
              <a:gs pos="0">
                <a:srgbClr val="4F46E5"/>
              </a:gs>
              <a:gs pos="100000">
                <a:srgbClr val="7C3AED"/>
              </a:gs>
            </a:gsLst>
            <a:lin ang="0"/>
          </a:gra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32760" rIns="90000" bIns="32760" anchor="ctr">
            <a:noAutofit/>
          </a:bodyPr>
          <a:p>
            <a:endParaRPr lang="en-US" sz="1800" b="0" u="none" strike="noStrike">
              <a:solidFill>
                <a:schemeClr val="lt1"/>
              </a:solidFill>
              <a:effectLst/>
              <a:uFillTx/>
              <a:latin typeface="Calibri"/>
            </a:endParaRPr>
          </a:p>
        </p:txBody>
      </p:sp>
      <p:sp>
        <p:nvSpPr>
          <p:cNvPr id="102" name="TextBox 3"/>
          <p:cNvSpPr/>
          <p:nvPr/>
        </p:nvSpPr>
        <p:spPr>
          <a:xfrm>
            <a:off x="567000" y="384120"/>
            <a:ext cx="11057400" cy="237240"/>
          </a:xfrm>
          <a:prstGeom prst="rect">
            <a:avLst/>
          </a:prstGeom>
          <a:noFill/>
          <a:ln w="0">
            <a:noFill/>
          </a:ln>
        </p:spPr>
        <p:style>
          <a:lnRef idx="0"/>
          <a:fillRef idx="0"/>
          <a:effectRef idx="0"/>
          <a:fontRef idx="minor"/>
        </p:style>
        <p:txBody>
          <a:bodyPr lIns="0" tIns="0" rIns="0" bIns="0" anchor="t">
            <a:spAutoFit/>
          </a:bodyPr>
          <a:p>
            <a:pPr defTabSz="457200">
              <a:lnSpc>
                <a:spcPct val="106000"/>
              </a:lnSpc>
            </a:pPr>
            <a:r>
              <a:rPr lang="en-US" sz="950" b="1" u="none" strike="noStrike">
                <a:solidFill>
                  <a:srgbClr val="4F46E5"/>
                </a:solidFill>
                <a:effectLst/>
                <a:uFillTx/>
                <a:latin typeface="Calibri"/>
              </a:rPr>
              <a:t>PART 01  ·  PROBLEM</a:t>
            </a:r>
            <a:endParaRPr lang="en-US" sz="950" b="0" u="none" strike="noStrike">
              <a:solidFill>
                <a:srgbClr val="000000"/>
              </a:solidFill>
              <a:effectLst/>
              <a:uFillTx/>
              <a:latin typeface="Arial"/>
            </a:endParaRPr>
          </a:p>
        </p:txBody>
      </p:sp>
      <p:sp>
        <p:nvSpPr>
          <p:cNvPr id="103" name="TextBox 4"/>
          <p:cNvSpPr/>
          <p:nvPr/>
        </p:nvSpPr>
        <p:spPr>
          <a:xfrm>
            <a:off x="567000" y="658440"/>
            <a:ext cx="11057400" cy="502560"/>
          </a:xfrm>
          <a:prstGeom prst="rect">
            <a:avLst/>
          </a:prstGeom>
          <a:noFill/>
          <a:ln w="0">
            <a:noFill/>
          </a:ln>
        </p:spPr>
        <p:style>
          <a:lnRef idx="0"/>
          <a:fillRef idx="0"/>
          <a:effectRef idx="0"/>
          <a:fontRef idx="minor"/>
        </p:style>
        <p:txBody>
          <a:bodyPr lIns="0" tIns="0" rIns="0" bIns="0" anchor="t">
            <a:spAutoFit/>
          </a:bodyPr>
          <a:p>
            <a:pPr defTabSz="457200">
              <a:lnSpc>
                <a:spcPct val="106000"/>
              </a:lnSpc>
            </a:pPr>
            <a:r>
              <a:rPr lang="en-US" sz="2700" b="1" u="none" strike="noStrike">
                <a:solidFill>
                  <a:srgbClr val="0E1A33"/>
                </a:solidFill>
                <a:effectLst/>
                <a:uFillTx/>
                <a:latin typeface="Calibri"/>
              </a:rPr>
              <a:t>Manual eligibility review is slow, uneven and hard to audit</a:t>
            </a:r>
            <a:endParaRPr lang="en-US" sz="2700" b="0" u="none" strike="noStrike">
              <a:solidFill>
                <a:srgbClr val="000000"/>
              </a:solidFill>
              <a:effectLst/>
              <a:uFillTx/>
              <a:latin typeface="Arial"/>
            </a:endParaRPr>
          </a:p>
        </p:txBody>
      </p:sp>
      <p:sp>
        <p:nvSpPr>
          <p:cNvPr id="104" name="TextBox 5"/>
          <p:cNvSpPr/>
          <p:nvPr/>
        </p:nvSpPr>
        <p:spPr>
          <a:xfrm>
            <a:off x="567000" y="6382440"/>
            <a:ext cx="7740000" cy="273960"/>
          </a:xfrm>
          <a:prstGeom prst="rect">
            <a:avLst/>
          </a:prstGeom>
          <a:noFill/>
          <a:ln w="0">
            <a:noFill/>
          </a:ln>
        </p:spPr>
        <p:style>
          <a:lnRef idx="0"/>
          <a:fillRef idx="0"/>
          <a:effectRef idx="0"/>
          <a:fontRef idx="minor"/>
        </p:style>
        <p:txBody>
          <a:bodyPr lIns="0" tIns="0" rIns="0" bIns="0" anchor="t">
            <a:spAutoFit/>
          </a:bodyPr>
          <a:p>
            <a:pPr defTabSz="457200">
              <a:lnSpc>
                <a:spcPct val="106000"/>
              </a:lnSpc>
            </a:pPr>
            <a:r>
              <a:rPr lang="en-US" sz="900" b="0" u="none" strike="noStrike">
                <a:solidFill>
                  <a:srgbClr val="6B7280"/>
                </a:solidFill>
                <a:effectLst/>
                <a:uFillTx/>
                <a:latin typeface="Calibri"/>
              </a:rPr>
              <a:t>Loan Eligibility AI  ·  Capstone Demonstration</a:t>
            </a:r>
            <a:endParaRPr lang="en-US" sz="900" b="0" u="none" strike="noStrike">
              <a:solidFill>
                <a:srgbClr val="000000"/>
              </a:solidFill>
              <a:effectLst/>
              <a:uFillTx/>
              <a:latin typeface="Arial"/>
            </a:endParaRPr>
          </a:p>
        </p:txBody>
      </p:sp>
      <p:sp>
        <p:nvSpPr>
          <p:cNvPr id="105" name="TextBox 6"/>
          <p:cNvSpPr/>
          <p:nvPr/>
        </p:nvSpPr>
        <p:spPr>
          <a:xfrm>
            <a:off x="10527480" y="6382440"/>
            <a:ext cx="1096920" cy="273960"/>
          </a:xfrm>
          <a:prstGeom prst="rect">
            <a:avLst/>
          </a:prstGeom>
          <a:noFill/>
          <a:ln w="0">
            <a:noFill/>
          </a:ln>
        </p:spPr>
        <p:style>
          <a:lnRef idx="0"/>
          <a:fillRef idx="0"/>
          <a:effectRef idx="0"/>
          <a:fontRef idx="minor"/>
        </p:style>
        <p:txBody>
          <a:bodyPr lIns="0" tIns="0" rIns="0" bIns="0" anchor="t">
            <a:spAutoFit/>
          </a:bodyPr>
          <a:p>
            <a:pPr algn="r" defTabSz="457200">
              <a:lnSpc>
                <a:spcPct val="106000"/>
              </a:lnSpc>
            </a:pPr>
            <a:r>
              <a:rPr lang="en-US" sz="900" b="0" u="none" strike="noStrike">
                <a:solidFill>
                  <a:srgbClr val="6B7280"/>
                </a:solidFill>
                <a:effectLst/>
                <a:uFillTx/>
                <a:latin typeface="Calibri"/>
              </a:rPr>
              <a:t>04</a:t>
            </a:r>
            <a:endParaRPr lang="en-US" sz="900" b="0" u="none" strike="noStrike">
              <a:solidFill>
                <a:srgbClr val="000000"/>
              </a:solidFill>
              <a:effectLst/>
              <a:uFillTx/>
              <a:latin typeface="Arial"/>
            </a:endParaRPr>
          </a:p>
        </p:txBody>
      </p:sp>
      <p:sp>
        <p:nvSpPr>
          <p:cNvPr id="106" name="Rounded Rectangle 7"/>
          <p:cNvSpPr/>
          <p:nvPr/>
        </p:nvSpPr>
        <p:spPr>
          <a:xfrm>
            <a:off x="567000" y="1316880"/>
            <a:ext cx="2050200" cy="2285640"/>
          </a:xfrm>
          <a:prstGeom prst="roundRect">
            <a:avLst>
              <a:gd name="adj" fmla="val 5500"/>
            </a:avLst>
          </a:prstGeom>
          <a:solidFill>
            <a:srgbClr val="FFFFFF"/>
          </a:solidFill>
          <a:ln w="12700">
            <a:solidFill>
              <a:srgbClr val="E3E8F0"/>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182880" tIns="237600" rIns="164520" bIns="45000" anchor="ctr">
            <a:noAutofit/>
          </a:bodyPr>
          <a:p>
            <a:pPr defTabSz="457200">
              <a:lnSpc>
                <a:spcPct val="106000"/>
              </a:lnSpc>
              <a:spcAft>
                <a:spcPts val="601"/>
              </a:spcAft>
            </a:pPr>
            <a:r>
              <a:rPr lang="en-US" sz="1400" b="1" u="none" strike="noStrike">
                <a:solidFill>
                  <a:srgbClr val="0E1A33"/>
                </a:solidFill>
                <a:effectLst/>
                <a:uFillTx/>
                <a:latin typeface="Calibri"/>
              </a:rPr>
              <a:t>Days to weeks</a:t>
            </a:r>
            <a:endParaRPr lang="en-US" sz="1400" b="0" u="none" strike="noStrike">
              <a:solidFill>
                <a:srgbClr val="000000"/>
              </a:solidFill>
              <a:effectLst/>
              <a:uFillTx/>
              <a:latin typeface="Arial"/>
            </a:endParaRPr>
          </a:p>
          <a:p>
            <a:pPr defTabSz="457200">
              <a:lnSpc>
                <a:spcPct val="116000"/>
              </a:lnSpc>
            </a:pPr>
            <a:r>
              <a:rPr lang="en-US" sz="1100" b="0" u="none" strike="noStrike">
                <a:solidFill>
                  <a:srgbClr val="6B7280"/>
                </a:solidFill>
                <a:effectLst/>
                <a:uFillTx/>
                <a:latin typeface="Calibri"/>
              </a:rPr>
              <a:t>A file waits in a queue for a human reviewer before the applicant hears anything.</a:t>
            </a:r>
            <a:endParaRPr lang="en-US" sz="1100" b="0" u="none" strike="noStrike">
              <a:solidFill>
                <a:srgbClr val="000000"/>
              </a:solidFill>
              <a:effectLst/>
              <a:uFillTx/>
              <a:latin typeface="Arial"/>
            </a:endParaRPr>
          </a:p>
        </p:txBody>
      </p:sp>
      <p:sp>
        <p:nvSpPr>
          <p:cNvPr id="107" name="Rectangle 8"/>
          <p:cNvSpPr/>
          <p:nvPr/>
        </p:nvSpPr>
        <p:spPr>
          <a:xfrm>
            <a:off x="567720" y="1316880"/>
            <a:ext cx="2048400" cy="45360"/>
          </a:xfrm>
          <a:prstGeom prst="rect">
            <a:avLst/>
          </a:prstGeom>
          <a:solidFill>
            <a:srgbClr val="DC262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720" rIns="90000" bIns="720" anchor="ctr">
            <a:noAutofit/>
          </a:bodyPr>
          <a:p>
            <a:endParaRPr lang="en-US" sz="1800" b="0" u="none" strike="noStrike">
              <a:solidFill>
                <a:schemeClr val="lt1"/>
              </a:solidFill>
              <a:effectLst/>
              <a:uFillTx/>
              <a:latin typeface="Calibri"/>
            </a:endParaRPr>
          </a:p>
        </p:txBody>
      </p:sp>
      <p:sp>
        <p:nvSpPr>
          <p:cNvPr id="108" name="Rounded Rectangle 9"/>
          <p:cNvSpPr/>
          <p:nvPr/>
        </p:nvSpPr>
        <p:spPr>
          <a:xfrm>
            <a:off x="2818800" y="1316880"/>
            <a:ext cx="2050200" cy="2285640"/>
          </a:xfrm>
          <a:prstGeom prst="roundRect">
            <a:avLst>
              <a:gd name="adj" fmla="val 5500"/>
            </a:avLst>
          </a:prstGeom>
          <a:solidFill>
            <a:srgbClr val="FFFFFF"/>
          </a:solidFill>
          <a:ln w="12700">
            <a:solidFill>
              <a:srgbClr val="E3E8F0"/>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182880" tIns="237600" rIns="164520" bIns="45000" anchor="ctr">
            <a:noAutofit/>
          </a:bodyPr>
          <a:p>
            <a:pPr defTabSz="457200">
              <a:lnSpc>
                <a:spcPct val="106000"/>
              </a:lnSpc>
              <a:spcAft>
                <a:spcPts val="601"/>
              </a:spcAft>
            </a:pPr>
            <a:r>
              <a:rPr lang="en-US" sz="1400" b="1" u="none" strike="noStrike">
                <a:solidFill>
                  <a:srgbClr val="0E1A33"/>
                </a:solidFill>
                <a:effectLst/>
                <a:uFillTx/>
                <a:latin typeface="Calibri"/>
              </a:rPr>
              <a:t>Reviewer variance</a:t>
            </a:r>
            <a:endParaRPr lang="en-US" sz="1400" b="0" u="none" strike="noStrike">
              <a:solidFill>
                <a:srgbClr val="000000"/>
              </a:solidFill>
              <a:effectLst/>
              <a:uFillTx/>
              <a:latin typeface="Arial"/>
            </a:endParaRPr>
          </a:p>
          <a:p>
            <a:pPr defTabSz="457200">
              <a:lnSpc>
                <a:spcPct val="116000"/>
              </a:lnSpc>
            </a:pPr>
            <a:r>
              <a:rPr lang="en-US" sz="1100" b="0" u="none" strike="noStrike">
                <a:solidFill>
                  <a:srgbClr val="6B7280"/>
                </a:solidFill>
                <a:effectLst/>
                <a:uFillTx/>
                <a:latin typeface="Calibri"/>
              </a:rPr>
              <a:t>Two officers apply the same policy differently; the applicant cannot see why.</a:t>
            </a:r>
            <a:endParaRPr lang="en-US" sz="1100" b="0" u="none" strike="noStrike">
              <a:solidFill>
                <a:srgbClr val="000000"/>
              </a:solidFill>
              <a:effectLst/>
              <a:uFillTx/>
              <a:latin typeface="Arial"/>
            </a:endParaRPr>
          </a:p>
        </p:txBody>
      </p:sp>
      <p:sp>
        <p:nvSpPr>
          <p:cNvPr id="109" name="Rectangle 10"/>
          <p:cNvSpPr/>
          <p:nvPr/>
        </p:nvSpPr>
        <p:spPr>
          <a:xfrm>
            <a:off x="2819520" y="1316880"/>
            <a:ext cx="2048400" cy="45360"/>
          </a:xfrm>
          <a:prstGeom prst="rect">
            <a:avLst/>
          </a:prstGeom>
          <a:solidFill>
            <a:srgbClr val="D9770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720" rIns="90000" bIns="720" anchor="ctr">
            <a:noAutofit/>
          </a:bodyPr>
          <a:p>
            <a:endParaRPr lang="en-US" sz="1800" b="0" u="none" strike="noStrike">
              <a:solidFill>
                <a:schemeClr val="lt1"/>
              </a:solidFill>
              <a:effectLst/>
              <a:uFillTx/>
              <a:latin typeface="Calibri"/>
            </a:endParaRPr>
          </a:p>
        </p:txBody>
      </p:sp>
      <p:sp>
        <p:nvSpPr>
          <p:cNvPr id="110" name="Rounded Rectangle 11"/>
          <p:cNvSpPr/>
          <p:nvPr/>
        </p:nvSpPr>
        <p:spPr>
          <a:xfrm>
            <a:off x="5070600" y="1316880"/>
            <a:ext cx="2050200" cy="2285640"/>
          </a:xfrm>
          <a:prstGeom prst="roundRect">
            <a:avLst>
              <a:gd name="adj" fmla="val 5500"/>
            </a:avLst>
          </a:prstGeom>
          <a:solidFill>
            <a:srgbClr val="FFFFFF"/>
          </a:solidFill>
          <a:ln w="12700">
            <a:solidFill>
              <a:srgbClr val="E3E8F0"/>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182880" tIns="237600" rIns="164520" bIns="45000" anchor="ctr">
            <a:noAutofit/>
          </a:bodyPr>
          <a:p>
            <a:pPr defTabSz="457200">
              <a:lnSpc>
                <a:spcPct val="106000"/>
              </a:lnSpc>
              <a:spcAft>
                <a:spcPts val="601"/>
              </a:spcAft>
            </a:pPr>
            <a:r>
              <a:rPr lang="en-US" sz="1400" b="1" u="none" strike="noStrike">
                <a:solidFill>
                  <a:srgbClr val="0E1A33"/>
                </a:solidFill>
                <a:effectLst/>
                <a:uFillTx/>
                <a:latin typeface="Calibri"/>
              </a:rPr>
              <a:t>Specialist-bound</a:t>
            </a:r>
            <a:endParaRPr lang="en-US" sz="1400" b="0" u="none" strike="noStrike">
              <a:solidFill>
                <a:srgbClr val="000000"/>
              </a:solidFill>
              <a:effectLst/>
              <a:uFillTx/>
              <a:latin typeface="Arial"/>
            </a:endParaRPr>
          </a:p>
          <a:p>
            <a:pPr defTabSz="457200">
              <a:lnSpc>
                <a:spcPct val="116000"/>
              </a:lnSpc>
            </a:pPr>
            <a:r>
              <a:rPr lang="en-US" sz="1100" b="0" u="none" strike="noStrike">
                <a:solidFill>
                  <a:srgbClr val="6B7280"/>
                </a:solidFill>
                <a:effectLst/>
                <a:uFillTx/>
                <a:latin typeface="Calibri"/>
              </a:rPr>
              <a:t>Throughput is capped by trained headcount, so volume spikes create backlogs.</a:t>
            </a:r>
            <a:endParaRPr lang="en-US" sz="1100" b="0" u="none" strike="noStrike">
              <a:solidFill>
                <a:srgbClr val="000000"/>
              </a:solidFill>
              <a:effectLst/>
              <a:uFillTx/>
              <a:latin typeface="Arial"/>
            </a:endParaRPr>
          </a:p>
        </p:txBody>
      </p:sp>
      <p:sp>
        <p:nvSpPr>
          <p:cNvPr id="111" name="Rectangle 12"/>
          <p:cNvSpPr/>
          <p:nvPr/>
        </p:nvSpPr>
        <p:spPr>
          <a:xfrm>
            <a:off x="5071320" y="1316880"/>
            <a:ext cx="2048400" cy="45360"/>
          </a:xfrm>
          <a:prstGeom prst="rect">
            <a:avLst/>
          </a:prstGeom>
          <a:solidFill>
            <a:srgbClr val="7C3AED"/>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720" rIns="90000" bIns="720" anchor="ctr">
            <a:noAutofit/>
          </a:bodyPr>
          <a:p>
            <a:endParaRPr lang="en-US" sz="1800" b="0" u="none" strike="noStrike">
              <a:solidFill>
                <a:schemeClr val="lt1"/>
              </a:solidFill>
              <a:effectLst/>
              <a:uFillTx/>
              <a:latin typeface="Calibri"/>
            </a:endParaRPr>
          </a:p>
        </p:txBody>
      </p:sp>
      <p:sp>
        <p:nvSpPr>
          <p:cNvPr id="112" name="Rounded Rectangle 13"/>
          <p:cNvSpPr/>
          <p:nvPr/>
        </p:nvSpPr>
        <p:spPr>
          <a:xfrm>
            <a:off x="7322400" y="1316880"/>
            <a:ext cx="2050200" cy="2285640"/>
          </a:xfrm>
          <a:prstGeom prst="roundRect">
            <a:avLst>
              <a:gd name="adj" fmla="val 5500"/>
            </a:avLst>
          </a:prstGeom>
          <a:solidFill>
            <a:srgbClr val="FFFFFF"/>
          </a:solidFill>
          <a:ln w="12700">
            <a:solidFill>
              <a:srgbClr val="E3E8F0"/>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182880" tIns="237600" rIns="164520" bIns="45000" anchor="ctr">
            <a:noAutofit/>
          </a:bodyPr>
          <a:p>
            <a:pPr defTabSz="457200">
              <a:lnSpc>
                <a:spcPct val="106000"/>
              </a:lnSpc>
              <a:spcAft>
                <a:spcPts val="601"/>
              </a:spcAft>
            </a:pPr>
            <a:r>
              <a:rPr lang="en-US" sz="1400" b="1" u="none" strike="noStrike">
                <a:solidFill>
                  <a:srgbClr val="0E1A33"/>
                </a:solidFill>
                <a:effectLst/>
                <a:uFillTx/>
                <a:latin typeface="Calibri"/>
              </a:rPr>
              <a:t>Thin audit trail</a:t>
            </a:r>
            <a:endParaRPr lang="en-US" sz="1400" b="0" u="none" strike="noStrike">
              <a:solidFill>
                <a:srgbClr val="000000"/>
              </a:solidFill>
              <a:effectLst/>
              <a:uFillTx/>
              <a:latin typeface="Arial"/>
            </a:endParaRPr>
          </a:p>
          <a:p>
            <a:pPr defTabSz="457200">
              <a:lnSpc>
                <a:spcPct val="116000"/>
              </a:lnSpc>
            </a:pPr>
            <a:r>
              <a:rPr lang="en-US" sz="1100" b="0" u="none" strike="noStrike">
                <a:solidFill>
                  <a:srgbClr val="6B7280"/>
                </a:solidFill>
                <a:effectLst/>
                <a:uFillTx/>
                <a:latin typeface="Calibri"/>
              </a:rPr>
              <a:t>Reasoning lives in notes and inboxes, not in a queryable, timestamped record.</a:t>
            </a:r>
            <a:endParaRPr lang="en-US" sz="1100" b="0" u="none" strike="noStrike">
              <a:solidFill>
                <a:srgbClr val="000000"/>
              </a:solidFill>
              <a:effectLst/>
              <a:uFillTx/>
              <a:latin typeface="Arial"/>
            </a:endParaRPr>
          </a:p>
        </p:txBody>
      </p:sp>
      <p:sp>
        <p:nvSpPr>
          <p:cNvPr id="113" name="Rectangle 14"/>
          <p:cNvSpPr/>
          <p:nvPr/>
        </p:nvSpPr>
        <p:spPr>
          <a:xfrm>
            <a:off x="7323120" y="1316880"/>
            <a:ext cx="2048400" cy="45360"/>
          </a:xfrm>
          <a:prstGeom prst="rect">
            <a:avLst/>
          </a:prstGeom>
          <a:solidFill>
            <a:srgbClr val="4F46E5"/>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720" rIns="90000" bIns="720" anchor="ctr">
            <a:noAutofit/>
          </a:bodyPr>
          <a:p>
            <a:endParaRPr lang="en-US" sz="1800" b="0" u="none" strike="noStrike">
              <a:solidFill>
                <a:schemeClr val="lt1"/>
              </a:solidFill>
              <a:effectLst/>
              <a:uFillTx/>
              <a:latin typeface="Calibri"/>
            </a:endParaRPr>
          </a:p>
        </p:txBody>
      </p:sp>
      <p:sp>
        <p:nvSpPr>
          <p:cNvPr id="114" name="Rounded Rectangle 15"/>
          <p:cNvSpPr/>
          <p:nvPr/>
        </p:nvSpPr>
        <p:spPr>
          <a:xfrm>
            <a:off x="9574200" y="1316880"/>
            <a:ext cx="2050200" cy="2285640"/>
          </a:xfrm>
          <a:prstGeom prst="roundRect">
            <a:avLst>
              <a:gd name="adj" fmla="val 5500"/>
            </a:avLst>
          </a:prstGeom>
          <a:solidFill>
            <a:srgbClr val="FFFFFF"/>
          </a:solidFill>
          <a:ln w="12700">
            <a:solidFill>
              <a:srgbClr val="E3E8F0"/>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182880" tIns="237600" rIns="164520" bIns="45000" anchor="ctr">
            <a:noAutofit/>
          </a:bodyPr>
          <a:p>
            <a:pPr defTabSz="457200">
              <a:lnSpc>
                <a:spcPct val="106000"/>
              </a:lnSpc>
              <a:spcAft>
                <a:spcPts val="601"/>
              </a:spcAft>
            </a:pPr>
            <a:r>
              <a:rPr lang="en-US" sz="1400" b="1" u="none" strike="noStrike">
                <a:solidFill>
                  <a:srgbClr val="0E1A33"/>
                </a:solidFill>
                <a:effectLst/>
                <a:uFillTx/>
                <a:latin typeface="Calibri"/>
              </a:rPr>
              <a:t>No self-service</a:t>
            </a:r>
            <a:endParaRPr lang="en-US" sz="1400" b="0" u="none" strike="noStrike">
              <a:solidFill>
                <a:srgbClr val="000000"/>
              </a:solidFill>
              <a:effectLst/>
              <a:uFillTx/>
              <a:latin typeface="Arial"/>
            </a:endParaRPr>
          </a:p>
          <a:p>
            <a:pPr defTabSz="457200">
              <a:lnSpc>
                <a:spcPct val="116000"/>
              </a:lnSpc>
            </a:pPr>
            <a:r>
              <a:rPr lang="en-US" sz="1100" b="0" u="none" strike="noStrike">
                <a:solidFill>
                  <a:srgbClr val="6B7280"/>
                </a:solidFill>
                <a:effectLst/>
                <a:uFillTx/>
                <a:latin typeface="Calibri"/>
              </a:rPr>
              <a:t>'Why was I rejected?' and 'what do I fix?' become another support ticket.</a:t>
            </a:r>
            <a:endParaRPr lang="en-US" sz="1100" b="0" u="none" strike="noStrike">
              <a:solidFill>
                <a:srgbClr val="000000"/>
              </a:solidFill>
              <a:effectLst/>
              <a:uFillTx/>
              <a:latin typeface="Arial"/>
            </a:endParaRPr>
          </a:p>
        </p:txBody>
      </p:sp>
      <p:sp>
        <p:nvSpPr>
          <p:cNvPr id="115" name="Rectangle 16"/>
          <p:cNvSpPr/>
          <p:nvPr/>
        </p:nvSpPr>
        <p:spPr>
          <a:xfrm>
            <a:off x="9574920" y="1316880"/>
            <a:ext cx="2048400" cy="45360"/>
          </a:xfrm>
          <a:prstGeom prst="rect">
            <a:avLst/>
          </a:prstGeom>
          <a:solidFill>
            <a:srgbClr val="06B6D4"/>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720" rIns="90000" bIns="720" anchor="ctr">
            <a:noAutofit/>
          </a:bodyPr>
          <a:p>
            <a:endParaRPr lang="en-US" sz="1800" b="0" u="none" strike="noStrike">
              <a:solidFill>
                <a:schemeClr val="lt1"/>
              </a:solidFill>
              <a:effectLst/>
              <a:uFillTx/>
              <a:latin typeface="Calibri"/>
            </a:endParaRPr>
          </a:p>
        </p:txBody>
      </p:sp>
      <p:sp>
        <p:nvSpPr>
          <p:cNvPr id="116" name="Rounded Rectangle 17"/>
          <p:cNvSpPr/>
          <p:nvPr/>
        </p:nvSpPr>
        <p:spPr>
          <a:xfrm>
            <a:off x="567000" y="3858840"/>
            <a:ext cx="11057400" cy="1298160"/>
          </a:xfrm>
          <a:prstGeom prst="roundRect">
            <a:avLst>
              <a:gd name="adj" fmla="val 5500"/>
            </a:avLst>
          </a:prstGeom>
          <a:solidFill>
            <a:srgbClr val="F6F8FC"/>
          </a:solidFill>
          <a:ln w="12700">
            <a:solidFill>
              <a:srgbClr val="E3E8F0"/>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274320" tIns="182880" rIns="90000" bIns="45000" anchor="ctr">
            <a:noAutofit/>
          </a:bodyPr>
          <a:p>
            <a:pPr defTabSz="457200">
              <a:lnSpc>
                <a:spcPct val="106000"/>
              </a:lnSpc>
              <a:spcAft>
                <a:spcPts val="601"/>
              </a:spcAft>
            </a:pPr>
            <a:r>
              <a:rPr lang="en-US" sz="950" b="1" u="none" strike="noStrike">
                <a:solidFill>
                  <a:srgbClr val="15A34A"/>
                </a:solidFill>
                <a:effectLst/>
                <a:uFillTx/>
                <a:latin typeface="Calibri"/>
              </a:rPr>
              <a:t>THE OPENING</a:t>
            </a:r>
            <a:endParaRPr lang="en-US" sz="950" b="0" u="none" strike="noStrike">
              <a:solidFill>
                <a:srgbClr val="000000"/>
              </a:solidFill>
              <a:effectLst/>
              <a:uFillTx/>
              <a:latin typeface="Arial"/>
            </a:endParaRPr>
          </a:p>
          <a:p>
            <a:pPr defTabSz="457200">
              <a:lnSpc>
                <a:spcPct val="108000"/>
              </a:lnSpc>
              <a:spcAft>
                <a:spcPts val="400"/>
              </a:spcAft>
            </a:pPr>
            <a:r>
              <a:rPr lang="en-US" sz="1350" b="1" u="none" strike="noStrike">
                <a:solidFill>
                  <a:srgbClr val="0E1A33"/>
                </a:solidFill>
                <a:effectLst/>
                <a:uFillTx/>
                <a:latin typeface="Calibri"/>
              </a:rPr>
              <a:t>The rules are already deterministic. </a:t>
            </a:r>
            <a:r>
              <a:rPr lang="en-US" sz="1350" b="0" u="none" strike="noStrike">
                <a:solidFill>
                  <a:srgbClr val="1F2937"/>
                </a:solidFill>
                <a:effectLst/>
                <a:uFillTx/>
                <a:latin typeface="Calibri"/>
              </a:rPr>
              <a:t>Credit score, age, EMI-to-income ratio and employment stability are arithmetic — not judgement. Automate the arithmetic, publish the reasoning with the decision, and route only genuinely borderline files to a human.</a:t>
            </a:r>
            <a:endParaRPr lang="en-US" sz="1350" b="0" u="none" strike="noStrike">
              <a:solidFill>
                <a:srgbClr val="000000"/>
              </a:solidFill>
              <a:effectLst/>
              <a:uFillTx/>
              <a:latin typeface="Arial"/>
            </a:endParaRPr>
          </a:p>
          <a:p>
            <a:pPr defTabSz="457200">
              <a:lnSpc>
                <a:spcPct val="106000"/>
              </a:lnSpc>
            </a:pPr>
            <a:r>
              <a:rPr lang="en-US" sz="1200" b="0" u="none" strike="noStrike">
                <a:solidFill>
                  <a:srgbClr val="6B7280"/>
                </a:solidFill>
                <a:effectLst/>
                <a:uFillTx/>
                <a:latin typeface="Calibri"/>
              </a:rPr>
              <a:t>That is exactly the boundary our system draws: machine-decided where the policy is clear, human-decided where it is not, explained in both cases.</a:t>
            </a:r>
            <a:endParaRPr lang="en-US" sz="1200" b="0" u="none" strike="noStrike">
              <a:solidFill>
                <a:srgbClr val="000000"/>
              </a:solidFill>
              <a:effectLst/>
              <a:uFillTx/>
              <a:latin typeface="Arial"/>
            </a:endParaRPr>
          </a:p>
        </p:txBody>
      </p:sp>
      <p:sp>
        <p:nvSpPr>
          <p:cNvPr id="117" name="Rectangle 18"/>
          <p:cNvSpPr/>
          <p:nvPr/>
        </p:nvSpPr>
        <p:spPr>
          <a:xfrm>
            <a:off x="567720" y="3858840"/>
            <a:ext cx="54360" cy="1298160"/>
          </a:xfrm>
          <a:prstGeom prst="rect">
            <a:avLst/>
          </a:prstGeom>
          <a:solidFill>
            <a:srgbClr val="15A34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Tree>
  </p:cSld>
  <mc:AlternateContent>
    <mc:Choice Requires="p14">
      <p:transition spd="slow" p14:dur="2000"/>
    </mc:Choice>
    <mc:Fallback>
      <p:transition spd="slow"/>
    </mc:Fallback>
  </mc:AlternateContent>
</p:sld>
</file>

<file path=ppt/slides/slide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18" name="Rectangle 1"/>
          <p:cNvSpPr/>
          <p:nvPr/>
        </p:nvSpPr>
        <p:spPr>
          <a:xfrm>
            <a:off x="0" y="0"/>
            <a:ext cx="12191400" cy="6857640"/>
          </a:xfrm>
          <a:prstGeom prst="rect">
            <a:avLst/>
          </a:prstGeom>
          <a:solidFill>
            <a:srgbClr val="FFFFFF"/>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119" name="Rectangle 2"/>
          <p:cNvSpPr/>
          <p:nvPr/>
        </p:nvSpPr>
        <p:spPr>
          <a:xfrm>
            <a:off x="0" y="0"/>
            <a:ext cx="12191400" cy="77400"/>
          </a:xfrm>
          <a:prstGeom prst="rect">
            <a:avLst/>
          </a:prstGeom>
          <a:gradFill rotWithShape="0">
            <a:gsLst>
              <a:gs pos="0">
                <a:srgbClr val="4F46E5"/>
              </a:gs>
              <a:gs pos="100000">
                <a:srgbClr val="7C3AED"/>
              </a:gs>
            </a:gsLst>
            <a:lin ang="0"/>
          </a:gra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32760" rIns="90000" bIns="32760" anchor="ctr">
            <a:noAutofit/>
          </a:bodyPr>
          <a:p>
            <a:endParaRPr lang="en-US" sz="1800" b="0" u="none" strike="noStrike">
              <a:solidFill>
                <a:schemeClr val="lt1"/>
              </a:solidFill>
              <a:effectLst/>
              <a:uFillTx/>
              <a:latin typeface="Calibri"/>
            </a:endParaRPr>
          </a:p>
        </p:txBody>
      </p:sp>
      <p:sp>
        <p:nvSpPr>
          <p:cNvPr id="120" name="TextBox 3"/>
          <p:cNvSpPr/>
          <p:nvPr/>
        </p:nvSpPr>
        <p:spPr>
          <a:xfrm>
            <a:off x="567000" y="384120"/>
            <a:ext cx="11057400" cy="237240"/>
          </a:xfrm>
          <a:prstGeom prst="rect">
            <a:avLst/>
          </a:prstGeom>
          <a:noFill/>
          <a:ln w="0">
            <a:noFill/>
          </a:ln>
        </p:spPr>
        <p:style>
          <a:lnRef idx="0"/>
          <a:fillRef idx="0"/>
          <a:effectRef idx="0"/>
          <a:fontRef idx="minor"/>
        </p:style>
        <p:txBody>
          <a:bodyPr lIns="0" tIns="0" rIns="0" bIns="0" anchor="t">
            <a:spAutoFit/>
          </a:bodyPr>
          <a:p>
            <a:pPr defTabSz="457200">
              <a:lnSpc>
                <a:spcPct val="106000"/>
              </a:lnSpc>
            </a:pPr>
            <a:r>
              <a:rPr lang="en-US" sz="950" b="1" u="none" strike="noStrike">
                <a:solidFill>
                  <a:srgbClr val="4F46E5"/>
                </a:solidFill>
                <a:effectLst/>
                <a:uFillTx/>
                <a:latin typeface="Calibri"/>
              </a:rPr>
              <a:t>PART 01  ·  SOLUTION</a:t>
            </a:r>
            <a:endParaRPr lang="en-US" sz="950" b="0" u="none" strike="noStrike">
              <a:solidFill>
                <a:srgbClr val="000000"/>
              </a:solidFill>
              <a:effectLst/>
              <a:uFillTx/>
              <a:latin typeface="Arial"/>
            </a:endParaRPr>
          </a:p>
        </p:txBody>
      </p:sp>
      <p:sp>
        <p:nvSpPr>
          <p:cNvPr id="121" name="TextBox 4"/>
          <p:cNvSpPr/>
          <p:nvPr/>
        </p:nvSpPr>
        <p:spPr>
          <a:xfrm>
            <a:off x="567000" y="658440"/>
            <a:ext cx="11057400" cy="502560"/>
          </a:xfrm>
          <a:prstGeom prst="rect">
            <a:avLst/>
          </a:prstGeom>
          <a:noFill/>
          <a:ln w="0">
            <a:noFill/>
          </a:ln>
        </p:spPr>
        <p:style>
          <a:lnRef idx="0"/>
          <a:fillRef idx="0"/>
          <a:effectRef idx="0"/>
          <a:fontRef idx="minor"/>
        </p:style>
        <p:txBody>
          <a:bodyPr lIns="0" tIns="0" rIns="0" bIns="0" anchor="t">
            <a:spAutoFit/>
          </a:bodyPr>
          <a:p>
            <a:pPr defTabSz="457200">
              <a:lnSpc>
                <a:spcPct val="106000"/>
              </a:lnSpc>
            </a:pPr>
            <a:r>
              <a:rPr lang="en-US" sz="2700" b="1" u="none" strike="noStrike">
                <a:solidFill>
                  <a:srgbClr val="0E1A33"/>
                </a:solidFill>
                <a:effectLst/>
                <a:uFillTx/>
                <a:latin typeface="Calibri"/>
              </a:rPr>
              <a:t>One application, three outputs, no waiting</a:t>
            </a:r>
            <a:endParaRPr lang="en-US" sz="2700" b="0" u="none" strike="noStrike">
              <a:solidFill>
                <a:srgbClr val="000000"/>
              </a:solidFill>
              <a:effectLst/>
              <a:uFillTx/>
              <a:latin typeface="Arial"/>
            </a:endParaRPr>
          </a:p>
        </p:txBody>
      </p:sp>
      <p:sp>
        <p:nvSpPr>
          <p:cNvPr id="122" name="TextBox 5"/>
          <p:cNvSpPr/>
          <p:nvPr/>
        </p:nvSpPr>
        <p:spPr>
          <a:xfrm>
            <a:off x="567000" y="1225440"/>
            <a:ext cx="9509400" cy="365400"/>
          </a:xfrm>
          <a:prstGeom prst="rect">
            <a:avLst/>
          </a:prstGeom>
          <a:noFill/>
          <a:ln w="0">
            <a:noFill/>
          </a:ln>
        </p:spPr>
        <p:style>
          <a:lnRef idx="0"/>
          <a:fillRef idx="0"/>
          <a:effectRef idx="0"/>
          <a:fontRef idx="minor"/>
        </p:style>
        <p:txBody>
          <a:bodyPr lIns="0" tIns="0" rIns="0" bIns="0" anchor="t">
            <a:spAutoFit/>
          </a:bodyPr>
          <a:p>
            <a:pPr defTabSz="457200">
              <a:lnSpc>
                <a:spcPct val="106000"/>
              </a:lnSpc>
            </a:pPr>
            <a:r>
              <a:rPr lang="en-US" sz="1250" b="0" u="none" strike="noStrike">
                <a:solidFill>
                  <a:srgbClr val="6B7280"/>
                </a:solidFill>
                <a:effectLst/>
                <a:uFillTx/>
                <a:latin typeface="Calibri"/>
              </a:rPr>
              <a:t>A Streamlit front end talks to a FastAPI service; agents decide, explain and answer questions.</a:t>
            </a:r>
            <a:endParaRPr lang="en-US" sz="1250" b="0" u="none" strike="noStrike">
              <a:solidFill>
                <a:srgbClr val="000000"/>
              </a:solidFill>
              <a:effectLst/>
              <a:uFillTx/>
              <a:latin typeface="Arial"/>
            </a:endParaRPr>
          </a:p>
        </p:txBody>
      </p:sp>
      <p:sp>
        <p:nvSpPr>
          <p:cNvPr id="123" name="TextBox 6"/>
          <p:cNvSpPr/>
          <p:nvPr/>
        </p:nvSpPr>
        <p:spPr>
          <a:xfrm>
            <a:off x="567000" y="6382440"/>
            <a:ext cx="7740000" cy="273960"/>
          </a:xfrm>
          <a:prstGeom prst="rect">
            <a:avLst/>
          </a:prstGeom>
          <a:noFill/>
          <a:ln w="0">
            <a:noFill/>
          </a:ln>
        </p:spPr>
        <p:style>
          <a:lnRef idx="0"/>
          <a:fillRef idx="0"/>
          <a:effectRef idx="0"/>
          <a:fontRef idx="minor"/>
        </p:style>
        <p:txBody>
          <a:bodyPr lIns="0" tIns="0" rIns="0" bIns="0" anchor="t">
            <a:spAutoFit/>
          </a:bodyPr>
          <a:p>
            <a:pPr defTabSz="457200">
              <a:lnSpc>
                <a:spcPct val="106000"/>
              </a:lnSpc>
            </a:pPr>
            <a:r>
              <a:rPr lang="en-US" sz="900" b="0" u="none" strike="noStrike">
                <a:solidFill>
                  <a:srgbClr val="6B7280"/>
                </a:solidFill>
                <a:effectLst/>
                <a:uFillTx/>
                <a:latin typeface="Calibri"/>
              </a:rPr>
              <a:t>Loan Eligibility AI  ·  Capstone Demonstration</a:t>
            </a:r>
            <a:endParaRPr lang="en-US" sz="900" b="0" u="none" strike="noStrike">
              <a:solidFill>
                <a:srgbClr val="000000"/>
              </a:solidFill>
              <a:effectLst/>
              <a:uFillTx/>
              <a:latin typeface="Arial"/>
            </a:endParaRPr>
          </a:p>
        </p:txBody>
      </p:sp>
      <p:sp>
        <p:nvSpPr>
          <p:cNvPr id="124" name="TextBox 7"/>
          <p:cNvSpPr/>
          <p:nvPr/>
        </p:nvSpPr>
        <p:spPr>
          <a:xfrm>
            <a:off x="10527480" y="6382440"/>
            <a:ext cx="1096920" cy="273960"/>
          </a:xfrm>
          <a:prstGeom prst="rect">
            <a:avLst/>
          </a:prstGeom>
          <a:noFill/>
          <a:ln w="0">
            <a:noFill/>
          </a:ln>
        </p:spPr>
        <p:style>
          <a:lnRef idx="0"/>
          <a:fillRef idx="0"/>
          <a:effectRef idx="0"/>
          <a:fontRef idx="minor"/>
        </p:style>
        <p:txBody>
          <a:bodyPr lIns="0" tIns="0" rIns="0" bIns="0" anchor="t">
            <a:spAutoFit/>
          </a:bodyPr>
          <a:p>
            <a:pPr algn="r" defTabSz="457200">
              <a:lnSpc>
                <a:spcPct val="106000"/>
              </a:lnSpc>
            </a:pPr>
            <a:r>
              <a:rPr lang="en-US" sz="900" b="0" u="none" strike="noStrike">
                <a:solidFill>
                  <a:srgbClr val="6B7280"/>
                </a:solidFill>
                <a:effectLst/>
                <a:uFillTx/>
                <a:latin typeface="Calibri"/>
              </a:rPr>
              <a:t>05</a:t>
            </a:r>
            <a:endParaRPr lang="en-US" sz="900" b="0" u="none" strike="noStrike">
              <a:solidFill>
                <a:srgbClr val="000000"/>
              </a:solidFill>
              <a:effectLst/>
              <a:uFillTx/>
              <a:latin typeface="Arial"/>
            </a:endParaRPr>
          </a:p>
        </p:txBody>
      </p:sp>
      <p:sp>
        <p:nvSpPr>
          <p:cNvPr id="125" name="Rounded Rectangle 8"/>
          <p:cNvSpPr/>
          <p:nvPr/>
        </p:nvSpPr>
        <p:spPr>
          <a:xfrm>
            <a:off x="567000" y="1700640"/>
            <a:ext cx="3502800" cy="2834280"/>
          </a:xfrm>
          <a:prstGeom prst="roundRect">
            <a:avLst>
              <a:gd name="adj" fmla="val 5500"/>
            </a:avLst>
          </a:prstGeom>
          <a:solidFill>
            <a:srgbClr val="FFFFFF"/>
          </a:solidFill>
          <a:ln w="12700">
            <a:solidFill>
              <a:srgbClr val="E3E8F0"/>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219600" tIns="237600" rIns="182880" bIns="45000" anchor="ctr">
            <a:noAutofit/>
          </a:bodyPr>
          <a:p>
            <a:pPr defTabSz="457200">
              <a:lnSpc>
                <a:spcPct val="106000"/>
              </a:lnSpc>
              <a:spcAft>
                <a:spcPts val="1001"/>
              </a:spcAft>
            </a:pPr>
            <a:r>
              <a:rPr lang="en-US" sz="1500" b="1" u="none" strike="noStrike">
                <a:solidFill>
                  <a:srgbClr val="0E1A33"/>
                </a:solidFill>
                <a:effectLst/>
                <a:uFillTx/>
                <a:latin typeface="Calibri"/>
              </a:rPr>
              <a:t>The applicant sees</a:t>
            </a:r>
            <a:endParaRPr lang="en-US" sz="1500" b="0" u="none" strike="noStrike">
              <a:solidFill>
                <a:srgbClr val="000000"/>
              </a:solidFill>
              <a:effectLst/>
              <a:uFillTx/>
              <a:latin typeface="Arial"/>
            </a:endParaRPr>
          </a:p>
          <a:p>
            <a:pPr defTabSz="457200">
              <a:lnSpc>
                <a:spcPct val="112000"/>
              </a:lnSpc>
              <a:spcAft>
                <a:spcPts val="700"/>
              </a:spcAft>
            </a:pPr>
            <a:r>
              <a:rPr lang="en-US" sz="1150" b="1" u="none" strike="noStrike">
                <a:solidFill>
                  <a:srgbClr val="4F46E5"/>
                </a:solidFill>
                <a:effectLst/>
                <a:uFillTx/>
                <a:latin typeface="Calibri"/>
              </a:rPr>
              <a:t>—  </a:t>
            </a:r>
            <a:r>
              <a:rPr lang="en-US" sz="1150" b="0" u="none" strike="noStrike">
                <a:solidFill>
                  <a:srgbClr val="1F2937"/>
                </a:solidFill>
                <a:effectLst/>
                <a:uFillTx/>
                <a:latin typeface="Calibri"/>
              </a:rPr>
              <a:t>A single form: personal, financial and loan details</a:t>
            </a:r>
            <a:endParaRPr lang="en-US" sz="1150" b="0" u="none" strike="noStrike">
              <a:solidFill>
                <a:srgbClr val="000000"/>
              </a:solidFill>
              <a:effectLst/>
              <a:uFillTx/>
              <a:latin typeface="Arial"/>
            </a:endParaRPr>
          </a:p>
          <a:p>
            <a:pPr defTabSz="457200">
              <a:lnSpc>
                <a:spcPct val="112000"/>
              </a:lnSpc>
              <a:spcAft>
                <a:spcPts val="700"/>
              </a:spcAft>
            </a:pPr>
            <a:r>
              <a:rPr lang="en-US" sz="1150" b="1" u="none" strike="noStrike">
                <a:solidFill>
                  <a:srgbClr val="4F46E5"/>
                </a:solidFill>
                <a:effectLst/>
                <a:uFillTx/>
                <a:latin typeface="Calibri"/>
              </a:rPr>
              <a:t>—  </a:t>
            </a:r>
            <a:r>
              <a:rPr lang="en-US" sz="1150" b="0" u="none" strike="noStrike">
                <a:solidFill>
                  <a:srgbClr val="1F2937"/>
                </a:solidFill>
                <a:effectLst/>
                <a:uFillTx/>
                <a:latin typeface="Calibri"/>
              </a:rPr>
              <a:t>A colour-coded decision within a second</a:t>
            </a:r>
            <a:endParaRPr lang="en-US" sz="1150" b="0" u="none" strike="noStrike">
              <a:solidFill>
                <a:srgbClr val="000000"/>
              </a:solidFill>
              <a:effectLst/>
              <a:uFillTx/>
              <a:latin typeface="Arial"/>
            </a:endParaRPr>
          </a:p>
          <a:p>
            <a:pPr defTabSz="457200">
              <a:lnSpc>
                <a:spcPct val="112000"/>
              </a:lnSpc>
              <a:spcAft>
                <a:spcPts val="700"/>
              </a:spcAft>
            </a:pPr>
            <a:r>
              <a:rPr lang="en-US" sz="1150" b="1" u="none" strike="noStrike">
                <a:solidFill>
                  <a:srgbClr val="4F46E5"/>
                </a:solidFill>
                <a:effectLst/>
                <a:uFillTx/>
                <a:latin typeface="Calibri"/>
              </a:rPr>
              <a:t>—  </a:t>
            </a:r>
            <a:r>
              <a:rPr lang="en-US" sz="1150" b="0" u="none" strike="noStrike">
                <a:solidFill>
                  <a:srgbClr val="1F2937"/>
                </a:solidFill>
                <a:effectLst/>
                <a:uFillTx/>
                <a:latin typeface="Calibri"/>
              </a:rPr>
              <a:t>The exact rule-by-rule reasoning behind it</a:t>
            </a:r>
            <a:endParaRPr lang="en-US" sz="1150" b="0" u="none" strike="noStrike">
              <a:solidFill>
                <a:srgbClr val="000000"/>
              </a:solidFill>
              <a:effectLst/>
              <a:uFillTx/>
              <a:latin typeface="Arial"/>
            </a:endParaRPr>
          </a:p>
          <a:p>
            <a:pPr defTabSz="457200">
              <a:lnSpc>
                <a:spcPct val="112000"/>
              </a:lnSpc>
              <a:spcAft>
                <a:spcPts val="700"/>
              </a:spcAft>
            </a:pPr>
            <a:r>
              <a:rPr lang="en-US" sz="1150" b="1" u="none" strike="noStrike">
                <a:solidFill>
                  <a:srgbClr val="4F46E5"/>
                </a:solidFill>
                <a:effectLst/>
                <a:uFillTx/>
                <a:latin typeface="Calibri"/>
              </a:rPr>
              <a:t>—  </a:t>
            </a:r>
            <a:r>
              <a:rPr lang="en-US" sz="1150" b="0" u="none" strike="noStrike">
                <a:solidFill>
                  <a:srgbClr val="1F2937"/>
                </a:solidFill>
                <a:effectLst/>
                <a:uFillTx/>
                <a:latin typeface="Calibri"/>
              </a:rPr>
              <a:t>Concrete steps to improve a weak profile</a:t>
            </a:r>
            <a:endParaRPr lang="en-US" sz="1150" b="0" u="none" strike="noStrike">
              <a:solidFill>
                <a:srgbClr val="000000"/>
              </a:solidFill>
              <a:effectLst/>
              <a:uFillTx/>
              <a:latin typeface="Arial"/>
            </a:endParaRPr>
          </a:p>
          <a:p>
            <a:pPr defTabSz="457200">
              <a:lnSpc>
                <a:spcPct val="112000"/>
              </a:lnSpc>
              <a:spcAft>
                <a:spcPts val="700"/>
              </a:spcAft>
            </a:pPr>
            <a:r>
              <a:rPr lang="en-US" sz="1150" b="1" u="none" strike="noStrike">
                <a:solidFill>
                  <a:srgbClr val="4F46E5"/>
                </a:solidFill>
                <a:effectLst/>
                <a:uFillTx/>
                <a:latin typeface="Calibri"/>
              </a:rPr>
              <a:t>—  </a:t>
            </a:r>
            <a:r>
              <a:rPr lang="en-US" sz="1150" b="0" u="none" strike="noStrike">
                <a:solidFill>
                  <a:srgbClr val="1F2937"/>
                </a:solidFill>
                <a:effectLst/>
                <a:uFillTx/>
                <a:latin typeface="Calibri"/>
              </a:rPr>
              <a:t>A downloadable PDF assessment report</a:t>
            </a:r>
            <a:endParaRPr lang="en-US" sz="1150" b="0" u="none" strike="noStrike">
              <a:solidFill>
                <a:srgbClr val="000000"/>
              </a:solidFill>
              <a:effectLst/>
              <a:uFillTx/>
              <a:latin typeface="Arial"/>
            </a:endParaRPr>
          </a:p>
        </p:txBody>
      </p:sp>
      <p:sp>
        <p:nvSpPr>
          <p:cNvPr id="126" name="Rectangle 9"/>
          <p:cNvSpPr/>
          <p:nvPr/>
        </p:nvSpPr>
        <p:spPr>
          <a:xfrm>
            <a:off x="567720" y="1700640"/>
            <a:ext cx="3501000" cy="50040"/>
          </a:xfrm>
          <a:prstGeom prst="rect">
            <a:avLst/>
          </a:prstGeom>
          <a:solidFill>
            <a:srgbClr val="4F46E5"/>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5400" rIns="90000" bIns="5400" anchor="ctr">
            <a:noAutofit/>
          </a:bodyPr>
          <a:p>
            <a:endParaRPr lang="en-US" sz="1800" b="0" u="none" strike="noStrike">
              <a:solidFill>
                <a:schemeClr val="lt1"/>
              </a:solidFill>
              <a:effectLst/>
              <a:uFillTx/>
              <a:latin typeface="Calibri"/>
            </a:endParaRPr>
          </a:p>
        </p:txBody>
      </p:sp>
      <p:sp>
        <p:nvSpPr>
          <p:cNvPr id="127" name="Rounded Rectangle 10"/>
          <p:cNvSpPr/>
          <p:nvPr/>
        </p:nvSpPr>
        <p:spPr>
          <a:xfrm>
            <a:off x="4344480" y="1700640"/>
            <a:ext cx="3502800" cy="2834280"/>
          </a:xfrm>
          <a:prstGeom prst="roundRect">
            <a:avLst>
              <a:gd name="adj" fmla="val 5500"/>
            </a:avLst>
          </a:prstGeom>
          <a:solidFill>
            <a:srgbClr val="FFFFFF"/>
          </a:solidFill>
          <a:ln w="12700">
            <a:solidFill>
              <a:srgbClr val="E3E8F0"/>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219600" tIns="237600" rIns="182880" bIns="45000" anchor="ctr">
            <a:noAutofit/>
          </a:bodyPr>
          <a:p>
            <a:pPr defTabSz="457200">
              <a:lnSpc>
                <a:spcPct val="106000"/>
              </a:lnSpc>
              <a:spcAft>
                <a:spcPts val="1001"/>
              </a:spcAft>
            </a:pPr>
            <a:r>
              <a:rPr lang="en-US" sz="1500" b="1" u="none" strike="noStrike">
                <a:solidFill>
                  <a:srgbClr val="0E1A33"/>
                </a:solidFill>
                <a:effectLst/>
                <a:uFillTx/>
                <a:latin typeface="Calibri"/>
              </a:rPr>
              <a:t>The engine does</a:t>
            </a:r>
            <a:endParaRPr lang="en-US" sz="1500" b="0" u="none" strike="noStrike">
              <a:solidFill>
                <a:srgbClr val="000000"/>
              </a:solidFill>
              <a:effectLst/>
              <a:uFillTx/>
              <a:latin typeface="Arial"/>
            </a:endParaRPr>
          </a:p>
          <a:p>
            <a:pPr defTabSz="457200">
              <a:lnSpc>
                <a:spcPct val="112000"/>
              </a:lnSpc>
              <a:spcAft>
                <a:spcPts val="700"/>
              </a:spcAft>
            </a:pPr>
            <a:r>
              <a:rPr lang="en-US" sz="1150" b="1" u="none" strike="noStrike">
                <a:solidFill>
                  <a:srgbClr val="7C3AED"/>
                </a:solidFill>
                <a:effectLst/>
                <a:uFillTx/>
                <a:latin typeface="Calibri"/>
              </a:rPr>
              <a:t>—  </a:t>
            </a:r>
            <a:r>
              <a:rPr lang="en-US" sz="1150" b="0" u="none" strike="noStrike">
                <a:solidFill>
                  <a:srgbClr val="1F2937"/>
                </a:solidFill>
                <a:effectLst/>
                <a:uFillTx/>
                <a:latin typeface="Calibri"/>
              </a:rPr>
              <a:t>Pydantic validation at the API boundary</a:t>
            </a:r>
            <a:endParaRPr lang="en-US" sz="1150" b="0" u="none" strike="noStrike">
              <a:solidFill>
                <a:srgbClr val="000000"/>
              </a:solidFill>
              <a:effectLst/>
              <a:uFillTx/>
              <a:latin typeface="Arial"/>
            </a:endParaRPr>
          </a:p>
          <a:p>
            <a:pPr defTabSz="457200">
              <a:lnSpc>
                <a:spcPct val="112000"/>
              </a:lnSpc>
              <a:spcAft>
                <a:spcPts val="700"/>
              </a:spcAft>
            </a:pPr>
            <a:r>
              <a:rPr lang="en-US" sz="1150" b="1" u="none" strike="noStrike">
                <a:solidFill>
                  <a:srgbClr val="7C3AED"/>
                </a:solidFill>
                <a:effectLst/>
                <a:uFillTx/>
                <a:latin typeface="Calibri"/>
              </a:rPr>
              <a:t>—  </a:t>
            </a:r>
            <a:r>
              <a:rPr lang="en-US" sz="1150" b="0" u="none" strike="noStrike">
                <a:solidFill>
                  <a:srgbClr val="1F2937"/>
                </a:solidFill>
                <a:effectLst/>
                <a:uFillTx/>
                <a:latin typeface="Calibri"/>
              </a:rPr>
              <a:t>Four deterministic rules + a borderline band</a:t>
            </a:r>
            <a:endParaRPr lang="en-US" sz="1150" b="0" u="none" strike="noStrike">
              <a:solidFill>
                <a:srgbClr val="000000"/>
              </a:solidFill>
              <a:effectLst/>
              <a:uFillTx/>
              <a:latin typeface="Arial"/>
            </a:endParaRPr>
          </a:p>
          <a:p>
            <a:pPr defTabSz="457200">
              <a:lnSpc>
                <a:spcPct val="112000"/>
              </a:lnSpc>
              <a:spcAft>
                <a:spcPts val="700"/>
              </a:spcAft>
            </a:pPr>
            <a:r>
              <a:rPr lang="en-US" sz="1150" b="1" u="none" strike="noStrike">
                <a:solidFill>
                  <a:srgbClr val="7C3AED"/>
                </a:solidFill>
                <a:effectLst/>
                <a:uFillTx/>
                <a:latin typeface="Calibri"/>
              </a:rPr>
              <a:t>—  </a:t>
            </a:r>
            <a:r>
              <a:rPr lang="en-US" sz="1150" b="0" u="none" strike="noStrike">
                <a:solidFill>
                  <a:srgbClr val="1F2937"/>
                </a:solidFill>
                <a:effectLst/>
                <a:uFillTx/>
                <a:latin typeface="Calibri"/>
              </a:rPr>
              <a:t>EMI estimation and EMI-to-income ratio</a:t>
            </a:r>
            <a:endParaRPr lang="en-US" sz="1150" b="0" u="none" strike="noStrike">
              <a:solidFill>
                <a:srgbClr val="000000"/>
              </a:solidFill>
              <a:effectLst/>
              <a:uFillTx/>
              <a:latin typeface="Arial"/>
            </a:endParaRPr>
          </a:p>
          <a:p>
            <a:pPr defTabSz="457200">
              <a:lnSpc>
                <a:spcPct val="112000"/>
              </a:lnSpc>
              <a:spcAft>
                <a:spcPts val="700"/>
              </a:spcAft>
            </a:pPr>
            <a:r>
              <a:rPr lang="en-US" sz="1150" b="1" u="none" strike="noStrike">
                <a:solidFill>
                  <a:srgbClr val="7C3AED"/>
                </a:solidFill>
                <a:effectLst/>
                <a:uFillTx/>
                <a:latin typeface="Calibri"/>
              </a:rPr>
              <a:t>—  </a:t>
            </a:r>
            <a:r>
              <a:rPr lang="en-US" sz="1150" b="0" u="none" strike="noStrike">
                <a:solidFill>
                  <a:srgbClr val="1F2937"/>
                </a:solidFill>
                <a:effectLst/>
                <a:uFillTx/>
                <a:latin typeface="Calibri"/>
              </a:rPr>
              <a:t>Policy evidence retrieved for every decision</a:t>
            </a:r>
            <a:endParaRPr lang="en-US" sz="1150" b="0" u="none" strike="noStrike">
              <a:solidFill>
                <a:srgbClr val="000000"/>
              </a:solidFill>
              <a:effectLst/>
              <a:uFillTx/>
              <a:latin typeface="Arial"/>
            </a:endParaRPr>
          </a:p>
          <a:p>
            <a:pPr defTabSz="457200">
              <a:lnSpc>
                <a:spcPct val="112000"/>
              </a:lnSpc>
              <a:spcAft>
                <a:spcPts val="700"/>
              </a:spcAft>
            </a:pPr>
            <a:r>
              <a:rPr lang="en-US" sz="1150" b="1" u="none" strike="noStrike">
                <a:solidFill>
                  <a:srgbClr val="7C3AED"/>
                </a:solidFill>
                <a:effectLst/>
                <a:uFillTx/>
                <a:latin typeface="Calibri"/>
              </a:rPr>
              <a:t>—  </a:t>
            </a:r>
            <a:r>
              <a:rPr lang="en-US" sz="1150" b="0" u="none" strike="noStrike">
                <a:solidFill>
                  <a:srgbClr val="1F2937"/>
                </a:solidFill>
                <a:effectLst/>
                <a:uFillTx/>
                <a:latin typeface="Calibri"/>
              </a:rPr>
              <a:t>An audit line written per request id</a:t>
            </a:r>
            <a:endParaRPr lang="en-US" sz="1150" b="0" u="none" strike="noStrike">
              <a:solidFill>
                <a:srgbClr val="000000"/>
              </a:solidFill>
              <a:effectLst/>
              <a:uFillTx/>
              <a:latin typeface="Arial"/>
            </a:endParaRPr>
          </a:p>
        </p:txBody>
      </p:sp>
      <p:sp>
        <p:nvSpPr>
          <p:cNvPr id="128" name="Rectangle 11"/>
          <p:cNvSpPr/>
          <p:nvPr/>
        </p:nvSpPr>
        <p:spPr>
          <a:xfrm>
            <a:off x="4345200" y="1700640"/>
            <a:ext cx="3501000" cy="50040"/>
          </a:xfrm>
          <a:prstGeom prst="rect">
            <a:avLst/>
          </a:prstGeom>
          <a:solidFill>
            <a:srgbClr val="7C3AED"/>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5400" rIns="90000" bIns="5400" anchor="ctr">
            <a:noAutofit/>
          </a:bodyPr>
          <a:p>
            <a:endParaRPr lang="en-US" sz="1800" b="0" u="none" strike="noStrike">
              <a:solidFill>
                <a:schemeClr val="lt1"/>
              </a:solidFill>
              <a:effectLst/>
              <a:uFillTx/>
              <a:latin typeface="Calibri"/>
            </a:endParaRPr>
          </a:p>
        </p:txBody>
      </p:sp>
      <p:sp>
        <p:nvSpPr>
          <p:cNvPr id="129" name="Rounded Rectangle 12"/>
          <p:cNvSpPr/>
          <p:nvPr/>
        </p:nvSpPr>
        <p:spPr>
          <a:xfrm>
            <a:off x="8121600" y="1700640"/>
            <a:ext cx="3502800" cy="2834280"/>
          </a:xfrm>
          <a:prstGeom prst="roundRect">
            <a:avLst>
              <a:gd name="adj" fmla="val 5500"/>
            </a:avLst>
          </a:prstGeom>
          <a:solidFill>
            <a:srgbClr val="FFFFFF"/>
          </a:solidFill>
          <a:ln w="12700">
            <a:solidFill>
              <a:srgbClr val="E3E8F0"/>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219600" tIns="237600" rIns="182880" bIns="45000" anchor="ctr">
            <a:noAutofit/>
          </a:bodyPr>
          <a:p>
            <a:pPr defTabSz="457200">
              <a:lnSpc>
                <a:spcPct val="106000"/>
              </a:lnSpc>
              <a:spcAft>
                <a:spcPts val="1001"/>
              </a:spcAft>
            </a:pPr>
            <a:r>
              <a:rPr lang="en-US" sz="1500" b="1" u="none" strike="noStrike">
                <a:solidFill>
                  <a:srgbClr val="0E1A33"/>
                </a:solidFill>
                <a:effectLst/>
                <a:uFillTx/>
                <a:latin typeface="Calibri"/>
              </a:rPr>
              <a:t>The assistant adds</a:t>
            </a:r>
            <a:endParaRPr lang="en-US" sz="1500" b="0" u="none" strike="noStrike">
              <a:solidFill>
                <a:srgbClr val="000000"/>
              </a:solidFill>
              <a:effectLst/>
              <a:uFillTx/>
              <a:latin typeface="Arial"/>
            </a:endParaRPr>
          </a:p>
          <a:p>
            <a:pPr defTabSz="457200">
              <a:lnSpc>
                <a:spcPct val="112000"/>
              </a:lnSpc>
              <a:spcAft>
                <a:spcPts val="700"/>
              </a:spcAft>
            </a:pPr>
            <a:r>
              <a:rPr lang="en-US" sz="1150" b="1" u="none" strike="noStrike">
                <a:solidFill>
                  <a:srgbClr val="06B6D4"/>
                </a:solidFill>
                <a:effectLst/>
                <a:uFillTx/>
                <a:latin typeface="Calibri"/>
              </a:rPr>
              <a:t>—  </a:t>
            </a:r>
            <a:r>
              <a:rPr lang="en-US" sz="1150" b="0" u="none" strike="noStrike">
                <a:solidFill>
                  <a:srgbClr val="1F2937"/>
                </a:solidFill>
                <a:effectLst/>
                <a:uFillTx/>
                <a:latin typeface="Calibri"/>
              </a:rPr>
              <a:t>Answers on criteria, process and next steps</a:t>
            </a:r>
            <a:endParaRPr lang="en-US" sz="1150" b="0" u="none" strike="noStrike">
              <a:solidFill>
                <a:srgbClr val="000000"/>
              </a:solidFill>
              <a:effectLst/>
              <a:uFillTx/>
              <a:latin typeface="Arial"/>
            </a:endParaRPr>
          </a:p>
          <a:p>
            <a:pPr defTabSz="457200">
              <a:lnSpc>
                <a:spcPct val="112000"/>
              </a:lnSpc>
              <a:spcAft>
                <a:spcPts val="700"/>
              </a:spcAft>
            </a:pPr>
            <a:r>
              <a:rPr lang="en-US" sz="1150" b="1" u="none" strike="noStrike">
                <a:solidFill>
                  <a:srgbClr val="06B6D4"/>
                </a:solidFill>
                <a:effectLst/>
                <a:uFillTx/>
                <a:latin typeface="Calibri"/>
              </a:rPr>
              <a:t>—  </a:t>
            </a:r>
            <a:r>
              <a:rPr lang="en-US" sz="1150" b="0" u="none" strike="noStrike">
                <a:solidFill>
                  <a:srgbClr val="1F2937"/>
                </a:solidFill>
                <a:effectLst/>
                <a:uFillTx/>
                <a:latin typeface="Calibri"/>
              </a:rPr>
              <a:t>Explanations of the applicant's own result</a:t>
            </a:r>
            <a:endParaRPr lang="en-US" sz="1150" b="0" u="none" strike="noStrike">
              <a:solidFill>
                <a:srgbClr val="000000"/>
              </a:solidFill>
              <a:effectLst/>
              <a:uFillTx/>
              <a:latin typeface="Arial"/>
            </a:endParaRPr>
          </a:p>
          <a:p>
            <a:pPr defTabSz="457200">
              <a:lnSpc>
                <a:spcPct val="112000"/>
              </a:lnSpc>
              <a:spcAft>
                <a:spcPts val="700"/>
              </a:spcAft>
            </a:pPr>
            <a:r>
              <a:rPr lang="en-US" sz="1150" b="1" u="none" strike="noStrike">
                <a:solidFill>
                  <a:srgbClr val="06B6D4"/>
                </a:solidFill>
                <a:effectLst/>
                <a:uFillTx/>
                <a:latin typeface="Calibri"/>
              </a:rPr>
              <a:t>—  </a:t>
            </a:r>
            <a:r>
              <a:rPr lang="en-US" sz="1150" b="0" u="none" strike="noStrike">
                <a:solidFill>
                  <a:srgbClr val="1F2937"/>
                </a:solidFill>
                <a:effectLst/>
                <a:uFillTx/>
                <a:latin typeface="Calibri"/>
              </a:rPr>
              <a:t>A guard that blocks card / PAN / OTP data</a:t>
            </a:r>
            <a:endParaRPr lang="en-US" sz="1150" b="0" u="none" strike="noStrike">
              <a:solidFill>
                <a:srgbClr val="000000"/>
              </a:solidFill>
              <a:effectLst/>
              <a:uFillTx/>
              <a:latin typeface="Arial"/>
            </a:endParaRPr>
          </a:p>
          <a:p>
            <a:pPr defTabSz="457200">
              <a:lnSpc>
                <a:spcPct val="112000"/>
              </a:lnSpc>
              <a:spcAft>
                <a:spcPts val="700"/>
              </a:spcAft>
            </a:pPr>
            <a:r>
              <a:rPr lang="en-US" sz="1150" b="1" u="none" strike="noStrike">
                <a:solidFill>
                  <a:srgbClr val="06B6D4"/>
                </a:solidFill>
                <a:effectLst/>
                <a:uFillTx/>
                <a:latin typeface="Calibri"/>
              </a:rPr>
              <a:t>—  </a:t>
            </a:r>
            <a:r>
              <a:rPr lang="en-US" sz="1150" b="0" u="none" strike="noStrike">
                <a:solidFill>
                  <a:srgbClr val="1F2937"/>
                </a:solidFill>
                <a:effectLst/>
                <a:uFillTx/>
                <a:latin typeface="Calibri"/>
              </a:rPr>
              <a:t>Scope control instead of invented answers</a:t>
            </a:r>
            <a:endParaRPr lang="en-US" sz="1150" b="0" u="none" strike="noStrike">
              <a:solidFill>
                <a:srgbClr val="000000"/>
              </a:solidFill>
              <a:effectLst/>
              <a:uFillTx/>
              <a:latin typeface="Arial"/>
            </a:endParaRPr>
          </a:p>
          <a:p>
            <a:pPr defTabSz="457200">
              <a:lnSpc>
                <a:spcPct val="112000"/>
              </a:lnSpc>
              <a:spcAft>
                <a:spcPts val="700"/>
              </a:spcAft>
            </a:pPr>
            <a:r>
              <a:rPr lang="en-US" sz="1150" b="1" u="none" strike="noStrike">
                <a:solidFill>
                  <a:srgbClr val="06B6D4"/>
                </a:solidFill>
                <a:effectLst/>
                <a:uFillTx/>
                <a:latin typeface="Calibri"/>
              </a:rPr>
              <a:t>—  </a:t>
            </a:r>
            <a:r>
              <a:rPr lang="en-US" sz="1150" b="0" u="none" strike="noStrike">
                <a:solidFill>
                  <a:srgbClr val="1F2937"/>
                </a:solidFill>
                <a:effectLst/>
                <a:uFillTx/>
                <a:latin typeface="Calibri"/>
              </a:rPr>
              <a:t>Optional Claude phrasing, rules as fallback</a:t>
            </a:r>
            <a:endParaRPr lang="en-US" sz="1150" b="0" u="none" strike="noStrike">
              <a:solidFill>
                <a:srgbClr val="000000"/>
              </a:solidFill>
              <a:effectLst/>
              <a:uFillTx/>
              <a:latin typeface="Arial"/>
            </a:endParaRPr>
          </a:p>
        </p:txBody>
      </p:sp>
      <p:sp>
        <p:nvSpPr>
          <p:cNvPr id="130" name="Rectangle 13"/>
          <p:cNvSpPr/>
          <p:nvPr/>
        </p:nvSpPr>
        <p:spPr>
          <a:xfrm>
            <a:off x="8122680" y="1700640"/>
            <a:ext cx="3501000" cy="50040"/>
          </a:xfrm>
          <a:prstGeom prst="rect">
            <a:avLst/>
          </a:prstGeom>
          <a:solidFill>
            <a:srgbClr val="06B6D4"/>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5400" rIns="90000" bIns="5400" anchor="ctr">
            <a:noAutofit/>
          </a:bodyPr>
          <a:p>
            <a:endParaRPr lang="en-US" sz="1800" b="0" u="none" strike="noStrike">
              <a:solidFill>
                <a:schemeClr val="lt1"/>
              </a:solidFill>
              <a:effectLst/>
              <a:uFillTx/>
              <a:latin typeface="Calibri"/>
            </a:endParaRPr>
          </a:p>
        </p:txBody>
      </p:sp>
      <p:sp>
        <p:nvSpPr>
          <p:cNvPr id="131" name="TextBox 14"/>
          <p:cNvSpPr/>
          <p:nvPr/>
        </p:nvSpPr>
        <p:spPr>
          <a:xfrm>
            <a:off x="567000" y="4754880"/>
            <a:ext cx="11057400" cy="456840"/>
          </a:xfrm>
          <a:prstGeom prst="rect">
            <a:avLst/>
          </a:prstGeom>
          <a:noFill/>
          <a:ln w="0">
            <a:noFill/>
          </a:ln>
        </p:spPr>
        <p:style>
          <a:lnRef idx="0"/>
          <a:fillRef idx="0"/>
          <a:effectRef idx="0"/>
          <a:fontRef idx="minor"/>
        </p:style>
        <p:txBody>
          <a:bodyPr lIns="0" tIns="0" rIns="0" bIns="0" anchor="t">
            <a:spAutoFit/>
          </a:bodyPr>
          <a:p>
            <a:pPr defTabSz="457200">
              <a:lnSpc>
                <a:spcPct val="108000"/>
              </a:lnSpc>
            </a:pPr>
            <a:r>
              <a:rPr lang="en-US" sz="1200" b="1" u="none" strike="noStrike">
                <a:solidFill>
                  <a:srgbClr val="0E1A33"/>
                </a:solidFill>
                <a:effectLst/>
                <a:uFillTx/>
                <a:latin typeface="Calibri"/>
              </a:rPr>
              <a:t>Design stance:  </a:t>
            </a:r>
            <a:r>
              <a:rPr lang="en-US" sz="1200" b="0" u="none" strike="noStrike">
                <a:solidFill>
                  <a:srgbClr val="6B7280"/>
                </a:solidFill>
                <a:effectLst/>
                <a:uFillTx/>
                <a:latin typeface="Calibri"/>
              </a:rPr>
              <a:t>the decision path is deterministic and testable; the language model is optional and never authoritative. Pull the API key and every screen in this deck still works.</a:t>
            </a:r>
            <a:endParaRPr lang="en-US" sz="12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32" name="Rectangle 1"/>
          <p:cNvSpPr/>
          <p:nvPr/>
        </p:nvSpPr>
        <p:spPr>
          <a:xfrm>
            <a:off x="0" y="0"/>
            <a:ext cx="12191400" cy="6857640"/>
          </a:xfrm>
          <a:prstGeom prst="rect">
            <a:avLst/>
          </a:prstGeom>
          <a:solidFill>
            <a:srgbClr val="FFFFFF"/>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133" name="Rectangle 2"/>
          <p:cNvSpPr/>
          <p:nvPr/>
        </p:nvSpPr>
        <p:spPr>
          <a:xfrm>
            <a:off x="0" y="0"/>
            <a:ext cx="12191400" cy="77400"/>
          </a:xfrm>
          <a:prstGeom prst="rect">
            <a:avLst/>
          </a:prstGeom>
          <a:gradFill rotWithShape="0">
            <a:gsLst>
              <a:gs pos="0">
                <a:srgbClr val="4F46E5"/>
              </a:gs>
              <a:gs pos="100000">
                <a:srgbClr val="7C3AED"/>
              </a:gs>
            </a:gsLst>
            <a:lin ang="0"/>
          </a:gra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32760" rIns="90000" bIns="32760" anchor="ctr">
            <a:noAutofit/>
          </a:bodyPr>
          <a:p>
            <a:endParaRPr lang="en-US" sz="1800" b="0" u="none" strike="noStrike">
              <a:solidFill>
                <a:schemeClr val="lt1"/>
              </a:solidFill>
              <a:effectLst/>
              <a:uFillTx/>
              <a:latin typeface="Calibri"/>
            </a:endParaRPr>
          </a:p>
        </p:txBody>
      </p:sp>
      <p:sp>
        <p:nvSpPr>
          <p:cNvPr id="134" name="TextBox 3"/>
          <p:cNvSpPr/>
          <p:nvPr/>
        </p:nvSpPr>
        <p:spPr>
          <a:xfrm>
            <a:off x="567000" y="384120"/>
            <a:ext cx="11057400" cy="237240"/>
          </a:xfrm>
          <a:prstGeom prst="rect">
            <a:avLst/>
          </a:prstGeom>
          <a:noFill/>
          <a:ln w="0">
            <a:noFill/>
          </a:ln>
        </p:spPr>
        <p:style>
          <a:lnRef idx="0"/>
          <a:fillRef idx="0"/>
          <a:effectRef idx="0"/>
          <a:fontRef idx="minor"/>
        </p:style>
        <p:txBody>
          <a:bodyPr lIns="0" tIns="0" rIns="0" bIns="0" anchor="t">
            <a:spAutoFit/>
          </a:bodyPr>
          <a:p>
            <a:pPr defTabSz="457200">
              <a:lnSpc>
                <a:spcPct val="106000"/>
              </a:lnSpc>
            </a:pPr>
            <a:r>
              <a:rPr lang="en-US" sz="950" b="1" u="none" strike="noStrike">
                <a:solidFill>
                  <a:srgbClr val="4F46E5"/>
                </a:solidFill>
                <a:effectLst/>
                <a:uFillTx/>
                <a:latin typeface="Calibri"/>
              </a:rPr>
              <a:t>PART 01  ·  FUNCTIONALITY</a:t>
            </a:r>
            <a:endParaRPr lang="en-US" sz="950" b="0" u="none" strike="noStrike">
              <a:solidFill>
                <a:srgbClr val="000000"/>
              </a:solidFill>
              <a:effectLst/>
              <a:uFillTx/>
              <a:latin typeface="Arial"/>
            </a:endParaRPr>
          </a:p>
        </p:txBody>
      </p:sp>
      <p:sp>
        <p:nvSpPr>
          <p:cNvPr id="135" name="TextBox 4"/>
          <p:cNvSpPr/>
          <p:nvPr/>
        </p:nvSpPr>
        <p:spPr>
          <a:xfrm>
            <a:off x="567000" y="658440"/>
            <a:ext cx="11057400" cy="502560"/>
          </a:xfrm>
          <a:prstGeom prst="rect">
            <a:avLst/>
          </a:prstGeom>
          <a:noFill/>
          <a:ln w="0">
            <a:noFill/>
          </a:ln>
        </p:spPr>
        <p:style>
          <a:lnRef idx="0"/>
          <a:fillRef idx="0"/>
          <a:effectRef idx="0"/>
          <a:fontRef idx="minor"/>
        </p:style>
        <p:txBody>
          <a:bodyPr lIns="0" tIns="0" rIns="0" bIns="0" anchor="t">
            <a:spAutoFit/>
          </a:bodyPr>
          <a:p>
            <a:pPr defTabSz="457200">
              <a:lnSpc>
                <a:spcPct val="106000"/>
              </a:lnSpc>
            </a:pPr>
            <a:r>
              <a:rPr lang="en-US" sz="2700" b="1" u="none" strike="noStrike">
                <a:solidFill>
                  <a:srgbClr val="0E1A33"/>
                </a:solidFill>
                <a:effectLst/>
                <a:uFillTx/>
                <a:latin typeface="Calibri"/>
              </a:rPr>
              <a:t>The complete feature inventory</a:t>
            </a:r>
            <a:endParaRPr lang="en-US" sz="2700" b="0" u="none" strike="noStrike">
              <a:solidFill>
                <a:srgbClr val="000000"/>
              </a:solidFill>
              <a:effectLst/>
              <a:uFillTx/>
              <a:latin typeface="Arial"/>
            </a:endParaRPr>
          </a:p>
        </p:txBody>
      </p:sp>
      <p:sp>
        <p:nvSpPr>
          <p:cNvPr id="136" name="TextBox 5"/>
          <p:cNvSpPr/>
          <p:nvPr/>
        </p:nvSpPr>
        <p:spPr>
          <a:xfrm>
            <a:off x="567000" y="1225440"/>
            <a:ext cx="9509400" cy="365400"/>
          </a:xfrm>
          <a:prstGeom prst="rect">
            <a:avLst/>
          </a:prstGeom>
          <a:noFill/>
          <a:ln w="0">
            <a:noFill/>
          </a:ln>
        </p:spPr>
        <p:style>
          <a:lnRef idx="0"/>
          <a:fillRef idx="0"/>
          <a:effectRef idx="0"/>
          <a:fontRef idx="minor"/>
        </p:style>
        <p:txBody>
          <a:bodyPr lIns="0" tIns="0" rIns="0" bIns="0" anchor="t">
            <a:spAutoFit/>
          </a:bodyPr>
          <a:p>
            <a:pPr defTabSz="457200">
              <a:lnSpc>
                <a:spcPct val="106000"/>
              </a:lnSpc>
            </a:pPr>
            <a:r>
              <a:rPr lang="en-US" sz="1250" b="0" u="none" strike="noStrike">
                <a:solidFill>
                  <a:srgbClr val="6B7280"/>
                </a:solidFill>
                <a:effectLst/>
                <a:uFillTx/>
                <a:latin typeface="Calibri"/>
              </a:rPr>
              <a:t>Everything below is implemented in this repository and demonstrated later in this deck.</a:t>
            </a:r>
            <a:endParaRPr lang="en-US" sz="1250" b="0" u="none" strike="noStrike">
              <a:solidFill>
                <a:srgbClr val="000000"/>
              </a:solidFill>
              <a:effectLst/>
              <a:uFillTx/>
              <a:latin typeface="Arial"/>
            </a:endParaRPr>
          </a:p>
        </p:txBody>
      </p:sp>
      <p:sp>
        <p:nvSpPr>
          <p:cNvPr id="137" name="TextBox 6"/>
          <p:cNvSpPr/>
          <p:nvPr/>
        </p:nvSpPr>
        <p:spPr>
          <a:xfrm>
            <a:off x="567000" y="6382440"/>
            <a:ext cx="7740000" cy="273960"/>
          </a:xfrm>
          <a:prstGeom prst="rect">
            <a:avLst/>
          </a:prstGeom>
          <a:noFill/>
          <a:ln w="0">
            <a:noFill/>
          </a:ln>
        </p:spPr>
        <p:style>
          <a:lnRef idx="0"/>
          <a:fillRef idx="0"/>
          <a:effectRef idx="0"/>
          <a:fontRef idx="minor"/>
        </p:style>
        <p:txBody>
          <a:bodyPr lIns="0" tIns="0" rIns="0" bIns="0" anchor="t">
            <a:spAutoFit/>
          </a:bodyPr>
          <a:p>
            <a:pPr defTabSz="457200">
              <a:lnSpc>
                <a:spcPct val="106000"/>
              </a:lnSpc>
            </a:pPr>
            <a:r>
              <a:rPr lang="en-US" sz="900" b="0" u="none" strike="noStrike">
                <a:solidFill>
                  <a:srgbClr val="6B7280"/>
                </a:solidFill>
                <a:effectLst/>
                <a:uFillTx/>
                <a:latin typeface="Calibri"/>
              </a:rPr>
              <a:t>Loan Eligibility AI  ·  Capstone Demonstration</a:t>
            </a:r>
            <a:endParaRPr lang="en-US" sz="900" b="0" u="none" strike="noStrike">
              <a:solidFill>
                <a:srgbClr val="000000"/>
              </a:solidFill>
              <a:effectLst/>
              <a:uFillTx/>
              <a:latin typeface="Arial"/>
            </a:endParaRPr>
          </a:p>
        </p:txBody>
      </p:sp>
      <p:sp>
        <p:nvSpPr>
          <p:cNvPr id="138" name="TextBox 7"/>
          <p:cNvSpPr/>
          <p:nvPr/>
        </p:nvSpPr>
        <p:spPr>
          <a:xfrm>
            <a:off x="10527480" y="6382440"/>
            <a:ext cx="1096920" cy="273960"/>
          </a:xfrm>
          <a:prstGeom prst="rect">
            <a:avLst/>
          </a:prstGeom>
          <a:noFill/>
          <a:ln w="0">
            <a:noFill/>
          </a:ln>
        </p:spPr>
        <p:style>
          <a:lnRef idx="0"/>
          <a:fillRef idx="0"/>
          <a:effectRef idx="0"/>
          <a:fontRef idx="minor"/>
        </p:style>
        <p:txBody>
          <a:bodyPr lIns="0" tIns="0" rIns="0" bIns="0" anchor="t">
            <a:spAutoFit/>
          </a:bodyPr>
          <a:p>
            <a:pPr algn="r" defTabSz="457200">
              <a:lnSpc>
                <a:spcPct val="106000"/>
              </a:lnSpc>
            </a:pPr>
            <a:r>
              <a:rPr lang="en-US" sz="900" b="0" u="none" strike="noStrike">
                <a:solidFill>
                  <a:srgbClr val="6B7280"/>
                </a:solidFill>
                <a:effectLst/>
                <a:uFillTx/>
                <a:latin typeface="Calibri"/>
              </a:rPr>
              <a:t>06</a:t>
            </a:r>
            <a:endParaRPr lang="en-US" sz="900" b="0" u="none" strike="noStrike">
              <a:solidFill>
                <a:srgbClr val="000000"/>
              </a:solidFill>
              <a:effectLst/>
              <a:uFillTx/>
              <a:latin typeface="Arial"/>
            </a:endParaRPr>
          </a:p>
        </p:txBody>
      </p:sp>
      <p:sp>
        <p:nvSpPr>
          <p:cNvPr id="139" name="Rounded Rectangle 8"/>
          <p:cNvSpPr/>
          <p:nvPr/>
        </p:nvSpPr>
        <p:spPr>
          <a:xfrm>
            <a:off x="567000" y="1700640"/>
            <a:ext cx="2599560" cy="1352880"/>
          </a:xfrm>
          <a:prstGeom prst="roundRect">
            <a:avLst>
              <a:gd name="adj" fmla="val 5500"/>
            </a:avLst>
          </a:prstGeom>
          <a:solidFill>
            <a:srgbClr val="FFFFFF"/>
          </a:solidFill>
          <a:ln w="12700">
            <a:solidFill>
              <a:srgbClr val="E3E8F0"/>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182880" tIns="128160" rIns="146160" bIns="45000" anchor="ctr">
            <a:noAutofit/>
          </a:bodyPr>
          <a:p>
            <a:pPr defTabSz="457200">
              <a:lnSpc>
                <a:spcPct val="106000"/>
              </a:lnSpc>
              <a:spcAft>
                <a:spcPts val="300"/>
              </a:spcAft>
            </a:pPr>
            <a:r>
              <a:rPr lang="en-US" sz="1250" b="1" u="none" strike="noStrike">
                <a:solidFill>
                  <a:srgbClr val="0E1A33"/>
                </a:solidFill>
                <a:effectLst/>
                <a:uFillTx/>
                <a:latin typeface="Calibri"/>
              </a:rPr>
              <a:t>Guided application form</a:t>
            </a:r>
            <a:endParaRPr lang="en-US" sz="1250" b="0" u="none" strike="noStrike">
              <a:solidFill>
                <a:srgbClr val="000000"/>
              </a:solidFill>
              <a:effectLst/>
              <a:uFillTx/>
              <a:latin typeface="Arial"/>
            </a:endParaRPr>
          </a:p>
          <a:p>
            <a:pPr defTabSz="457200">
              <a:lnSpc>
                <a:spcPct val="110000"/>
              </a:lnSpc>
            </a:pPr>
            <a:r>
              <a:rPr lang="en-US" sz="1050" b="0" u="none" strike="noStrike">
                <a:solidFill>
                  <a:srgbClr val="6B7280"/>
                </a:solidFill>
                <a:effectLst/>
                <a:uFillTx/>
                <a:latin typeface="Calibri"/>
              </a:rPr>
              <a:t>Seven inputs across personal, financial and loan sections, with inline help.</a:t>
            </a:r>
            <a:endParaRPr lang="en-US" sz="1050" b="0" u="none" strike="noStrike">
              <a:solidFill>
                <a:srgbClr val="000000"/>
              </a:solidFill>
              <a:effectLst/>
              <a:uFillTx/>
              <a:latin typeface="Arial"/>
            </a:endParaRPr>
          </a:p>
        </p:txBody>
      </p:sp>
      <p:sp>
        <p:nvSpPr>
          <p:cNvPr id="140" name="Rectangle 9"/>
          <p:cNvSpPr/>
          <p:nvPr/>
        </p:nvSpPr>
        <p:spPr>
          <a:xfrm>
            <a:off x="567720" y="1700640"/>
            <a:ext cx="45360" cy="1352880"/>
          </a:xfrm>
          <a:prstGeom prst="rect">
            <a:avLst/>
          </a:prstGeom>
          <a:solidFill>
            <a:srgbClr val="4F46E5"/>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141" name="Rounded Rectangle 10"/>
          <p:cNvSpPr/>
          <p:nvPr/>
        </p:nvSpPr>
        <p:spPr>
          <a:xfrm>
            <a:off x="3386160" y="1700640"/>
            <a:ext cx="2599560" cy="1352880"/>
          </a:xfrm>
          <a:prstGeom prst="roundRect">
            <a:avLst>
              <a:gd name="adj" fmla="val 5500"/>
            </a:avLst>
          </a:prstGeom>
          <a:solidFill>
            <a:srgbClr val="FFFFFF"/>
          </a:solidFill>
          <a:ln w="12700">
            <a:solidFill>
              <a:srgbClr val="E3E8F0"/>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182880" tIns="128160" rIns="146160" bIns="45000" anchor="ctr">
            <a:noAutofit/>
          </a:bodyPr>
          <a:p>
            <a:pPr defTabSz="457200">
              <a:lnSpc>
                <a:spcPct val="106000"/>
              </a:lnSpc>
              <a:spcAft>
                <a:spcPts val="300"/>
              </a:spcAft>
            </a:pPr>
            <a:r>
              <a:rPr lang="en-US" sz="1250" b="1" u="none" strike="noStrike">
                <a:solidFill>
                  <a:srgbClr val="0E1A33"/>
                </a:solidFill>
                <a:effectLst/>
                <a:uFillTx/>
                <a:latin typeface="Calibri"/>
              </a:rPr>
              <a:t>Two-stage validation</a:t>
            </a:r>
            <a:endParaRPr lang="en-US" sz="1250" b="0" u="none" strike="noStrike">
              <a:solidFill>
                <a:srgbClr val="000000"/>
              </a:solidFill>
              <a:effectLst/>
              <a:uFillTx/>
              <a:latin typeface="Arial"/>
            </a:endParaRPr>
          </a:p>
          <a:p>
            <a:pPr defTabSz="457200">
              <a:lnSpc>
                <a:spcPct val="110000"/>
              </a:lnSpc>
            </a:pPr>
            <a:r>
              <a:rPr lang="en-US" sz="1050" b="0" u="none" strike="noStrike">
                <a:solidFill>
                  <a:srgbClr val="6B7280"/>
                </a:solidFill>
                <a:effectLst/>
                <a:uFillTx/>
                <a:latin typeface="Calibri"/>
              </a:rPr>
              <a:t>UI checks (name, ranges, EMI vs income) then Pydantic types at the API.</a:t>
            </a:r>
            <a:endParaRPr lang="en-US" sz="1050" b="0" u="none" strike="noStrike">
              <a:solidFill>
                <a:srgbClr val="000000"/>
              </a:solidFill>
              <a:effectLst/>
              <a:uFillTx/>
              <a:latin typeface="Arial"/>
            </a:endParaRPr>
          </a:p>
        </p:txBody>
      </p:sp>
      <p:sp>
        <p:nvSpPr>
          <p:cNvPr id="142" name="Rectangle 11"/>
          <p:cNvSpPr/>
          <p:nvPr/>
        </p:nvSpPr>
        <p:spPr>
          <a:xfrm>
            <a:off x="3387240" y="1700640"/>
            <a:ext cx="45360" cy="1352880"/>
          </a:xfrm>
          <a:prstGeom prst="rect">
            <a:avLst/>
          </a:prstGeom>
          <a:solidFill>
            <a:srgbClr val="7C3AED"/>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143" name="Rounded Rectangle 12"/>
          <p:cNvSpPr/>
          <p:nvPr/>
        </p:nvSpPr>
        <p:spPr>
          <a:xfrm>
            <a:off x="6205680" y="1700640"/>
            <a:ext cx="2599560" cy="1352880"/>
          </a:xfrm>
          <a:prstGeom prst="roundRect">
            <a:avLst>
              <a:gd name="adj" fmla="val 5500"/>
            </a:avLst>
          </a:prstGeom>
          <a:solidFill>
            <a:srgbClr val="FFFFFF"/>
          </a:solidFill>
          <a:ln w="12700">
            <a:solidFill>
              <a:srgbClr val="E3E8F0"/>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182880" tIns="128160" rIns="146160" bIns="45000" anchor="ctr">
            <a:noAutofit/>
          </a:bodyPr>
          <a:p>
            <a:pPr defTabSz="457200">
              <a:lnSpc>
                <a:spcPct val="106000"/>
              </a:lnSpc>
              <a:spcAft>
                <a:spcPts val="300"/>
              </a:spcAft>
            </a:pPr>
            <a:r>
              <a:rPr lang="en-US" sz="1250" b="1" u="none" strike="noStrike">
                <a:solidFill>
                  <a:srgbClr val="0E1A33"/>
                </a:solidFill>
                <a:effectLst/>
                <a:uFillTx/>
                <a:latin typeface="Calibri"/>
              </a:rPr>
              <a:t>Deterministic rule engine</a:t>
            </a:r>
            <a:endParaRPr lang="en-US" sz="1250" b="0" u="none" strike="noStrike">
              <a:solidFill>
                <a:srgbClr val="000000"/>
              </a:solidFill>
              <a:effectLst/>
              <a:uFillTx/>
              <a:latin typeface="Arial"/>
            </a:endParaRPr>
          </a:p>
          <a:p>
            <a:pPr defTabSz="457200">
              <a:lnSpc>
                <a:spcPct val="110000"/>
              </a:lnSpc>
            </a:pPr>
            <a:r>
              <a:rPr lang="en-US" sz="1050" b="0" u="none" strike="noStrike">
                <a:solidFill>
                  <a:srgbClr val="6B7280"/>
                </a:solidFill>
                <a:effectLst/>
                <a:uFillTx/>
                <a:latin typeface="Calibri"/>
              </a:rPr>
              <a:t>Credit score, age, EMI ratio and employment, each evaluated independently.</a:t>
            </a:r>
            <a:endParaRPr lang="en-US" sz="1050" b="0" u="none" strike="noStrike">
              <a:solidFill>
                <a:srgbClr val="000000"/>
              </a:solidFill>
              <a:effectLst/>
              <a:uFillTx/>
              <a:latin typeface="Arial"/>
            </a:endParaRPr>
          </a:p>
        </p:txBody>
      </p:sp>
      <p:sp>
        <p:nvSpPr>
          <p:cNvPr id="144" name="Rectangle 13"/>
          <p:cNvSpPr/>
          <p:nvPr/>
        </p:nvSpPr>
        <p:spPr>
          <a:xfrm>
            <a:off x="6206400" y="1700640"/>
            <a:ext cx="45360" cy="1352880"/>
          </a:xfrm>
          <a:prstGeom prst="rect">
            <a:avLst/>
          </a:prstGeom>
          <a:solidFill>
            <a:srgbClr val="06B6D4"/>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145" name="Rounded Rectangle 14"/>
          <p:cNvSpPr/>
          <p:nvPr/>
        </p:nvSpPr>
        <p:spPr>
          <a:xfrm>
            <a:off x="9024840" y="1700640"/>
            <a:ext cx="2599560" cy="1352880"/>
          </a:xfrm>
          <a:prstGeom prst="roundRect">
            <a:avLst>
              <a:gd name="adj" fmla="val 5500"/>
            </a:avLst>
          </a:prstGeom>
          <a:solidFill>
            <a:srgbClr val="FFFFFF"/>
          </a:solidFill>
          <a:ln w="12700">
            <a:solidFill>
              <a:srgbClr val="E3E8F0"/>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182880" tIns="128160" rIns="146160" bIns="45000" anchor="ctr">
            <a:noAutofit/>
          </a:bodyPr>
          <a:p>
            <a:pPr defTabSz="457200">
              <a:lnSpc>
                <a:spcPct val="106000"/>
              </a:lnSpc>
              <a:spcAft>
                <a:spcPts val="300"/>
              </a:spcAft>
            </a:pPr>
            <a:r>
              <a:rPr lang="en-US" sz="1250" b="1" u="none" strike="noStrike">
                <a:solidFill>
                  <a:srgbClr val="0E1A33"/>
                </a:solidFill>
                <a:effectLst/>
                <a:uFillTx/>
                <a:latin typeface="Calibri"/>
              </a:rPr>
              <a:t>Three-way decision</a:t>
            </a:r>
            <a:endParaRPr lang="en-US" sz="1250" b="0" u="none" strike="noStrike">
              <a:solidFill>
                <a:srgbClr val="000000"/>
              </a:solidFill>
              <a:effectLst/>
              <a:uFillTx/>
              <a:latin typeface="Arial"/>
            </a:endParaRPr>
          </a:p>
          <a:p>
            <a:pPr defTabSz="457200">
              <a:lnSpc>
                <a:spcPct val="110000"/>
              </a:lnSpc>
            </a:pPr>
            <a:r>
              <a:rPr lang="en-US" sz="1050" b="0" u="none" strike="noStrike">
                <a:solidFill>
                  <a:srgbClr val="6B7280"/>
                </a:solidFill>
                <a:effectLst/>
                <a:uFillTx/>
                <a:latin typeface="Calibri"/>
              </a:rPr>
              <a:t>Eligible / Needs Manual Review / Not Eligible, with a borderline tolerance band.</a:t>
            </a:r>
            <a:endParaRPr lang="en-US" sz="1050" b="0" u="none" strike="noStrike">
              <a:solidFill>
                <a:srgbClr val="000000"/>
              </a:solidFill>
              <a:effectLst/>
              <a:uFillTx/>
              <a:latin typeface="Arial"/>
            </a:endParaRPr>
          </a:p>
        </p:txBody>
      </p:sp>
      <p:sp>
        <p:nvSpPr>
          <p:cNvPr id="146" name="Rectangle 15"/>
          <p:cNvSpPr/>
          <p:nvPr/>
        </p:nvSpPr>
        <p:spPr>
          <a:xfrm>
            <a:off x="9025920" y="1700640"/>
            <a:ext cx="45360" cy="1352880"/>
          </a:xfrm>
          <a:prstGeom prst="rect">
            <a:avLst/>
          </a:prstGeom>
          <a:solidFill>
            <a:srgbClr val="15A34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147" name="Rounded Rectangle 16"/>
          <p:cNvSpPr/>
          <p:nvPr/>
        </p:nvSpPr>
        <p:spPr>
          <a:xfrm>
            <a:off x="567000" y="3273480"/>
            <a:ext cx="2599560" cy="1352880"/>
          </a:xfrm>
          <a:prstGeom prst="roundRect">
            <a:avLst>
              <a:gd name="adj" fmla="val 5500"/>
            </a:avLst>
          </a:prstGeom>
          <a:solidFill>
            <a:srgbClr val="FFFFFF"/>
          </a:solidFill>
          <a:ln w="12700">
            <a:solidFill>
              <a:srgbClr val="E3E8F0"/>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182880" tIns="128160" rIns="146160" bIns="45000" anchor="ctr">
            <a:noAutofit/>
          </a:bodyPr>
          <a:p>
            <a:pPr defTabSz="457200">
              <a:lnSpc>
                <a:spcPct val="106000"/>
              </a:lnSpc>
              <a:spcAft>
                <a:spcPts val="300"/>
              </a:spcAft>
            </a:pPr>
            <a:r>
              <a:rPr lang="en-US" sz="1250" b="1" u="none" strike="noStrike">
                <a:solidFill>
                  <a:srgbClr val="0E1A33"/>
                </a:solidFill>
                <a:effectLst/>
                <a:uFillTx/>
                <a:latin typeface="Calibri"/>
              </a:rPr>
              <a:t>Credit metrics panel</a:t>
            </a:r>
            <a:endParaRPr lang="en-US" sz="1250" b="0" u="none" strike="noStrike">
              <a:solidFill>
                <a:srgbClr val="000000"/>
              </a:solidFill>
              <a:effectLst/>
              <a:uFillTx/>
              <a:latin typeface="Arial"/>
            </a:endParaRPr>
          </a:p>
          <a:p>
            <a:pPr defTabSz="457200">
              <a:lnSpc>
                <a:spcPct val="110000"/>
              </a:lnSpc>
            </a:pPr>
            <a:r>
              <a:rPr lang="en-US" sz="1050" b="0" u="none" strike="noStrike">
                <a:solidFill>
                  <a:srgbClr val="6B7280"/>
                </a:solidFill>
                <a:effectLst/>
                <a:uFillTx/>
                <a:latin typeface="Calibri"/>
              </a:rPr>
              <a:t>Score, estimated new EMI, combined EMI and EMI-to-income ratio.</a:t>
            </a:r>
            <a:endParaRPr lang="en-US" sz="1050" b="0" u="none" strike="noStrike">
              <a:solidFill>
                <a:srgbClr val="000000"/>
              </a:solidFill>
              <a:effectLst/>
              <a:uFillTx/>
              <a:latin typeface="Arial"/>
            </a:endParaRPr>
          </a:p>
        </p:txBody>
      </p:sp>
      <p:sp>
        <p:nvSpPr>
          <p:cNvPr id="148" name="Rectangle 17"/>
          <p:cNvSpPr/>
          <p:nvPr/>
        </p:nvSpPr>
        <p:spPr>
          <a:xfrm>
            <a:off x="567720" y="3273480"/>
            <a:ext cx="45360" cy="1352880"/>
          </a:xfrm>
          <a:prstGeom prst="rect">
            <a:avLst/>
          </a:prstGeom>
          <a:solidFill>
            <a:srgbClr val="D9770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149" name="Rounded Rectangle 18"/>
          <p:cNvSpPr/>
          <p:nvPr/>
        </p:nvSpPr>
        <p:spPr>
          <a:xfrm>
            <a:off x="3386160" y="3273480"/>
            <a:ext cx="2599560" cy="1352880"/>
          </a:xfrm>
          <a:prstGeom prst="roundRect">
            <a:avLst>
              <a:gd name="adj" fmla="val 5500"/>
            </a:avLst>
          </a:prstGeom>
          <a:solidFill>
            <a:srgbClr val="FFFFFF"/>
          </a:solidFill>
          <a:ln w="12700">
            <a:solidFill>
              <a:srgbClr val="E3E8F0"/>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182880" tIns="128160" rIns="146160" bIns="45000" anchor="ctr">
            <a:noAutofit/>
          </a:bodyPr>
          <a:p>
            <a:pPr defTabSz="457200">
              <a:lnSpc>
                <a:spcPct val="106000"/>
              </a:lnSpc>
              <a:spcAft>
                <a:spcPts val="300"/>
              </a:spcAft>
            </a:pPr>
            <a:r>
              <a:rPr lang="en-US" sz="1250" b="1" u="none" strike="noStrike">
                <a:solidFill>
                  <a:srgbClr val="0E1A33"/>
                </a:solidFill>
                <a:effectLst/>
                <a:uFillTx/>
                <a:latin typeface="Calibri"/>
              </a:rPr>
              <a:t>Reasoning trace</a:t>
            </a:r>
            <a:endParaRPr lang="en-US" sz="1250" b="0" u="none" strike="noStrike">
              <a:solidFill>
                <a:srgbClr val="000000"/>
              </a:solidFill>
              <a:effectLst/>
              <a:uFillTx/>
              <a:latin typeface="Arial"/>
            </a:endParaRPr>
          </a:p>
          <a:p>
            <a:pPr defTabSz="457200">
              <a:lnSpc>
                <a:spcPct val="110000"/>
              </a:lnSpc>
            </a:pPr>
            <a:r>
              <a:rPr lang="en-US" sz="1050" b="0" u="none" strike="noStrike">
                <a:solidFill>
                  <a:srgbClr val="6B7280"/>
                </a:solidFill>
                <a:effectLst/>
                <a:uFillTx/>
                <a:latin typeface="Calibri"/>
              </a:rPr>
              <a:t>Per-rule PASSED / FAILED with the value used — shown on screen and in the PDF.</a:t>
            </a:r>
            <a:endParaRPr lang="en-US" sz="1050" b="0" u="none" strike="noStrike">
              <a:solidFill>
                <a:srgbClr val="000000"/>
              </a:solidFill>
              <a:effectLst/>
              <a:uFillTx/>
              <a:latin typeface="Arial"/>
            </a:endParaRPr>
          </a:p>
        </p:txBody>
      </p:sp>
      <p:sp>
        <p:nvSpPr>
          <p:cNvPr id="150" name="Rectangle 19"/>
          <p:cNvSpPr/>
          <p:nvPr/>
        </p:nvSpPr>
        <p:spPr>
          <a:xfrm>
            <a:off x="3387240" y="3273480"/>
            <a:ext cx="45360" cy="1352880"/>
          </a:xfrm>
          <a:prstGeom prst="rect">
            <a:avLst/>
          </a:prstGeom>
          <a:solidFill>
            <a:srgbClr val="DC262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151" name="Rounded Rectangle 20"/>
          <p:cNvSpPr/>
          <p:nvPr/>
        </p:nvSpPr>
        <p:spPr>
          <a:xfrm>
            <a:off x="6205680" y="3273480"/>
            <a:ext cx="2599560" cy="1352880"/>
          </a:xfrm>
          <a:prstGeom prst="roundRect">
            <a:avLst>
              <a:gd name="adj" fmla="val 5500"/>
            </a:avLst>
          </a:prstGeom>
          <a:solidFill>
            <a:srgbClr val="FFFFFF"/>
          </a:solidFill>
          <a:ln w="12700">
            <a:solidFill>
              <a:srgbClr val="E3E8F0"/>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182880" tIns="128160" rIns="146160" bIns="45000" anchor="ctr">
            <a:noAutofit/>
          </a:bodyPr>
          <a:p>
            <a:pPr defTabSz="457200">
              <a:lnSpc>
                <a:spcPct val="106000"/>
              </a:lnSpc>
              <a:spcAft>
                <a:spcPts val="300"/>
              </a:spcAft>
            </a:pPr>
            <a:r>
              <a:rPr lang="en-US" sz="1250" b="1" u="none" strike="noStrike">
                <a:solidFill>
                  <a:srgbClr val="0E1A33"/>
                </a:solidFill>
                <a:effectLst/>
                <a:uFillTx/>
                <a:latin typeface="Calibri"/>
              </a:rPr>
              <a:t>Recommendation engine</a:t>
            </a:r>
            <a:endParaRPr lang="en-US" sz="1250" b="0" u="none" strike="noStrike">
              <a:solidFill>
                <a:srgbClr val="000000"/>
              </a:solidFill>
              <a:effectLst/>
              <a:uFillTx/>
              <a:latin typeface="Arial"/>
            </a:endParaRPr>
          </a:p>
          <a:p>
            <a:pPr defTabSz="457200">
              <a:lnSpc>
                <a:spcPct val="110000"/>
              </a:lnSpc>
            </a:pPr>
            <a:r>
              <a:rPr lang="en-US" sz="1050" b="0" u="none" strike="noStrike">
                <a:solidFill>
                  <a:srgbClr val="6B7280"/>
                </a:solidFill>
                <a:effectLst/>
                <a:uFillTx/>
                <a:latin typeface="Calibri"/>
              </a:rPr>
              <a:t>Targeted improvement steps derived from the rules the applicant failed.</a:t>
            </a:r>
            <a:endParaRPr lang="en-US" sz="1050" b="0" u="none" strike="noStrike">
              <a:solidFill>
                <a:srgbClr val="000000"/>
              </a:solidFill>
              <a:effectLst/>
              <a:uFillTx/>
              <a:latin typeface="Arial"/>
            </a:endParaRPr>
          </a:p>
        </p:txBody>
      </p:sp>
      <p:sp>
        <p:nvSpPr>
          <p:cNvPr id="152" name="Rectangle 21"/>
          <p:cNvSpPr/>
          <p:nvPr/>
        </p:nvSpPr>
        <p:spPr>
          <a:xfrm>
            <a:off x="6206400" y="3273480"/>
            <a:ext cx="45360" cy="1352880"/>
          </a:xfrm>
          <a:prstGeom prst="rect">
            <a:avLst/>
          </a:prstGeom>
          <a:solidFill>
            <a:srgbClr val="4F46E5"/>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153" name="Rounded Rectangle 22"/>
          <p:cNvSpPr/>
          <p:nvPr/>
        </p:nvSpPr>
        <p:spPr>
          <a:xfrm>
            <a:off x="9024840" y="3273480"/>
            <a:ext cx="2599560" cy="1352880"/>
          </a:xfrm>
          <a:prstGeom prst="roundRect">
            <a:avLst>
              <a:gd name="adj" fmla="val 5500"/>
            </a:avLst>
          </a:prstGeom>
          <a:solidFill>
            <a:srgbClr val="FFFFFF"/>
          </a:solidFill>
          <a:ln w="12700">
            <a:solidFill>
              <a:srgbClr val="E3E8F0"/>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182880" tIns="128160" rIns="146160" bIns="45000" anchor="ctr">
            <a:noAutofit/>
          </a:bodyPr>
          <a:p>
            <a:pPr defTabSz="457200">
              <a:lnSpc>
                <a:spcPct val="106000"/>
              </a:lnSpc>
              <a:spcAft>
                <a:spcPts val="300"/>
              </a:spcAft>
            </a:pPr>
            <a:r>
              <a:rPr lang="en-US" sz="1250" b="1" u="none" strike="noStrike">
                <a:solidFill>
                  <a:srgbClr val="0E1A33"/>
                </a:solidFill>
                <a:effectLst/>
                <a:uFillTx/>
                <a:latin typeface="Calibri"/>
              </a:rPr>
              <a:t>PDF report</a:t>
            </a:r>
            <a:endParaRPr lang="en-US" sz="1250" b="0" u="none" strike="noStrike">
              <a:solidFill>
                <a:srgbClr val="000000"/>
              </a:solidFill>
              <a:effectLst/>
              <a:uFillTx/>
              <a:latin typeface="Arial"/>
            </a:endParaRPr>
          </a:p>
          <a:p>
            <a:pPr defTabSz="457200">
              <a:lnSpc>
                <a:spcPct val="110000"/>
              </a:lnSpc>
            </a:pPr>
            <a:r>
              <a:rPr lang="en-US" sz="1050" b="0" u="none" strike="noStrike">
                <a:solidFill>
                  <a:srgbClr val="6B7280"/>
                </a:solidFill>
                <a:effectLst/>
                <a:uFillTx/>
                <a:latin typeface="Calibri"/>
              </a:rPr>
              <a:t>One-page assessment: applicant, credit report, reasoning, recommendations.</a:t>
            </a:r>
            <a:endParaRPr lang="en-US" sz="1050" b="0" u="none" strike="noStrike">
              <a:solidFill>
                <a:srgbClr val="000000"/>
              </a:solidFill>
              <a:effectLst/>
              <a:uFillTx/>
              <a:latin typeface="Arial"/>
            </a:endParaRPr>
          </a:p>
        </p:txBody>
      </p:sp>
      <p:sp>
        <p:nvSpPr>
          <p:cNvPr id="154" name="Rectangle 23"/>
          <p:cNvSpPr/>
          <p:nvPr/>
        </p:nvSpPr>
        <p:spPr>
          <a:xfrm>
            <a:off x="9025920" y="3273480"/>
            <a:ext cx="45360" cy="1352880"/>
          </a:xfrm>
          <a:prstGeom prst="rect">
            <a:avLst/>
          </a:prstGeom>
          <a:solidFill>
            <a:srgbClr val="7C3AED"/>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155" name="Rounded Rectangle 24"/>
          <p:cNvSpPr/>
          <p:nvPr/>
        </p:nvSpPr>
        <p:spPr>
          <a:xfrm>
            <a:off x="567000" y="4846320"/>
            <a:ext cx="2599560" cy="1352880"/>
          </a:xfrm>
          <a:prstGeom prst="roundRect">
            <a:avLst>
              <a:gd name="adj" fmla="val 5500"/>
            </a:avLst>
          </a:prstGeom>
          <a:solidFill>
            <a:srgbClr val="FFFFFF"/>
          </a:solidFill>
          <a:ln w="12700">
            <a:solidFill>
              <a:srgbClr val="E3E8F0"/>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182880" tIns="128160" rIns="146160" bIns="45000" anchor="ctr">
            <a:noAutofit/>
          </a:bodyPr>
          <a:p>
            <a:pPr defTabSz="457200">
              <a:lnSpc>
                <a:spcPct val="106000"/>
              </a:lnSpc>
              <a:spcAft>
                <a:spcPts val="300"/>
              </a:spcAft>
            </a:pPr>
            <a:r>
              <a:rPr lang="en-US" sz="1250" b="1" u="none" strike="noStrike">
                <a:solidFill>
                  <a:srgbClr val="0E1A33"/>
                </a:solidFill>
                <a:effectLst/>
                <a:uFillTx/>
                <a:latin typeface="Calibri"/>
              </a:rPr>
              <a:t>Policy evidence (RAG)</a:t>
            </a:r>
            <a:endParaRPr lang="en-US" sz="1250" b="0" u="none" strike="noStrike">
              <a:solidFill>
                <a:srgbClr val="000000"/>
              </a:solidFill>
              <a:effectLst/>
              <a:uFillTx/>
              <a:latin typeface="Arial"/>
            </a:endParaRPr>
          </a:p>
          <a:p>
            <a:pPr defTabSz="457200">
              <a:lnSpc>
                <a:spcPct val="110000"/>
              </a:lnSpc>
            </a:pPr>
            <a:r>
              <a:rPr lang="en-US" sz="1050" b="0" u="none" strike="noStrike">
                <a:solidFill>
                  <a:srgbClr val="6B7280"/>
                </a:solidFill>
                <a:effectLst/>
                <a:uFillTx/>
                <a:latin typeface="Calibri"/>
              </a:rPr>
              <a:t>Retrieved snippets attached to each decision; FAISS / Pinecone adapters ready.</a:t>
            </a:r>
            <a:endParaRPr lang="en-US" sz="1050" b="0" u="none" strike="noStrike">
              <a:solidFill>
                <a:srgbClr val="000000"/>
              </a:solidFill>
              <a:effectLst/>
              <a:uFillTx/>
              <a:latin typeface="Arial"/>
            </a:endParaRPr>
          </a:p>
        </p:txBody>
      </p:sp>
      <p:sp>
        <p:nvSpPr>
          <p:cNvPr id="156" name="Rectangle 25"/>
          <p:cNvSpPr/>
          <p:nvPr/>
        </p:nvSpPr>
        <p:spPr>
          <a:xfrm>
            <a:off x="567720" y="4846320"/>
            <a:ext cx="45360" cy="1352880"/>
          </a:xfrm>
          <a:prstGeom prst="rect">
            <a:avLst/>
          </a:prstGeom>
          <a:solidFill>
            <a:srgbClr val="06B6D4"/>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157" name="Rounded Rectangle 26"/>
          <p:cNvSpPr/>
          <p:nvPr/>
        </p:nvSpPr>
        <p:spPr>
          <a:xfrm>
            <a:off x="3386160" y="4846320"/>
            <a:ext cx="2599560" cy="1352880"/>
          </a:xfrm>
          <a:prstGeom prst="roundRect">
            <a:avLst>
              <a:gd name="adj" fmla="val 5500"/>
            </a:avLst>
          </a:prstGeom>
          <a:solidFill>
            <a:srgbClr val="FFFFFF"/>
          </a:solidFill>
          <a:ln w="12700">
            <a:solidFill>
              <a:srgbClr val="E3E8F0"/>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182880" tIns="128160" rIns="146160" bIns="45000" anchor="ctr">
            <a:noAutofit/>
          </a:bodyPr>
          <a:p>
            <a:pPr defTabSz="457200">
              <a:lnSpc>
                <a:spcPct val="106000"/>
              </a:lnSpc>
              <a:spcAft>
                <a:spcPts val="300"/>
              </a:spcAft>
            </a:pPr>
            <a:r>
              <a:rPr lang="en-US" sz="1250" b="1" u="none" strike="noStrike">
                <a:solidFill>
                  <a:srgbClr val="0E1A33"/>
                </a:solidFill>
                <a:effectLst/>
                <a:uFillTx/>
                <a:latin typeface="Calibri"/>
              </a:rPr>
              <a:t>Support chatbot</a:t>
            </a:r>
            <a:endParaRPr lang="en-US" sz="1250" b="0" u="none" strike="noStrike">
              <a:solidFill>
                <a:srgbClr val="000000"/>
              </a:solidFill>
              <a:effectLst/>
              <a:uFillTx/>
              <a:latin typeface="Arial"/>
            </a:endParaRPr>
          </a:p>
          <a:p>
            <a:pPr defTabSz="457200">
              <a:lnSpc>
                <a:spcPct val="110000"/>
              </a:lnSpc>
            </a:pPr>
            <a:r>
              <a:rPr lang="en-US" sz="1050" b="0" u="none" strike="noStrike">
                <a:solidFill>
                  <a:srgbClr val="6B7280"/>
                </a:solidFill>
                <a:effectLst/>
                <a:uFillTx/>
                <a:latin typeface="Calibri"/>
              </a:rPr>
              <a:t>Rules-first answers on criteria and on the applicant's own result.</a:t>
            </a:r>
            <a:endParaRPr lang="en-US" sz="1050" b="0" u="none" strike="noStrike">
              <a:solidFill>
                <a:srgbClr val="000000"/>
              </a:solidFill>
              <a:effectLst/>
              <a:uFillTx/>
              <a:latin typeface="Arial"/>
            </a:endParaRPr>
          </a:p>
        </p:txBody>
      </p:sp>
      <p:sp>
        <p:nvSpPr>
          <p:cNvPr id="158" name="Rectangle 27"/>
          <p:cNvSpPr/>
          <p:nvPr/>
        </p:nvSpPr>
        <p:spPr>
          <a:xfrm>
            <a:off x="3387240" y="4846320"/>
            <a:ext cx="45360" cy="1352880"/>
          </a:xfrm>
          <a:prstGeom prst="rect">
            <a:avLst/>
          </a:prstGeom>
          <a:solidFill>
            <a:srgbClr val="15A34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159" name="Rounded Rectangle 28"/>
          <p:cNvSpPr/>
          <p:nvPr/>
        </p:nvSpPr>
        <p:spPr>
          <a:xfrm>
            <a:off x="6205680" y="4846320"/>
            <a:ext cx="2599560" cy="1352880"/>
          </a:xfrm>
          <a:prstGeom prst="roundRect">
            <a:avLst>
              <a:gd name="adj" fmla="val 5500"/>
            </a:avLst>
          </a:prstGeom>
          <a:solidFill>
            <a:srgbClr val="FFFFFF"/>
          </a:solidFill>
          <a:ln w="12700">
            <a:solidFill>
              <a:srgbClr val="E3E8F0"/>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182880" tIns="128160" rIns="146160" bIns="45000" anchor="ctr">
            <a:noAutofit/>
          </a:bodyPr>
          <a:p>
            <a:pPr defTabSz="457200">
              <a:lnSpc>
                <a:spcPct val="106000"/>
              </a:lnSpc>
              <a:spcAft>
                <a:spcPts val="300"/>
              </a:spcAft>
            </a:pPr>
            <a:r>
              <a:rPr lang="en-US" sz="1250" b="1" u="none" strike="noStrike">
                <a:solidFill>
                  <a:srgbClr val="0E1A33"/>
                </a:solidFill>
                <a:effectLst/>
                <a:uFillTx/>
                <a:latin typeface="Calibri"/>
              </a:rPr>
              <a:t>REST API + OpenAPI</a:t>
            </a:r>
            <a:endParaRPr lang="en-US" sz="1250" b="0" u="none" strike="noStrike">
              <a:solidFill>
                <a:srgbClr val="000000"/>
              </a:solidFill>
              <a:effectLst/>
              <a:uFillTx/>
              <a:latin typeface="Arial"/>
            </a:endParaRPr>
          </a:p>
          <a:p>
            <a:pPr defTabSz="457200">
              <a:lnSpc>
                <a:spcPct val="110000"/>
              </a:lnSpc>
            </a:pPr>
            <a:r>
              <a:rPr lang="en-US" sz="1050" b="0" u="none" strike="noStrike">
                <a:solidFill>
                  <a:srgbClr val="6B7280"/>
                </a:solidFill>
                <a:effectLst/>
                <a:uFillTx/>
                <a:latin typeface="Calibri"/>
              </a:rPr>
              <a:t>/process, /chat, /chat/info documented and callable at /docs.</a:t>
            </a:r>
            <a:endParaRPr lang="en-US" sz="1050" b="0" u="none" strike="noStrike">
              <a:solidFill>
                <a:srgbClr val="000000"/>
              </a:solidFill>
              <a:effectLst/>
              <a:uFillTx/>
              <a:latin typeface="Arial"/>
            </a:endParaRPr>
          </a:p>
        </p:txBody>
      </p:sp>
      <p:sp>
        <p:nvSpPr>
          <p:cNvPr id="160" name="Rectangle 29"/>
          <p:cNvSpPr/>
          <p:nvPr/>
        </p:nvSpPr>
        <p:spPr>
          <a:xfrm>
            <a:off x="6206400" y="4846320"/>
            <a:ext cx="45360" cy="1352880"/>
          </a:xfrm>
          <a:prstGeom prst="rect">
            <a:avLst/>
          </a:prstGeom>
          <a:solidFill>
            <a:srgbClr val="D9770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161" name="Rounded Rectangle 30"/>
          <p:cNvSpPr/>
          <p:nvPr/>
        </p:nvSpPr>
        <p:spPr>
          <a:xfrm>
            <a:off x="9024840" y="4846320"/>
            <a:ext cx="2599560" cy="1352880"/>
          </a:xfrm>
          <a:prstGeom prst="roundRect">
            <a:avLst>
              <a:gd name="adj" fmla="val 5500"/>
            </a:avLst>
          </a:prstGeom>
          <a:solidFill>
            <a:srgbClr val="FFFFFF"/>
          </a:solidFill>
          <a:ln w="12700">
            <a:solidFill>
              <a:srgbClr val="E3E8F0"/>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182880" tIns="128160" rIns="146160" bIns="45000" anchor="ctr">
            <a:noAutofit/>
          </a:bodyPr>
          <a:p>
            <a:pPr defTabSz="457200">
              <a:lnSpc>
                <a:spcPct val="106000"/>
              </a:lnSpc>
              <a:spcAft>
                <a:spcPts val="300"/>
              </a:spcAft>
            </a:pPr>
            <a:r>
              <a:rPr lang="en-US" sz="1250" b="1" u="none" strike="noStrike">
                <a:solidFill>
                  <a:srgbClr val="0E1A33"/>
                </a:solidFill>
                <a:effectLst/>
                <a:uFillTx/>
                <a:latin typeface="Calibri"/>
              </a:rPr>
              <a:t>Audit &amp; test suite</a:t>
            </a:r>
            <a:endParaRPr lang="en-US" sz="1250" b="0" u="none" strike="noStrike">
              <a:solidFill>
                <a:srgbClr val="000000"/>
              </a:solidFill>
              <a:effectLst/>
              <a:uFillTx/>
              <a:latin typeface="Arial"/>
            </a:endParaRPr>
          </a:p>
          <a:p>
            <a:pPr defTabSz="457200">
              <a:lnSpc>
                <a:spcPct val="110000"/>
              </a:lnSpc>
            </a:pPr>
            <a:r>
              <a:rPr lang="en-US" sz="1050" b="0" u="none" strike="noStrike">
                <a:solidFill>
                  <a:srgbClr val="6B7280"/>
                </a:solidFill>
                <a:effectLst/>
                <a:uFillTx/>
                <a:latin typeface="Calibri"/>
              </a:rPr>
              <a:t>JSON audit line per request id; 43 passing unit tests.</a:t>
            </a:r>
            <a:endParaRPr lang="en-US" sz="1050" b="0" u="none" strike="noStrike">
              <a:solidFill>
                <a:srgbClr val="000000"/>
              </a:solidFill>
              <a:effectLst/>
              <a:uFillTx/>
              <a:latin typeface="Arial"/>
            </a:endParaRPr>
          </a:p>
        </p:txBody>
      </p:sp>
      <p:sp>
        <p:nvSpPr>
          <p:cNvPr id="162" name="Rectangle 31"/>
          <p:cNvSpPr/>
          <p:nvPr/>
        </p:nvSpPr>
        <p:spPr>
          <a:xfrm>
            <a:off x="9025920" y="4846320"/>
            <a:ext cx="45360" cy="1352880"/>
          </a:xfrm>
          <a:prstGeom prst="rect">
            <a:avLst/>
          </a:prstGeom>
          <a:solidFill>
            <a:srgbClr val="DC262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Tree>
  </p:cSld>
  <mc:AlternateContent>
    <mc:Choice Requires="p14">
      <p:transition spd="slow" p14:dur="2000"/>
    </mc:Choice>
    <mc:Fallback>
      <p:transition spd="slow"/>
    </mc:Fallback>
  </mc:AlternateContent>
</p:sld>
</file>

<file path=ppt/slides/slide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63" name="Rectangle 1"/>
          <p:cNvSpPr/>
          <p:nvPr/>
        </p:nvSpPr>
        <p:spPr>
          <a:xfrm>
            <a:off x="0" y="0"/>
            <a:ext cx="12191400" cy="6857640"/>
          </a:xfrm>
          <a:prstGeom prst="rect">
            <a:avLst/>
          </a:prstGeom>
          <a:solidFill>
            <a:srgbClr val="0E1A33"/>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164" name="Rectangle 2"/>
          <p:cNvSpPr/>
          <p:nvPr/>
        </p:nvSpPr>
        <p:spPr>
          <a:xfrm>
            <a:off x="0" y="0"/>
            <a:ext cx="200880" cy="6857640"/>
          </a:xfrm>
          <a:prstGeom prst="rect">
            <a:avLst/>
          </a:prstGeom>
          <a:gradFill rotWithShape="0">
            <a:gsLst>
              <a:gs pos="0">
                <a:srgbClr val="4F46E5"/>
              </a:gs>
              <a:gs pos="100000">
                <a:srgbClr val="7C3AED"/>
              </a:gs>
            </a:gsLst>
            <a:lin ang="16200000"/>
          </a:gra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165" name="TextBox 3"/>
          <p:cNvSpPr/>
          <p:nvPr/>
        </p:nvSpPr>
        <p:spPr>
          <a:xfrm>
            <a:off x="1371600" y="2148840"/>
            <a:ext cx="2742840" cy="1462680"/>
          </a:xfrm>
          <a:prstGeom prst="rect">
            <a:avLst/>
          </a:prstGeom>
          <a:noFill/>
          <a:ln w="0">
            <a:noFill/>
          </a:ln>
        </p:spPr>
        <p:style>
          <a:lnRef idx="0"/>
          <a:fillRef idx="0"/>
          <a:effectRef idx="0"/>
          <a:fontRef idx="minor"/>
        </p:style>
        <p:txBody>
          <a:bodyPr lIns="0" tIns="0" rIns="0" bIns="0" anchor="t">
            <a:spAutoFit/>
          </a:bodyPr>
          <a:p>
            <a:pPr defTabSz="457200">
              <a:lnSpc>
                <a:spcPct val="106000"/>
              </a:lnSpc>
            </a:pPr>
            <a:r>
              <a:rPr lang="en-US" sz="9600" b="1" u="none" strike="noStrike">
                <a:solidFill>
                  <a:srgbClr val="4F46E5"/>
                </a:solidFill>
                <a:effectLst/>
                <a:uFillTx/>
                <a:latin typeface="Calibri"/>
              </a:rPr>
              <a:t>02</a:t>
            </a:r>
            <a:endParaRPr lang="en-US" sz="9600" b="0" u="none" strike="noStrike">
              <a:solidFill>
                <a:srgbClr val="000000"/>
              </a:solidFill>
              <a:effectLst/>
              <a:uFillTx/>
              <a:latin typeface="Arial"/>
            </a:endParaRPr>
          </a:p>
        </p:txBody>
      </p:sp>
      <p:sp>
        <p:nvSpPr>
          <p:cNvPr id="166" name="TextBox 4"/>
          <p:cNvSpPr/>
          <p:nvPr/>
        </p:nvSpPr>
        <p:spPr>
          <a:xfrm>
            <a:off x="3108960" y="2331720"/>
            <a:ext cx="7680600" cy="914040"/>
          </a:xfrm>
          <a:prstGeom prst="rect">
            <a:avLst/>
          </a:prstGeom>
          <a:noFill/>
          <a:ln w="0">
            <a:noFill/>
          </a:ln>
        </p:spPr>
        <p:style>
          <a:lnRef idx="0"/>
          <a:fillRef idx="0"/>
          <a:effectRef idx="0"/>
          <a:fontRef idx="minor"/>
        </p:style>
        <p:txBody>
          <a:bodyPr lIns="0" tIns="0" rIns="0" bIns="0" anchor="t">
            <a:spAutoFit/>
          </a:bodyPr>
          <a:p>
            <a:pPr defTabSz="457200">
              <a:lnSpc>
                <a:spcPct val="106000"/>
              </a:lnSpc>
              <a:spcAft>
                <a:spcPts val="601"/>
              </a:spcAft>
            </a:pPr>
            <a:r>
              <a:rPr lang="en-US" sz="3600" b="1" u="none" strike="noStrike">
                <a:solidFill>
                  <a:srgbClr val="FFFFFF"/>
                </a:solidFill>
                <a:effectLst/>
                <a:uFillTx/>
                <a:latin typeface="Calibri"/>
              </a:rPr>
              <a:t>Architecture &amp; Design</a:t>
            </a:r>
            <a:endParaRPr lang="en-US" sz="3600" b="0" u="none" strike="noStrike">
              <a:solidFill>
                <a:srgbClr val="000000"/>
              </a:solidFill>
              <a:effectLst/>
              <a:uFillTx/>
              <a:latin typeface="Arial"/>
            </a:endParaRPr>
          </a:p>
          <a:p>
            <a:pPr defTabSz="457200">
              <a:lnSpc>
                <a:spcPct val="106000"/>
              </a:lnSpc>
            </a:pPr>
            <a:r>
              <a:rPr lang="en-US" sz="1400" b="0" u="none" strike="noStrike">
                <a:solidFill>
                  <a:srgbClr val="B9C2D6"/>
                </a:solidFill>
                <a:effectLst/>
                <a:uFillTx/>
                <a:latin typeface="Calibri"/>
              </a:rPr>
              <a:t>The request path, the agents, the rules and the assistant's layers.</a:t>
            </a:r>
            <a:endParaRPr lang="en-US" sz="1400" b="0" u="none" strike="noStrike">
              <a:solidFill>
                <a:srgbClr val="000000"/>
              </a:solidFill>
              <a:effectLst/>
              <a:uFillTx/>
              <a:latin typeface="Arial"/>
            </a:endParaRPr>
          </a:p>
        </p:txBody>
      </p:sp>
      <p:sp>
        <p:nvSpPr>
          <p:cNvPr id="167" name="TextBox 5"/>
          <p:cNvSpPr/>
          <p:nvPr/>
        </p:nvSpPr>
        <p:spPr>
          <a:xfrm>
            <a:off x="3108960" y="3794760"/>
            <a:ext cx="7680600" cy="186120"/>
          </a:xfrm>
          <a:prstGeom prst="rect">
            <a:avLst/>
          </a:prstGeom>
          <a:noFill/>
          <a:ln w="0">
            <a:noFill/>
          </a:ln>
        </p:spPr>
        <p:style>
          <a:lnRef idx="0"/>
          <a:fillRef idx="0"/>
          <a:effectRef idx="0"/>
          <a:fontRef idx="minor"/>
        </p:style>
        <p:txBody>
          <a:bodyPr lIns="0" tIns="0" rIns="0" bIns="0" anchor="t">
            <a:spAutoFit/>
          </a:bodyPr>
          <a:p>
            <a:pPr defTabSz="457200">
              <a:lnSpc>
                <a:spcPct val="106000"/>
              </a:lnSpc>
            </a:pPr>
            <a:endParaRPr lang="en-US" sz="1800" b="0" u="none" strike="noStrike">
              <a:solidFill>
                <a:srgbClr val="000000"/>
              </a:solidFill>
              <a:effectLst/>
              <a:uFillTx/>
              <a:latin typeface="Arial"/>
            </a:endParaRPr>
          </a:p>
        </p:txBody>
      </p:sp>
      <p:sp>
        <p:nvSpPr>
          <p:cNvPr id="168" name="TextBox 6"/>
          <p:cNvSpPr/>
          <p:nvPr/>
        </p:nvSpPr>
        <p:spPr>
          <a:xfrm>
            <a:off x="567000" y="6382440"/>
            <a:ext cx="7740000" cy="273960"/>
          </a:xfrm>
          <a:prstGeom prst="rect">
            <a:avLst/>
          </a:prstGeom>
          <a:noFill/>
          <a:ln w="0">
            <a:noFill/>
          </a:ln>
        </p:spPr>
        <p:style>
          <a:lnRef idx="0"/>
          <a:fillRef idx="0"/>
          <a:effectRef idx="0"/>
          <a:fontRef idx="minor"/>
        </p:style>
        <p:txBody>
          <a:bodyPr lIns="0" tIns="0" rIns="0" bIns="0" anchor="t">
            <a:spAutoFit/>
          </a:bodyPr>
          <a:p>
            <a:pPr defTabSz="457200">
              <a:lnSpc>
                <a:spcPct val="106000"/>
              </a:lnSpc>
            </a:pPr>
            <a:r>
              <a:rPr lang="en-US" sz="900" b="0" u="none" strike="noStrike">
                <a:solidFill>
                  <a:srgbClr val="9AA3B2"/>
                </a:solidFill>
                <a:effectLst/>
                <a:uFillTx/>
                <a:latin typeface="Calibri"/>
              </a:rPr>
              <a:t>Loan Eligibility AI  ·  Capstone Demonstration</a:t>
            </a:r>
            <a:endParaRPr lang="en-US" sz="900" b="0" u="none" strike="noStrike">
              <a:solidFill>
                <a:srgbClr val="000000"/>
              </a:solidFill>
              <a:effectLst/>
              <a:uFillTx/>
              <a:latin typeface="Arial"/>
            </a:endParaRPr>
          </a:p>
        </p:txBody>
      </p:sp>
      <p:sp>
        <p:nvSpPr>
          <p:cNvPr id="169" name="TextBox 7"/>
          <p:cNvSpPr/>
          <p:nvPr/>
        </p:nvSpPr>
        <p:spPr>
          <a:xfrm>
            <a:off x="10527480" y="6382440"/>
            <a:ext cx="1096920" cy="273960"/>
          </a:xfrm>
          <a:prstGeom prst="rect">
            <a:avLst/>
          </a:prstGeom>
          <a:noFill/>
          <a:ln w="0">
            <a:noFill/>
          </a:ln>
        </p:spPr>
        <p:style>
          <a:lnRef idx="0"/>
          <a:fillRef idx="0"/>
          <a:effectRef idx="0"/>
          <a:fontRef idx="minor"/>
        </p:style>
        <p:txBody>
          <a:bodyPr lIns="0" tIns="0" rIns="0" bIns="0" anchor="t">
            <a:spAutoFit/>
          </a:bodyPr>
          <a:p>
            <a:pPr algn="r" defTabSz="457200">
              <a:lnSpc>
                <a:spcPct val="106000"/>
              </a:lnSpc>
            </a:pPr>
            <a:r>
              <a:rPr lang="en-US" sz="900" b="0" u="none" strike="noStrike">
                <a:solidFill>
                  <a:srgbClr val="9AA3B2"/>
                </a:solidFill>
                <a:effectLst/>
                <a:uFillTx/>
                <a:latin typeface="Calibri"/>
              </a:rPr>
              <a:t>07</a:t>
            </a:r>
            <a:endParaRPr lang="en-US" sz="9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70" name="Rectangle 1"/>
          <p:cNvSpPr/>
          <p:nvPr/>
        </p:nvSpPr>
        <p:spPr>
          <a:xfrm>
            <a:off x="0" y="0"/>
            <a:ext cx="12191400" cy="6857640"/>
          </a:xfrm>
          <a:prstGeom prst="rect">
            <a:avLst/>
          </a:prstGeom>
          <a:solidFill>
            <a:srgbClr val="FFFFFF"/>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171" name="Rectangle 2"/>
          <p:cNvSpPr/>
          <p:nvPr/>
        </p:nvSpPr>
        <p:spPr>
          <a:xfrm>
            <a:off x="0" y="0"/>
            <a:ext cx="12191400" cy="77400"/>
          </a:xfrm>
          <a:prstGeom prst="rect">
            <a:avLst/>
          </a:prstGeom>
          <a:gradFill rotWithShape="0">
            <a:gsLst>
              <a:gs pos="0">
                <a:srgbClr val="4F46E5"/>
              </a:gs>
              <a:gs pos="100000">
                <a:srgbClr val="7C3AED"/>
              </a:gs>
            </a:gsLst>
            <a:lin ang="0"/>
          </a:gra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32760" rIns="90000" bIns="32760" anchor="ctr">
            <a:noAutofit/>
          </a:bodyPr>
          <a:p>
            <a:endParaRPr lang="en-US" sz="1800" b="0" u="none" strike="noStrike">
              <a:solidFill>
                <a:schemeClr val="lt1"/>
              </a:solidFill>
              <a:effectLst/>
              <a:uFillTx/>
              <a:latin typeface="Calibri"/>
            </a:endParaRPr>
          </a:p>
        </p:txBody>
      </p:sp>
      <p:sp>
        <p:nvSpPr>
          <p:cNvPr id="172" name="TextBox 3"/>
          <p:cNvSpPr/>
          <p:nvPr/>
        </p:nvSpPr>
        <p:spPr>
          <a:xfrm>
            <a:off x="567000" y="384120"/>
            <a:ext cx="11057400" cy="237240"/>
          </a:xfrm>
          <a:prstGeom prst="rect">
            <a:avLst/>
          </a:prstGeom>
          <a:noFill/>
          <a:ln w="0">
            <a:noFill/>
          </a:ln>
        </p:spPr>
        <p:style>
          <a:lnRef idx="0"/>
          <a:fillRef idx="0"/>
          <a:effectRef idx="0"/>
          <a:fontRef idx="minor"/>
        </p:style>
        <p:txBody>
          <a:bodyPr lIns="0" tIns="0" rIns="0" bIns="0" anchor="t">
            <a:spAutoFit/>
          </a:bodyPr>
          <a:p>
            <a:pPr defTabSz="457200">
              <a:lnSpc>
                <a:spcPct val="106000"/>
              </a:lnSpc>
            </a:pPr>
            <a:r>
              <a:rPr lang="en-US" sz="950" b="1" u="none" strike="noStrike">
                <a:solidFill>
                  <a:srgbClr val="4F46E5"/>
                </a:solidFill>
                <a:effectLst/>
                <a:uFillTx/>
                <a:latin typeface="Calibri"/>
              </a:rPr>
              <a:t>PART 02  ·  ARCHITECTURE</a:t>
            </a:r>
            <a:endParaRPr lang="en-US" sz="950" b="0" u="none" strike="noStrike">
              <a:solidFill>
                <a:srgbClr val="000000"/>
              </a:solidFill>
              <a:effectLst/>
              <a:uFillTx/>
              <a:latin typeface="Arial"/>
            </a:endParaRPr>
          </a:p>
        </p:txBody>
      </p:sp>
      <p:sp>
        <p:nvSpPr>
          <p:cNvPr id="173" name="TextBox 4"/>
          <p:cNvSpPr/>
          <p:nvPr/>
        </p:nvSpPr>
        <p:spPr>
          <a:xfrm>
            <a:off x="567000" y="658440"/>
            <a:ext cx="11057400" cy="502560"/>
          </a:xfrm>
          <a:prstGeom prst="rect">
            <a:avLst/>
          </a:prstGeom>
          <a:noFill/>
          <a:ln w="0">
            <a:noFill/>
          </a:ln>
        </p:spPr>
        <p:style>
          <a:lnRef idx="0"/>
          <a:fillRef idx="0"/>
          <a:effectRef idx="0"/>
          <a:fontRef idx="minor"/>
        </p:style>
        <p:txBody>
          <a:bodyPr lIns="0" tIns="0" rIns="0" bIns="0" anchor="t">
            <a:spAutoFit/>
          </a:bodyPr>
          <a:p>
            <a:pPr defTabSz="457200">
              <a:lnSpc>
                <a:spcPct val="106000"/>
              </a:lnSpc>
            </a:pPr>
            <a:r>
              <a:rPr lang="en-US" sz="2700" b="1" u="none" strike="noStrike">
                <a:solidFill>
                  <a:srgbClr val="0E1A33"/>
                </a:solidFill>
                <a:effectLst/>
                <a:uFillTx/>
                <a:latin typeface="Calibri"/>
              </a:rPr>
              <a:t>How a request travels through the system</a:t>
            </a:r>
            <a:endParaRPr lang="en-US" sz="2700" b="0" u="none" strike="noStrike">
              <a:solidFill>
                <a:srgbClr val="000000"/>
              </a:solidFill>
              <a:effectLst/>
              <a:uFillTx/>
              <a:latin typeface="Arial"/>
            </a:endParaRPr>
          </a:p>
        </p:txBody>
      </p:sp>
      <p:sp>
        <p:nvSpPr>
          <p:cNvPr id="174" name="TextBox 5"/>
          <p:cNvSpPr/>
          <p:nvPr/>
        </p:nvSpPr>
        <p:spPr>
          <a:xfrm>
            <a:off x="567000" y="1225440"/>
            <a:ext cx="9509400" cy="365400"/>
          </a:xfrm>
          <a:prstGeom prst="rect">
            <a:avLst/>
          </a:prstGeom>
          <a:noFill/>
          <a:ln w="0">
            <a:noFill/>
          </a:ln>
        </p:spPr>
        <p:style>
          <a:lnRef idx="0"/>
          <a:fillRef idx="0"/>
          <a:effectRef idx="0"/>
          <a:fontRef idx="minor"/>
        </p:style>
        <p:txBody>
          <a:bodyPr lIns="0" tIns="0" rIns="0" bIns="0" anchor="t">
            <a:spAutoFit/>
          </a:bodyPr>
          <a:p>
            <a:pPr defTabSz="457200">
              <a:lnSpc>
                <a:spcPct val="106000"/>
              </a:lnSpc>
            </a:pPr>
            <a:r>
              <a:rPr lang="en-US" sz="1250" b="0" u="none" strike="noStrike">
                <a:solidFill>
                  <a:srgbClr val="6B7280"/>
                </a:solidFill>
                <a:effectLst/>
                <a:uFillTx/>
                <a:latin typeface="Calibri"/>
              </a:rPr>
              <a:t>Two processes, four agents, one audit log. The UI never contains business rules.</a:t>
            </a:r>
            <a:endParaRPr lang="en-US" sz="1250" b="0" u="none" strike="noStrike">
              <a:solidFill>
                <a:srgbClr val="000000"/>
              </a:solidFill>
              <a:effectLst/>
              <a:uFillTx/>
              <a:latin typeface="Arial"/>
            </a:endParaRPr>
          </a:p>
        </p:txBody>
      </p:sp>
      <p:sp>
        <p:nvSpPr>
          <p:cNvPr id="175" name="TextBox 6"/>
          <p:cNvSpPr/>
          <p:nvPr/>
        </p:nvSpPr>
        <p:spPr>
          <a:xfrm>
            <a:off x="567000" y="6382440"/>
            <a:ext cx="7740000" cy="273960"/>
          </a:xfrm>
          <a:prstGeom prst="rect">
            <a:avLst/>
          </a:prstGeom>
          <a:noFill/>
          <a:ln w="0">
            <a:noFill/>
          </a:ln>
        </p:spPr>
        <p:style>
          <a:lnRef idx="0"/>
          <a:fillRef idx="0"/>
          <a:effectRef idx="0"/>
          <a:fontRef idx="minor"/>
        </p:style>
        <p:txBody>
          <a:bodyPr lIns="0" tIns="0" rIns="0" bIns="0" anchor="t">
            <a:spAutoFit/>
          </a:bodyPr>
          <a:p>
            <a:pPr defTabSz="457200">
              <a:lnSpc>
                <a:spcPct val="106000"/>
              </a:lnSpc>
            </a:pPr>
            <a:r>
              <a:rPr lang="en-US" sz="900" b="0" u="none" strike="noStrike">
                <a:solidFill>
                  <a:srgbClr val="6B7280"/>
                </a:solidFill>
                <a:effectLst/>
                <a:uFillTx/>
                <a:latin typeface="Calibri"/>
              </a:rPr>
              <a:t>Loan Eligibility AI  ·  Capstone Demonstration</a:t>
            </a:r>
            <a:endParaRPr lang="en-US" sz="900" b="0" u="none" strike="noStrike">
              <a:solidFill>
                <a:srgbClr val="000000"/>
              </a:solidFill>
              <a:effectLst/>
              <a:uFillTx/>
              <a:latin typeface="Arial"/>
            </a:endParaRPr>
          </a:p>
        </p:txBody>
      </p:sp>
      <p:sp>
        <p:nvSpPr>
          <p:cNvPr id="176" name="TextBox 7"/>
          <p:cNvSpPr/>
          <p:nvPr/>
        </p:nvSpPr>
        <p:spPr>
          <a:xfrm>
            <a:off x="10527480" y="6382440"/>
            <a:ext cx="1096920" cy="273960"/>
          </a:xfrm>
          <a:prstGeom prst="rect">
            <a:avLst/>
          </a:prstGeom>
          <a:noFill/>
          <a:ln w="0">
            <a:noFill/>
          </a:ln>
        </p:spPr>
        <p:style>
          <a:lnRef idx="0"/>
          <a:fillRef idx="0"/>
          <a:effectRef idx="0"/>
          <a:fontRef idx="minor"/>
        </p:style>
        <p:txBody>
          <a:bodyPr lIns="0" tIns="0" rIns="0" bIns="0" anchor="t">
            <a:spAutoFit/>
          </a:bodyPr>
          <a:p>
            <a:pPr algn="r" defTabSz="457200">
              <a:lnSpc>
                <a:spcPct val="106000"/>
              </a:lnSpc>
            </a:pPr>
            <a:r>
              <a:rPr lang="en-US" sz="900" b="0" u="none" strike="noStrike">
                <a:solidFill>
                  <a:srgbClr val="6B7280"/>
                </a:solidFill>
                <a:effectLst/>
                <a:uFillTx/>
                <a:latin typeface="Calibri"/>
              </a:rPr>
              <a:t>08</a:t>
            </a:r>
            <a:endParaRPr lang="en-US" sz="900" b="0" u="none" strike="noStrike">
              <a:solidFill>
                <a:srgbClr val="000000"/>
              </a:solidFill>
              <a:effectLst/>
              <a:uFillTx/>
              <a:latin typeface="Arial"/>
            </a:endParaRPr>
          </a:p>
        </p:txBody>
      </p:sp>
      <p:sp>
        <p:nvSpPr>
          <p:cNvPr id="177" name="Rounded Rectangle 8"/>
          <p:cNvSpPr/>
          <p:nvPr/>
        </p:nvSpPr>
        <p:spPr>
          <a:xfrm>
            <a:off x="567000" y="1700640"/>
            <a:ext cx="2212560" cy="1078560"/>
          </a:xfrm>
          <a:prstGeom prst="roundRect">
            <a:avLst>
              <a:gd name="adj" fmla="val 5500"/>
            </a:avLst>
          </a:prstGeom>
          <a:solidFill>
            <a:srgbClr val="FFFFFF"/>
          </a:solidFill>
          <a:ln w="12700">
            <a:solidFill>
              <a:srgbClr val="E3E8F0"/>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164520" tIns="45000" rIns="109800" bIns="45000" anchor="ctr">
            <a:noAutofit/>
          </a:bodyPr>
          <a:p>
            <a:pPr defTabSz="457200">
              <a:lnSpc>
                <a:spcPct val="106000"/>
              </a:lnSpc>
              <a:spcAft>
                <a:spcPts val="201"/>
              </a:spcAft>
            </a:pPr>
            <a:r>
              <a:rPr lang="en-US" sz="1200" b="1" u="none" strike="noStrike">
                <a:solidFill>
                  <a:srgbClr val="0E1A33"/>
                </a:solidFill>
                <a:effectLst/>
                <a:uFillTx/>
                <a:latin typeface="Calibri"/>
              </a:rPr>
              <a:t>Streamlit UI</a:t>
            </a:r>
            <a:endParaRPr lang="en-US" sz="1200" b="0" u="none" strike="noStrike">
              <a:solidFill>
                <a:srgbClr val="000000"/>
              </a:solidFill>
              <a:effectLst/>
              <a:uFillTx/>
              <a:latin typeface="Arial"/>
            </a:endParaRPr>
          </a:p>
          <a:p>
            <a:pPr defTabSz="457200">
              <a:lnSpc>
                <a:spcPct val="105000"/>
              </a:lnSpc>
              <a:spcAft>
                <a:spcPts val="99"/>
              </a:spcAft>
            </a:pPr>
            <a:r>
              <a:rPr lang="en-US" sz="980" b="0" u="none" strike="noStrike">
                <a:solidFill>
                  <a:srgbClr val="6B7280"/>
                </a:solidFill>
                <a:effectLst/>
                <a:uFillTx/>
                <a:latin typeface="Calibri"/>
              </a:rPr>
              <a:t>ui/app.py  ·  :8501</a:t>
            </a:r>
            <a:endParaRPr lang="en-US" sz="980" b="0" u="none" strike="noStrike">
              <a:solidFill>
                <a:srgbClr val="000000"/>
              </a:solidFill>
              <a:effectLst/>
              <a:uFillTx/>
              <a:latin typeface="Arial"/>
            </a:endParaRPr>
          </a:p>
          <a:p>
            <a:pPr defTabSz="457200">
              <a:lnSpc>
                <a:spcPct val="105000"/>
              </a:lnSpc>
              <a:spcAft>
                <a:spcPts val="99"/>
              </a:spcAft>
            </a:pPr>
            <a:r>
              <a:rPr lang="en-US" sz="980" b="0" u="none" strike="noStrike">
                <a:solidFill>
                  <a:srgbClr val="6B7280"/>
                </a:solidFill>
                <a:effectLst/>
                <a:uFillTx/>
                <a:latin typeface="Calibri"/>
              </a:rPr>
              <a:t>Form, results, PDF, chat panel</a:t>
            </a:r>
            <a:endParaRPr lang="en-US" sz="980" b="0" u="none" strike="noStrike">
              <a:solidFill>
                <a:srgbClr val="000000"/>
              </a:solidFill>
              <a:effectLst/>
              <a:uFillTx/>
              <a:latin typeface="Arial"/>
            </a:endParaRPr>
          </a:p>
        </p:txBody>
      </p:sp>
      <p:sp>
        <p:nvSpPr>
          <p:cNvPr id="178" name="Rectangle 9"/>
          <p:cNvSpPr/>
          <p:nvPr/>
        </p:nvSpPr>
        <p:spPr>
          <a:xfrm>
            <a:off x="567720" y="1700640"/>
            <a:ext cx="45360" cy="1078560"/>
          </a:xfrm>
          <a:prstGeom prst="rect">
            <a:avLst/>
          </a:prstGeom>
          <a:solidFill>
            <a:srgbClr val="4F46E5"/>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179" name="Right Arrow 10"/>
          <p:cNvSpPr/>
          <p:nvPr/>
        </p:nvSpPr>
        <p:spPr>
          <a:xfrm>
            <a:off x="2853000" y="2167200"/>
            <a:ext cx="237240" cy="145800"/>
          </a:xfrm>
          <a:prstGeom prst="rightArrow">
            <a:avLst>
              <a:gd name="adj1" fmla="val 50000"/>
              <a:gd name="adj2" fmla="val 50000"/>
            </a:avLst>
          </a:prstGeom>
          <a:solidFill>
            <a:srgbClr val="9AA3B2"/>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28080" rIns="90000" bIns="28080" anchor="ctr">
            <a:noAutofit/>
          </a:bodyPr>
          <a:p>
            <a:endParaRPr lang="en-US" sz="1800" b="0" u="none" strike="noStrike">
              <a:solidFill>
                <a:schemeClr val="lt1"/>
              </a:solidFill>
              <a:effectLst/>
              <a:uFillTx/>
              <a:latin typeface="Calibri"/>
            </a:endParaRPr>
          </a:p>
        </p:txBody>
      </p:sp>
      <p:sp>
        <p:nvSpPr>
          <p:cNvPr id="180" name="Rounded Rectangle 11"/>
          <p:cNvSpPr/>
          <p:nvPr/>
        </p:nvSpPr>
        <p:spPr>
          <a:xfrm>
            <a:off x="3163680" y="1700640"/>
            <a:ext cx="2212560" cy="1078560"/>
          </a:xfrm>
          <a:prstGeom prst="roundRect">
            <a:avLst>
              <a:gd name="adj" fmla="val 5500"/>
            </a:avLst>
          </a:prstGeom>
          <a:solidFill>
            <a:srgbClr val="FFFFFF"/>
          </a:solidFill>
          <a:ln w="12700">
            <a:solidFill>
              <a:srgbClr val="E3E8F0"/>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164520" tIns="45000" rIns="109800" bIns="45000" anchor="ctr">
            <a:noAutofit/>
          </a:bodyPr>
          <a:p>
            <a:pPr defTabSz="457200">
              <a:lnSpc>
                <a:spcPct val="106000"/>
              </a:lnSpc>
              <a:spcAft>
                <a:spcPts val="201"/>
              </a:spcAft>
            </a:pPr>
            <a:r>
              <a:rPr lang="en-US" sz="1200" b="1" u="none" strike="noStrike">
                <a:solidFill>
                  <a:srgbClr val="0E1A33"/>
                </a:solidFill>
                <a:effectLst/>
                <a:uFillTx/>
                <a:latin typeface="Calibri"/>
              </a:rPr>
              <a:t>FastAPI service</a:t>
            </a:r>
            <a:endParaRPr lang="en-US" sz="1200" b="0" u="none" strike="noStrike">
              <a:solidFill>
                <a:srgbClr val="000000"/>
              </a:solidFill>
              <a:effectLst/>
              <a:uFillTx/>
              <a:latin typeface="Arial"/>
            </a:endParaRPr>
          </a:p>
          <a:p>
            <a:pPr defTabSz="457200">
              <a:lnSpc>
                <a:spcPct val="105000"/>
              </a:lnSpc>
              <a:spcAft>
                <a:spcPts val="99"/>
              </a:spcAft>
            </a:pPr>
            <a:r>
              <a:rPr lang="en-US" sz="980" b="0" u="none" strike="noStrike">
                <a:solidFill>
                  <a:srgbClr val="6B7280"/>
                </a:solidFill>
                <a:effectLst/>
                <a:uFillTx/>
                <a:latin typeface="Calibri"/>
              </a:rPr>
              <a:t>service/coordinator_service.py</a:t>
            </a:r>
            <a:endParaRPr lang="en-US" sz="980" b="0" u="none" strike="noStrike">
              <a:solidFill>
                <a:srgbClr val="000000"/>
              </a:solidFill>
              <a:effectLst/>
              <a:uFillTx/>
              <a:latin typeface="Arial"/>
            </a:endParaRPr>
          </a:p>
          <a:p>
            <a:pPr defTabSz="457200">
              <a:lnSpc>
                <a:spcPct val="105000"/>
              </a:lnSpc>
              <a:spcAft>
                <a:spcPts val="99"/>
              </a:spcAft>
            </a:pPr>
            <a:r>
              <a:rPr lang="en-US" sz="980" b="0" u="none" strike="noStrike">
                <a:solidFill>
                  <a:srgbClr val="6B7280"/>
                </a:solidFill>
                <a:effectLst/>
                <a:uFillTx/>
                <a:latin typeface="Calibri"/>
              </a:rPr>
              <a:t>:8000  ·  request id + CORS</a:t>
            </a:r>
            <a:endParaRPr lang="en-US" sz="980" b="0" u="none" strike="noStrike">
              <a:solidFill>
                <a:srgbClr val="000000"/>
              </a:solidFill>
              <a:effectLst/>
              <a:uFillTx/>
              <a:latin typeface="Arial"/>
            </a:endParaRPr>
          </a:p>
        </p:txBody>
      </p:sp>
      <p:sp>
        <p:nvSpPr>
          <p:cNvPr id="181" name="Rectangle 12"/>
          <p:cNvSpPr/>
          <p:nvPr/>
        </p:nvSpPr>
        <p:spPr>
          <a:xfrm>
            <a:off x="3164760" y="1700640"/>
            <a:ext cx="45360" cy="1078560"/>
          </a:xfrm>
          <a:prstGeom prst="rect">
            <a:avLst/>
          </a:prstGeom>
          <a:solidFill>
            <a:srgbClr val="7C3AED"/>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182" name="Right Arrow 13"/>
          <p:cNvSpPr/>
          <p:nvPr/>
        </p:nvSpPr>
        <p:spPr>
          <a:xfrm>
            <a:off x="5449680" y="2167200"/>
            <a:ext cx="237240" cy="145800"/>
          </a:xfrm>
          <a:prstGeom prst="rightArrow">
            <a:avLst>
              <a:gd name="adj1" fmla="val 50000"/>
              <a:gd name="adj2" fmla="val 50000"/>
            </a:avLst>
          </a:prstGeom>
          <a:solidFill>
            <a:srgbClr val="9AA3B2"/>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28080" rIns="90000" bIns="28080" anchor="ctr">
            <a:noAutofit/>
          </a:bodyPr>
          <a:p>
            <a:endParaRPr lang="en-US" sz="1800" b="0" u="none" strike="noStrike">
              <a:solidFill>
                <a:schemeClr val="lt1"/>
              </a:solidFill>
              <a:effectLst/>
              <a:uFillTx/>
              <a:latin typeface="Calibri"/>
            </a:endParaRPr>
          </a:p>
        </p:txBody>
      </p:sp>
      <p:sp>
        <p:nvSpPr>
          <p:cNvPr id="183" name="Rounded Rectangle 14"/>
          <p:cNvSpPr/>
          <p:nvPr/>
        </p:nvSpPr>
        <p:spPr>
          <a:xfrm>
            <a:off x="5760720" y="1700640"/>
            <a:ext cx="2212560" cy="1078560"/>
          </a:xfrm>
          <a:prstGeom prst="roundRect">
            <a:avLst>
              <a:gd name="adj" fmla="val 5500"/>
            </a:avLst>
          </a:prstGeom>
          <a:solidFill>
            <a:srgbClr val="FFFFFF"/>
          </a:solidFill>
          <a:ln w="12700">
            <a:solidFill>
              <a:srgbClr val="E3E8F0"/>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164520" tIns="45000" rIns="109800" bIns="45000" anchor="ctr">
            <a:noAutofit/>
          </a:bodyPr>
          <a:p>
            <a:pPr defTabSz="457200">
              <a:lnSpc>
                <a:spcPct val="106000"/>
              </a:lnSpc>
              <a:spcAft>
                <a:spcPts val="201"/>
              </a:spcAft>
            </a:pPr>
            <a:r>
              <a:rPr lang="en-US" sz="1200" b="1" u="none" strike="noStrike">
                <a:solidFill>
                  <a:srgbClr val="0E1A33"/>
                </a:solidFill>
                <a:effectLst/>
                <a:uFillTx/>
                <a:latin typeface="Calibri"/>
              </a:rPr>
              <a:t>Coordinator agent</a:t>
            </a:r>
            <a:endParaRPr lang="en-US" sz="1200" b="0" u="none" strike="noStrike">
              <a:solidFill>
                <a:srgbClr val="000000"/>
              </a:solidFill>
              <a:effectLst/>
              <a:uFillTx/>
              <a:latin typeface="Arial"/>
            </a:endParaRPr>
          </a:p>
          <a:p>
            <a:pPr defTabSz="457200">
              <a:lnSpc>
                <a:spcPct val="105000"/>
              </a:lnSpc>
              <a:spcAft>
                <a:spcPts val="99"/>
              </a:spcAft>
            </a:pPr>
            <a:r>
              <a:rPr lang="en-US" sz="980" b="0" u="none" strike="noStrike">
                <a:solidFill>
                  <a:srgbClr val="6B7280"/>
                </a:solidFill>
                <a:effectLst/>
                <a:uFillTx/>
                <a:latin typeface="Calibri"/>
              </a:rPr>
              <a:t>agents/coordinator.py</a:t>
            </a:r>
            <a:endParaRPr lang="en-US" sz="980" b="0" u="none" strike="noStrike">
              <a:solidFill>
                <a:srgbClr val="000000"/>
              </a:solidFill>
              <a:effectLst/>
              <a:uFillTx/>
              <a:latin typeface="Arial"/>
            </a:endParaRPr>
          </a:p>
          <a:p>
            <a:pPr defTabSz="457200">
              <a:lnSpc>
                <a:spcPct val="105000"/>
              </a:lnSpc>
              <a:spcAft>
                <a:spcPts val="99"/>
              </a:spcAft>
            </a:pPr>
            <a:r>
              <a:rPr lang="en-US" sz="980" b="0" u="none" strike="noStrike">
                <a:solidFill>
                  <a:srgbClr val="6B7280"/>
                </a:solidFill>
                <a:effectLst/>
                <a:uFillTx/>
                <a:latin typeface="Calibri"/>
              </a:rPr>
              <a:t>Validate, delegate, compose</a:t>
            </a:r>
            <a:endParaRPr lang="en-US" sz="980" b="0" u="none" strike="noStrike">
              <a:solidFill>
                <a:srgbClr val="000000"/>
              </a:solidFill>
              <a:effectLst/>
              <a:uFillTx/>
              <a:latin typeface="Arial"/>
            </a:endParaRPr>
          </a:p>
        </p:txBody>
      </p:sp>
      <p:sp>
        <p:nvSpPr>
          <p:cNvPr id="184" name="Rectangle 15"/>
          <p:cNvSpPr/>
          <p:nvPr/>
        </p:nvSpPr>
        <p:spPr>
          <a:xfrm>
            <a:off x="5761800" y="1700640"/>
            <a:ext cx="45360" cy="1078560"/>
          </a:xfrm>
          <a:prstGeom prst="rect">
            <a:avLst/>
          </a:prstGeom>
          <a:solidFill>
            <a:srgbClr val="06B6D4"/>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185" name="Right Arrow 16"/>
          <p:cNvSpPr/>
          <p:nvPr/>
        </p:nvSpPr>
        <p:spPr>
          <a:xfrm>
            <a:off x="8046720" y="2167200"/>
            <a:ext cx="237240" cy="145800"/>
          </a:xfrm>
          <a:prstGeom prst="rightArrow">
            <a:avLst>
              <a:gd name="adj1" fmla="val 50000"/>
              <a:gd name="adj2" fmla="val 50000"/>
            </a:avLst>
          </a:prstGeom>
          <a:solidFill>
            <a:srgbClr val="9AA3B2"/>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28080" rIns="90000" bIns="28080" anchor="ctr">
            <a:noAutofit/>
          </a:bodyPr>
          <a:p>
            <a:endParaRPr lang="en-US" sz="1800" b="0" u="none" strike="noStrike">
              <a:solidFill>
                <a:schemeClr val="lt1"/>
              </a:solidFill>
              <a:effectLst/>
              <a:uFillTx/>
              <a:latin typeface="Calibri"/>
            </a:endParaRPr>
          </a:p>
        </p:txBody>
      </p:sp>
      <p:sp>
        <p:nvSpPr>
          <p:cNvPr id="186" name="Rounded Rectangle 17"/>
          <p:cNvSpPr/>
          <p:nvPr/>
        </p:nvSpPr>
        <p:spPr>
          <a:xfrm>
            <a:off x="8357760" y="1700640"/>
            <a:ext cx="2212560" cy="1078560"/>
          </a:xfrm>
          <a:prstGeom prst="roundRect">
            <a:avLst>
              <a:gd name="adj" fmla="val 5500"/>
            </a:avLst>
          </a:prstGeom>
          <a:solidFill>
            <a:srgbClr val="FFFFFF"/>
          </a:solidFill>
          <a:ln w="12700">
            <a:solidFill>
              <a:srgbClr val="E3E8F0"/>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164520" tIns="45000" rIns="109800" bIns="45000" anchor="ctr">
            <a:noAutofit/>
          </a:bodyPr>
          <a:p>
            <a:pPr defTabSz="457200">
              <a:lnSpc>
                <a:spcPct val="106000"/>
              </a:lnSpc>
              <a:spcAft>
                <a:spcPts val="201"/>
              </a:spcAft>
            </a:pPr>
            <a:r>
              <a:rPr lang="en-US" sz="1200" b="1" u="none" strike="noStrike">
                <a:solidFill>
                  <a:srgbClr val="0E1A33"/>
                </a:solidFill>
                <a:effectLst/>
                <a:uFillTx/>
                <a:latin typeface="Calibri"/>
              </a:rPr>
              <a:t>Eligibility agent</a:t>
            </a:r>
            <a:endParaRPr lang="en-US" sz="1200" b="0" u="none" strike="noStrike">
              <a:solidFill>
                <a:srgbClr val="000000"/>
              </a:solidFill>
              <a:effectLst/>
              <a:uFillTx/>
              <a:latin typeface="Arial"/>
            </a:endParaRPr>
          </a:p>
          <a:p>
            <a:pPr defTabSz="457200">
              <a:lnSpc>
                <a:spcPct val="105000"/>
              </a:lnSpc>
              <a:spcAft>
                <a:spcPts val="99"/>
              </a:spcAft>
            </a:pPr>
            <a:r>
              <a:rPr lang="en-US" sz="980" b="0" u="none" strike="noStrike">
                <a:solidFill>
                  <a:srgbClr val="6B7280"/>
                </a:solidFill>
                <a:effectLst/>
                <a:uFillTx/>
                <a:latin typeface="Calibri"/>
              </a:rPr>
              <a:t>agents/eligibility_agent.py</a:t>
            </a:r>
            <a:endParaRPr lang="en-US" sz="980" b="0" u="none" strike="noStrike">
              <a:solidFill>
                <a:srgbClr val="000000"/>
              </a:solidFill>
              <a:effectLst/>
              <a:uFillTx/>
              <a:latin typeface="Arial"/>
            </a:endParaRPr>
          </a:p>
          <a:p>
            <a:pPr defTabSz="457200">
              <a:lnSpc>
                <a:spcPct val="105000"/>
              </a:lnSpc>
              <a:spcAft>
                <a:spcPts val="99"/>
              </a:spcAft>
            </a:pPr>
            <a:r>
              <a:rPr lang="en-US" sz="980" b="0" u="none" strike="noStrike">
                <a:solidFill>
                  <a:srgbClr val="6B7280"/>
                </a:solidFill>
                <a:effectLst/>
                <a:uFillTx/>
                <a:latin typeface="Calibri"/>
              </a:rPr>
              <a:t>Four rules, one decision</a:t>
            </a:r>
            <a:endParaRPr lang="en-US" sz="980" b="0" u="none" strike="noStrike">
              <a:solidFill>
                <a:srgbClr val="000000"/>
              </a:solidFill>
              <a:effectLst/>
              <a:uFillTx/>
              <a:latin typeface="Arial"/>
            </a:endParaRPr>
          </a:p>
        </p:txBody>
      </p:sp>
      <p:sp>
        <p:nvSpPr>
          <p:cNvPr id="187" name="Rectangle 18"/>
          <p:cNvSpPr/>
          <p:nvPr/>
        </p:nvSpPr>
        <p:spPr>
          <a:xfrm>
            <a:off x="8358480" y="1700640"/>
            <a:ext cx="45360" cy="1078560"/>
          </a:xfrm>
          <a:prstGeom prst="rect">
            <a:avLst/>
          </a:prstGeom>
          <a:solidFill>
            <a:srgbClr val="15A34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188" name="TextBox 19"/>
          <p:cNvSpPr/>
          <p:nvPr/>
        </p:nvSpPr>
        <p:spPr>
          <a:xfrm>
            <a:off x="567000" y="2889360"/>
            <a:ext cx="11057400" cy="273960"/>
          </a:xfrm>
          <a:prstGeom prst="rect">
            <a:avLst/>
          </a:prstGeom>
          <a:noFill/>
          <a:ln w="0">
            <a:noFill/>
          </a:ln>
        </p:spPr>
        <p:style>
          <a:lnRef idx="0"/>
          <a:fillRef idx="0"/>
          <a:effectRef idx="0"/>
          <a:fontRef idx="minor"/>
        </p:style>
        <p:txBody>
          <a:bodyPr lIns="0" tIns="0" rIns="0" bIns="0" anchor="t">
            <a:spAutoFit/>
          </a:bodyPr>
          <a:p>
            <a:pPr defTabSz="457200">
              <a:lnSpc>
                <a:spcPct val="106000"/>
              </a:lnSpc>
            </a:pPr>
            <a:r>
              <a:rPr lang="en-US" sz="1050" b="0" u="none" strike="noStrike">
                <a:solidFill>
                  <a:srgbClr val="9AA3B2"/>
                </a:solidFill>
                <a:effectLst/>
                <a:uFillTx/>
                <a:latin typeface="Calibri"/>
              </a:rPr>
              <a:t>HTTP POST /process  →  Pydantic Application  →  rule results  →  decision + reasoning + evidence</a:t>
            </a:r>
            <a:endParaRPr lang="en-US" sz="1050" b="0" u="none" strike="noStrike">
              <a:solidFill>
                <a:srgbClr val="000000"/>
              </a:solidFill>
              <a:effectLst/>
              <a:uFillTx/>
              <a:latin typeface="Arial"/>
            </a:endParaRPr>
          </a:p>
        </p:txBody>
      </p:sp>
      <p:sp>
        <p:nvSpPr>
          <p:cNvPr id="189" name="Rounded Rectangle 20"/>
          <p:cNvSpPr/>
          <p:nvPr/>
        </p:nvSpPr>
        <p:spPr>
          <a:xfrm>
            <a:off x="567000" y="3328560"/>
            <a:ext cx="2558520" cy="1371240"/>
          </a:xfrm>
          <a:prstGeom prst="roundRect">
            <a:avLst>
              <a:gd name="adj" fmla="val 5500"/>
            </a:avLst>
          </a:prstGeom>
          <a:solidFill>
            <a:srgbClr val="F6F8FC"/>
          </a:solidFill>
          <a:ln w="12700">
            <a:solidFill>
              <a:srgbClr val="E3E8F0"/>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164520" tIns="45000" rIns="109800" bIns="45000" anchor="ctr">
            <a:noAutofit/>
          </a:bodyPr>
          <a:p>
            <a:pPr defTabSz="457200">
              <a:lnSpc>
                <a:spcPct val="106000"/>
              </a:lnSpc>
              <a:spcAft>
                <a:spcPts val="201"/>
              </a:spcAft>
            </a:pPr>
            <a:r>
              <a:rPr lang="en-US" sz="1200" b="1" u="none" strike="noStrike">
                <a:solidFill>
                  <a:srgbClr val="0E1A33"/>
                </a:solidFill>
                <a:effectLst/>
                <a:uFillTx/>
                <a:latin typeface="Calibri"/>
              </a:rPr>
              <a:t>RAG retrieval</a:t>
            </a:r>
            <a:endParaRPr lang="en-US" sz="1200" b="0" u="none" strike="noStrike">
              <a:solidFill>
                <a:srgbClr val="000000"/>
              </a:solidFill>
              <a:effectLst/>
              <a:uFillTx/>
              <a:latin typeface="Arial"/>
            </a:endParaRPr>
          </a:p>
          <a:p>
            <a:pPr defTabSz="457200">
              <a:lnSpc>
                <a:spcPct val="105000"/>
              </a:lnSpc>
              <a:spcAft>
                <a:spcPts val="99"/>
              </a:spcAft>
            </a:pPr>
            <a:r>
              <a:rPr lang="en-US" sz="980" b="0" u="none" strike="noStrike">
                <a:solidFill>
                  <a:srgbClr val="6B7280"/>
                </a:solidFill>
                <a:effectLst/>
                <a:uFillTx/>
                <a:latin typeface="Calibri"/>
              </a:rPr>
              <a:t>rag_stub.py  ·  rag_adapters.py</a:t>
            </a:r>
            <a:endParaRPr lang="en-US" sz="980" b="0" u="none" strike="noStrike">
              <a:solidFill>
                <a:srgbClr val="000000"/>
              </a:solidFill>
              <a:effectLst/>
              <a:uFillTx/>
              <a:latin typeface="Arial"/>
            </a:endParaRPr>
          </a:p>
          <a:p>
            <a:pPr defTabSz="457200">
              <a:lnSpc>
                <a:spcPct val="105000"/>
              </a:lnSpc>
              <a:spcAft>
                <a:spcPts val="99"/>
              </a:spcAft>
            </a:pPr>
            <a:r>
              <a:rPr lang="en-US" sz="980" b="0" u="none" strike="noStrike">
                <a:solidFill>
                  <a:srgbClr val="6B7280"/>
                </a:solidFill>
                <a:effectLst/>
                <a:uFillTx/>
                <a:latin typeface="Calibri"/>
              </a:rPr>
              <a:t>Policy evidence per decision</a:t>
            </a:r>
            <a:endParaRPr lang="en-US" sz="980" b="0" u="none" strike="noStrike">
              <a:solidFill>
                <a:srgbClr val="000000"/>
              </a:solidFill>
              <a:effectLst/>
              <a:uFillTx/>
              <a:latin typeface="Arial"/>
            </a:endParaRPr>
          </a:p>
          <a:p>
            <a:pPr defTabSz="457200">
              <a:lnSpc>
                <a:spcPct val="105000"/>
              </a:lnSpc>
              <a:spcAft>
                <a:spcPts val="99"/>
              </a:spcAft>
            </a:pPr>
            <a:r>
              <a:rPr lang="en-US" sz="980" b="0" u="none" strike="noStrike">
                <a:solidFill>
                  <a:srgbClr val="6B7280"/>
                </a:solidFill>
                <a:effectLst/>
                <a:uFillTx/>
                <a:latin typeface="Calibri"/>
              </a:rPr>
              <a:t>FAISS / Pinecone ready</a:t>
            </a:r>
            <a:endParaRPr lang="en-US" sz="980" b="0" u="none" strike="noStrike">
              <a:solidFill>
                <a:srgbClr val="000000"/>
              </a:solidFill>
              <a:effectLst/>
              <a:uFillTx/>
              <a:latin typeface="Arial"/>
            </a:endParaRPr>
          </a:p>
        </p:txBody>
      </p:sp>
      <p:sp>
        <p:nvSpPr>
          <p:cNvPr id="190" name="Rectangle 21"/>
          <p:cNvSpPr/>
          <p:nvPr/>
        </p:nvSpPr>
        <p:spPr>
          <a:xfrm>
            <a:off x="567720" y="3328560"/>
            <a:ext cx="45360" cy="1371240"/>
          </a:xfrm>
          <a:prstGeom prst="rect">
            <a:avLst/>
          </a:prstGeom>
          <a:solidFill>
            <a:srgbClr val="06B6D4"/>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191" name="Rounded Rectangle 22"/>
          <p:cNvSpPr/>
          <p:nvPr/>
        </p:nvSpPr>
        <p:spPr>
          <a:xfrm>
            <a:off x="3399840" y="3328560"/>
            <a:ext cx="2558520" cy="1371240"/>
          </a:xfrm>
          <a:prstGeom prst="roundRect">
            <a:avLst>
              <a:gd name="adj" fmla="val 5500"/>
            </a:avLst>
          </a:prstGeom>
          <a:solidFill>
            <a:srgbClr val="F6F8FC"/>
          </a:solidFill>
          <a:ln w="12700">
            <a:solidFill>
              <a:srgbClr val="E3E8F0"/>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164520" tIns="45000" rIns="109800" bIns="45000" anchor="ctr">
            <a:noAutofit/>
          </a:bodyPr>
          <a:p>
            <a:pPr defTabSz="457200">
              <a:lnSpc>
                <a:spcPct val="106000"/>
              </a:lnSpc>
              <a:spcAft>
                <a:spcPts val="201"/>
              </a:spcAft>
            </a:pPr>
            <a:r>
              <a:rPr lang="en-US" sz="1200" b="1" u="none" strike="noStrike">
                <a:solidFill>
                  <a:srgbClr val="0E1A33"/>
                </a:solidFill>
                <a:effectLst/>
                <a:uFillTx/>
                <a:latin typeface="Calibri"/>
              </a:rPr>
              <a:t>Chat agent</a:t>
            </a:r>
            <a:endParaRPr lang="en-US" sz="1200" b="0" u="none" strike="noStrike">
              <a:solidFill>
                <a:srgbClr val="000000"/>
              </a:solidFill>
              <a:effectLst/>
              <a:uFillTx/>
              <a:latin typeface="Arial"/>
            </a:endParaRPr>
          </a:p>
          <a:p>
            <a:pPr defTabSz="457200">
              <a:lnSpc>
                <a:spcPct val="105000"/>
              </a:lnSpc>
              <a:spcAft>
                <a:spcPts val="99"/>
              </a:spcAft>
            </a:pPr>
            <a:r>
              <a:rPr lang="en-US" sz="980" b="0" u="none" strike="noStrike">
                <a:solidFill>
                  <a:srgbClr val="6B7280"/>
                </a:solidFill>
                <a:effectLst/>
                <a:uFillTx/>
                <a:latin typeface="Calibri"/>
              </a:rPr>
              <a:t>chat_agent.py  ·  chat_knowledge.py</a:t>
            </a:r>
            <a:endParaRPr lang="en-US" sz="980" b="0" u="none" strike="noStrike">
              <a:solidFill>
                <a:srgbClr val="000000"/>
              </a:solidFill>
              <a:effectLst/>
              <a:uFillTx/>
              <a:latin typeface="Arial"/>
            </a:endParaRPr>
          </a:p>
          <a:p>
            <a:pPr defTabSz="457200">
              <a:lnSpc>
                <a:spcPct val="105000"/>
              </a:lnSpc>
              <a:spcAft>
                <a:spcPts val="99"/>
              </a:spcAft>
            </a:pPr>
            <a:r>
              <a:rPr lang="en-US" sz="980" b="0" u="none" strike="noStrike">
                <a:solidFill>
                  <a:srgbClr val="6B7280"/>
                </a:solidFill>
                <a:effectLst/>
                <a:uFillTx/>
                <a:latin typeface="Calibri"/>
              </a:rPr>
              <a:t>Guard → intents → FAQ retrieval</a:t>
            </a:r>
            <a:endParaRPr lang="en-US" sz="980" b="0" u="none" strike="noStrike">
              <a:solidFill>
                <a:srgbClr val="000000"/>
              </a:solidFill>
              <a:effectLst/>
              <a:uFillTx/>
              <a:latin typeface="Arial"/>
            </a:endParaRPr>
          </a:p>
          <a:p>
            <a:pPr defTabSz="457200">
              <a:lnSpc>
                <a:spcPct val="105000"/>
              </a:lnSpc>
              <a:spcAft>
                <a:spcPts val="99"/>
              </a:spcAft>
            </a:pPr>
            <a:r>
              <a:rPr lang="en-US" sz="980" b="0" u="none" strike="noStrike">
                <a:solidFill>
                  <a:srgbClr val="6B7280"/>
                </a:solidFill>
                <a:effectLst/>
                <a:uFillTx/>
                <a:latin typeface="Calibri"/>
              </a:rPr>
              <a:t>Deterministic, offline-safe</a:t>
            </a:r>
            <a:endParaRPr lang="en-US" sz="980" b="0" u="none" strike="noStrike">
              <a:solidFill>
                <a:srgbClr val="000000"/>
              </a:solidFill>
              <a:effectLst/>
              <a:uFillTx/>
              <a:latin typeface="Arial"/>
            </a:endParaRPr>
          </a:p>
        </p:txBody>
      </p:sp>
      <p:sp>
        <p:nvSpPr>
          <p:cNvPr id="192" name="Rectangle 23"/>
          <p:cNvSpPr/>
          <p:nvPr/>
        </p:nvSpPr>
        <p:spPr>
          <a:xfrm>
            <a:off x="3400920" y="3328560"/>
            <a:ext cx="45360" cy="1371240"/>
          </a:xfrm>
          <a:prstGeom prst="rect">
            <a:avLst/>
          </a:prstGeom>
          <a:solidFill>
            <a:srgbClr val="15A34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193" name="Rounded Rectangle 24"/>
          <p:cNvSpPr/>
          <p:nvPr/>
        </p:nvSpPr>
        <p:spPr>
          <a:xfrm>
            <a:off x="6233040" y="3328560"/>
            <a:ext cx="2558520" cy="1371240"/>
          </a:xfrm>
          <a:prstGeom prst="roundRect">
            <a:avLst>
              <a:gd name="adj" fmla="val 5500"/>
            </a:avLst>
          </a:prstGeom>
          <a:solidFill>
            <a:srgbClr val="F6F8FC"/>
          </a:solidFill>
          <a:ln w="12700">
            <a:solidFill>
              <a:srgbClr val="E3E8F0"/>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164520" tIns="45000" rIns="109800" bIns="45000" anchor="ctr">
            <a:noAutofit/>
          </a:bodyPr>
          <a:p>
            <a:pPr defTabSz="457200">
              <a:lnSpc>
                <a:spcPct val="106000"/>
              </a:lnSpc>
              <a:spcAft>
                <a:spcPts val="201"/>
              </a:spcAft>
            </a:pPr>
            <a:r>
              <a:rPr lang="en-US" sz="1200" b="1" u="none" strike="noStrike">
                <a:solidFill>
                  <a:srgbClr val="0E1A33"/>
                </a:solidFill>
                <a:effectLst/>
                <a:uFillTx/>
                <a:latin typeface="Calibri"/>
              </a:rPr>
              <a:t>Claude responder</a:t>
            </a:r>
            <a:endParaRPr lang="en-US" sz="1200" b="0" u="none" strike="noStrike">
              <a:solidFill>
                <a:srgbClr val="000000"/>
              </a:solidFill>
              <a:effectLst/>
              <a:uFillTx/>
              <a:latin typeface="Arial"/>
            </a:endParaRPr>
          </a:p>
          <a:p>
            <a:pPr defTabSz="457200">
              <a:lnSpc>
                <a:spcPct val="105000"/>
              </a:lnSpc>
              <a:spcAft>
                <a:spcPts val="99"/>
              </a:spcAft>
            </a:pPr>
            <a:r>
              <a:rPr lang="en-US" sz="980" b="0" u="none" strike="noStrike">
                <a:solidFill>
                  <a:srgbClr val="6B7280"/>
                </a:solidFill>
                <a:effectLst/>
                <a:uFillTx/>
                <a:latin typeface="Calibri"/>
              </a:rPr>
              <a:t>chat_llm.py  ·  llm_client.py</a:t>
            </a:r>
            <a:endParaRPr lang="en-US" sz="980" b="0" u="none" strike="noStrike">
              <a:solidFill>
                <a:srgbClr val="000000"/>
              </a:solidFill>
              <a:effectLst/>
              <a:uFillTx/>
              <a:latin typeface="Arial"/>
            </a:endParaRPr>
          </a:p>
          <a:p>
            <a:pPr defTabSz="457200">
              <a:lnSpc>
                <a:spcPct val="105000"/>
              </a:lnSpc>
              <a:spcAft>
                <a:spcPts val="99"/>
              </a:spcAft>
            </a:pPr>
            <a:r>
              <a:rPr lang="en-US" sz="980" b="0" u="none" strike="noStrike">
                <a:solidFill>
                  <a:srgbClr val="6B7280"/>
                </a:solidFill>
                <a:effectLst/>
                <a:uFillTx/>
                <a:latin typeface="Calibri"/>
              </a:rPr>
              <a:t>Opt-in via LOAN_CHAT_LLM=1</a:t>
            </a:r>
            <a:endParaRPr lang="en-US" sz="980" b="0" u="none" strike="noStrike">
              <a:solidFill>
                <a:srgbClr val="000000"/>
              </a:solidFill>
              <a:effectLst/>
              <a:uFillTx/>
              <a:latin typeface="Arial"/>
            </a:endParaRPr>
          </a:p>
          <a:p>
            <a:pPr defTabSz="457200">
              <a:lnSpc>
                <a:spcPct val="105000"/>
              </a:lnSpc>
              <a:spcAft>
                <a:spcPts val="99"/>
              </a:spcAft>
            </a:pPr>
            <a:r>
              <a:rPr lang="en-US" sz="980" b="0" u="none" strike="noStrike">
                <a:solidFill>
                  <a:srgbClr val="6B7280"/>
                </a:solidFill>
                <a:effectLst/>
                <a:uFillTx/>
                <a:latin typeface="Calibri"/>
              </a:rPr>
              <a:t>Any failure falls back to rules</a:t>
            </a:r>
            <a:endParaRPr lang="en-US" sz="980" b="0" u="none" strike="noStrike">
              <a:solidFill>
                <a:srgbClr val="000000"/>
              </a:solidFill>
              <a:effectLst/>
              <a:uFillTx/>
              <a:latin typeface="Arial"/>
            </a:endParaRPr>
          </a:p>
        </p:txBody>
      </p:sp>
      <p:sp>
        <p:nvSpPr>
          <p:cNvPr id="194" name="Rectangle 25"/>
          <p:cNvSpPr/>
          <p:nvPr/>
        </p:nvSpPr>
        <p:spPr>
          <a:xfrm>
            <a:off x="6233760" y="3328560"/>
            <a:ext cx="45360" cy="1371240"/>
          </a:xfrm>
          <a:prstGeom prst="rect">
            <a:avLst/>
          </a:prstGeom>
          <a:solidFill>
            <a:srgbClr val="7C3AED"/>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195" name="Rounded Rectangle 26"/>
          <p:cNvSpPr/>
          <p:nvPr/>
        </p:nvSpPr>
        <p:spPr>
          <a:xfrm>
            <a:off x="9065880" y="3328560"/>
            <a:ext cx="2558520" cy="1371240"/>
          </a:xfrm>
          <a:prstGeom prst="roundRect">
            <a:avLst>
              <a:gd name="adj" fmla="val 5500"/>
            </a:avLst>
          </a:prstGeom>
          <a:solidFill>
            <a:srgbClr val="F6F8FC"/>
          </a:solidFill>
          <a:ln w="12700">
            <a:solidFill>
              <a:srgbClr val="E3E8F0"/>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164520" tIns="45000" rIns="109800" bIns="45000" anchor="ctr">
            <a:noAutofit/>
          </a:bodyPr>
          <a:p>
            <a:pPr defTabSz="457200">
              <a:lnSpc>
                <a:spcPct val="106000"/>
              </a:lnSpc>
              <a:spcAft>
                <a:spcPts val="201"/>
              </a:spcAft>
            </a:pPr>
            <a:r>
              <a:rPr lang="en-US" sz="1200" b="1" u="none" strike="noStrike">
                <a:solidFill>
                  <a:srgbClr val="0E1A33"/>
                </a:solidFill>
                <a:effectLst/>
                <a:uFillTx/>
                <a:latin typeface="Calibri"/>
              </a:rPr>
              <a:t>Audit &amp; logging</a:t>
            </a:r>
            <a:endParaRPr lang="en-US" sz="1200" b="0" u="none" strike="noStrike">
              <a:solidFill>
                <a:srgbClr val="000000"/>
              </a:solidFill>
              <a:effectLst/>
              <a:uFillTx/>
              <a:latin typeface="Arial"/>
            </a:endParaRPr>
          </a:p>
          <a:p>
            <a:pPr defTabSz="457200">
              <a:lnSpc>
                <a:spcPct val="105000"/>
              </a:lnSpc>
              <a:spcAft>
                <a:spcPts val="99"/>
              </a:spcAft>
            </a:pPr>
            <a:r>
              <a:rPr lang="en-US" sz="980" b="0" u="none" strike="noStrike">
                <a:solidFill>
                  <a:srgbClr val="6B7280"/>
                </a:solidFill>
                <a:effectLst/>
                <a:uFillTx/>
                <a:latin typeface="Calibri"/>
              </a:rPr>
              <a:t>service/audit.py  ·  logging_config.py</a:t>
            </a:r>
            <a:endParaRPr lang="en-US" sz="980" b="0" u="none" strike="noStrike">
              <a:solidFill>
                <a:srgbClr val="000000"/>
              </a:solidFill>
              <a:effectLst/>
              <a:uFillTx/>
              <a:latin typeface="Arial"/>
            </a:endParaRPr>
          </a:p>
          <a:p>
            <a:pPr defTabSz="457200">
              <a:lnSpc>
                <a:spcPct val="105000"/>
              </a:lnSpc>
              <a:spcAft>
                <a:spcPts val="99"/>
              </a:spcAft>
            </a:pPr>
            <a:r>
              <a:rPr lang="en-US" sz="980" b="0" u="none" strike="noStrike">
                <a:solidFill>
                  <a:srgbClr val="6B7280"/>
                </a:solidFill>
                <a:effectLst/>
                <a:uFillTx/>
                <a:latin typeface="Calibri"/>
              </a:rPr>
              <a:t>JSON line per request id</a:t>
            </a:r>
            <a:endParaRPr lang="en-US" sz="980" b="0" u="none" strike="noStrike">
              <a:solidFill>
                <a:srgbClr val="000000"/>
              </a:solidFill>
              <a:effectLst/>
              <a:uFillTx/>
              <a:latin typeface="Arial"/>
            </a:endParaRPr>
          </a:p>
          <a:p>
            <a:pPr defTabSz="457200">
              <a:lnSpc>
                <a:spcPct val="105000"/>
              </a:lnSpc>
              <a:spcAft>
                <a:spcPts val="99"/>
              </a:spcAft>
            </a:pPr>
            <a:r>
              <a:rPr lang="en-US" sz="980" b="0" u="none" strike="noStrike">
                <a:solidFill>
                  <a:srgbClr val="6B7280"/>
                </a:solidFill>
                <a:effectLst/>
                <a:uFillTx/>
                <a:latin typeface="Calibri"/>
              </a:rPr>
              <a:t>Chat text never logged</a:t>
            </a:r>
            <a:endParaRPr lang="en-US" sz="980" b="0" u="none" strike="noStrike">
              <a:solidFill>
                <a:srgbClr val="000000"/>
              </a:solidFill>
              <a:effectLst/>
              <a:uFillTx/>
              <a:latin typeface="Arial"/>
            </a:endParaRPr>
          </a:p>
        </p:txBody>
      </p:sp>
      <p:sp>
        <p:nvSpPr>
          <p:cNvPr id="196" name="Rectangle 27"/>
          <p:cNvSpPr/>
          <p:nvPr/>
        </p:nvSpPr>
        <p:spPr>
          <a:xfrm>
            <a:off x="9066960" y="3328560"/>
            <a:ext cx="45360" cy="1371240"/>
          </a:xfrm>
          <a:prstGeom prst="rect">
            <a:avLst/>
          </a:prstGeom>
          <a:solidFill>
            <a:srgbClr val="D9770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197" name="Rounded Rectangle 28"/>
          <p:cNvSpPr/>
          <p:nvPr/>
        </p:nvSpPr>
        <p:spPr>
          <a:xfrm>
            <a:off x="567000" y="4956120"/>
            <a:ext cx="11057400" cy="785880"/>
          </a:xfrm>
          <a:prstGeom prst="roundRect">
            <a:avLst>
              <a:gd name="adj" fmla="val 5500"/>
            </a:avLst>
          </a:prstGeom>
          <a:solidFill>
            <a:srgbClr val="0E1A33"/>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274320" tIns="45000" rIns="274320" bIns="45000" anchor="ctr">
            <a:noAutofit/>
          </a:bodyPr>
          <a:p>
            <a:pPr defTabSz="457200">
              <a:lnSpc>
                <a:spcPct val="108000"/>
              </a:lnSpc>
            </a:pPr>
            <a:r>
              <a:rPr lang="en-US" sz="1200" b="1" u="none" strike="noStrike">
                <a:solidFill>
                  <a:srgbClr val="FFFFFF"/>
                </a:solidFill>
                <a:effectLst/>
                <a:uFillTx/>
                <a:latin typeface="Calibri"/>
              </a:rPr>
              <a:t>Why split the UI from the service?  </a:t>
            </a:r>
            <a:r>
              <a:rPr lang="en-US" sz="1200" b="0" u="none" strike="noStrike">
                <a:solidFill>
                  <a:srgbClr val="C6CFE2"/>
                </a:solidFill>
                <a:effectLst/>
                <a:uFillTx/>
                <a:latin typeface="Calibri"/>
              </a:rPr>
              <a:t>The rules live behind an HTTP boundary, so they are unit-testable, callable by any other channel, and swappable without touching the front end. The Streamlit app is one client of the API — the curl call later in this deck is another.</a:t>
            </a:r>
            <a:endParaRPr lang="en-US" sz="12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98" name="Rectangle 1"/>
          <p:cNvSpPr/>
          <p:nvPr/>
        </p:nvSpPr>
        <p:spPr>
          <a:xfrm>
            <a:off x="0" y="0"/>
            <a:ext cx="12191400" cy="6857640"/>
          </a:xfrm>
          <a:prstGeom prst="rect">
            <a:avLst/>
          </a:prstGeom>
          <a:solidFill>
            <a:srgbClr val="FFFFFF"/>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199" name="Rectangle 2"/>
          <p:cNvSpPr/>
          <p:nvPr/>
        </p:nvSpPr>
        <p:spPr>
          <a:xfrm>
            <a:off x="0" y="0"/>
            <a:ext cx="12191400" cy="77400"/>
          </a:xfrm>
          <a:prstGeom prst="rect">
            <a:avLst/>
          </a:prstGeom>
          <a:gradFill rotWithShape="0">
            <a:gsLst>
              <a:gs pos="0">
                <a:srgbClr val="4F46E5"/>
              </a:gs>
              <a:gs pos="100000">
                <a:srgbClr val="7C3AED"/>
              </a:gs>
            </a:gsLst>
            <a:lin ang="0"/>
          </a:gra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32760" rIns="90000" bIns="32760" anchor="ctr">
            <a:noAutofit/>
          </a:bodyPr>
          <a:p>
            <a:endParaRPr lang="en-US" sz="1800" b="0" u="none" strike="noStrike">
              <a:solidFill>
                <a:schemeClr val="lt1"/>
              </a:solidFill>
              <a:effectLst/>
              <a:uFillTx/>
              <a:latin typeface="Calibri"/>
            </a:endParaRPr>
          </a:p>
        </p:txBody>
      </p:sp>
      <p:sp>
        <p:nvSpPr>
          <p:cNvPr id="200" name="TextBox 3"/>
          <p:cNvSpPr/>
          <p:nvPr/>
        </p:nvSpPr>
        <p:spPr>
          <a:xfrm>
            <a:off x="567000" y="384120"/>
            <a:ext cx="11057400" cy="237240"/>
          </a:xfrm>
          <a:prstGeom prst="rect">
            <a:avLst/>
          </a:prstGeom>
          <a:noFill/>
          <a:ln w="0">
            <a:noFill/>
          </a:ln>
        </p:spPr>
        <p:style>
          <a:lnRef idx="0"/>
          <a:fillRef idx="0"/>
          <a:effectRef idx="0"/>
          <a:fontRef idx="minor"/>
        </p:style>
        <p:txBody>
          <a:bodyPr lIns="0" tIns="0" rIns="0" bIns="0" anchor="t">
            <a:spAutoFit/>
          </a:bodyPr>
          <a:p>
            <a:pPr defTabSz="457200">
              <a:lnSpc>
                <a:spcPct val="106000"/>
              </a:lnSpc>
            </a:pPr>
            <a:r>
              <a:rPr lang="en-US" sz="950" b="1" u="none" strike="noStrike">
                <a:solidFill>
                  <a:srgbClr val="4F46E5"/>
                </a:solidFill>
                <a:effectLst/>
                <a:uFillTx/>
                <a:latin typeface="Calibri"/>
              </a:rPr>
              <a:t>PART 02  ·  AGENTS</a:t>
            </a:r>
            <a:endParaRPr lang="en-US" sz="950" b="0" u="none" strike="noStrike">
              <a:solidFill>
                <a:srgbClr val="000000"/>
              </a:solidFill>
              <a:effectLst/>
              <a:uFillTx/>
              <a:latin typeface="Arial"/>
            </a:endParaRPr>
          </a:p>
        </p:txBody>
      </p:sp>
      <p:sp>
        <p:nvSpPr>
          <p:cNvPr id="201" name="TextBox 4"/>
          <p:cNvSpPr/>
          <p:nvPr/>
        </p:nvSpPr>
        <p:spPr>
          <a:xfrm>
            <a:off x="567000" y="658440"/>
            <a:ext cx="11057400" cy="502560"/>
          </a:xfrm>
          <a:prstGeom prst="rect">
            <a:avLst/>
          </a:prstGeom>
          <a:noFill/>
          <a:ln w="0">
            <a:noFill/>
          </a:ln>
        </p:spPr>
        <p:style>
          <a:lnRef idx="0"/>
          <a:fillRef idx="0"/>
          <a:effectRef idx="0"/>
          <a:fontRef idx="minor"/>
        </p:style>
        <p:txBody>
          <a:bodyPr lIns="0" tIns="0" rIns="0" bIns="0" anchor="t">
            <a:spAutoFit/>
          </a:bodyPr>
          <a:p>
            <a:pPr defTabSz="457200">
              <a:lnSpc>
                <a:spcPct val="106000"/>
              </a:lnSpc>
            </a:pPr>
            <a:r>
              <a:rPr lang="en-US" sz="2700" b="1" u="none" strike="noStrike">
                <a:solidFill>
                  <a:srgbClr val="0E1A33"/>
                </a:solidFill>
                <a:effectLst/>
                <a:uFillTx/>
                <a:latin typeface="Calibri"/>
              </a:rPr>
              <a:t>Four agents, one responsibility each</a:t>
            </a:r>
            <a:endParaRPr lang="en-US" sz="2700" b="0" u="none" strike="noStrike">
              <a:solidFill>
                <a:srgbClr val="000000"/>
              </a:solidFill>
              <a:effectLst/>
              <a:uFillTx/>
              <a:latin typeface="Arial"/>
            </a:endParaRPr>
          </a:p>
        </p:txBody>
      </p:sp>
      <p:sp>
        <p:nvSpPr>
          <p:cNvPr id="202" name="TextBox 5"/>
          <p:cNvSpPr/>
          <p:nvPr/>
        </p:nvSpPr>
        <p:spPr>
          <a:xfrm>
            <a:off x="567000" y="1225440"/>
            <a:ext cx="9509400" cy="365400"/>
          </a:xfrm>
          <a:prstGeom prst="rect">
            <a:avLst/>
          </a:prstGeom>
          <a:noFill/>
          <a:ln w="0">
            <a:noFill/>
          </a:ln>
        </p:spPr>
        <p:style>
          <a:lnRef idx="0"/>
          <a:fillRef idx="0"/>
          <a:effectRef idx="0"/>
          <a:fontRef idx="minor"/>
        </p:style>
        <p:txBody>
          <a:bodyPr lIns="0" tIns="0" rIns="0" bIns="0" anchor="t">
            <a:spAutoFit/>
          </a:bodyPr>
          <a:p>
            <a:pPr defTabSz="457200">
              <a:lnSpc>
                <a:spcPct val="106000"/>
              </a:lnSpc>
            </a:pPr>
            <a:r>
              <a:rPr lang="en-US" sz="1250" b="0" u="none" strike="noStrike">
                <a:solidFill>
                  <a:srgbClr val="6B7280"/>
                </a:solidFill>
                <a:effectLst/>
                <a:uFillTx/>
                <a:latin typeface="Calibri"/>
              </a:rPr>
              <a:t>Each agent is a small class with a narrow contract, which is what makes the system testable.</a:t>
            </a:r>
            <a:endParaRPr lang="en-US" sz="1250" b="0" u="none" strike="noStrike">
              <a:solidFill>
                <a:srgbClr val="000000"/>
              </a:solidFill>
              <a:effectLst/>
              <a:uFillTx/>
              <a:latin typeface="Arial"/>
            </a:endParaRPr>
          </a:p>
        </p:txBody>
      </p:sp>
      <p:sp>
        <p:nvSpPr>
          <p:cNvPr id="203" name="TextBox 6"/>
          <p:cNvSpPr/>
          <p:nvPr/>
        </p:nvSpPr>
        <p:spPr>
          <a:xfrm>
            <a:off x="567000" y="6382440"/>
            <a:ext cx="7740000" cy="273960"/>
          </a:xfrm>
          <a:prstGeom prst="rect">
            <a:avLst/>
          </a:prstGeom>
          <a:noFill/>
          <a:ln w="0">
            <a:noFill/>
          </a:ln>
        </p:spPr>
        <p:style>
          <a:lnRef idx="0"/>
          <a:fillRef idx="0"/>
          <a:effectRef idx="0"/>
          <a:fontRef idx="minor"/>
        </p:style>
        <p:txBody>
          <a:bodyPr lIns="0" tIns="0" rIns="0" bIns="0" anchor="t">
            <a:spAutoFit/>
          </a:bodyPr>
          <a:p>
            <a:pPr defTabSz="457200">
              <a:lnSpc>
                <a:spcPct val="106000"/>
              </a:lnSpc>
            </a:pPr>
            <a:r>
              <a:rPr lang="en-US" sz="900" b="0" u="none" strike="noStrike">
                <a:solidFill>
                  <a:srgbClr val="6B7280"/>
                </a:solidFill>
                <a:effectLst/>
                <a:uFillTx/>
                <a:latin typeface="Calibri"/>
              </a:rPr>
              <a:t>Loan Eligibility AI  ·  Capstone Demonstration</a:t>
            </a:r>
            <a:endParaRPr lang="en-US" sz="900" b="0" u="none" strike="noStrike">
              <a:solidFill>
                <a:srgbClr val="000000"/>
              </a:solidFill>
              <a:effectLst/>
              <a:uFillTx/>
              <a:latin typeface="Arial"/>
            </a:endParaRPr>
          </a:p>
        </p:txBody>
      </p:sp>
      <p:sp>
        <p:nvSpPr>
          <p:cNvPr id="204" name="TextBox 7"/>
          <p:cNvSpPr/>
          <p:nvPr/>
        </p:nvSpPr>
        <p:spPr>
          <a:xfrm>
            <a:off x="10527480" y="6382440"/>
            <a:ext cx="1096920" cy="273960"/>
          </a:xfrm>
          <a:prstGeom prst="rect">
            <a:avLst/>
          </a:prstGeom>
          <a:noFill/>
          <a:ln w="0">
            <a:noFill/>
          </a:ln>
        </p:spPr>
        <p:style>
          <a:lnRef idx="0"/>
          <a:fillRef idx="0"/>
          <a:effectRef idx="0"/>
          <a:fontRef idx="minor"/>
        </p:style>
        <p:txBody>
          <a:bodyPr lIns="0" tIns="0" rIns="0" bIns="0" anchor="t">
            <a:spAutoFit/>
          </a:bodyPr>
          <a:p>
            <a:pPr algn="r" defTabSz="457200">
              <a:lnSpc>
                <a:spcPct val="106000"/>
              </a:lnSpc>
            </a:pPr>
            <a:r>
              <a:rPr lang="en-US" sz="900" b="0" u="none" strike="noStrike">
                <a:solidFill>
                  <a:srgbClr val="6B7280"/>
                </a:solidFill>
                <a:effectLst/>
                <a:uFillTx/>
                <a:latin typeface="Calibri"/>
              </a:rPr>
              <a:t>09</a:t>
            </a:r>
            <a:endParaRPr lang="en-US" sz="900" b="0" u="none" strike="noStrike">
              <a:solidFill>
                <a:srgbClr val="000000"/>
              </a:solidFill>
              <a:effectLst/>
              <a:uFillTx/>
              <a:latin typeface="Arial"/>
            </a:endParaRPr>
          </a:p>
        </p:txBody>
      </p:sp>
      <p:sp>
        <p:nvSpPr>
          <p:cNvPr id="205" name="Rounded Rectangle 8"/>
          <p:cNvSpPr/>
          <p:nvPr/>
        </p:nvSpPr>
        <p:spPr>
          <a:xfrm>
            <a:off x="567000" y="1700640"/>
            <a:ext cx="2585880" cy="2742840"/>
          </a:xfrm>
          <a:prstGeom prst="roundRect">
            <a:avLst>
              <a:gd name="adj" fmla="val 5500"/>
            </a:avLst>
          </a:prstGeom>
          <a:solidFill>
            <a:srgbClr val="FFFFFF"/>
          </a:solidFill>
          <a:ln w="12700">
            <a:solidFill>
              <a:srgbClr val="E3E8F0"/>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201240" tIns="237600" rIns="164520" bIns="45000" anchor="ctr">
            <a:noAutofit/>
          </a:bodyPr>
          <a:p>
            <a:pPr defTabSz="457200">
              <a:lnSpc>
                <a:spcPct val="106000"/>
              </a:lnSpc>
              <a:spcAft>
                <a:spcPts val="201"/>
              </a:spcAft>
            </a:pPr>
            <a:r>
              <a:rPr lang="en-US" sz="1500" b="1" u="none" strike="noStrike">
                <a:solidFill>
                  <a:srgbClr val="0E1A33"/>
                </a:solidFill>
                <a:effectLst/>
                <a:uFillTx/>
                <a:latin typeface="Calibri"/>
              </a:rPr>
              <a:t>Coordinator</a:t>
            </a:r>
            <a:endParaRPr lang="en-US" sz="1500" b="0" u="none" strike="noStrike">
              <a:solidFill>
                <a:srgbClr val="000000"/>
              </a:solidFill>
              <a:effectLst/>
              <a:uFillTx/>
              <a:latin typeface="Arial"/>
            </a:endParaRPr>
          </a:p>
          <a:p>
            <a:pPr defTabSz="457200">
              <a:lnSpc>
                <a:spcPct val="106000"/>
              </a:lnSpc>
              <a:spcAft>
                <a:spcPts val="1001"/>
              </a:spcAft>
            </a:pPr>
            <a:r>
              <a:rPr lang="en-US" sz="950" b="0" u="none" strike="noStrike">
                <a:solidFill>
                  <a:srgbClr val="4F46E5"/>
                </a:solidFill>
                <a:effectLst/>
                <a:uFillTx/>
                <a:latin typeface="Calibri"/>
              </a:rPr>
              <a:t>agents/coordinator.py</a:t>
            </a:r>
            <a:endParaRPr lang="en-US" sz="950" b="0" u="none" strike="noStrike">
              <a:solidFill>
                <a:srgbClr val="000000"/>
              </a:solidFill>
              <a:effectLst/>
              <a:uFillTx/>
              <a:latin typeface="Arial"/>
            </a:endParaRPr>
          </a:p>
          <a:p>
            <a:pPr defTabSz="457200">
              <a:lnSpc>
                <a:spcPct val="112000"/>
              </a:lnSpc>
              <a:spcAft>
                <a:spcPts val="700"/>
              </a:spcAft>
            </a:pPr>
            <a:r>
              <a:rPr lang="en-US" sz="1100" b="1" u="none" strike="noStrike">
                <a:solidFill>
                  <a:srgbClr val="4F46E5"/>
                </a:solidFill>
                <a:effectLst/>
                <a:uFillTx/>
                <a:latin typeface="Calibri"/>
              </a:rPr>
              <a:t>·  </a:t>
            </a:r>
            <a:r>
              <a:rPr lang="en-US" sz="1100" b="0" u="none" strike="noStrike">
                <a:solidFill>
                  <a:srgbClr val="6B7280"/>
                </a:solidFill>
                <a:effectLst/>
                <a:uFillTx/>
                <a:latin typeface="Calibri"/>
              </a:rPr>
              <a:t>Parses the payload into a Pydantic Application</a:t>
            </a:r>
            <a:endParaRPr lang="en-US" sz="1100" b="0" u="none" strike="noStrike">
              <a:solidFill>
                <a:srgbClr val="000000"/>
              </a:solidFill>
              <a:effectLst/>
              <a:uFillTx/>
              <a:latin typeface="Arial"/>
            </a:endParaRPr>
          </a:p>
          <a:p>
            <a:pPr defTabSz="457200">
              <a:lnSpc>
                <a:spcPct val="112000"/>
              </a:lnSpc>
              <a:spcAft>
                <a:spcPts val="700"/>
              </a:spcAft>
            </a:pPr>
            <a:r>
              <a:rPr lang="en-US" sz="1100" b="1" u="none" strike="noStrike">
                <a:solidFill>
                  <a:srgbClr val="4F46E5"/>
                </a:solidFill>
                <a:effectLst/>
                <a:uFillTx/>
                <a:latin typeface="Calibri"/>
              </a:rPr>
              <a:t>·  </a:t>
            </a:r>
            <a:r>
              <a:rPr lang="en-US" sz="1100" b="0" u="none" strike="noStrike">
                <a:solidFill>
                  <a:srgbClr val="6B7280"/>
                </a:solidFill>
                <a:effectLst/>
                <a:uFillTx/>
                <a:latin typeface="Calibri"/>
              </a:rPr>
              <a:t>Delegates scoring to the eligibility agent</a:t>
            </a:r>
            <a:endParaRPr lang="en-US" sz="1100" b="0" u="none" strike="noStrike">
              <a:solidFill>
                <a:srgbClr val="000000"/>
              </a:solidFill>
              <a:effectLst/>
              <a:uFillTx/>
              <a:latin typeface="Arial"/>
            </a:endParaRPr>
          </a:p>
          <a:p>
            <a:pPr defTabSz="457200">
              <a:lnSpc>
                <a:spcPct val="112000"/>
              </a:lnSpc>
              <a:spcAft>
                <a:spcPts val="700"/>
              </a:spcAft>
            </a:pPr>
            <a:r>
              <a:rPr lang="en-US" sz="1100" b="1" u="none" strike="noStrike">
                <a:solidFill>
                  <a:srgbClr val="4F46E5"/>
                </a:solidFill>
                <a:effectLst/>
                <a:uFillTx/>
                <a:latin typeface="Calibri"/>
              </a:rPr>
              <a:t>·  </a:t>
            </a:r>
            <a:r>
              <a:rPr lang="en-US" sz="1100" b="0" u="none" strike="noStrike">
                <a:solidFill>
                  <a:srgbClr val="6B7280"/>
                </a:solidFill>
                <a:effectLst/>
                <a:uFillTx/>
                <a:latin typeface="Calibri"/>
              </a:rPr>
              <a:t>Queries retrieval for supporting evidence</a:t>
            </a:r>
            <a:endParaRPr lang="en-US" sz="1100" b="0" u="none" strike="noStrike">
              <a:solidFill>
                <a:srgbClr val="000000"/>
              </a:solidFill>
              <a:effectLst/>
              <a:uFillTx/>
              <a:latin typeface="Arial"/>
            </a:endParaRPr>
          </a:p>
          <a:p>
            <a:pPr defTabSz="457200">
              <a:lnSpc>
                <a:spcPct val="112000"/>
              </a:lnSpc>
              <a:spcAft>
                <a:spcPts val="700"/>
              </a:spcAft>
            </a:pPr>
            <a:r>
              <a:rPr lang="en-US" sz="1100" b="1" u="none" strike="noStrike">
                <a:solidFill>
                  <a:srgbClr val="4F46E5"/>
                </a:solidFill>
                <a:effectLst/>
                <a:uFillTx/>
                <a:latin typeface="Calibri"/>
              </a:rPr>
              <a:t>·  </a:t>
            </a:r>
            <a:r>
              <a:rPr lang="en-US" sz="1100" b="0" u="none" strike="noStrike">
                <a:solidFill>
                  <a:srgbClr val="6B7280"/>
                </a:solidFill>
                <a:effectLst/>
                <a:uFillTx/>
                <a:latin typeface="Calibri"/>
              </a:rPr>
              <a:t>Composes the readable reasoning list</a:t>
            </a:r>
            <a:endParaRPr lang="en-US" sz="1100" b="0" u="none" strike="noStrike">
              <a:solidFill>
                <a:srgbClr val="000000"/>
              </a:solidFill>
              <a:effectLst/>
              <a:uFillTx/>
              <a:latin typeface="Arial"/>
            </a:endParaRPr>
          </a:p>
        </p:txBody>
      </p:sp>
      <p:sp>
        <p:nvSpPr>
          <p:cNvPr id="206" name="Rectangle 9"/>
          <p:cNvSpPr/>
          <p:nvPr/>
        </p:nvSpPr>
        <p:spPr>
          <a:xfrm>
            <a:off x="567720" y="1700640"/>
            <a:ext cx="2584080" cy="50040"/>
          </a:xfrm>
          <a:prstGeom prst="rect">
            <a:avLst/>
          </a:prstGeom>
          <a:solidFill>
            <a:srgbClr val="4F46E5"/>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5400" rIns="90000" bIns="5400" anchor="ctr">
            <a:noAutofit/>
          </a:bodyPr>
          <a:p>
            <a:endParaRPr lang="en-US" sz="1800" b="0" u="none" strike="noStrike">
              <a:solidFill>
                <a:schemeClr val="lt1"/>
              </a:solidFill>
              <a:effectLst/>
              <a:uFillTx/>
              <a:latin typeface="Calibri"/>
            </a:endParaRPr>
          </a:p>
        </p:txBody>
      </p:sp>
      <p:sp>
        <p:nvSpPr>
          <p:cNvPr id="207" name="Rounded Rectangle 10"/>
          <p:cNvSpPr/>
          <p:nvPr/>
        </p:nvSpPr>
        <p:spPr>
          <a:xfrm>
            <a:off x="3390840" y="1700640"/>
            <a:ext cx="2585880" cy="2742840"/>
          </a:xfrm>
          <a:prstGeom prst="roundRect">
            <a:avLst>
              <a:gd name="adj" fmla="val 5500"/>
            </a:avLst>
          </a:prstGeom>
          <a:solidFill>
            <a:srgbClr val="FFFFFF"/>
          </a:solidFill>
          <a:ln w="12700">
            <a:solidFill>
              <a:srgbClr val="E3E8F0"/>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201240" tIns="237600" rIns="164520" bIns="45000" anchor="ctr">
            <a:noAutofit/>
          </a:bodyPr>
          <a:p>
            <a:pPr defTabSz="457200">
              <a:lnSpc>
                <a:spcPct val="106000"/>
              </a:lnSpc>
              <a:spcAft>
                <a:spcPts val="201"/>
              </a:spcAft>
            </a:pPr>
            <a:r>
              <a:rPr lang="en-US" sz="1500" b="1" u="none" strike="noStrike">
                <a:solidFill>
                  <a:srgbClr val="0E1A33"/>
                </a:solidFill>
                <a:effectLst/>
                <a:uFillTx/>
                <a:latin typeface="Calibri"/>
              </a:rPr>
              <a:t>Eligibility</a:t>
            </a:r>
            <a:endParaRPr lang="en-US" sz="1500" b="0" u="none" strike="noStrike">
              <a:solidFill>
                <a:srgbClr val="000000"/>
              </a:solidFill>
              <a:effectLst/>
              <a:uFillTx/>
              <a:latin typeface="Arial"/>
            </a:endParaRPr>
          </a:p>
          <a:p>
            <a:pPr defTabSz="457200">
              <a:lnSpc>
                <a:spcPct val="106000"/>
              </a:lnSpc>
              <a:spcAft>
                <a:spcPts val="1001"/>
              </a:spcAft>
            </a:pPr>
            <a:r>
              <a:rPr lang="en-US" sz="950" b="0" u="none" strike="noStrike">
                <a:solidFill>
                  <a:srgbClr val="7C3AED"/>
                </a:solidFill>
                <a:effectLst/>
                <a:uFillTx/>
                <a:latin typeface="Calibri"/>
              </a:rPr>
              <a:t>agents/eligibility_agent.py</a:t>
            </a:r>
            <a:endParaRPr lang="en-US" sz="950" b="0" u="none" strike="noStrike">
              <a:solidFill>
                <a:srgbClr val="000000"/>
              </a:solidFill>
              <a:effectLst/>
              <a:uFillTx/>
              <a:latin typeface="Arial"/>
            </a:endParaRPr>
          </a:p>
          <a:p>
            <a:pPr defTabSz="457200">
              <a:lnSpc>
                <a:spcPct val="112000"/>
              </a:lnSpc>
              <a:spcAft>
                <a:spcPts val="700"/>
              </a:spcAft>
            </a:pPr>
            <a:r>
              <a:rPr lang="en-US" sz="1100" b="1" u="none" strike="noStrike">
                <a:solidFill>
                  <a:srgbClr val="7C3AED"/>
                </a:solidFill>
                <a:effectLst/>
                <a:uFillTx/>
                <a:latin typeface="Calibri"/>
              </a:rPr>
              <a:t>·  </a:t>
            </a:r>
            <a:r>
              <a:rPr lang="en-US" sz="1100" b="0" u="none" strike="noStrike">
                <a:solidFill>
                  <a:srgbClr val="6B7280"/>
                </a:solidFill>
                <a:effectLst/>
                <a:uFillTx/>
                <a:latin typeface="Calibri"/>
              </a:rPr>
              <a:t>Estimates the new EMI and the EMI ratio</a:t>
            </a:r>
            <a:endParaRPr lang="en-US" sz="1100" b="0" u="none" strike="noStrike">
              <a:solidFill>
                <a:srgbClr val="000000"/>
              </a:solidFill>
              <a:effectLst/>
              <a:uFillTx/>
              <a:latin typeface="Arial"/>
            </a:endParaRPr>
          </a:p>
          <a:p>
            <a:pPr defTabSz="457200">
              <a:lnSpc>
                <a:spcPct val="112000"/>
              </a:lnSpc>
              <a:spcAft>
                <a:spcPts val="700"/>
              </a:spcAft>
            </a:pPr>
            <a:r>
              <a:rPr lang="en-US" sz="1100" b="1" u="none" strike="noStrike">
                <a:solidFill>
                  <a:srgbClr val="7C3AED"/>
                </a:solidFill>
                <a:effectLst/>
                <a:uFillTx/>
                <a:latin typeface="Calibri"/>
              </a:rPr>
              <a:t>·  </a:t>
            </a:r>
            <a:r>
              <a:rPr lang="en-US" sz="1100" b="0" u="none" strike="noStrike">
                <a:solidFill>
                  <a:srgbClr val="6B7280"/>
                </a:solidFill>
                <a:effectLst/>
                <a:uFillTx/>
                <a:latin typeface="Calibri"/>
              </a:rPr>
              <a:t>Evaluates four rules independently</a:t>
            </a:r>
            <a:endParaRPr lang="en-US" sz="1100" b="0" u="none" strike="noStrike">
              <a:solidFill>
                <a:srgbClr val="000000"/>
              </a:solidFill>
              <a:effectLst/>
              <a:uFillTx/>
              <a:latin typeface="Arial"/>
            </a:endParaRPr>
          </a:p>
          <a:p>
            <a:pPr defTabSz="457200">
              <a:lnSpc>
                <a:spcPct val="112000"/>
              </a:lnSpc>
              <a:spcAft>
                <a:spcPts val="700"/>
              </a:spcAft>
            </a:pPr>
            <a:r>
              <a:rPr lang="en-US" sz="1100" b="1" u="none" strike="noStrike">
                <a:solidFill>
                  <a:srgbClr val="7C3AED"/>
                </a:solidFill>
                <a:effectLst/>
                <a:uFillTx/>
                <a:latin typeface="Calibri"/>
              </a:rPr>
              <a:t>·  </a:t>
            </a:r>
            <a:r>
              <a:rPr lang="en-US" sz="1100" b="0" u="none" strike="noStrike">
                <a:solidFill>
                  <a:srgbClr val="6B7280"/>
                </a:solidFill>
                <a:effectLst/>
                <a:uFillTx/>
                <a:latin typeface="Calibri"/>
              </a:rPr>
              <a:t>Applies the borderline tolerance bands</a:t>
            </a:r>
            <a:endParaRPr lang="en-US" sz="1100" b="0" u="none" strike="noStrike">
              <a:solidFill>
                <a:srgbClr val="000000"/>
              </a:solidFill>
              <a:effectLst/>
              <a:uFillTx/>
              <a:latin typeface="Arial"/>
            </a:endParaRPr>
          </a:p>
          <a:p>
            <a:pPr defTabSz="457200">
              <a:lnSpc>
                <a:spcPct val="112000"/>
              </a:lnSpc>
              <a:spcAft>
                <a:spcPts val="700"/>
              </a:spcAft>
            </a:pPr>
            <a:r>
              <a:rPr lang="en-US" sz="1100" b="1" u="none" strike="noStrike">
                <a:solidFill>
                  <a:srgbClr val="7C3AED"/>
                </a:solidFill>
                <a:effectLst/>
                <a:uFillTx/>
                <a:latin typeface="Calibri"/>
              </a:rPr>
              <a:t>·  </a:t>
            </a:r>
            <a:r>
              <a:rPr lang="en-US" sz="1100" b="0" u="none" strike="noStrike">
                <a:solidFill>
                  <a:srgbClr val="6B7280"/>
                </a:solidFill>
                <a:effectLst/>
                <a:uFillTx/>
                <a:latin typeface="Calibri"/>
              </a:rPr>
              <a:t>Returns decision + per-rule results</a:t>
            </a:r>
            <a:endParaRPr lang="en-US" sz="1100" b="0" u="none" strike="noStrike">
              <a:solidFill>
                <a:srgbClr val="000000"/>
              </a:solidFill>
              <a:effectLst/>
              <a:uFillTx/>
              <a:latin typeface="Arial"/>
            </a:endParaRPr>
          </a:p>
        </p:txBody>
      </p:sp>
      <p:sp>
        <p:nvSpPr>
          <p:cNvPr id="208" name="Rectangle 11"/>
          <p:cNvSpPr/>
          <p:nvPr/>
        </p:nvSpPr>
        <p:spPr>
          <a:xfrm>
            <a:off x="3391560" y="1700640"/>
            <a:ext cx="2584080" cy="50040"/>
          </a:xfrm>
          <a:prstGeom prst="rect">
            <a:avLst/>
          </a:prstGeom>
          <a:solidFill>
            <a:srgbClr val="7C3AED"/>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5400" rIns="90000" bIns="5400" anchor="ctr">
            <a:noAutofit/>
          </a:bodyPr>
          <a:p>
            <a:endParaRPr lang="en-US" sz="1800" b="0" u="none" strike="noStrike">
              <a:solidFill>
                <a:schemeClr val="lt1"/>
              </a:solidFill>
              <a:effectLst/>
              <a:uFillTx/>
              <a:latin typeface="Calibri"/>
            </a:endParaRPr>
          </a:p>
        </p:txBody>
      </p:sp>
      <p:sp>
        <p:nvSpPr>
          <p:cNvPr id="209" name="Rounded Rectangle 12"/>
          <p:cNvSpPr/>
          <p:nvPr/>
        </p:nvSpPr>
        <p:spPr>
          <a:xfrm>
            <a:off x="6214680" y="1700640"/>
            <a:ext cx="2585880" cy="2742840"/>
          </a:xfrm>
          <a:prstGeom prst="roundRect">
            <a:avLst>
              <a:gd name="adj" fmla="val 5500"/>
            </a:avLst>
          </a:prstGeom>
          <a:solidFill>
            <a:srgbClr val="FFFFFF"/>
          </a:solidFill>
          <a:ln w="12700">
            <a:solidFill>
              <a:srgbClr val="E3E8F0"/>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201240" tIns="237600" rIns="164520" bIns="45000" anchor="ctr">
            <a:noAutofit/>
          </a:bodyPr>
          <a:p>
            <a:pPr defTabSz="457200">
              <a:lnSpc>
                <a:spcPct val="106000"/>
              </a:lnSpc>
              <a:spcAft>
                <a:spcPts val="201"/>
              </a:spcAft>
            </a:pPr>
            <a:r>
              <a:rPr lang="en-US" sz="1500" b="1" u="none" strike="noStrike">
                <a:solidFill>
                  <a:srgbClr val="0E1A33"/>
                </a:solidFill>
                <a:effectLst/>
                <a:uFillTx/>
                <a:latin typeface="Calibri"/>
              </a:rPr>
              <a:t>Retrieval (RAG)</a:t>
            </a:r>
            <a:endParaRPr lang="en-US" sz="1500" b="0" u="none" strike="noStrike">
              <a:solidFill>
                <a:srgbClr val="000000"/>
              </a:solidFill>
              <a:effectLst/>
              <a:uFillTx/>
              <a:latin typeface="Arial"/>
            </a:endParaRPr>
          </a:p>
          <a:p>
            <a:pPr defTabSz="457200">
              <a:lnSpc>
                <a:spcPct val="106000"/>
              </a:lnSpc>
              <a:spcAft>
                <a:spcPts val="1001"/>
              </a:spcAft>
            </a:pPr>
            <a:r>
              <a:rPr lang="en-US" sz="950" b="0" u="none" strike="noStrike">
                <a:solidFill>
                  <a:srgbClr val="06B6D4"/>
                </a:solidFill>
                <a:effectLst/>
                <a:uFillTx/>
                <a:latin typeface="Calibri"/>
              </a:rPr>
              <a:t>agents/rag_stub.py, rag_adapters.py</a:t>
            </a:r>
            <a:endParaRPr lang="en-US" sz="950" b="0" u="none" strike="noStrike">
              <a:solidFill>
                <a:srgbClr val="000000"/>
              </a:solidFill>
              <a:effectLst/>
              <a:uFillTx/>
              <a:latin typeface="Arial"/>
            </a:endParaRPr>
          </a:p>
          <a:p>
            <a:pPr defTabSz="457200">
              <a:lnSpc>
                <a:spcPct val="112000"/>
              </a:lnSpc>
              <a:spcAft>
                <a:spcPts val="700"/>
              </a:spcAft>
            </a:pPr>
            <a:r>
              <a:rPr lang="en-US" sz="1100" b="1" u="none" strike="noStrike">
                <a:solidFill>
                  <a:srgbClr val="06B6D4"/>
                </a:solidFill>
                <a:effectLst/>
                <a:uFillTx/>
                <a:latin typeface="Calibri"/>
              </a:rPr>
              <a:t>·  </a:t>
            </a:r>
            <a:r>
              <a:rPr lang="en-US" sz="1100" b="0" u="none" strike="noStrike">
                <a:solidFill>
                  <a:srgbClr val="6B7280"/>
                </a:solidFill>
                <a:effectLst/>
                <a:uFillTx/>
                <a:latin typeface="Calibri"/>
              </a:rPr>
              <a:t>Answers a Retriever protocol</a:t>
            </a:r>
            <a:endParaRPr lang="en-US" sz="1100" b="0" u="none" strike="noStrike">
              <a:solidFill>
                <a:srgbClr val="000000"/>
              </a:solidFill>
              <a:effectLst/>
              <a:uFillTx/>
              <a:latin typeface="Arial"/>
            </a:endParaRPr>
          </a:p>
          <a:p>
            <a:pPr defTabSz="457200">
              <a:lnSpc>
                <a:spcPct val="112000"/>
              </a:lnSpc>
              <a:spcAft>
                <a:spcPts val="700"/>
              </a:spcAft>
            </a:pPr>
            <a:r>
              <a:rPr lang="en-US" sz="1100" b="1" u="none" strike="noStrike">
                <a:solidFill>
                  <a:srgbClr val="06B6D4"/>
                </a:solidFill>
                <a:effectLst/>
                <a:uFillTx/>
                <a:latin typeface="Calibri"/>
              </a:rPr>
              <a:t>·  </a:t>
            </a:r>
            <a:r>
              <a:rPr lang="en-US" sz="1100" b="0" u="none" strike="noStrike">
                <a:solidFill>
                  <a:srgbClr val="6B7280"/>
                </a:solidFill>
                <a:effectLst/>
                <a:uFillTx/>
                <a:latin typeface="Calibri"/>
              </a:rPr>
              <a:t>Returns policy snippets with ids</a:t>
            </a:r>
            <a:endParaRPr lang="en-US" sz="1100" b="0" u="none" strike="noStrike">
              <a:solidFill>
                <a:srgbClr val="000000"/>
              </a:solidFill>
              <a:effectLst/>
              <a:uFillTx/>
              <a:latin typeface="Arial"/>
            </a:endParaRPr>
          </a:p>
          <a:p>
            <a:pPr defTabSz="457200">
              <a:lnSpc>
                <a:spcPct val="112000"/>
              </a:lnSpc>
              <a:spcAft>
                <a:spcPts val="700"/>
              </a:spcAft>
            </a:pPr>
            <a:r>
              <a:rPr lang="en-US" sz="1100" b="1" u="none" strike="noStrike">
                <a:solidFill>
                  <a:srgbClr val="06B6D4"/>
                </a:solidFill>
                <a:effectLst/>
                <a:uFillTx/>
                <a:latin typeface="Calibri"/>
              </a:rPr>
              <a:t>·  </a:t>
            </a:r>
            <a:r>
              <a:rPr lang="en-US" sz="1100" b="0" u="none" strike="noStrike">
                <a:solidFill>
                  <a:srgbClr val="6B7280"/>
                </a:solidFill>
                <a:effectLst/>
                <a:uFillTx/>
                <a:latin typeface="Calibri"/>
              </a:rPr>
              <a:t>Stub today; FAISS / Pinecone adapters exist</a:t>
            </a:r>
            <a:endParaRPr lang="en-US" sz="1100" b="0" u="none" strike="noStrike">
              <a:solidFill>
                <a:srgbClr val="000000"/>
              </a:solidFill>
              <a:effectLst/>
              <a:uFillTx/>
              <a:latin typeface="Arial"/>
            </a:endParaRPr>
          </a:p>
          <a:p>
            <a:pPr defTabSz="457200">
              <a:lnSpc>
                <a:spcPct val="112000"/>
              </a:lnSpc>
              <a:spcAft>
                <a:spcPts val="700"/>
              </a:spcAft>
            </a:pPr>
            <a:r>
              <a:rPr lang="en-US" sz="1100" b="1" u="none" strike="noStrike">
                <a:solidFill>
                  <a:srgbClr val="06B6D4"/>
                </a:solidFill>
                <a:effectLst/>
                <a:uFillTx/>
                <a:latin typeface="Calibri"/>
              </a:rPr>
              <a:t>·  </a:t>
            </a:r>
            <a:r>
              <a:rPr lang="en-US" sz="1100" b="0" u="none" strike="noStrike">
                <a:solidFill>
                  <a:srgbClr val="6B7280"/>
                </a:solidFill>
                <a:effectLst/>
                <a:uFillTx/>
                <a:latin typeface="Calibri"/>
              </a:rPr>
              <a:t>Swappable through constructor injection</a:t>
            </a:r>
            <a:endParaRPr lang="en-US" sz="1100" b="0" u="none" strike="noStrike">
              <a:solidFill>
                <a:srgbClr val="000000"/>
              </a:solidFill>
              <a:effectLst/>
              <a:uFillTx/>
              <a:latin typeface="Arial"/>
            </a:endParaRPr>
          </a:p>
        </p:txBody>
      </p:sp>
      <p:sp>
        <p:nvSpPr>
          <p:cNvPr id="210" name="Rectangle 13"/>
          <p:cNvSpPr/>
          <p:nvPr/>
        </p:nvSpPr>
        <p:spPr>
          <a:xfrm>
            <a:off x="6215760" y="1700640"/>
            <a:ext cx="2584080" cy="50040"/>
          </a:xfrm>
          <a:prstGeom prst="rect">
            <a:avLst/>
          </a:prstGeom>
          <a:solidFill>
            <a:srgbClr val="06B6D4"/>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5400" rIns="90000" bIns="5400" anchor="ctr">
            <a:noAutofit/>
          </a:bodyPr>
          <a:p>
            <a:endParaRPr lang="en-US" sz="1800" b="0" u="none" strike="noStrike">
              <a:solidFill>
                <a:schemeClr val="lt1"/>
              </a:solidFill>
              <a:effectLst/>
              <a:uFillTx/>
              <a:latin typeface="Calibri"/>
            </a:endParaRPr>
          </a:p>
        </p:txBody>
      </p:sp>
      <p:sp>
        <p:nvSpPr>
          <p:cNvPr id="211" name="Rounded Rectangle 14"/>
          <p:cNvSpPr/>
          <p:nvPr/>
        </p:nvSpPr>
        <p:spPr>
          <a:xfrm>
            <a:off x="9038520" y="1700640"/>
            <a:ext cx="2585880" cy="2742840"/>
          </a:xfrm>
          <a:prstGeom prst="roundRect">
            <a:avLst>
              <a:gd name="adj" fmla="val 5500"/>
            </a:avLst>
          </a:prstGeom>
          <a:solidFill>
            <a:srgbClr val="FFFFFF"/>
          </a:solidFill>
          <a:ln w="12700">
            <a:solidFill>
              <a:srgbClr val="E3E8F0"/>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201240" tIns="237600" rIns="164520" bIns="45000" anchor="ctr">
            <a:noAutofit/>
          </a:bodyPr>
          <a:p>
            <a:pPr defTabSz="457200">
              <a:lnSpc>
                <a:spcPct val="106000"/>
              </a:lnSpc>
              <a:spcAft>
                <a:spcPts val="201"/>
              </a:spcAft>
            </a:pPr>
            <a:r>
              <a:rPr lang="en-US" sz="1500" b="1" u="none" strike="noStrike">
                <a:solidFill>
                  <a:srgbClr val="0E1A33"/>
                </a:solidFill>
                <a:effectLst/>
                <a:uFillTx/>
                <a:latin typeface="Calibri"/>
              </a:rPr>
              <a:t>Chat</a:t>
            </a:r>
            <a:endParaRPr lang="en-US" sz="1500" b="0" u="none" strike="noStrike">
              <a:solidFill>
                <a:srgbClr val="000000"/>
              </a:solidFill>
              <a:effectLst/>
              <a:uFillTx/>
              <a:latin typeface="Arial"/>
            </a:endParaRPr>
          </a:p>
          <a:p>
            <a:pPr defTabSz="457200">
              <a:lnSpc>
                <a:spcPct val="106000"/>
              </a:lnSpc>
              <a:spcAft>
                <a:spcPts val="1001"/>
              </a:spcAft>
            </a:pPr>
            <a:r>
              <a:rPr lang="en-US" sz="950" b="0" u="none" strike="noStrike">
                <a:solidFill>
                  <a:srgbClr val="15A34A"/>
                </a:solidFill>
                <a:effectLst/>
                <a:uFillTx/>
                <a:latin typeface="Calibri"/>
              </a:rPr>
              <a:t>agents/chat_agent.py, chat_llm.py</a:t>
            </a:r>
            <a:endParaRPr lang="en-US" sz="950" b="0" u="none" strike="noStrike">
              <a:solidFill>
                <a:srgbClr val="000000"/>
              </a:solidFill>
              <a:effectLst/>
              <a:uFillTx/>
              <a:latin typeface="Arial"/>
            </a:endParaRPr>
          </a:p>
          <a:p>
            <a:pPr defTabSz="457200">
              <a:lnSpc>
                <a:spcPct val="112000"/>
              </a:lnSpc>
              <a:spcAft>
                <a:spcPts val="700"/>
              </a:spcAft>
            </a:pPr>
            <a:r>
              <a:rPr lang="en-US" sz="1100" b="1" u="none" strike="noStrike">
                <a:solidFill>
                  <a:srgbClr val="15A34A"/>
                </a:solidFill>
                <a:effectLst/>
                <a:uFillTx/>
                <a:latin typeface="Calibri"/>
              </a:rPr>
              <a:t>·  </a:t>
            </a:r>
            <a:r>
              <a:rPr lang="en-US" sz="1100" b="0" u="none" strike="noStrike">
                <a:solidFill>
                  <a:srgbClr val="6B7280"/>
                </a:solidFill>
                <a:effectLst/>
                <a:uFillTx/>
                <a:latin typeface="Calibri"/>
              </a:rPr>
              <a:t>Blocks sensitive identifiers first</a:t>
            </a:r>
            <a:endParaRPr lang="en-US" sz="1100" b="0" u="none" strike="noStrike">
              <a:solidFill>
                <a:srgbClr val="000000"/>
              </a:solidFill>
              <a:effectLst/>
              <a:uFillTx/>
              <a:latin typeface="Arial"/>
            </a:endParaRPr>
          </a:p>
          <a:p>
            <a:pPr defTabSz="457200">
              <a:lnSpc>
                <a:spcPct val="112000"/>
              </a:lnSpc>
              <a:spcAft>
                <a:spcPts val="700"/>
              </a:spcAft>
            </a:pPr>
            <a:r>
              <a:rPr lang="en-US" sz="1100" b="1" u="none" strike="noStrike">
                <a:solidFill>
                  <a:srgbClr val="15A34A"/>
                </a:solidFill>
                <a:effectLst/>
                <a:uFillTx/>
                <a:latin typeface="Calibri"/>
              </a:rPr>
              <a:t>·  </a:t>
            </a:r>
            <a:r>
              <a:rPr lang="en-US" sz="1100" b="0" u="none" strike="noStrike">
                <a:solidFill>
                  <a:srgbClr val="6B7280"/>
                </a:solidFill>
                <a:effectLst/>
                <a:uFillTx/>
                <a:latin typeface="Calibri"/>
              </a:rPr>
              <a:t>Answers result questions from the assessment</a:t>
            </a:r>
            <a:endParaRPr lang="en-US" sz="1100" b="0" u="none" strike="noStrike">
              <a:solidFill>
                <a:srgbClr val="000000"/>
              </a:solidFill>
              <a:effectLst/>
              <a:uFillTx/>
              <a:latin typeface="Arial"/>
            </a:endParaRPr>
          </a:p>
          <a:p>
            <a:pPr defTabSz="457200">
              <a:lnSpc>
                <a:spcPct val="112000"/>
              </a:lnSpc>
              <a:spcAft>
                <a:spcPts val="700"/>
              </a:spcAft>
            </a:pPr>
            <a:r>
              <a:rPr lang="en-US" sz="1100" b="1" u="none" strike="noStrike">
                <a:solidFill>
                  <a:srgbClr val="15A34A"/>
                </a:solidFill>
                <a:effectLst/>
                <a:uFillTx/>
                <a:latin typeface="Calibri"/>
              </a:rPr>
              <a:t>·  </a:t>
            </a:r>
            <a:r>
              <a:rPr lang="en-US" sz="1100" b="0" u="none" strike="noStrike">
                <a:solidFill>
                  <a:srgbClr val="6B7280"/>
                </a:solidFill>
                <a:effectLst/>
                <a:uFillTx/>
                <a:latin typeface="Calibri"/>
              </a:rPr>
              <a:t>Falls back to ranked FAQ retrieval</a:t>
            </a:r>
            <a:endParaRPr lang="en-US" sz="1100" b="0" u="none" strike="noStrike">
              <a:solidFill>
                <a:srgbClr val="000000"/>
              </a:solidFill>
              <a:effectLst/>
              <a:uFillTx/>
              <a:latin typeface="Arial"/>
            </a:endParaRPr>
          </a:p>
          <a:p>
            <a:pPr defTabSz="457200">
              <a:lnSpc>
                <a:spcPct val="112000"/>
              </a:lnSpc>
              <a:spcAft>
                <a:spcPts val="700"/>
              </a:spcAft>
            </a:pPr>
            <a:r>
              <a:rPr lang="en-US" sz="1100" b="1" u="none" strike="noStrike">
                <a:solidFill>
                  <a:srgbClr val="15A34A"/>
                </a:solidFill>
                <a:effectLst/>
                <a:uFillTx/>
                <a:latin typeface="Calibri"/>
              </a:rPr>
              <a:t>·  </a:t>
            </a:r>
            <a:r>
              <a:rPr lang="en-US" sz="1100" b="0" u="none" strike="noStrike">
                <a:solidFill>
                  <a:srgbClr val="6B7280"/>
                </a:solidFill>
                <a:effectLst/>
                <a:uFillTx/>
                <a:latin typeface="Calibri"/>
              </a:rPr>
              <a:t>Optionally rephrases through Claude</a:t>
            </a:r>
            <a:endParaRPr lang="en-US" sz="1100" b="0" u="none" strike="noStrike">
              <a:solidFill>
                <a:srgbClr val="000000"/>
              </a:solidFill>
              <a:effectLst/>
              <a:uFillTx/>
              <a:latin typeface="Arial"/>
            </a:endParaRPr>
          </a:p>
        </p:txBody>
      </p:sp>
      <p:sp>
        <p:nvSpPr>
          <p:cNvPr id="212" name="Rectangle 15"/>
          <p:cNvSpPr/>
          <p:nvPr/>
        </p:nvSpPr>
        <p:spPr>
          <a:xfrm>
            <a:off x="9039600" y="1700640"/>
            <a:ext cx="2584080" cy="50040"/>
          </a:xfrm>
          <a:prstGeom prst="rect">
            <a:avLst/>
          </a:prstGeom>
          <a:solidFill>
            <a:srgbClr val="15A34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5400" rIns="90000" bIns="5400" anchor="ctr">
            <a:noAutofit/>
          </a:bodyPr>
          <a:p>
            <a:endParaRPr lang="en-US" sz="1800" b="0" u="none" strike="noStrike">
              <a:solidFill>
                <a:schemeClr val="lt1"/>
              </a:solidFill>
              <a:effectLst/>
              <a:uFillTx/>
              <a:latin typeface="Calibri"/>
            </a:endParaRPr>
          </a:p>
        </p:txBody>
      </p:sp>
      <p:sp>
        <p:nvSpPr>
          <p:cNvPr id="213" name="TextBox 16"/>
          <p:cNvSpPr/>
          <p:nvPr/>
        </p:nvSpPr>
        <p:spPr>
          <a:xfrm>
            <a:off x="567000" y="4663440"/>
            <a:ext cx="11057400" cy="548280"/>
          </a:xfrm>
          <a:prstGeom prst="rect">
            <a:avLst/>
          </a:prstGeom>
          <a:noFill/>
          <a:ln w="0">
            <a:noFill/>
          </a:ln>
        </p:spPr>
        <p:style>
          <a:lnRef idx="0"/>
          <a:fillRef idx="0"/>
          <a:effectRef idx="0"/>
          <a:fontRef idx="minor"/>
        </p:style>
        <p:txBody>
          <a:bodyPr lIns="0" tIns="0" rIns="0" bIns="0" anchor="t">
            <a:spAutoFit/>
          </a:bodyPr>
          <a:p>
            <a:pPr defTabSz="457200">
              <a:lnSpc>
                <a:spcPct val="108000"/>
              </a:lnSpc>
            </a:pPr>
            <a:r>
              <a:rPr lang="en-US" sz="1200" b="1" u="none" strike="noStrike">
                <a:solidFill>
                  <a:srgbClr val="0E1A33"/>
                </a:solidFill>
                <a:effectLst/>
                <a:uFillTx/>
                <a:latin typeface="Calibri"/>
              </a:rPr>
              <a:t>One rule we kept:  </a:t>
            </a:r>
            <a:r>
              <a:rPr lang="en-US" sz="1200" b="0" u="none" strike="noStrike">
                <a:solidFill>
                  <a:srgbClr val="6B7280"/>
                </a:solidFill>
                <a:effectLst/>
                <a:uFillTx/>
                <a:latin typeface="Calibri"/>
              </a:rPr>
              <a:t>chat_agent.py never imports chat_llm.py. The dependency runs one way only, so the chatbot stays importable — and unit-testable — without the anthropic package installed at all.</a:t>
            </a:r>
            <a:endParaRPr lang="en-US" sz="12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14" name="Rectangle 1"/>
          <p:cNvSpPr/>
          <p:nvPr/>
        </p:nvSpPr>
        <p:spPr>
          <a:xfrm>
            <a:off x="0" y="0"/>
            <a:ext cx="12191400" cy="6857640"/>
          </a:xfrm>
          <a:prstGeom prst="rect">
            <a:avLst/>
          </a:prstGeom>
          <a:solidFill>
            <a:srgbClr val="FFFFFF"/>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215" name="Rectangle 2"/>
          <p:cNvSpPr/>
          <p:nvPr/>
        </p:nvSpPr>
        <p:spPr>
          <a:xfrm>
            <a:off x="0" y="0"/>
            <a:ext cx="12191400" cy="77400"/>
          </a:xfrm>
          <a:prstGeom prst="rect">
            <a:avLst/>
          </a:prstGeom>
          <a:gradFill rotWithShape="0">
            <a:gsLst>
              <a:gs pos="0">
                <a:srgbClr val="4F46E5"/>
              </a:gs>
              <a:gs pos="100000">
                <a:srgbClr val="7C3AED"/>
              </a:gs>
            </a:gsLst>
            <a:lin ang="0"/>
          </a:gra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32760" rIns="90000" bIns="32760" anchor="ctr">
            <a:noAutofit/>
          </a:bodyPr>
          <a:p>
            <a:endParaRPr lang="en-US" sz="1800" b="0" u="none" strike="noStrike">
              <a:solidFill>
                <a:schemeClr val="lt1"/>
              </a:solidFill>
              <a:effectLst/>
              <a:uFillTx/>
              <a:latin typeface="Calibri"/>
            </a:endParaRPr>
          </a:p>
        </p:txBody>
      </p:sp>
      <p:sp>
        <p:nvSpPr>
          <p:cNvPr id="216" name="TextBox 3"/>
          <p:cNvSpPr/>
          <p:nvPr/>
        </p:nvSpPr>
        <p:spPr>
          <a:xfrm>
            <a:off x="567000" y="384120"/>
            <a:ext cx="11057400" cy="237240"/>
          </a:xfrm>
          <a:prstGeom prst="rect">
            <a:avLst/>
          </a:prstGeom>
          <a:noFill/>
          <a:ln w="0">
            <a:noFill/>
          </a:ln>
        </p:spPr>
        <p:style>
          <a:lnRef idx="0"/>
          <a:fillRef idx="0"/>
          <a:effectRef idx="0"/>
          <a:fontRef idx="minor"/>
        </p:style>
        <p:txBody>
          <a:bodyPr lIns="0" tIns="0" rIns="0" bIns="0" anchor="t">
            <a:spAutoFit/>
          </a:bodyPr>
          <a:p>
            <a:pPr defTabSz="457200">
              <a:lnSpc>
                <a:spcPct val="106000"/>
              </a:lnSpc>
            </a:pPr>
            <a:r>
              <a:rPr lang="en-US" sz="950" b="1" u="none" strike="noStrike">
                <a:solidFill>
                  <a:srgbClr val="4F46E5"/>
                </a:solidFill>
                <a:effectLst/>
                <a:uFillTx/>
                <a:latin typeface="Calibri"/>
              </a:rPr>
              <a:t>PART 02  ·  DECISION LOGIC</a:t>
            </a:r>
            <a:endParaRPr lang="en-US" sz="950" b="0" u="none" strike="noStrike">
              <a:solidFill>
                <a:srgbClr val="000000"/>
              </a:solidFill>
              <a:effectLst/>
              <a:uFillTx/>
              <a:latin typeface="Arial"/>
            </a:endParaRPr>
          </a:p>
        </p:txBody>
      </p:sp>
      <p:sp>
        <p:nvSpPr>
          <p:cNvPr id="217" name="TextBox 4"/>
          <p:cNvSpPr/>
          <p:nvPr/>
        </p:nvSpPr>
        <p:spPr>
          <a:xfrm>
            <a:off x="567000" y="658440"/>
            <a:ext cx="11057400" cy="502560"/>
          </a:xfrm>
          <a:prstGeom prst="rect">
            <a:avLst/>
          </a:prstGeom>
          <a:noFill/>
          <a:ln w="0">
            <a:noFill/>
          </a:ln>
        </p:spPr>
        <p:style>
          <a:lnRef idx="0"/>
          <a:fillRef idx="0"/>
          <a:effectRef idx="0"/>
          <a:fontRef idx="minor"/>
        </p:style>
        <p:txBody>
          <a:bodyPr lIns="0" tIns="0" rIns="0" bIns="0" anchor="t">
            <a:spAutoFit/>
          </a:bodyPr>
          <a:p>
            <a:pPr defTabSz="457200">
              <a:lnSpc>
                <a:spcPct val="106000"/>
              </a:lnSpc>
            </a:pPr>
            <a:r>
              <a:rPr lang="en-US" sz="2700" b="1" u="none" strike="noStrike">
                <a:solidFill>
                  <a:srgbClr val="0E1A33"/>
                </a:solidFill>
                <a:effectLst/>
                <a:uFillTx/>
                <a:latin typeface="Calibri"/>
              </a:rPr>
              <a:t>The rules, exactly as the code applies them</a:t>
            </a:r>
            <a:endParaRPr lang="en-US" sz="2700" b="0" u="none" strike="noStrike">
              <a:solidFill>
                <a:srgbClr val="000000"/>
              </a:solidFill>
              <a:effectLst/>
              <a:uFillTx/>
              <a:latin typeface="Arial"/>
            </a:endParaRPr>
          </a:p>
        </p:txBody>
      </p:sp>
      <p:sp>
        <p:nvSpPr>
          <p:cNvPr id="218" name="TextBox 5"/>
          <p:cNvSpPr/>
          <p:nvPr/>
        </p:nvSpPr>
        <p:spPr>
          <a:xfrm>
            <a:off x="567000" y="1225440"/>
            <a:ext cx="9509400" cy="365400"/>
          </a:xfrm>
          <a:prstGeom prst="rect">
            <a:avLst/>
          </a:prstGeom>
          <a:noFill/>
          <a:ln w="0">
            <a:noFill/>
          </a:ln>
        </p:spPr>
        <p:style>
          <a:lnRef idx="0"/>
          <a:fillRef idx="0"/>
          <a:effectRef idx="0"/>
          <a:fontRef idx="minor"/>
        </p:style>
        <p:txBody>
          <a:bodyPr lIns="0" tIns="0" rIns="0" bIns="0" anchor="t">
            <a:spAutoFit/>
          </a:bodyPr>
          <a:p>
            <a:pPr defTabSz="457200">
              <a:lnSpc>
                <a:spcPct val="106000"/>
              </a:lnSpc>
            </a:pPr>
            <a:r>
              <a:rPr lang="en-US" sz="1250" b="0" u="none" strike="noStrike">
                <a:solidFill>
                  <a:srgbClr val="6B7280"/>
                </a:solidFill>
                <a:effectLst/>
                <a:uFillTx/>
                <a:latin typeface="Calibri"/>
              </a:rPr>
              <a:t>Source of truth: agents/eligibility_agent.py. These are the numbers the demo will produce.</a:t>
            </a:r>
            <a:endParaRPr lang="en-US" sz="1250" b="0" u="none" strike="noStrike">
              <a:solidFill>
                <a:srgbClr val="000000"/>
              </a:solidFill>
              <a:effectLst/>
              <a:uFillTx/>
              <a:latin typeface="Arial"/>
            </a:endParaRPr>
          </a:p>
        </p:txBody>
      </p:sp>
      <p:sp>
        <p:nvSpPr>
          <p:cNvPr id="219" name="TextBox 6"/>
          <p:cNvSpPr/>
          <p:nvPr/>
        </p:nvSpPr>
        <p:spPr>
          <a:xfrm>
            <a:off x="567000" y="6382440"/>
            <a:ext cx="7740000" cy="273960"/>
          </a:xfrm>
          <a:prstGeom prst="rect">
            <a:avLst/>
          </a:prstGeom>
          <a:noFill/>
          <a:ln w="0">
            <a:noFill/>
          </a:ln>
        </p:spPr>
        <p:style>
          <a:lnRef idx="0"/>
          <a:fillRef idx="0"/>
          <a:effectRef idx="0"/>
          <a:fontRef idx="minor"/>
        </p:style>
        <p:txBody>
          <a:bodyPr lIns="0" tIns="0" rIns="0" bIns="0" anchor="t">
            <a:spAutoFit/>
          </a:bodyPr>
          <a:p>
            <a:pPr defTabSz="457200">
              <a:lnSpc>
                <a:spcPct val="106000"/>
              </a:lnSpc>
            </a:pPr>
            <a:r>
              <a:rPr lang="en-US" sz="900" b="0" u="none" strike="noStrike">
                <a:solidFill>
                  <a:srgbClr val="6B7280"/>
                </a:solidFill>
                <a:effectLst/>
                <a:uFillTx/>
                <a:latin typeface="Calibri"/>
              </a:rPr>
              <a:t>Loan Eligibility AI  ·  Capstone Demonstration</a:t>
            </a:r>
            <a:endParaRPr lang="en-US" sz="900" b="0" u="none" strike="noStrike">
              <a:solidFill>
                <a:srgbClr val="000000"/>
              </a:solidFill>
              <a:effectLst/>
              <a:uFillTx/>
              <a:latin typeface="Arial"/>
            </a:endParaRPr>
          </a:p>
        </p:txBody>
      </p:sp>
      <p:sp>
        <p:nvSpPr>
          <p:cNvPr id="220" name="TextBox 7"/>
          <p:cNvSpPr/>
          <p:nvPr/>
        </p:nvSpPr>
        <p:spPr>
          <a:xfrm>
            <a:off x="10527480" y="6382440"/>
            <a:ext cx="1096920" cy="273960"/>
          </a:xfrm>
          <a:prstGeom prst="rect">
            <a:avLst/>
          </a:prstGeom>
          <a:noFill/>
          <a:ln w="0">
            <a:noFill/>
          </a:ln>
        </p:spPr>
        <p:style>
          <a:lnRef idx="0"/>
          <a:fillRef idx="0"/>
          <a:effectRef idx="0"/>
          <a:fontRef idx="minor"/>
        </p:style>
        <p:txBody>
          <a:bodyPr lIns="0" tIns="0" rIns="0" bIns="0" anchor="t">
            <a:spAutoFit/>
          </a:bodyPr>
          <a:p>
            <a:pPr algn="r" defTabSz="457200">
              <a:lnSpc>
                <a:spcPct val="106000"/>
              </a:lnSpc>
            </a:pPr>
            <a:r>
              <a:rPr lang="en-US" sz="900" b="0" u="none" strike="noStrike">
                <a:solidFill>
                  <a:srgbClr val="6B7280"/>
                </a:solidFill>
                <a:effectLst/>
                <a:uFillTx/>
                <a:latin typeface="Calibri"/>
              </a:rPr>
              <a:t>10</a:t>
            </a:r>
            <a:endParaRPr lang="en-US" sz="900" b="0" u="none" strike="noStrike">
              <a:solidFill>
                <a:srgbClr val="000000"/>
              </a:solidFill>
              <a:effectLst/>
              <a:uFillTx/>
              <a:latin typeface="Arial"/>
            </a:endParaRPr>
          </a:p>
        </p:txBody>
      </p:sp>
      <p:sp>
        <p:nvSpPr>
          <p:cNvPr id="221" name="Rounded Rectangle 8"/>
          <p:cNvSpPr/>
          <p:nvPr/>
        </p:nvSpPr>
        <p:spPr>
          <a:xfrm>
            <a:off x="567000" y="1700640"/>
            <a:ext cx="2599560" cy="1481040"/>
          </a:xfrm>
          <a:prstGeom prst="roundRect">
            <a:avLst>
              <a:gd name="adj" fmla="val 5500"/>
            </a:avLst>
          </a:prstGeom>
          <a:solidFill>
            <a:srgbClr val="FFFFFF"/>
          </a:solidFill>
          <a:ln w="12700">
            <a:solidFill>
              <a:srgbClr val="E3E8F0"/>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182880" tIns="182880" rIns="146160" bIns="45000" anchor="ctr">
            <a:noAutofit/>
          </a:bodyPr>
          <a:p>
            <a:pPr defTabSz="457200">
              <a:lnSpc>
                <a:spcPct val="106000"/>
              </a:lnSpc>
              <a:spcAft>
                <a:spcPts val="400"/>
              </a:spcAft>
            </a:pPr>
            <a:r>
              <a:rPr lang="en-US" sz="1250" b="1" u="none" strike="noStrike">
                <a:solidFill>
                  <a:srgbClr val="0E1A33"/>
                </a:solidFill>
                <a:effectLst/>
                <a:uFillTx/>
                <a:latin typeface="Calibri"/>
              </a:rPr>
              <a:t>Credit score</a:t>
            </a:r>
            <a:endParaRPr lang="en-US" sz="1250" b="0" u="none" strike="noStrike">
              <a:solidFill>
                <a:srgbClr val="000000"/>
              </a:solidFill>
              <a:effectLst/>
              <a:uFillTx/>
              <a:latin typeface="Arial"/>
            </a:endParaRPr>
          </a:p>
          <a:p>
            <a:pPr defTabSz="457200">
              <a:lnSpc>
                <a:spcPct val="106000"/>
              </a:lnSpc>
              <a:spcAft>
                <a:spcPts val="499"/>
              </a:spcAft>
            </a:pPr>
            <a:r>
              <a:rPr lang="en-US" sz="1250" b="1" u="none" strike="noStrike">
                <a:solidFill>
                  <a:srgbClr val="4F46E5"/>
                </a:solidFill>
                <a:effectLst/>
                <a:uFillTx/>
                <a:latin typeface="Calibri"/>
              </a:rPr>
              <a:t>score &gt; 700</a:t>
            </a:r>
            <a:endParaRPr lang="en-US" sz="1250" b="0" u="none" strike="noStrike">
              <a:solidFill>
                <a:srgbClr val="000000"/>
              </a:solidFill>
              <a:effectLst/>
              <a:uFillTx/>
              <a:latin typeface="Arial"/>
            </a:endParaRPr>
          </a:p>
          <a:p>
            <a:pPr defTabSz="457200">
              <a:lnSpc>
                <a:spcPct val="110000"/>
              </a:lnSpc>
            </a:pPr>
            <a:r>
              <a:rPr lang="en-US" sz="1000" b="0" u="none" strike="noStrike">
                <a:solidFill>
                  <a:srgbClr val="6B7280"/>
                </a:solidFill>
                <a:effectLst/>
                <a:uFillTx/>
                <a:latin typeface="Calibri"/>
              </a:rPr>
              <a:t>Strictly greater than — 700 itself does not pass.</a:t>
            </a:r>
            <a:endParaRPr lang="en-US" sz="1000" b="0" u="none" strike="noStrike">
              <a:solidFill>
                <a:srgbClr val="000000"/>
              </a:solidFill>
              <a:effectLst/>
              <a:uFillTx/>
              <a:latin typeface="Arial"/>
            </a:endParaRPr>
          </a:p>
        </p:txBody>
      </p:sp>
      <p:sp>
        <p:nvSpPr>
          <p:cNvPr id="222" name="Rectangle 9"/>
          <p:cNvSpPr/>
          <p:nvPr/>
        </p:nvSpPr>
        <p:spPr>
          <a:xfrm>
            <a:off x="567720" y="1700640"/>
            <a:ext cx="2597760" cy="45360"/>
          </a:xfrm>
          <a:prstGeom prst="rect">
            <a:avLst/>
          </a:prstGeom>
          <a:solidFill>
            <a:srgbClr val="4F46E5"/>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720" rIns="90000" bIns="720" anchor="ctr">
            <a:noAutofit/>
          </a:bodyPr>
          <a:p>
            <a:endParaRPr lang="en-US" sz="1800" b="0" u="none" strike="noStrike">
              <a:solidFill>
                <a:schemeClr val="lt1"/>
              </a:solidFill>
              <a:effectLst/>
              <a:uFillTx/>
              <a:latin typeface="Calibri"/>
            </a:endParaRPr>
          </a:p>
        </p:txBody>
      </p:sp>
      <p:sp>
        <p:nvSpPr>
          <p:cNvPr id="223" name="Rounded Rectangle 10"/>
          <p:cNvSpPr/>
          <p:nvPr/>
        </p:nvSpPr>
        <p:spPr>
          <a:xfrm>
            <a:off x="3386160" y="1700640"/>
            <a:ext cx="2599560" cy="1481040"/>
          </a:xfrm>
          <a:prstGeom prst="roundRect">
            <a:avLst>
              <a:gd name="adj" fmla="val 5500"/>
            </a:avLst>
          </a:prstGeom>
          <a:solidFill>
            <a:srgbClr val="FFFFFF"/>
          </a:solidFill>
          <a:ln w="12700">
            <a:solidFill>
              <a:srgbClr val="E3E8F0"/>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182880" tIns="182880" rIns="146160" bIns="45000" anchor="ctr">
            <a:noAutofit/>
          </a:bodyPr>
          <a:p>
            <a:pPr defTabSz="457200">
              <a:lnSpc>
                <a:spcPct val="106000"/>
              </a:lnSpc>
              <a:spcAft>
                <a:spcPts val="400"/>
              </a:spcAft>
            </a:pPr>
            <a:r>
              <a:rPr lang="en-US" sz="1250" b="1" u="none" strike="noStrike">
                <a:solidFill>
                  <a:srgbClr val="0E1A33"/>
                </a:solidFill>
                <a:effectLst/>
                <a:uFillTx/>
                <a:latin typeface="Calibri"/>
              </a:rPr>
              <a:t>Age</a:t>
            </a:r>
            <a:endParaRPr lang="en-US" sz="1250" b="0" u="none" strike="noStrike">
              <a:solidFill>
                <a:srgbClr val="000000"/>
              </a:solidFill>
              <a:effectLst/>
              <a:uFillTx/>
              <a:latin typeface="Arial"/>
            </a:endParaRPr>
          </a:p>
          <a:p>
            <a:pPr defTabSz="457200">
              <a:lnSpc>
                <a:spcPct val="106000"/>
              </a:lnSpc>
              <a:spcAft>
                <a:spcPts val="499"/>
              </a:spcAft>
            </a:pPr>
            <a:r>
              <a:rPr lang="en-US" sz="1250" b="1" u="none" strike="noStrike">
                <a:solidFill>
                  <a:srgbClr val="7C3AED"/>
                </a:solidFill>
                <a:effectLst/>
                <a:uFillTx/>
                <a:latin typeface="Calibri"/>
              </a:rPr>
              <a:t>21 ≤ age ≤ 60</a:t>
            </a:r>
            <a:endParaRPr lang="en-US" sz="1250" b="0" u="none" strike="noStrike">
              <a:solidFill>
                <a:srgbClr val="000000"/>
              </a:solidFill>
              <a:effectLst/>
              <a:uFillTx/>
              <a:latin typeface="Arial"/>
            </a:endParaRPr>
          </a:p>
          <a:p>
            <a:pPr defTabSz="457200">
              <a:lnSpc>
                <a:spcPct val="110000"/>
              </a:lnSpc>
            </a:pPr>
            <a:r>
              <a:rPr lang="en-US" sz="1000" b="0" u="none" strike="noStrike">
                <a:solidFill>
                  <a:srgbClr val="6B7280"/>
                </a:solidFill>
                <a:effectLst/>
                <a:uFillTx/>
                <a:latin typeface="Calibri"/>
              </a:rPr>
              <a:t>Both bounds inclusive.</a:t>
            </a:r>
            <a:endParaRPr lang="en-US" sz="1000" b="0" u="none" strike="noStrike">
              <a:solidFill>
                <a:srgbClr val="000000"/>
              </a:solidFill>
              <a:effectLst/>
              <a:uFillTx/>
              <a:latin typeface="Arial"/>
            </a:endParaRPr>
          </a:p>
        </p:txBody>
      </p:sp>
      <p:sp>
        <p:nvSpPr>
          <p:cNvPr id="224" name="Rectangle 11"/>
          <p:cNvSpPr/>
          <p:nvPr/>
        </p:nvSpPr>
        <p:spPr>
          <a:xfrm>
            <a:off x="3387240" y="1700640"/>
            <a:ext cx="2597760" cy="45360"/>
          </a:xfrm>
          <a:prstGeom prst="rect">
            <a:avLst/>
          </a:prstGeom>
          <a:solidFill>
            <a:srgbClr val="7C3AED"/>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720" rIns="90000" bIns="720" anchor="ctr">
            <a:noAutofit/>
          </a:bodyPr>
          <a:p>
            <a:endParaRPr lang="en-US" sz="1800" b="0" u="none" strike="noStrike">
              <a:solidFill>
                <a:schemeClr val="lt1"/>
              </a:solidFill>
              <a:effectLst/>
              <a:uFillTx/>
              <a:latin typeface="Calibri"/>
            </a:endParaRPr>
          </a:p>
        </p:txBody>
      </p:sp>
      <p:sp>
        <p:nvSpPr>
          <p:cNvPr id="225" name="Rounded Rectangle 12"/>
          <p:cNvSpPr/>
          <p:nvPr/>
        </p:nvSpPr>
        <p:spPr>
          <a:xfrm>
            <a:off x="6205680" y="1700640"/>
            <a:ext cx="2599560" cy="1481040"/>
          </a:xfrm>
          <a:prstGeom prst="roundRect">
            <a:avLst>
              <a:gd name="adj" fmla="val 5500"/>
            </a:avLst>
          </a:prstGeom>
          <a:solidFill>
            <a:srgbClr val="FFFFFF"/>
          </a:solidFill>
          <a:ln w="12700">
            <a:solidFill>
              <a:srgbClr val="E3E8F0"/>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182880" tIns="182880" rIns="146160" bIns="45000" anchor="ctr">
            <a:noAutofit/>
          </a:bodyPr>
          <a:p>
            <a:pPr defTabSz="457200">
              <a:lnSpc>
                <a:spcPct val="106000"/>
              </a:lnSpc>
              <a:spcAft>
                <a:spcPts val="400"/>
              </a:spcAft>
            </a:pPr>
            <a:r>
              <a:rPr lang="en-US" sz="1250" b="1" u="none" strike="noStrike">
                <a:solidFill>
                  <a:srgbClr val="0E1A33"/>
                </a:solidFill>
                <a:effectLst/>
                <a:uFillTx/>
                <a:latin typeface="Calibri"/>
              </a:rPr>
              <a:t>EMI-to-income</a:t>
            </a:r>
            <a:endParaRPr lang="en-US" sz="1250" b="0" u="none" strike="noStrike">
              <a:solidFill>
                <a:srgbClr val="000000"/>
              </a:solidFill>
              <a:effectLst/>
              <a:uFillTx/>
              <a:latin typeface="Arial"/>
            </a:endParaRPr>
          </a:p>
          <a:p>
            <a:pPr defTabSz="457200">
              <a:lnSpc>
                <a:spcPct val="106000"/>
              </a:lnSpc>
              <a:spcAft>
                <a:spcPts val="499"/>
              </a:spcAft>
            </a:pPr>
            <a:r>
              <a:rPr lang="en-US" sz="1250" b="1" u="none" strike="noStrike">
                <a:solidFill>
                  <a:srgbClr val="06B6D4"/>
                </a:solidFill>
                <a:effectLst/>
                <a:uFillTx/>
                <a:latin typeface="Calibri"/>
              </a:rPr>
              <a:t>(existing EMI + new EMI) / income ≤ 0.40</a:t>
            </a:r>
            <a:endParaRPr lang="en-US" sz="1250" b="0" u="none" strike="noStrike">
              <a:solidFill>
                <a:srgbClr val="000000"/>
              </a:solidFill>
              <a:effectLst/>
              <a:uFillTx/>
              <a:latin typeface="Arial"/>
            </a:endParaRPr>
          </a:p>
          <a:p>
            <a:pPr defTabSz="457200">
              <a:lnSpc>
                <a:spcPct val="110000"/>
              </a:lnSpc>
            </a:pPr>
            <a:r>
              <a:rPr lang="en-US" sz="1000" b="0" u="none" strike="noStrike">
                <a:solidFill>
                  <a:srgbClr val="6B7280"/>
                </a:solidFill>
                <a:effectLst/>
                <a:uFillTx/>
                <a:latin typeface="Calibri"/>
              </a:rPr>
              <a:t>New EMI is estimated as loan / 12.</a:t>
            </a:r>
            <a:endParaRPr lang="en-US" sz="1000" b="0" u="none" strike="noStrike">
              <a:solidFill>
                <a:srgbClr val="000000"/>
              </a:solidFill>
              <a:effectLst/>
              <a:uFillTx/>
              <a:latin typeface="Arial"/>
            </a:endParaRPr>
          </a:p>
        </p:txBody>
      </p:sp>
      <p:sp>
        <p:nvSpPr>
          <p:cNvPr id="226" name="Rectangle 13"/>
          <p:cNvSpPr/>
          <p:nvPr/>
        </p:nvSpPr>
        <p:spPr>
          <a:xfrm>
            <a:off x="6206400" y="1700640"/>
            <a:ext cx="2597760" cy="45360"/>
          </a:xfrm>
          <a:prstGeom prst="rect">
            <a:avLst/>
          </a:prstGeom>
          <a:solidFill>
            <a:srgbClr val="06B6D4"/>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720" rIns="90000" bIns="720" anchor="ctr">
            <a:noAutofit/>
          </a:bodyPr>
          <a:p>
            <a:endParaRPr lang="en-US" sz="1800" b="0" u="none" strike="noStrike">
              <a:solidFill>
                <a:schemeClr val="lt1"/>
              </a:solidFill>
              <a:effectLst/>
              <a:uFillTx/>
              <a:latin typeface="Calibri"/>
            </a:endParaRPr>
          </a:p>
        </p:txBody>
      </p:sp>
      <p:sp>
        <p:nvSpPr>
          <p:cNvPr id="227" name="Rounded Rectangle 14"/>
          <p:cNvSpPr/>
          <p:nvPr/>
        </p:nvSpPr>
        <p:spPr>
          <a:xfrm>
            <a:off x="9024840" y="1700640"/>
            <a:ext cx="2599560" cy="1481040"/>
          </a:xfrm>
          <a:prstGeom prst="roundRect">
            <a:avLst>
              <a:gd name="adj" fmla="val 5500"/>
            </a:avLst>
          </a:prstGeom>
          <a:solidFill>
            <a:srgbClr val="FFFFFF"/>
          </a:solidFill>
          <a:ln w="12700">
            <a:solidFill>
              <a:srgbClr val="E3E8F0"/>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182880" tIns="182880" rIns="146160" bIns="45000" anchor="ctr">
            <a:noAutofit/>
          </a:bodyPr>
          <a:p>
            <a:pPr defTabSz="457200">
              <a:lnSpc>
                <a:spcPct val="106000"/>
              </a:lnSpc>
              <a:spcAft>
                <a:spcPts val="400"/>
              </a:spcAft>
            </a:pPr>
            <a:r>
              <a:rPr lang="en-US" sz="1250" b="1" u="none" strike="noStrike">
                <a:solidFill>
                  <a:srgbClr val="0E1A33"/>
                </a:solidFill>
                <a:effectLst/>
                <a:uFillTx/>
                <a:latin typeface="Calibri"/>
              </a:rPr>
              <a:t>Employment</a:t>
            </a:r>
            <a:endParaRPr lang="en-US" sz="1250" b="0" u="none" strike="noStrike">
              <a:solidFill>
                <a:srgbClr val="000000"/>
              </a:solidFill>
              <a:effectLst/>
              <a:uFillTx/>
              <a:latin typeface="Arial"/>
            </a:endParaRPr>
          </a:p>
          <a:p>
            <a:pPr defTabSz="457200">
              <a:lnSpc>
                <a:spcPct val="106000"/>
              </a:lnSpc>
              <a:spcAft>
                <a:spcPts val="499"/>
              </a:spcAft>
            </a:pPr>
            <a:r>
              <a:rPr lang="en-US" sz="1250" b="1" u="none" strike="noStrike">
                <a:solidFill>
                  <a:srgbClr val="15A34A"/>
                </a:solidFill>
                <a:effectLst/>
                <a:uFillTx/>
                <a:latin typeface="Calibri"/>
              </a:rPr>
              <a:t>salaried or govt</a:t>
            </a:r>
            <a:endParaRPr lang="en-US" sz="1250" b="0" u="none" strike="noStrike">
              <a:solidFill>
                <a:srgbClr val="000000"/>
              </a:solidFill>
              <a:effectLst/>
              <a:uFillTx/>
              <a:latin typeface="Arial"/>
            </a:endParaRPr>
          </a:p>
          <a:p>
            <a:pPr defTabSz="457200">
              <a:lnSpc>
                <a:spcPct val="110000"/>
              </a:lnSpc>
            </a:pPr>
            <a:r>
              <a:rPr lang="en-US" sz="1000" b="0" u="none" strike="noStrike">
                <a:solidFill>
                  <a:srgbClr val="6B7280"/>
                </a:solidFill>
                <a:effectLst/>
                <a:uFillTx/>
                <a:latin typeface="Calibri"/>
              </a:rPr>
              <a:t>Advisory: strengthens the profile, never blocks alone.</a:t>
            </a:r>
            <a:endParaRPr lang="en-US" sz="1000" b="0" u="none" strike="noStrike">
              <a:solidFill>
                <a:srgbClr val="000000"/>
              </a:solidFill>
              <a:effectLst/>
              <a:uFillTx/>
              <a:latin typeface="Arial"/>
            </a:endParaRPr>
          </a:p>
        </p:txBody>
      </p:sp>
      <p:sp>
        <p:nvSpPr>
          <p:cNvPr id="228" name="Rectangle 15"/>
          <p:cNvSpPr/>
          <p:nvPr/>
        </p:nvSpPr>
        <p:spPr>
          <a:xfrm>
            <a:off x="9025920" y="1700640"/>
            <a:ext cx="2597760" cy="45360"/>
          </a:xfrm>
          <a:prstGeom prst="rect">
            <a:avLst/>
          </a:prstGeom>
          <a:solidFill>
            <a:srgbClr val="15A34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720" rIns="90000" bIns="720" anchor="ctr">
            <a:noAutofit/>
          </a:bodyPr>
          <a:p>
            <a:endParaRPr lang="en-US" sz="1800" b="0" u="none" strike="noStrike">
              <a:solidFill>
                <a:schemeClr val="lt1"/>
              </a:solidFill>
              <a:effectLst/>
              <a:uFillTx/>
              <a:latin typeface="Calibri"/>
            </a:endParaRPr>
          </a:p>
        </p:txBody>
      </p:sp>
      <p:sp>
        <p:nvSpPr>
          <p:cNvPr id="229" name="TextBox 16"/>
          <p:cNvSpPr/>
          <p:nvPr/>
        </p:nvSpPr>
        <p:spPr>
          <a:xfrm>
            <a:off x="567000" y="3438000"/>
            <a:ext cx="11057400" cy="273960"/>
          </a:xfrm>
          <a:prstGeom prst="rect">
            <a:avLst/>
          </a:prstGeom>
          <a:noFill/>
          <a:ln w="0">
            <a:noFill/>
          </a:ln>
        </p:spPr>
        <p:style>
          <a:lnRef idx="0"/>
          <a:fillRef idx="0"/>
          <a:effectRef idx="0"/>
          <a:fontRef idx="minor"/>
        </p:style>
        <p:txBody>
          <a:bodyPr lIns="0" tIns="0" rIns="0" bIns="0" anchor="t">
            <a:spAutoFit/>
          </a:bodyPr>
          <a:p>
            <a:pPr defTabSz="457200">
              <a:lnSpc>
                <a:spcPct val="106000"/>
              </a:lnSpc>
            </a:pPr>
            <a:r>
              <a:rPr lang="en-US" sz="950" b="1" u="none" strike="noStrike">
                <a:solidFill>
                  <a:srgbClr val="4F46E5"/>
                </a:solidFill>
                <a:effectLst/>
                <a:uFillTx/>
                <a:latin typeface="Calibri"/>
              </a:rPr>
              <a:t>DECISION MATRIX</a:t>
            </a:r>
            <a:endParaRPr lang="en-US" sz="950" b="0" u="none" strike="noStrike">
              <a:solidFill>
                <a:srgbClr val="000000"/>
              </a:solidFill>
              <a:effectLst/>
              <a:uFillTx/>
              <a:latin typeface="Arial"/>
            </a:endParaRPr>
          </a:p>
        </p:txBody>
      </p:sp>
      <p:sp>
        <p:nvSpPr>
          <p:cNvPr id="230" name="Rounded Rectangle 17"/>
          <p:cNvSpPr/>
          <p:nvPr/>
        </p:nvSpPr>
        <p:spPr>
          <a:xfrm>
            <a:off x="567000" y="3749040"/>
            <a:ext cx="3526920" cy="1572480"/>
          </a:xfrm>
          <a:prstGeom prst="roundRect">
            <a:avLst>
              <a:gd name="adj" fmla="val 5500"/>
            </a:avLst>
          </a:prstGeom>
          <a:solidFill>
            <a:srgbClr val="F6F8FC"/>
          </a:solidFill>
          <a:ln w="12700">
            <a:solidFill>
              <a:srgbClr val="E3E8F0"/>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219600" tIns="182880" rIns="182880" bIns="45000" anchor="ctr">
            <a:noAutofit/>
          </a:bodyPr>
          <a:p>
            <a:pPr defTabSz="457200">
              <a:lnSpc>
                <a:spcPct val="106000"/>
              </a:lnSpc>
              <a:spcAft>
                <a:spcPts val="499"/>
              </a:spcAft>
            </a:pPr>
            <a:r>
              <a:rPr lang="en-US" sz="1500" b="1" u="none" strike="noStrike">
                <a:solidFill>
                  <a:srgbClr val="15A34A"/>
                </a:solidFill>
                <a:effectLst/>
                <a:uFillTx/>
                <a:latin typeface="Calibri"/>
              </a:rPr>
              <a:t>Eligible</a:t>
            </a:r>
            <a:endParaRPr lang="en-US" sz="1500" b="0" u="none" strike="noStrike">
              <a:solidFill>
                <a:srgbClr val="000000"/>
              </a:solidFill>
              <a:effectLst/>
              <a:uFillTx/>
              <a:latin typeface="Arial"/>
            </a:endParaRPr>
          </a:p>
          <a:p>
            <a:pPr defTabSz="457200">
              <a:lnSpc>
                <a:spcPct val="110000"/>
              </a:lnSpc>
              <a:spcAft>
                <a:spcPts val="499"/>
              </a:spcAft>
            </a:pPr>
            <a:r>
              <a:rPr lang="en-US" sz="1150" b="1" u="none" strike="noStrike">
                <a:solidFill>
                  <a:srgbClr val="0E1A33"/>
                </a:solidFill>
                <a:effectLst/>
                <a:uFillTx/>
                <a:latin typeface="Calibri"/>
              </a:rPr>
              <a:t>All three critical rules pass</a:t>
            </a:r>
            <a:endParaRPr lang="en-US" sz="1150" b="0" u="none" strike="noStrike">
              <a:solidFill>
                <a:srgbClr val="000000"/>
              </a:solidFill>
              <a:effectLst/>
              <a:uFillTx/>
              <a:latin typeface="Arial"/>
            </a:endParaRPr>
          </a:p>
          <a:p>
            <a:pPr defTabSz="457200">
              <a:lnSpc>
                <a:spcPct val="112000"/>
              </a:lnSpc>
            </a:pPr>
            <a:r>
              <a:rPr lang="en-US" sz="1050" b="0" u="none" strike="noStrike">
                <a:solidFill>
                  <a:srgbClr val="6B7280"/>
                </a:solidFill>
                <a:effectLst/>
                <a:uFillTx/>
                <a:latin typeface="Calibri"/>
              </a:rPr>
              <a:t>Credit &gt; 700 and age in range and EMI ratio ≤ 0.40.</a:t>
            </a:r>
            <a:endParaRPr lang="en-US" sz="1050" b="0" u="none" strike="noStrike">
              <a:solidFill>
                <a:srgbClr val="000000"/>
              </a:solidFill>
              <a:effectLst/>
              <a:uFillTx/>
              <a:latin typeface="Arial"/>
            </a:endParaRPr>
          </a:p>
        </p:txBody>
      </p:sp>
      <p:sp>
        <p:nvSpPr>
          <p:cNvPr id="231" name="Rectangle 18"/>
          <p:cNvSpPr/>
          <p:nvPr/>
        </p:nvSpPr>
        <p:spPr>
          <a:xfrm>
            <a:off x="567720" y="3749040"/>
            <a:ext cx="54360" cy="1572480"/>
          </a:xfrm>
          <a:prstGeom prst="rect">
            <a:avLst/>
          </a:prstGeom>
          <a:solidFill>
            <a:srgbClr val="15A34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232" name="Rounded Rectangle 19"/>
          <p:cNvSpPr/>
          <p:nvPr/>
        </p:nvSpPr>
        <p:spPr>
          <a:xfrm>
            <a:off x="4332240" y="3749040"/>
            <a:ext cx="3526920" cy="1572480"/>
          </a:xfrm>
          <a:prstGeom prst="roundRect">
            <a:avLst>
              <a:gd name="adj" fmla="val 5500"/>
            </a:avLst>
          </a:prstGeom>
          <a:solidFill>
            <a:srgbClr val="F6F8FC"/>
          </a:solidFill>
          <a:ln w="12700">
            <a:solidFill>
              <a:srgbClr val="E3E8F0"/>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219600" tIns="182880" rIns="182880" bIns="45000" anchor="ctr">
            <a:noAutofit/>
          </a:bodyPr>
          <a:p>
            <a:pPr defTabSz="457200">
              <a:lnSpc>
                <a:spcPct val="106000"/>
              </a:lnSpc>
              <a:spcAft>
                <a:spcPts val="499"/>
              </a:spcAft>
            </a:pPr>
            <a:r>
              <a:rPr lang="en-US" sz="1500" b="1" u="none" strike="noStrike">
                <a:solidFill>
                  <a:srgbClr val="D97706"/>
                </a:solidFill>
                <a:effectLst/>
                <a:uFillTx/>
                <a:latin typeface="Calibri"/>
              </a:rPr>
              <a:t>Needs Manual Review</a:t>
            </a:r>
            <a:endParaRPr lang="en-US" sz="1500" b="0" u="none" strike="noStrike">
              <a:solidFill>
                <a:srgbClr val="000000"/>
              </a:solidFill>
              <a:effectLst/>
              <a:uFillTx/>
              <a:latin typeface="Arial"/>
            </a:endParaRPr>
          </a:p>
          <a:p>
            <a:pPr defTabSz="457200">
              <a:lnSpc>
                <a:spcPct val="110000"/>
              </a:lnSpc>
              <a:spcAft>
                <a:spcPts val="499"/>
              </a:spcAft>
            </a:pPr>
            <a:r>
              <a:rPr lang="en-US" sz="1150" b="1" u="none" strike="noStrike">
                <a:solidFill>
                  <a:srgbClr val="0E1A33"/>
                </a:solidFill>
                <a:effectLst/>
                <a:uFillTx/>
                <a:latin typeface="Calibri"/>
              </a:rPr>
              <a:t>A critical rule fails, but inside the borderline band</a:t>
            </a:r>
            <a:endParaRPr lang="en-US" sz="1150" b="0" u="none" strike="noStrike">
              <a:solidFill>
                <a:srgbClr val="000000"/>
              </a:solidFill>
              <a:effectLst/>
              <a:uFillTx/>
              <a:latin typeface="Arial"/>
            </a:endParaRPr>
          </a:p>
          <a:p>
            <a:pPr defTabSz="457200">
              <a:lnSpc>
                <a:spcPct val="112000"/>
              </a:lnSpc>
            </a:pPr>
            <a:r>
              <a:rPr lang="en-US" sz="1050" b="0" u="none" strike="noStrike">
                <a:solidFill>
                  <a:srgbClr val="6B7280"/>
                </a:solidFill>
                <a:effectLst/>
                <a:uFillTx/>
                <a:latin typeface="Calibri"/>
              </a:rPr>
              <a:t>Credit 690–710 or EMI ratio 0.38–0.42 — routed to a human, not refused.</a:t>
            </a:r>
            <a:endParaRPr lang="en-US" sz="1050" b="0" u="none" strike="noStrike">
              <a:solidFill>
                <a:srgbClr val="000000"/>
              </a:solidFill>
              <a:effectLst/>
              <a:uFillTx/>
              <a:latin typeface="Arial"/>
            </a:endParaRPr>
          </a:p>
        </p:txBody>
      </p:sp>
      <p:sp>
        <p:nvSpPr>
          <p:cNvPr id="233" name="Rectangle 20"/>
          <p:cNvSpPr/>
          <p:nvPr/>
        </p:nvSpPr>
        <p:spPr>
          <a:xfrm>
            <a:off x="4332960" y="3749040"/>
            <a:ext cx="54360" cy="1572480"/>
          </a:xfrm>
          <a:prstGeom prst="rect">
            <a:avLst/>
          </a:prstGeom>
          <a:solidFill>
            <a:srgbClr val="D9770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234" name="Rounded Rectangle 21"/>
          <p:cNvSpPr/>
          <p:nvPr/>
        </p:nvSpPr>
        <p:spPr>
          <a:xfrm>
            <a:off x="8097480" y="3749040"/>
            <a:ext cx="3526920" cy="1572480"/>
          </a:xfrm>
          <a:prstGeom prst="roundRect">
            <a:avLst>
              <a:gd name="adj" fmla="val 5500"/>
            </a:avLst>
          </a:prstGeom>
          <a:solidFill>
            <a:srgbClr val="F6F8FC"/>
          </a:solidFill>
          <a:ln w="12700">
            <a:solidFill>
              <a:srgbClr val="E3E8F0"/>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219600" tIns="182880" rIns="182880" bIns="45000" anchor="ctr">
            <a:noAutofit/>
          </a:bodyPr>
          <a:p>
            <a:pPr defTabSz="457200">
              <a:lnSpc>
                <a:spcPct val="106000"/>
              </a:lnSpc>
              <a:spcAft>
                <a:spcPts val="499"/>
              </a:spcAft>
            </a:pPr>
            <a:r>
              <a:rPr lang="en-US" sz="1500" b="1" u="none" strike="noStrike">
                <a:solidFill>
                  <a:srgbClr val="DC2626"/>
                </a:solidFill>
                <a:effectLst/>
                <a:uFillTx/>
                <a:latin typeface="Calibri"/>
              </a:rPr>
              <a:t>Not Eligible</a:t>
            </a:r>
            <a:endParaRPr lang="en-US" sz="1500" b="0" u="none" strike="noStrike">
              <a:solidFill>
                <a:srgbClr val="000000"/>
              </a:solidFill>
              <a:effectLst/>
              <a:uFillTx/>
              <a:latin typeface="Arial"/>
            </a:endParaRPr>
          </a:p>
          <a:p>
            <a:pPr defTabSz="457200">
              <a:lnSpc>
                <a:spcPct val="110000"/>
              </a:lnSpc>
              <a:spcAft>
                <a:spcPts val="499"/>
              </a:spcAft>
            </a:pPr>
            <a:r>
              <a:rPr lang="en-US" sz="1150" b="1" u="none" strike="noStrike">
                <a:solidFill>
                  <a:srgbClr val="0E1A33"/>
                </a:solidFill>
                <a:effectLst/>
                <a:uFillTx/>
                <a:latin typeface="Calibri"/>
              </a:rPr>
              <a:t>A critical rule fails clearly outside the band</a:t>
            </a:r>
            <a:endParaRPr lang="en-US" sz="1150" b="0" u="none" strike="noStrike">
              <a:solidFill>
                <a:srgbClr val="000000"/>
              </a:solidFill>
              <a:effectLst/>
              <a:uFillTx/>
              <a:latin typeface="Arial"/>
            </a:endParaRPr>
          </a:p>
          <a:p>
            <a:pPr defTabSz="457200">
              <a:lnSpc>
                <a:spcPct val="112000"/>
              </a:lnSpc>
            </a:pPr>
            <a:r>
              <a:rPr lang="en-US" sz="1050" b="0" u="none" strike="noStrike">
                <a:solidFill>
                  <a:srgbClr val="6B7280"/>
                </a:solidFill>
                <a:effectLst/>
                <a:uFillTx/>
                <a:latin typeface="Calibri"/>
              </a:rPr>
              <a:t>Returned with the failing rule named and improvement steps attached.</a:t>
            </a:r>
            <a:endParaRPr lang="en-US" sz="1050" b="0" u="none" strike="noStrike">
              <a:solidFill>
                <a:srgbClr val="000000"/>
              </a:solidFill>
              <a:effectLst/>
              <a:uFillTx/>
              <a:latin typeface="Arial"/>
            </a:endParaRPr>
          </a:p>
        </p:txBody>
      </p:sp>
      <p:sp>
        <p:nvSpPr>
          <p:cNvPr id="235" name="Rectangle 22"/>
          <p:cNvSpPr/>
          <p:nvPr/>
        </p:nvSpPr>
        <p:spPr>
          <a:xfrm>
            <a:off x="8098200" y="3749040"/>
            <a:ext cx="54360" cy="1572480"/>
          </a:xfrm>
          <a:prstGeom prst="rect">
            <a:avLst/>
          </a:prstGeom>
          <a:solidFill>
            <a:srgbClr val="DC262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236" name="Rounded Rectangle 23"/>
          <p:cNvSpPr/>
          <p:nvPr/>
        </p:nvSpPr>
        <p:spPr>
          <a:xfrm>
            <a:off x="567000" y="5577840"/>
            <a:ext cx="11057400" cy="566640"/>
          </a:xfrm>
          <a:prstGeom prst="roundRect">
            <a:avLst>
              <a:gd name="adj" fmla="val 5500"/>
            </a:avLst>
          </a:prstGeom>
          <a:solidFill>
            <a:srgbClr val="FFFFFF"/>
          </a:solidFill>
          <a:ln w="12700">
            <a:solidFill>
              <a:srgbClr val="E3E8F0"/>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237600" tIns="45000" rIns="90000" bIns="45000" anchor="ctr">
            <a:noAutofit/>
          </a:bodyPr>
          <a:p>
            <a:pPr defTabSz="457200">
              <a:lnSpc>
                <a:spcPct val="108000"/>
              </a:lnSpc>
            </a:pPr>
            <a:r>
              <a:rPr lang="en-US" sz="1150" b="1" u="none" strike="noStrike">
                <a:solidFill>
                  <a:srgbClr val="0E1A33"/>
                </a:solidFill>
                <a:effectLst/>
                <a:uFillTx/>
                <a:latin typeface="Calibri"/>
              </a:rPr>
              <a:t>Worked example from the live demo:  </a:t>
            </a:r>
            <a:r>
              <a:rPr lang="en-US" sz="1150" b="0" u="none" strike="noStrike">
                <a:solidFill>
                  <a:srgbClr val="1F2937"/>
                </a:solidFill>
                <a:effectLst/>
                <a:uFillTx/>
                <a:latin typeface="Calibri"/>
              </a:rPr>
              <a:t>income ₹95,000 · existing EMI ₹8,000 · loan ₹300,000  →  new EMI ₹25,000  →  ratio 33,000 / 95,000 = 0.3474  →  with a score of 762, all rules pass  →  Eligible.</a:t>
            </a:r>
            <a:endParaRPr lang="en-US" sz="115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37" name="Rectangle 1"/>
          <p:cNvSpPr/>
          <p:nvPr/>
        </p:nvSpPr>
        <p:spPr>
          <a:xfrm>
            <a:off x="0" y="0"/>
            <a:ext cx="12191400" cy="6857640"/>
          </a:xfrm>
          <a:prstGeom prst="rect">
            <a:avLst/>
          </a:prstGeom>
          <a:solidFill>
            <a:srgbClr val="FFFFFF"/>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238" name="Rectangle 2"/>
          <p:cNvSpPr/>
          <p:nvPr/>
        </p:nvSpPr>
        <p:spPr>
          <a:xfrm>
            <a:off x="0" y="0"/>
            <a:ext cx="12191400" cy="77400"/>
          </a:xfrm>
          <a:prstGeom prst="rect">
            <a:avLst/>
          </a:prstGeom>
          <a:gradFill rotWithShape="0">
            <a:gsLst>
              <a:gs pos="0">
                <a:srgbClr val="4F46E5"/>
              </a:gs>
              <a:gs pos="100000">
                <a:srgbClr val="7C3AED"/>
              </a:gs>
            </a:gsLst>
            <a:lin ang="0"/>
          </a:gra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32760" rIns="90000" bIns="32760" anchor="ctr">
            <a:noAutofit/>
          </a:bodyPr>
          <a:p>
            <a:endParaRPr lang="en-US" sz="1800" b="0" u="none" strike="noStrike">
              <a:solidFill>
                <a:schemeClr val="lt1"/>
              </a:solidFill>
              <a:effectLst/>
              <a:uFillTx/>
              <a:latin typeface="Calibri"/>
            </a:endParaRPr>
          </a:p>
        </p:txBody>
      </p:sp>
      <p:sp>
        <p:nvSpPr>
          <p:cNvPr id="239" name="TextBox 3"/>
          <p:cNvSpPr/>
          <p:nvPr/>
        </p:nvSpPr>
        <p:spPr>
          <a:xfrm>
            <a:off x="567000" y="384120"/>
            <a:ext cx="11057400" cy="237240"/>
          </a:xfrm>
          <a:prstGeom prst="rect">
            <a:avLst/>
          </a:prstGeom>
          <a:noFill/>
          <a:ln w="0">
            <a:noFill/>
          </a:ln>
        </p:spPr>
        <p:style>
          <a:lnRef idx="0"/>
          <a:fillRef idx="0"/>
          <a:effectRef idx="0"/>
          <a:fontRef idx="minor"/>
        </p:style>
        <p:txBody>
          <a:bodyPr lIns="0" tIns="0" rIns="0" bIns="0" anchor="t">
            <a:spAutoFit/>
          </a:bodyPr>
          <a:p>
            <a:pPr defTabSz="457200">
              <a:lnSpc>
                <a:spcPct val="106000"/>
              </a:lnSpc>
            </a:pPr>
            <a:r>
              <a:rPr lang="en-US" sz="950" b="1" u="none" strike="noStrike">
                <a:solidFill>
                  <a:srgbClr val="4F46E5"/>
                </a:solidFill>
                <a:effectLst/>
                <a:uFillTx/>
                <a:latin typeface="Calibri"/>
              </a:rPr>
              <a:t>PART 02  ·  ASSISTANT</a:t>
            </a:r>
            <a:endParaRPr lang="en-US" sz="950" b="0" u="none" strike="noStrike">
              <a:solidFill>
                <a:srgbClr val="000000"/>
              </a:solidFill>
              <a:effectLst/>
              <a:uFillTx/>
              <a:latin typeface="Arial"/>
            </a:endParaRPr>
          </a:p>
        </p:txBody>
      </p:sp>
      <p:sp>
        <p:nvSpPr>
          <p:cNvPr id="240" name="TextBox 4"/>
          <p:cNvSpPr/>
          <p:nvPr/>
        </p:nvSpPr>
        <p:spPr>
          <a:xfrm>
            <a:off x="567000" y="658440"/>
            <a:ext cx="11057400" cy="502560"/>
          </a:xfrm>
          <a:prstGeom prst="rect">
            <a:avLst/>
          </a:prstGeom>
          <a:noFill/>
          <a:ln w="0">
            <a:noFill/>
          </a:ln>
        </p:spPr>
        <p:style>
          <a:lnRef idx="0"/>
          <a:fillRef idx="0"/>
          <a:effectRef idx="0"/>
          <a:fontRef idx="minor"/>
        </p:style>
        <p:txBody>
          <a:bodyPr lIns="0" tIns="0" rIns="0" bIns="0" anchor="t">
            <a:spAutoFit/>
          </a:bodyPr>
          <a:p>
            <a:pPr defTabSz="457200">
              <a:lnSpc>
                <a:spcPct val="106000"/>
              </a:lnSpc>
            </a:pPr>
            <a:r>
              <a:rPr lang="en-US" sz="2700" b="1" u="none" strike="noStrike">
                <a:solidFill>
                  <a:srgbClr val="0E1A33"/>
                </a:solidFill>
                <a:effectLst/>
                <a:uFillTx/>
                <a:latin typeface="Calibri"/>
              </a:rPr>
              <a:t>The chatbot answers in layers, and the first layer needs no network</a:t>
            </a:r>
            <a:endParaRPr lang="en-US" sz="2700" b="0" u="none" strike="noStrike">
              <a:solidFill>
                <a:srgbClr val="000000"/>
              </a:solidFill>
              <a:effectLst/>
              <a:uFillTx/>
              <a:latin typeface="Arial"/>
            </a:endParaRPr>
          </a:p>
        </p:txBody>
      </p:sp>
      <p:sp>
        <p:nvSpPr>
          <p:cNvPr id="241" name="TextBox 5"/>
          <p:cNvSpPr/>
          <p:nvPr/>
        </p:nvSpPr>
        <p:spPr>
          <a:xfrm>
            <a:off x="567000" y="1225440"/>
            <a:ext cx="9509400" cy="365400"/>
          </a:xfrm>
          <a:prstGeom prst="rect">
            <a:avLst/>
          </a:prstGeom>
          <a:noFill/>
          <a:ln w="0">
            <a:noFill/>
          </a:ln>
        </p:spPr>
        <p:style>
          <a:lnRef idx="0"/>
          <a:fillRef idx="0"/>
          <a:effectRef idx="0"/>
          <a:fontRef idx="minor"/>
        </p:style>
        <p:txBody>
          <a:bodyPr lIns="0" tIns="0" rIns="0" bIns="0" anchor="t">
            <a:spAutoFit/>
          </a:bodyPr>
          <a:p>
            <a:pPr defTabSz="457200">
              <a:lnSpc>
                <a:spcPct val="106000"/>
              </a:lnSpc>
            </a:pPr>
            <a:r>
              <a:rPr lang="en-US" sz="1250" b="0" u="none" strike="noStrike">
                <a:solidFill>
                  <a:srgbClr val="6B7280"/>
                </a:solidFill>
                <a:effectLst/>
                <a:uFillTx/>
                <a:latin typeface="Calibri"/>
              </a:rPr>
              <a:t>agents/chat_agent.py resolves every question in a fixed order; the model is the last, optional step.</a:t>
            </a:r>
            <a:endParaRPr lang="en-US" sz="1250" b="0" u="none" strike="noStrike">
              <a:solidFill>
                <a:srgbClr val="000000"/>
              </a:solidFill>
              <a:effectLst/>
              <a:uFillTx/>
              <a:latin typeface="Arial"/>
            </a:endParaRPr>
          </a:p>
        </p:txBody>
      </p:sp>
      <p:sp>
        <p:nvSpPr>
          <p:cNvPr id="242" name="TextBox 6"/>
          <p:cNvSpPr/>
          <p:nvPr/>
        </p:nvSpPr>
        <p:spPr>
          <a:xfrm>
            <a:off x="567000" y="6382440"/>
            <a:ext cx="7740000" cy="273960"/>
          </a:xfrm>
          <a:prstGeom prst="rect">
            <a:avLst/>
          </a:prstGeom>
          <a:noFill/>
          <a:ln w="0">
            <a:noFill/>
          </a:ln>
        </p:spPr>
        <p:style>
          <a:lnRef idx="0"/>
          <a:fillRef idx="0"/>
          <a:effectRef idx="0"/>
          <a:fontRef idx="minor"/>
        </p:style>
        <p:txBody>
          <a:bodyPr lIns="0" tIns="0" rIns="0" bIns="0" anchor="t">
            <a:spAutoFit/>
          </a:bodyPr>
          <a:p>
            <a:pPr defTabSz="457200">
              <a:lnSpc>
                <a:spcPct val="106000"/>
              </a:lnSpc>
            </a:pPr>
            <a:r>
              <a:rPr lang="en-US" sz="900" b="0" u="none" strike="noStrike">
                <a:solidFill>
                  <a:srgbClr val="6B7280"/>
                </a:solidFill>
                <a:effectLst/>
                <a:uFillTx/>
                <a:latin typeface="Calibri"/>
              </a:rPr>
              <a:t>Loan Eligibility AI  ·  Capstone Demonstration</a:t>
            </a:r>
            <a:endParaRPr lang="en-US" sz="900" b="0" u="none" strike="noStrike">
              <a:solidFill>
                <a:srgbClr val="000000"/>
              </a:solidFill>
              <a:effectLst/>
              <a:uFillTx/>
              <a:latin typeface="Arial"/>
            </a:endParaRPr>
          </a:p>
        </p:txBody>
      </p:sp>
      <p:sp>
        <p:nvSpPr>
          <p:cNvPr id="243" name="TextBox 7"/>
          <p:cNvSpPr/>
          <p:nvPr/>
        </p:nvSpPr>
        <p:spPr>
          <a:xfrm>
            <a:off x="10527480" y="6382440"/>
            <a:ext cx="1096920" cy="273960"/>
          </a:xfrm>
          <a:prstGeom prst="rect">
            <a:avLst/>
          </a:prstGeom>
          <a:noFill/>
          <a:ln w="0">
            <a:noFill/>
          </a:ln>
        </p:spPr>
        <p:style>
          <a:lnRef idx="0"/>
          <a:fillRef idx="0"/>
          <a:effectRef idx="0"/>
          <a:fontRef idx="minor"/>
        </p:style>
        <p:txBody>
          <a:bodyPr lIns="0" tIns="0" rIns="0" bIns="0" anchor="t">
            <a:spAutoFit/>
          </a:bodyPr>
          <a:p>
            <a:pPr algn="r" defTabSz="457200">
              <a:lnSpc>
                <a:spcPct val="106000"/>
              </a:lnSpc>
            </a:pPr>
            <a:r>
              <a:rPr lang="en-US" sz="900" b="0" u="none" strike="noStrike">
                <a:solidFill>
                  <a:srgbClr val="6B7280"/>
                </a:solidFill>
                <a:effectLst/>
                <a:uFillTx/>
                <a:latin typeface="Calibri"/>
              </a:rPr>
              <a:t>11</a:t>
            </a:r>
            <a:endParaRPr lang="en-US" sz="900" b="0" u="none" strike="noStrike">
              <a:solidFill>
                <a:srgbClr val="000000"/>
              </a:solidFill>
              <a:effectLst/>
              <a:uFillTx/>
              <a:latin typeface="Arial"/>
            </a:endParaRPr>
          </a:p>
        </p:txBody>
      </p:sp>
      <p:sp>
        <p:nvSpPr>
          <p:cNvPr id="244" name="Rounded Rectangle 8"/>
          <p:cNvSpPr/>
          <p:nvPr/>
        </p:nvSpPr>
        <p:spPr>
          <a:xfrm>
            <a:off x="567000" y="1700640"/>
            <a:ext cx="2585880" cy="2084400"/>
          </a:xfrm>
          <a:prstGeom prst="roundRect">
            <a:avLst>
              <a:gd name="adj" fmla="val 5500"/>
            </a:avLst>
          </a:prstGeom>
          <a:solidFill>
            <a:srgbClr val="FFFFFF"/>
          </a:solidFill>
          <a:ln w="12700">
            <a:solidFill>
              <a:srgbClr val="E3E8F0"/>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201240" tIns="219600" rIns="164520" bIns="45000" anchor="ctr">
            <a:noAutofit/>
          </a:bodyPr>
          <a:p>
            <a:pPr defTabSz="457200">
              <a:lnSpc>
                <a:spcPct val="106000"/>
              </a:lnSpc>
              <a:spcAft>
                <a:spcPts val="700"/>
              </a:spcAft>
            </a:pPr>
            <a:r>
              <a:rPr lang="en-US" sz="1400" b="1" u="none" strike="noStrike">
                <a:solidFill>
                  <a:srgbClr val="DC2626"/>
                </a:solidFill>
                <a:effectLst/>
                <a:uFillTx/>
                <a:latin typeface="Calibri"/>
              </a:rPr>
              <a:t>1  Safety guard</a:t>
            </a:r>
            <a:endParaRPr lang="en-US" sz="1400" b="0" u="none" strike="noStrike">
              <a:solidFill>
                <a:srgbClr val="000000"/>
              </a:solidFill>
              <a:effectLst/>
              <a:uFillTx/>
              <a:latin typeface="Arial"/>
            </a:endParaRPr>
          </a:p>
          <a:p>
            <a:pPr defTabSz="457200">
              <a:lnSpc>
                <a:spcPct val="116000"/>
              </a:lnSpc>
            </a:pPr>
            <a:r>
              <a:rPr lang="en-US" sz="1100" b="0" u="none" strike="noStrike">
                <a:solidFill>
                  <a:srgbClr val="1F2937"/>
                </a:solidFill>
                <a:effectLst/>
                <a:uFillTx/>
                <a:latin typeface="Calibri"/>
              </a:rPr>
              <a:t>Card, account, PAN, Aadhaar, OTP or password patterns are detected first. The message is answered with a warning and forwarded nowhere.</a:t>
            </a:r>
            <a:endParaRPr lang="en-US" sz="1100" b="0" u="none" strike="noStrike">
              <a:solidFill>
                <a:srgbClr val="000000"/>
              </a:solidFill>
              <a:effectLst/>
              <a:uFillTx/>
              <a:latin typeface="Arial"/>
            </a:endParaRPr>
          </a:p>
        </p:txBody>
      </p:sp>
      <p:sp>
        <p:nvSpPr>
          <p:cNvPr id="245" name="Rectangle 9"/>
          <p:cNvSpPr/>
          <p:nvPr/>
        </p:nvSpPr>
        <p:spPr>
          <a:xfrm>
            <a:off x="567720" y="1700640"/>
            <a:ext cx="2584080" cy="50040"/>
          </a:xfrm>
          <a:prstGeom prst="rect">
            <a:avLst/>
          </a:prstGeom>
          <a:solidFill>
            <a:srgbClr val="DC262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5400" rIns="90000" bIns="5400" anchor="ctr">
            <a:noAutofit/>
          </a:bodyPr>
          <a:p>
            <a:endParaRPr lang="en-US" sz="1800" b="0" u="none" strike="noStrike">
              <a:solidFill>
                <a:schemeClr val="lt1"/>
              </a:solidFill>
              <a:effectLst/>
              <a:uFillTx/>
              <a:latin typeface="Calibri"/>
            </a:endParaRPr>
          </a:p>
        </p:txBody>
      </p:sp>
      <p:sp>
        <p:nvSpPr>
          <p:cNvPr id="246" name="Rounded Rectangle 10"/>
          <p:cNvSpPr/>
          <p:nvPr/>
        </p:nvSpPr>
        <p:spPr>
          <a:xfrm>
            <a:off x="3390840" y="1700640"/>
            <a:ext cx="2585880" cy="2084400"/>
          </a:xfrm>
          <a:prstGeom prst="roundRect">
            <a:avLst>
              <a:gd name="adj" fmla="val 5500"/>
            </a:avLst>
          </a:prstGeom>
          <a:solidFill>
            <a:srgbClr val="FFFFFF"/>
          </a:solidFill>
          <a:ln w="12700">
            <a:solidFill>
              <a:srgbClr val="E3E8F0"/>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201240" tIns="219600" rIns="164520" bIns="45000" anchor="ctr">
            <a:noAutofit/>
          </a:bodyPr>
          <a:p>
            <a:pPr defTabSz="457200">
              <a:lnSpc>
                <a:spcPct val="106000"/>
              </a:lnSpc>
              <a:spcAft>
                <a:spcPts val="700"/>
              </a:spcAft>
            </a:pPr>
            <a:r>
              <a:rPr lang="en-US" sz="1400" b="1" u="none" strike="noStrike">
                <a:solidFill>
                  <a:srgbClr val="4F46E5"/>
                </a:solidFill>
                <a:effectLst/>
                <a:uFillTx/>
                <a:latin typeface="Calibri"/>
              </a:rPr>
              <a:t>2  Result intents</a:t>
            </a:r>
            <a:endParaRPr lang="en-US" sz="1400" b="0" u="none" strike="noStrike">
              <a:solidFill>
                <a:srgbClr val="000000"/>
              </a:solidFill>
              <a:effectLst/>
              <a:uFillTx/>
              <a:latin typeface="Arial"/>
            </a:endParaRPr>
          </a:p>
          <a:p>
            <a:pPr defTabSz="457200">
              <a:lnSpc>
                <a:spcPct val="116000"/>
              </a:lnSpc>
            </a:pPr>
            <a:r>
              <a:rPr lang="en-US" sz="1100" b="0" u="none" strike="noStrike">
                <a:solidFill>
                  <a:srgbClr val="1F2937"/>
                </a:solidFill>
                <a:effectLst/>
                <a:uFillTx/>
                <a:latin typeface="Calibri"/>
              </a:rPr>
              <a:t>'Why do I need review?', 'what is my EMI ratio?' are answered from the applicant's own assessment. Missing field → 'no assessment yet', never a guess.</a:t>
            </a:r>
            <a:endParaRPr lang="en-US" sz="1100" b="0" u="none" strike="noStrike">
              <a:solidFill>
                <a:srgbClr val="000000"/>
              </a:solidFill>
              <a:effectLst/>
              <a:uFillTx/>
              <a:latin typeface="Arial"/>
            </a:endParaRPr>
          </a:p>
        </p:txBody>
      </p:sp>
      <p:sp>
        <p:nvSpPr>
          <p:cNvPr id="247" name="Rectangle 11"/>
          <p:cNvSpPr/>
          <p:nvPr/>
        </p:nvSpPr>
        <p:spPr>
          <a:xfrm>
            <a:off x="3391560" y="1700640"/>
            <a:ext cx="2584080" cy="50040"/>
          </a:xfrm>
          <a:prstGeom prst="rect">
            <a:avLst/>
          </a:prstGeom>
          <a:solidFill>
            <a:srgbClr val="4F46E5"/>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5400" rIns="90000" bIns="5400" anchor="ctr">
            <a:noAutofit/>
          </a:bodyPr>
          <a:p>
            <a:endParaRPr lang="en-US" sz="1800" b="0" u="none" strike="noStrike">
              <a:solidFill>
                <a:schemeClr val="lt1"/>
              </a:solidFill>
              <a:effectLst/>
              <a:uFillTx/>
              <a:latin typeface="Calibri"/>
            </a:endParaRPr>
          </a:p>
        </p:txBody>
      </p:sp>
      <p:sp>
        <p:nvSpPr>
          <p:cNvPr id="248" name="Rounded Rectangle 12"/>
          <p:cNvSpPr/>
          <p:nvPr/>
        </p:nvSpPr>
        <p:spPr>
          <a:xfrm>
            <a:off x="6214680" y="1700640"/>
            <a:ext cx="2585880" cy="2084400"/>
          </a:xfrm>
          <a:prstGeom prst="roundRect">
            <a:avLst>
              <a:gd name="adj" fmla="val 5500"/>
            </a:avLst>
          </a:prstGeom>
          <a:solidFill>
            <a:srgbClr val="FFFFFF"/>
          </a:solidFill>
          <a:ln w="12700">
            <a:solidFill>
              <a:srgbClr val="E3E8F0"/>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201240" tIns="219600" rIns="164520" bIns="45000" anchor="ctr">
            <a:noAutofit/>
          </a:bodyPr>
          <a:p>
            <a:pPr defTabSz="457200">
              <a:lnSpc>
                <a:spcPct val="106000"/>
              </a:lnSpc>
              <a:spcAft>
                <a:spcPts val="700"/>
              </a:spcAft>
            </a:pPr>
            <a:r>
              <a:rPr lang="en-US" sz="1400" b="1" u="none" strike="noStrike">
                <a:solidFill>
                  <a:srgbClr val="7C3AED"/>
                </a:solidFill>
                <a:effectLst/>
                <a:uFillTx/>
                <a:latin typeface="Calibri"/>
              </a:rPr>
              <a:t>3  FAQ retrieval</a:t>
            </a:r>
            <a:endParaRPr lang="en-US" sz="1400" b="0" u="none" strike="noStrike">
              <a:solidFill>
                <a:srgbClr val="000000"/>
              </a:solidFill>
              <a:effectLst/>
              <a:uFillTx/>
              <a:latin typeface="Arial"/>
            </a:endParaRPr>
          </a:p>
          <a:p>
            <a:pPr defTabSz="457200">
              <a:lnSpc>
                <a:spcPct val="116000"/>
              </a:lnSpc>
            </a:pPr>
            <a:r>
              <a:rPr lang="en-US" sz="1100" b="0" u="none" strike="noStrike">
                <a:solidFill>
                  <a:srgbClr val="1F2937"/>
                </a:solidFill>
                <a:effectLst/>
                <a:uFillTx/>
                <a:latin typeface="Calibri"/>
              </a:rPr>
              <a:t>The knowledge base is ranked with the in-memory vector retriever; a confidence floor of 0.34 keeps weak matches out and returns a scope reply instead.</a:t>
            </a:r>
            <a:endParaRPr lang="en-US" sz="1100" b="0" u="none" strike="noStrike">
              <a:solidFill>
                <a:srgbClr val="000000"/>
              </a:solidFill>
              <a:effectLst/>
              <a:uFillTx/>
              <a:latin typeface="Arial"/>
            </a:endParaRPr>
          </a:p>
        </p:txBody>
      </p:sp>
      <p:sp>
        <p:nvSpPr>
          <p:cNvPr id="249" name="Rectangle 13"/>
          <p:cNvSpPr/>
          <p:nvPr/>
        </p:nvSpPr>
        <p:spPr>
          <a:xfrm>
            <a:off x="6215760" y="1700640"/>
            <a:ext cx="2584080" cy="50040"/>
          </a:xfrm>
          <a:prstGeom prst="rect">
            <a:avLst/>
          </a:prstGeom>
          <a:solidFill>
            <a:srgbClr val="7C3AED"/>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5400" rIns="90000" bIns="5400" anchor="ctr">
            <a:noAutofit/>
          </a:bodyPr>
          <a:p>
            <a:endParaRPr lang="en-US" sz="1800" b="0" u="none" strike="noStrike">
              <a:solidFill>
                <a:schemeClr val="lt1"/>
              </a:solidFill>
              <a:effectLst/>
              <a:uFillTx/>
              <a:latin typeface="Calibri"/>
            </a:endParaRPr>
          </a:p>
        </p:txBody>
      </p:sp>
      <p:sp>
        <p:nvSpPr>
          <p:cNvPr id="250" name="Rounded Rectangle 14"/>
          <p:cNvSpPr/>
          <p:nvPr/>
        </p:nvSpPr>
        <p:spPr>
          <a:xfrm>
            <a:off x="9038520" y="1700640"/>
            <a:ext cx="2585880" cy="2084400"/>
          </a:xfrm>
          <a:prstGeom prst="roundRect">
            <a:avLst>
              <a:gd name="adj" fmla="val 5500"/>
            </a:avLst>
          </a:prstGeom>
          <a:solidFill>
            <a:srgbClr val="FFFFFF"/>
          </a:solidFill>
          <a:ln w="12700">
            <a:solidFill>
              <a:srgbClr val="E3E8F0"/>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201240" tIns="219600" rIns="164520" bIns="45000" anchor="ctr">
            <a:noAutofit/>
          </a:bodyPr>
          <a:p>
            <a:pPr defTabSz="457200">
              <a:lnSpc>
                <a:spcPct val="106000"/>
              </a:lnSpc>
              <a:spcAft>
                <a:spcPts val="700"/>
              </a:spcAft>
            </a:pPr>
            <a:r>
              <a:rPr lang="en-US" sz="1400" b="1" u="none" strike="noStrike">
                <a:solidFill>
                  <a:srgbClr val="15A34A"/>
                </a:solidFill>
                <a:effectLst/>
                <a:uFillTx/>
                <a:latin typeface="Calibri"/>
              </a:rPr>
              <a:t>4  Claude (optional)</a:t>
            </a:r>
            <a:endParaRPr lang="en-US" sz="1400" b="0" u="none" strike="noStrike">
              <a:solidFill>
                <a:srgbClr val="000000"/>
              </a:solidFill>
              <a:effectLst/>
              <a:uFillTx/>
              <a:latin typeface="Arial"/>
            </a:endParaRPr>
          </a:p>
          <a:p>
            <a:pPr defTabSz="457200">
              <a:lnSpc>
                <a:spcPct val="116000"/>
              </a:lnSpc>
            </a:pPr>
            <a:r>
              <a:rPr lang="en-US" sz="1100" b="0" u="none" strike="noStrike">
                <a:solidFill>
                  <a:srgbClr val="1F2937"/>
                </a:solidFill>
                <a:effectLst/>
                <a:uFillTx/>
                <a:latin typeface="Calibri"/>
              </a:rPr>
              <a:t>With LOAN_CHAT_LLM=1 the retrieved snippets are rephrased conversationally. Prompt forbids inventing thresholds or promising approval.</a:t>
            </a:r>
            <a:endParaRPr lang="en-US" sz="1100" b="0" u="none" strike="noStrike">
              <a:solidFill>
                <a:srgbClr val="000000"/>
              </a:solidFill>
              <a:effectLst/>
              <a:uFillTx/>
              <a:latin typeface="Arial"/>
            </a:endParaRPr>
          </a:p>
        </p:txBody>
      </p:sp>
      <p:sp>
        <p:nvSpPr>
          <p:cNvPr id="251" name="Rectangle 15"/>
          <p:cNvSpPr/>
          <p:nvPr/>
        </p:nvSpPr>
        <p:spPr>
          <a:xfrm>
            <a:off x="9039600" y="1700640"/>
            <a:ext cx="2584080" cy="50040"/>
          </a:xfrm>
          <a:prstGeom prst="rect">
            <a:avLst/>
          </a:prstGeom>
          <a:solidFill>
            <a:srgbClr val="15A34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5400" rIns="90000" bIns="5400" anchor="ctr">
            <a:noAutofit/>
          </a:bodyPr>
          <a:p>
            <a:endParaRPr lang="en-US" sz="1800" b="0" u="none" strike="noStrike">
              <a:solidFill>
                <a:schemeClr val="lt1"/>
              </a:solidFill>
              <a:effectLst/>
              <a:uFillTx/>
              <a:latin typeface="Calibri"/>
            </a:endParaRPr>
          </a:p>
        </p:txBody>
      </p:sp>
      <p:sp>
        <p:nvSpPr>
          <p:cNvPr id="252" name="Rounded Rectangle 16"/>
          <p:cNvSpPr/>
          <p:nvPr/>
        </p:nvSpPr>
        <p:spPr>
          <a:xfrm>
            <a:off x="567000" y="4032360"/>
            <a:ext cx="3526920" cy="1371240"/>
          </a:xfrm>
          <a:prstGeom prst="roundRect">
            <a:avLst>
              <a:gd name="adj" fmla="val 5500"/>
            </a:avLst>
          </a:prstGeom>
          <a:solidFill>
            <a:srgbClr val="F6F8FC"/>
          </a:solidFill>
          <a:ln w="12700">
            <a:solidFill>
              <a:srgbClr val="E3E8F0"/>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219600" tIns="182880" rIns="182880" bIns="45000" anchor="ctr">
            <a:noAutofit/>
          </a:bodyPr>
          <a:p>
            <a:pPr defTabSz="457200">
              <a:lnSpc>
                <a:spcPct val="106000"/>
              </a:lnSpc>
              <a:spcAft>
                <a:spcPts val="499"/>
              </a:spcAft>
            </a:pPr>
            <a:r>
              <a:rPr lang="en-US" sz="1250" b="1" u="none" strike="noStrike">
                <a:solidFill>
                  <a:srgbClr val="0E1A33"/>
                </a:solidFill>
                <a:effectLst/>
                <a:uFillTx/>
                <a:latin typeface="Calibri"/>
              </a:rPr>
              <a:t>Opt-in by flag, not by key</a:t>
            </a:r>
            <a:endParaRPr lang="en-US" sz="1250" b="0" u="none" strike="noStrike">
              <a:solidFill>
                <a:srgbClr val="000000"/>
              </a:solidFill>
              <a:effectLst/>
              <a:uFillTx/>
              <a:latin typeface="Arial"/>
            </a:endParaRPr>
          </a:p>
          <a:p>
            <a:pPr defTabSz="457200">
              <a:lnSpc>
                <a:spcPct val="114000"/>
              </a:lnSpc>
            </a:pPr>
            <a:r>
              <a:rPr lang="en-US" sz="1050" b="0" u="none" strike="noStrike">
                <a:solidFill>
                  <a:srgbClr val="6B7280"/>
                </a:solidFill>
                <a:effectLst/>
                <a:uFillTx/>
                <a:latin typeface="Calibri"/>
              </a:rPr>
              <a:t>A stray ANTHROPIC_AUTH_TOKEN in a shell must not silently turn the form into a billed API caller.</a:t>
            </a:r>
            <a:endParaRPr lang="en-US" sz="1050" b="0" u="none" strike="noStrike">
              <a:solidFill>
                <a:srgbClr val="000000"/>
              </a:solidFill>
              <a:effectLst/>
              <a:uFillTx/>
              <a:latin typeface="Arial"/>
            </a:endParaRPr>
          </a:p>
        </p:txBody>
      </p:sp>
      <p:sp>
        <p:nvSpPr>
          <p:cNvPr id="253" name="Rectangle 17"/>
          <p:cNvSpPr/>
          <p:nvPr/>
        </p:nvSpPr>
        <p:spPr>
          <a:xfrm>
            <a:off x="567720" y="4032360"/>
            <a:ext cx="54360" cy="1371240"/>
          </a:xfrm>
          <a:prstGeom prst="rect">
            <a:avLst/>
          </a:prstGeom>
          <a:solidFill>
            <a:srgbClr val="7C3AED"/>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254" name="Rounded Rectangle 18"/>
          <p:cNvSpPr/>
          <p:nvPr/>
        </p:nvSpPr>
        <p:spPr>
          <a:xfrm>
            <a:off x="4332240" y="4032360"/>
            <a:ext cx="3526920" cy="1371240"/>
          </a:xfrm>
          <a:prstGeom prst="roundRect">
            <a:avLst>
              <a:gd name="adj" fmla="val 5500"/>
            </a:avLst>
          </a:prstGeom>
          <a:solidFill>
            <a:srgbClr val="F6F8FC"/>
          </a:solidFill>
          <a:ln w="12700">
            <a:solidFill>
              <a:srgbClr val="E3E8F0"/>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219600" tIns="182880" rIns="182880" bIns="45000" anchor="ctr">
            <a:noAutofit/>
          </a:bodyPr>
          <a:p>
            <a:pPr defTabSz="457200">
              <a:lnSpc>
                <a:spcPct val="106000"/>
              </a:lnSpc>
              <a:spcAft>
                <a:spcPts val="499"/>
              </a:spcAft>
            </a:pPr>
            <a:r>
              <a:rPr lang="en-US" sz="1250" b="1" u="none" strike="noStrike">
                <a:solidFill>
                  <a:srgbClr val="0E1A33"/>
                </a:solidFill>
                <a:effectLst/>
                <a:uFillTx/>
                <a:latin typeface="Calibri"/>
              </a:rPr>
              <a:t>Failure is invisible to the customer</a:t>
            </a:r>
            <a:endParaRPr lang="en-US" sz="1250" b="0" u="none" strike="noStrike">
              <a:solidFill>
                <a:srgbClr val="000000"/>
              </a:solidFill>
              <a:effectLst/>
              <a:uFillTx/>
              <a:latin typeface="Arial"/>
            </a:endParaRPr>
          </a:p>
          <a:p>
            <a:pPr defTabSz="457200">
              <a:lnSpc>
                <a:spcPct val="114000"/>
              </a:lnSpc>
            </a:pPr>
            <a:r>
              <a:rPr lang="en-US" sz="1050" b="0" u="none" strike="noStrike">
                <a:solidFill>
                  <a:srgbClr val="6B7280"/>
                </a:solidFill>
                <a:effectLst/>
                <a:uFillTx/>
                <a:latin typeface="Calibri"/>
              </a:rPr>
              <a:t>API down, rate-limited or refusing → /chat still returns 200 with the deterministic answer and mode 'rules'.</a:t>
            </a:r>
            <a:endParaRPr lang="en-US" sz="1050" b="0" u="none" strike="noStrike">
              <a:solidFill>
                <a:srgbClr val="000000"/>
              </a:solidFill>
              <a:effectLst/>
              <a:uFillTx/>
              <a:latin typeface="Arial"/>
            </a:endParaRPr>
          </a:p>
        </p:txBody>
      </p:sp>
      <p:sp>
        <p:nvSpPr>
          <p:cNvPr id="255" name="Rectangle 19"/>
          <p:cNvSpPr/>
          <p:nvPr/>
        </p:nvSpPr>
        <p:spPr>
          <a:xfrm>
            <a:off x="4332960" y="4032360"/>
            <a:ext cx="54360" cy="1371240"/>
          </a:xfrm>
          <a:prstGeom prst="rect">
            <a:avLst/>
          </a:prstGeom>
          <a:solidFill>
            <a:srgbClr val="15A34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256" name="Rounded Rectangle 20"/>
          <p:cNvSpPr/>
          <p:nvPr/>
        </p:nvSpPr>
        <p:spPr>
          <a:xfrm>
            <a:off x="8097480" y="4032360"/>
            <a:ext cx="3526920" cy="1371240"/>
          </a:xfrm>
          <a:prstGeom prst="roundRect">
            <a:avLst>
              <a:gd name="adj" fmla="val 5500"/>
            </a:avLst>
          </a:prstGeom>
          <a:solidFill>
            <a:srgbClr val="F6F8FC"/>
          </a:solidFill>
          <a:ln w="12700">
            <a:solidFill>
              <a:srgbClr val="E3E8F0"/>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219600" tIns="182880" rIns="182880" bIns="45000" anchor="ctr">
            <a:noAutofit/>
          </a:bodyPr>
          <a:p>
            <a:pPr defTabSz="457200">
              <a:lnSpc>
                <a:spcPct val="106000"/>
              </a:lnSpc>
              <a:spcAft>
                <a:spcPts val="499"/>
              </a:spcAft>
            </a:pPr>
            <a:r>
              <a:rPr lang="en-US" sz="1250" b="1" u="none" strike="noStrike">
                <a:solidFill>
                  <a:srgbClr val="0E1A33"/>
                </a:solidFill>
                <a:effectLst/>
                <a:uFillTx/>
                <a:latin typeface="Calibri"/>
              </a:rPr>
              <a:t>Privacy by construction</a:t>
            </a:r>
            <a:endParaRPr lang="en-US" sz="1250" b="0" u="none" strike="noStrike">
              <a:solidFill>
                <a:srgbClr val="000000"/>
              </a:solidFill>
              <a:effectLst/>
              <a:uFillTx/>
              <a:latin typeface="Arial"/>
            </a:endParaRPr>
          </a:p>
          <a:p>
            <a:pPr defTabSz="457200">
              <a:lnSpc>
                <a:spcPct val="114000"/>
              </a:lnSpc>
            </a:pPr>
            <a:r>
              <a:rPr lang="en-US" sz="1050" b="0" u="none" strike="noStrike">
                <a:solidFill>
                  <a:srgbClr val="6B7280"/>
                </a:solidFill>
                <a:effectLst/>
                <a:uFillTx/>
                <a:latin typeface="Calibri"/>
              </a:rPr>
              <a:t>The applicant's name has no field in AssessmentContext. The audit log stores message length and matched FAQ ids — never the question text.</a:t>
            </a:r>
            <a:endParaRPr lang="en-US" sz="1050" b="0" u="none" strike="noStrike">
              <a:solidFill>
                <a:srgbClr val="000000"/>
              </a:solidFill>
              <a:effectLst/>
              <a:uFillTx/>
              <a:latin typeface="Arial"/>
            </a:endParaRPr>
          </a:p>
        </p:txBody>
      </p:sp>
      <p:sp>
        <p:nvSpPr>
          <p:cNvPr id="257" name="Rectangle 21"/>
          <p:cNvSpPr/>
          <p:nvPr/>
        </p:nvSpPr>
        <p:spPr>
          <a:xfrm>
            <a:off x="8098200" y="4032360"/>
            <a:ext cx="54360" cy="1371240"/>
          </a:xfrm>
          <a:prstGeom prst="rect">
            <a:avLst/>
          </a:prstGeom>
          <a:solidFill>
            <a:srgbClr val="06B6D4"/>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Tree>
  </p:cSld>
  <mc:AlternateContent>
    <mc:Choice Requires="p14">
      <p:transition spd="slow" p14:dur="2000"/>
    </mc:Choice>
    <mc:Fallback>
      <p:transition spd="slow"/>
    </mc:Fallback>
  </mc:AlternateContent>
</p:sld>
</file>

<file path=ppt/slides/slide1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58" name="Rectangle 1"/>
          <p:cNvSpPr/>
          <p:nvPr/>
        </p:nvSpPr>
        <p:spPr>
          <a:xfrm>
            <a:off x="0" y="0"/>
            <a:ext cx="12191400" cy="6857640"/>
          </a:xfrm>
          <a:prstGeom prst="rect">
            <a:avLst/>
          </a:prstGeom>
          <a:solidFill>
            <a:srgbClr val="FFFFFF"/>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259" name="Rectangle 2"/>
          <p:cNvSpPr/>
          <p:nvPr/>
        </p:nvSpPr>
        <p:spPr>
          <a:xfrm>
            <a:off x="0" y="0"/>
            <a:ext cx="12191400" cy="77400"/>
          </a:xfrm>
          <a:prstGeom prst="rect">
            <a:avLst/>
          </a:prstGeom>
          <a:gradFill rotWithShape="0">
            <a:gsLst>
              <a:gs pos="0">
                <a:srgbClr val="4F46E5"/>
              </a:gs>
              <a:gs pos="100000">
                <a:srgbClr val="7C3AED"/>
              </a:gs>
            </a:gsLst>
            <a:lin ang="0"/>
          </a:gra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32760" rIns="90000" bIns="32760" anchor="ctr">
            <a:noAutofit/>
          </a:bodyPr>
          <a:p>
            <a:endParaRPr lang="en-US" sz="1800" b="0" u="none" strike="noStrike">
              <a:solidFill>
                <a:schemeClr val="lt1"/>
              </a:solidFill>
              <a:effectLst/>
              <a:uFillTx/>
              <a:latin typeface="Calibri"/>
            </a:endParaRPr>
          </a:p>
        </p:txBody>
      </p:sp>
      <p:sp>
        <p:nvSpPr>
          <p:cNvPr id="260" name="TextBox 3"/>
          <p:cNvSpPr/>
          <p:nvPr/>
        </p:nvSpPr>
        <p:spPr>
          <a:xfrm>
            <a:off x="567000" y="384120"/>
            <a:ext cx="11057400" cy="237240"/>
          </a:xfrm>
          <a:prstGeom prst="rect">
            <a:avLst/>
          </a:prstGeom>
          <a:noFill/>
          <a:ln w="0">
            <a:noFill/>
          </a:ln>
        </p:spPr>
        <p:style>
          <a:lnRef idx="0"/>
          <a:fillRef idx="0"/>
          <a:effectRef idx="0"/>
          <a:fontRef idx="minor"/>
        </p:style>
        <p:txBody>
          <a:bodyPr lIns="0" tIns="0" rIns="0" bIns="0" anchor="t">
            <a:spAutoFit/>
          </a:bodyPr>
          <a:p>
            <a:pPr defTabSz="457200">
              <a:lnSpc>
                <a:spcPct val="106000"/>
              </a:lnSpc>
            </a:pPr>
            <a:r>
              <a:rPr lang="en-US" sz="950" b="1" u="none" strike="noStrike">
                <a:solidFill>
                  <a:srgbClr val="4F46E5"/>
                </a:solidFill>
                <a:effectLst/>
                <a:uFillTx/>
                <a:latin typeface="Calibri"/>
              </a:rPr>
              <a:t>PART 02  ·  CODEBASE</a:t>
            </a:r>
            <a:endParaRPr lang="en-US" sz="950" b="0" u="none" strike="noStrike">
              <a:solidFill>
                <a:srgbClr val="000000"/>
              </a:solidFill>
              <a:effectLst/>
              <a:uFillTx/>
              <a:latin typeface="Arial"/>
            </a:endParaRPr>
          </a:p>
        </p:txBody>
      </p:sp>
      <p:sp>
        <p:nvSpPr>
          <p:cNvPr id="261" name="TextBox 4"/>
          <p:cNvSpPr/>
          <p:nvPr/>
        </p:nvSpPr>
        <p:spPr>
          <a:xfrm>
            <a:off x="567000" y="658440"/>
            <a:ext cx="11057400" cy="502560"/>
          </a:xfrm>
          <a:prstGeom prst="rect">
            <a:avLst/>
          </a:prstGeom>
          <a:noFill/>
          <a:ln w="0">
            <a:noFill/>
          </a:ln>
        </p:spPr>
        <p:style>
          <a:lnRef idx="0"/>
          <a:fillRef idx="0"/>
          <a:effectRef idx="0"/>
          <a:fontRef idx="minor"/>
        </p:style>
        <p:txBody>
          <a:bodyPr lIns="0" tIns="0" rIns="0" bIns="0" anchor="t">
            <a:spAutoFit/>
          </a:bodyPr>
          <a:p>
            <a:pPr defTabSz="457200">
              <a:lnSpc>
                <a:spcPct val="106000"/>
              </a:lnSpc>
            </a:pPr>
            <a:r>
              <a:rPr lang="en-US" sz="2700" b="1" u="none" strike="noStrike">
                <a:solidFill>
                  <a:srgbClr val="0E1A33"/>
                </a:solidFill>
                <a:effectLst/>
                <a:uFillTx/>
                <a:latin typeface="Calibri"/>
              </a:rPr>
              <a:t>Repository map and API surface</a:t>
            </a:r>
            <a:endParaRPr lang="en-US" sz="2700" b="0" u="none" strike="noStrike">
              <a:solidFill>
                <a:srgbClr val="000000"/>
              </a:solidFill>
              <a:effectLst/>
              <a:uFillTx/>
              <a:latin typeface="Arial"/>
            </a:endParaRPr>
          </a:p>
        </p:txBody>
      </p:sp>
      <p:sp>
        <p:nvSpPr>
          <p:cNvPr id="262" name="TextBox 5"/>
          <p:cNvSpPr/>
          <p:nvPr/>
        </p:nvSpPr>
        <p:spPr>
          <a:xfrm>
            <a:off x="567000" y="1225440"/>
            <a:ext cx="9509400" cy="365400"/>
          </a:xfrm>
          <a:prstGeom prst="rect">
            <a:avLst/>
          </a:prstGeom>
          <a:noFill/>
          <a:ln w="0">
            <a:noFill/>
          </a:ln>
        </p:spPr>
        <p:style>
          <a:lnRef idx="0"/>
          <a:fillRef idx="0"/>
          <a:effectRef idx="0"/>
          <a:fontRef idx="minor"/>
        </p:style>
        <p:txBody>
          <a:bodyPr lIns="0" tIns="0" rIns="0" bIns="0" anchor="t">
            <a:spAutoFit/>
          </a:bodyPr>
          <a:p>
            <a:pPr defTabSz="457200">
              <a:lnSpc>
                <a:spcPct val="106000"/>
              </a:lnSpc>
            </a:pPr>
            <a:r>
              <a:rPr lang="en-US" sz="1250" b="0" u="none" strike="noStrike">
                <a:solidFill>
                  <a:srgbClr val="6B7280"/>
                </a:solidFill>
                <a:effectLst/>
                <a:uFillTx/>
                <a:latin typeface="Calibri"/>
              </a:rPr>
              <a:t>13 Python modules, 43 unit tests, no build step.</a:t>
            </a:r>
            <a:endParaRPr lang="en-US" sz="1250" b="0" u="none" strike="noStrike">
              <a:solidFill>
                <a:srgbClr val="000000"/>
              </a:solidFill>
              <a:effectLst/>
              <a:uFillTx/>
              <a:latin typeface="Arial"/>
            </a:endParaRPr>
          </a:p>
        </p:txBody>
      </p:sp>
      <p:sp>
        <p:nvSpPr>
          <p:cNvPr id="263" name="TextBox 6"/>
          <p:cNvSpPr/>
          <p:nvPr/>
        </p:nvSpPr>
        <p:spPr>
          <a:xfrm>
            <a:off x="567000" y="6382440"/>
            <a:ext cx="7740000" cy="273960"/>
          </a:xfrm>
          <a:prstGeom prst="rect">
            <a:avLst/>
          </a:prstGeom>
          <a:noFill/>
          <a:ln w="0">
            <a:noFill/>
          </a:ln>
        </p:spPr>
        <p:style>
          <a:lnRef idx="0"/>
          <a:fillRef idx="0"/>
          <a:effectRef idx="0"/>
          <a:fontRef idx="minor"/>
        </p:style>
        <p:txBody>
          <a:bodyPr lIns="0" tIns="0" rIns="0" bIns="0" anchor="t">
            <a:spAutoFit/>
          </a:bodyPr>
          <a:p>
            <a:pPr defTabSz="457200">
              <a:lnSpc>
                <a:spcPct val="106000"/>
              </a:lnSpc>
            </a:pPr>
            <a:r>
              <a:rPr lang="en-US" sz="900" b="0" u="none" strike="noStrike">
                <a:solidFill>
                  <a:srgbClr val="6B7280"/>
                </a:solidFill>
                <a:effectLst/>
                <a:uFillTx/>
                <a:latin typeface="Calibri"/>
              </a:rPr>
              <a:t>Loan Eligibility AI  ·  Capstone Demonstration</a:t>
            </a:r>
            <a:endParaRPr lang="en-US" sz="900" b="0" u="none" strike="noStrike">
              <a:solidFill>
                <a:srgbClr val="000000"/>
              </a:solidFill>
              <a:effectLst/>
              <a:uFillTx/>
              <a:latin typeface="Arial"/>
            </a:endParaRPr>
          </a:p>
        </p:txBody>
      </p:sp>
      <p:sp>
        <p:nvSpPr>
          <p:cNvPr id="264" name="TextBox 7"/>
          <p:cNvSpPr/>
          <p:nvPr/>
        </p:nvSpPr>
        <p:spPr>
          <a:xfrm>
            <a:off x="10527480" y="6382440"/>
            <a:ext cx="1096920" cy="273960"/>
          </a:xfrm>
          <a:prstGeom prst="rect">
            <a:avLst/>
          </a:prstGeom>
          <a:noFill/>
          <a:ln w="0">
            <a:noFill/>
          </a:ln>
        </p:spPr>
        <p:style>
          <a:lnRef idx="0"/>
          <a:fillRef idx="0"/>
          <a:effectRef idx="0"/>
          <a:fontRef idx="minor"/>
        </p:style>
        <p:txBody>
          <a:bodyPr lIns="0" tIns="0" rIns="0" bIns="0" anchor="t">
            <a:spAutoFit/>
          </a:bodyPr>
          <a:p>
            <a:pPr algn="r" defTabSz="457200">
              <a:lnSpc>
                <a:spcPct val="106000"/>
              </a:lnSpc>
            </a:pPr>
            <a:r>
              <a:rPr lang="en-US" sz="900" b="0" u="none" strike="noStrike">
                <a:solidFill>
                  <a:srgbClr val="6B7280"/>
                </a:solidFill>
                <a:effectLst/>
                <a:uFillTx/>
                <a:latin typeface="Calibri"/>
              </a:rPr>
              <a:t>12</a:t>
            </a:r>
            <a:endParaRPr lang="en-US" sz="900" b="0" u="none" strike="noStrike">
              <a:solidFill>
                <a:srgbClr val="000000"/>
              </a:solidFill>
              <a:effectLst/>
              <a:uFillTx/>
              <a:latin typeface="Arial"/>
            </a:endParaRPr>
          </a:p>
        </p:txBody>
      </p:sp>
      <p:sp>
        <p:nvSpPr>
          <p:cNvPr id="265" name="Rounded Rectangle 8"/>
          <p:cNvSpPr/>
          <p:nvPr/>
        </p:nvSpPr>
        <p:spPr>
          <a:xfrm>
            <a:off x="567000" y="1700640"/>
            <a:ext cx="5860440" cy="4498560"/>
          </a:xfrm>
          <a:prstGeom prst="roundRect">
            <a:avLst>
              <a:gd name="adj" fmla="val 5500"/>
            </a:avLst>
          </a:prstGeom>
          <a:solidFill>
            <a:srgbClr val="0E1A33"/>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292680" tIns="237600" rIns="90000" bIns="45000" anchor="ctr">
            <a:noAutofit/>
          </a:bodyPr>
          <a:p>
            <a:pPr defTabSz="457200">
              <a:lnSpc>
                <a:spcPct val="106000"/>
              </a:lnSpc>
              <a:spcAft>
                <a:spcPts val="901"/>
              </a:spcAft>
            </a:pPr>
            <a:r>
              <a:rPr lang="en-US" sz="950" b="1" u="none" strike="noStrike">
                <a:solidFill>
                  <a:srgbClr val="06B6D4"/>
                </a:solidFill>
                <a:effectLst/>
                <a:uFillTx/>
                <a:latin typeface="Calibri"/>
              </a:rPr>
              <a:t>PROJECT LAYOUT</a:t>
            </a:r>
            <a:endParaRPr lang="en-US" sz="950" b="0" u="none" strike="noStrike">
              <a:solidFill>
                <a:srgbClr val="FFFFFF"/>
              </a:solidFill>
              <a:effectLst/>
              <a:uFillTx/>
              <a:latin typeface="Arial"/>
            </a:endParaRPr>
          </a:p>
          <a:p>
            <a:pPr defTabSz="457200">
              <a:lnSpc>
                <a:spcPct val="108000"/>
              </a:lnSpc>
              <a:spcAft>
                <a:spcPts val="451"/>
              </a:spcAft>
            </a:pPr>
            <a:r>
              <a:rPr lang="en-US" sz="1050" b="1" u="none" strike="noStrike">
                <a:solidFill>
                  <a:srgbClr val="FFFFFF"/>
                </a:solidFill>
                <a:effectLst/>
                <a:uFillTx/>
                <a:latin typeface="Calibri"/>
              </a:rPr>
              <a:t>agents/</a:t>
            </a:r>
            <a:r>
              <a:rPr lang="en-US" sz="1050" b="0" u="none" strike="noStrike">
                <a:solidFill>
                  <a:srgbClr val="7C8AA8"/>
                </a:solidFill>
                <a:effectLst/>
                <a:uFillTx/>
                <a:latin typeface="Calibri"/>
              </a:rPr>
              <a:t>   the decision and conversation logic</a:t>
            </a:r>
            <a:endParaRPr lang="en-US" sz="1050" b="0" u="none" strike="noStrike">
              <a:solidFill>
                <a:srgbClr val="FFFFFF"/>
              </a:solidFill>
              <a:effectLst/>
              <a:uFillTx/>
              <a:latin typeface="Arial"/>
            </a:endParaRPr>
          </a:p>
          <a:p>
            <a:pPr defTabSz="457200">
              <a:lnSpc>
                <a:spcPct val="108000"/>
              </a:lnSpc>
              <a:spcAft>
                <a:spcPts val="451"/>
              </a:spcAft>
            </a:pPr>
            <a:r>
              <a:rPr lang="en-US" sz="1050" b="1" u="none" strike="noStrike">
                <a:solidFill>
                  <a:srgbClr val="9FB0D0"/>
                </a:solidFill>
                <a:effectLst/>
                <a:uFillTx/>
                <a:latin typeface="Calibri"/>
              </a:rPr>
              <a:t>   coordinator.py</a:t>
            </a:r>
            <a:r>
              <a:rPr lang="en-US" sz="1050" b="0" u="none" strike="noStrike">
                <a:solidFill>
                  <a:srgbClr val="7C8AA8"/>
                </a:solidFill>
                <a:effectLst/>
                <a:uFillTx/>
                <a:latin typeface="Calibri"/>
              </a:rPr>
              <a:t>   orchestrates one application</a:t>
            </a:r>
            <a:endParaRPr lang="en-US" sz="1050" b="0" u="none" strike="noStrike">
              <a:solidFill>
                <a:srgbClr val="FFFFFF"/>
              </a:solidFill>
              <a:effectLst/>
              <a:uFillTx/>
              <a:latin typeface="Arial"/>
            </a:endParaRPr>
          </a:p>
          <a:p>
            <a:pPr defTabSz="457200">
              <a:lnSpc>
                <a:spcPct val="108000"/>
              </a:lnSpc>
              <a:spcAft>
                <a:spcPts val="451"/>
              </a:spcAft>
            </a:pPr>
            <a:r>
              <a:rPr lang="en-US" sz="1050" b="1" u="none" strike="noStrike">
                <a:solidFill>
                  <a:srgbClr val="9FB0D0"/>
                </a:solidFill>
                <a:effectLst/>
                <a:uFillTx/>
                <a:latin typeface="Calibri"/>
              </a:rPr>
              <a:t>   eligibility_agent.py</a:t>
            </a:r>
            <a:r>
              <a:rPr lang="en-US" sz="1050" b="0" u="none" strike="noStrike">
                <a:solidFill>
                  <a:srgbClr val="7C8AA8"/>
                </a:solidFill>
                <a:effectLst/>
                <a:uFillTx/>
                <a:latin typeface="Calibri"/>
              </a:rPr>
              <a:t>   the four rules + decision</a:t>
            </a:r>
            <a:endParaRPr lang="en-US" sz="1050" b="0" u="none" strike="noStrike">
              <a:solidFill>
                <a:srgbClr val="FFFFFF"/>
              </a:solidFill>
              <a:effectLst/>
              <a:uFillTx/>
              <a:latin typeface="Arial"/>
            </a:endParaRPr>
          </a:p>
          <a:p>
            <a:pPr defTabSz="457200">
              <a:lnSpc>
                <a:spcPct val="108000"/>
              </a:lnSpc>
              <a:spcAft>
                <a:spcPts val="451"/>
              </a:spcAft>
            </a:pPr>
            <a:r>
              <a:rPr lang="en-US" sz="1050" b="1" u="none" strike="noStrike">
                <a:solidFill>
                  <a:srgbClr val="9FB0D0"/>
                </a:solidFill>
                <a:effectLst/>
                <a:uFillTx/>
                <a:latin typeface="Calibri"/>
              </a:rPr>
              <a:t>   rag_interface.py / rag_adapters.py</a:t>
            </a:r>
            <a:r>
              <a:rPr lang="en-US" sz="1050" b="0" u="none" strike="noStrike">
                <a:solidFill>
                  <a:srgbClr val="7C8AA8"/>
                </a:solidFill>
                <a:effectLst/>
                <a:uFillTx/>
                <a:latin typeface="Calibri"/>
              </a:rPr>
              <a:t>   retriever protocol, FAISS, Pinecone</a:t>
            </a:r>
            <a:endParaRPr lang="en-US" sz="1050" b="0" u="none" strike="noStrike">
              <a:solidFill>
                <a:srgbClr val="FFFFFF"/>
              </a:solidFill>
              <a:effectLst/>
              <a:uFillTx/>
              <a:latin typeface="Arial"/>
            </a:endParaRPr>
          </a:p>
          <a:p>
            <a:pPr defTabSz="457200">
              <a:lnSpc>
                <a:spcPct val="108000"/>
              </a:lnSpc>
              <a:spcAft>
                <a:spcPts val="451"/>
              </a:spcAft>
            </a:pPr>
            <a:r>
              <a:rPr lang="en-US" sz="1050" b="1" u="none" strike="noStrike">
                <a:solidFill>
                  <a:srgbClr val="9FB0D0"/>
                </a:solidFill>
                <a:effectLst/>
                <a:uFillTx/>
                <a:latin typeface="Calibri"/>
              </a:rPr>
              <a:t>   chat_agent.py / chat_knowledge.py</a:t>
            </a:r>
            <a:r>
              <a:rPr lang="en-US" sz="1050" b="0" u="none" strike="noStrike">
                <a:solidFill>
                  <a:srgbClr val="7C8AA8"/>
                </a:solidFill>
                <a:effectLst/>
                <a:uFillTx/>
                <a:latin typeface="Calibri"/>
              </a:rPr>
              <a:t>   guard, intents, FAQ knowledge base</a:t>
            </a:r>
            <a:endParaRPr lang="en-US" sz="1050" b="0" u="none" strike="noStrike">
              <a:solidFill>
                <a:srgbClr val="FFFFFF"/>
              </a:solidFill>
              <a:effectLst/>
              <a:uFillTx/>
              <a:latin typeface="Arial"/>
            </a:endParaRPr>
          </a:p>
          <a:p>
            <a:pPr defTabSz="457200">
              <a:lnSpc>
                <a:spcPct val="108000"/>
              </a:lnSpc>
              <a:spcAft>
                <a:spcPts val="451"/>
              </a:spcAft>
            </a:pPr>
            <a:r>
              <a:rPr lang="en-US" sz="1050" b="1" u="none" strike="noStrike">
                <a:solidFill>
                  <a:srgbClr val="9FB0D0"/>
                </a:solidFill>
                <a:effectLst/>
                <a:uFillTx/>
                <a:latin typeface="Calibri"/>
              </a:rPr>
              <a:t>   chat_llm.py / llm_client.py</a:t>
            </a:r>
            <a:r>
              <a:rPr lang="en-US" sz="1050" b="0" u="none" strike="noStrike">
                <a:solidFill>
                  <a:srgbClr val="7C8AA8"/>
                </a:solidFill>
                <a:effectLst/>
                <a:uFillTx/>
                <a:latin typeface="Calibri"/>
              </a:rPr>
              <a:t>   optional Claude responder</a:t>
            </a:r>
            <a:endParaRPr lang="en-US" sz="1050" b="0" u="none" strike="noStrike">
              <a:solidFill>
                <a:srgbClr val="FFFFFF"/>
              </a:solidFill>
              <a:effectLst/>
              <a:uFillTx/>
              <a:latin typeface="Arial"/>
            </a:endParaRPr>
          </a:p>
          <a:p>
            <a:pPr defTabSz="457200">
              <a:lnSpc>
                <a:spcPct val="108000"/>
              </a:lnSpc>
              <a:spcAft>
                <a:spcPts val="451"/>
              </a:spcAft>
            </a:pPr>
            <a:r>
              <a:rPr lang="en-US" sz="1050" b="1" u="none" strike="noStrike">
                <a:solidFill>
                  <a:srgbClr val="FFFFFF"/>
                </a:solidFill>
                <a:effectLst/>
                <a:uFillTx/>
                <a:latin typeface="Calibri"/>
              </a:rPr>
              <a:t>service/</a:t>
            </a:r>
            <a:r>
              <a:rPr lang="en-US" sz="1050" b="0" u="none" strike="noStrike">
                <a:solidFill>
                  <a:srgbClr val="7C8AA8"/>
                </a:solidFill>
                <a:effectLst/>
                <a:uFillTx/>
                <a:latin typeface="Calibri"/>
              </a:rPr>
              <a:t>   the HTTP boundary</a:t>
            </a:r>
            <a:endParaRPr lang="en-US" sz="1050" b="0" u="none" strike="noStrike">
              <a:solidFill>
                <a:srgbClr val="FFFFFF"/>
              </a:solidFill>
              <a:effectLst/>
              <a:uFillTx/>
              <a:latin typeface="Arial"/>
            </a:endParaRPr>
          </a:p>
          <a:p>
            <a:pPr defTabSz="457200">
              <a:lnSpc>
                <a:spcPct val="108000"/>
              </a:lnSpc>
              <a:spcAft>
                <a:spcPts val="451"/>
              </a:spcAft>
            </a:pPr>
            <a:r>
              <a:rPr lang="en-US" sz="1050" b="1" u="none" strike="noStrike">
                <a:solidFill>
                  <a:srgbClr val="9FB0D0"/>
                </a:solidFill>
                <a:effectLst/>
                <a:uFillTx/>
                <a:latin typeface="Calibri"/>
              </a:rPr>
              <a:t>   coordinator_service.py</a:t>
            </a:r>
            <a:r>
              <a:rPr lang="en-US" sz="1050" b="0" u="none" strike="noStrike">
                <a:solidFill>
                  <a:srgbClr val="7C8AA8"/>
                </a:solidFill>
                <a:effectLst/>
                <a:uFillTx/>
                <a:latin typeface="Calibri"/>
              </a:rPr>
              <a:t>   FastAPI app, three endpoints</a:t>
            </a:r>
            <a:endParaRPr lang="en-US" sz="1050" b="0" u="none" strike="noStrike">
              <a:solidFill>
                <a:srgbClr val="FFFFFF"/>
              </a:solidFill>
              <a:effectLst/>
              <a:uFillTx/>
              <a:latin typeface="Arial"/>
            </a:endParaRPr>
          </a:p>
          <a:p>
            <a:pPr defTabSz="457200">
              <a:lnSpc>
                <a:spcPct val="108000"/>
              </a:lnSpc>
              <a:spcAft>
                <a:spcPts val="451"/>
              </a:spcAft>
            </a:pPr>
            <a:r>
              <a:rPr lang="en-US" sz="1050" b="1" u="none" strike="noStrike">
                <a:solidFill>
                  <a:srgbClr val="9FB0D0"/>
                </a:solidFill>
                <a:effectLst/>
                <a:uFillTx/>
                <a:latin typeface="Calibri"/>
              </a:rPr>
              <a:t>   audit.py</a:t>
            </a:r>
            <a:r>
              <a:rPr lang="en-US" sz="1050" b="0" u="none" strike="noStrike">
                <a:solidFill>
                  <a:srgbClr val="7C8AA8"/>
                </a:solidFill>
                <a:effectLst/>
                <a:uFillTx/>
                <a:latin typeface="Calibri"/>
              </a:rPr>
              <a:t>   one JSON line per decision</a:t>
            </a:r>
            <a:endParaRPr lang="en-US" sz="1050" b="0" u="none" strike="noStrike">
              <a:solidFill>
                <a:srgbClr val="FFFFFF"/>
              </a:solidFill>
              <a:effectLst/>
              <a:uFillTx/>
              <a:latin typeface="Arial"/>
            </a:endParaRPr>
          </a:p>
          <a:p>
            <a:pPr defTabSz="457200">
              <a:lnSpc>
                <a:spcPct val="108000"/>
              </a:lnSpc>
              <a:spcAft>
                <a:spcPts val="451"/>
              </a:spcAft>
            </a:pPr>
            <a:r>
              <a:rPr lang="en-US" sz="1050" b="1" u="none" strike="noStrike">
                <a:solidFill>
                  <a:srgbClr val="FFFFFF"/>
                </a:solidFill>
                <a:effectLst/>
                <a:uFillTx/>
                <a:latin typeface="Calibri"/>
              </a:rPr>
              <a:t>schemas/models.py</a:t>
            </a:r>
            <a:r>
              <a:rPr lang="en-US" sz="1050" b="0" u="none" strike="noStrike">
                <a:solidFill>
                  <a:srgbClr val="7C8AA8"/>
                </a:solidFill>
                <a:effectLst/>
                <a:uFillTx/>
                <a:latin typeface="Calibri"/>
              </a:rPr>
              <a:t>   Pydantic request / response models</a:t>
            </a:r>
            <a:endParaRPr lang="en-US" sz="1050" b="0" u="none" strike="noStrike">
              <a:solidFill>
                <a:srgbClr val="FFFFFF"/>
              </a:solidFill>
              <a:effectLst/>
              <a:uFillTx/>
              <a:latin typeface="Arial"/>
            </a:endParaRPr>
          </a:p>
          <a:p>
            <a:pPr defTabSz="457200">
              <a:lnSpc>
                <a:spcPct val="108000"/>
              </a:lnSpc>
              <a:spcAft>
                <a:spcPts val="451"/>
              </a:spcAft>
            </a:pPr>
            <a:r>
              <a:rPr lang="en-US" sz="1050" b="1" u="none" strike="noStrike">
                <a:solidFill>
                  <a:srgbClr val="FFFFFF"/>
                </a:solidFill>
                <a:effectLst/>
                <a:uFillTx/>
                <a:latin typeface="Calibri"/>
              </a:rPr>
              <a:t>ui/app.py</a:t>
            </a:r>
            <a:r>
              <a:rPr lang="en-US" sz="1050" b="0" u="none" strike="noStrike">
                <a:solidFill>
                  <a:srgbClr val="7C8AA8"/>
                </a:solidFill>
                <a:effectLst/>
                <a:uFillTx/>
                <a:latin typeface="Calibri"/>
              </a:rPr>
              <a:t>   Streamlit form, results, PDF, chat panel</a:t>
            </a:r>
            <a:endParaRPr lang="en-US" sz="1050" b="0" u="none" strike="noStrike">
              <a:solidFill>
                <a:srgbClr val="FFFFFF"/>
              </a:solidFill>
              <a:effectLst/>
              <a:uFillTx/>
              <a:latin typeface="Arial"/>
            </a:endParaRPr>
          </a:p>
          <a:p>
            <a:pPr defTabSz="457200">
              <a:lnSpc>
                <a:spcPct val="108000"/>
              </a:lnSpc>
              <a:spcAft>
                <a:spcPts val="451"/>
              </a:spcAft>
            </a:pPr>
            <a:r>
              <a:rPr lang="en-US" sz="1050" b="1" u="none" strike="noStrike">
                <a:solidFill>
                  <a:srgbClr val="FFFFFF"/>
                </a:solidFill>
                <a:effectLst/>
                <a:uFillTx/>
                <a:latin typeface="Calibri"/>
              </a:rPr>
              <a:t>tests/</a:t>
            </a:r>
            <a:r>
              <a:rPr lang="en-US" sz="1050" b="0" u="none" strike="noStrike">
                <a:solidFill>
                  <a:srgbClr val="7C8AA8"/>
                </a:solidFill>
                <a:effectLst/>
                <a:uFillTx/>
                <a:latin typeface="Calibri"/>
              </a:rPr>
              <a:t>   43 tests across rules, chat, API, audit</a:t>
            </a:r>
            <a:endParaRPr lang="en-US" sz="1050" b="0" u="none" strike="noStrike">
              <a:solidFill>
                <a:srgbClr val="FFFFFF"/>
              </a:solidFill>
              <a:effectLst/>
              <a:uFillTx/>
              <a:latin typeface="Arial"/>
            </a:endParaRPr>
          </a:p>
        </p:txBody>
      </p:sp>
      <p:sp>
        <p:nvSpPr>
          <p:cNvPr id="266" name="TextBox 9"/>
          <p:cNvSpPr/>
          <p:nvPr/>
        </p:nvSpPr>
        <p:spPr>
          <a:xfrm>
            <a:off x="6701760" y="1737360"/>
            <a:ext cx="4922640" cy="273960"/>
          </a:xfrm>
          <a:prstGeom prst="rect">
            <a:avLst/>
          </a:prstGeom>
          <a:noFill/>
          <a:ln w="0">
            <a:noFill/>
          </a:ln>
        </p:spPr>
        <p:style>
          <a:lnRef idx="0"/>
          <a:fillRef idx="0"/>
          <a:effectRef idx="0"/>
          <a:fontRef idx="minor"/>
        </p:style>
        <p:txBody>
          <a:bodyPr lIns="0" tIns="0" rIns="0" bIns="0" anchor="t">
            <a:spAutoFit/>
          </a:bodyPr>
          <a:p>
            <a:pPr defTabSz="457200">
              <a:lnSpc>
                <a:spcPct val="106000"/>
              </a:lnSpc>
            </a:pPr>
            <a:r>
              <a:rPr lang="en-US" sz="950" b="1" u="none" strike="noStrike">
                <a:solidFill>
                  <a:srgbClr val="4F46E5"/>
                </a:solidFill>
                <a:effectLst/>
                <a:uFillTx/>
                <a:latin typeface="Calibri"/>
              </a:rPr>
              <a:t>API SURFACE</a:t>
            </a:r>
            <a:endParaRPr lang="en-US" sz="950" b="0" u="none" strike="noStrike">
              <a:solidFill>
                <a:srgbClr val="000000"/>
              </a:solidFill>
              <a:effectLst/>
              <a:uFillTx/>
              <a:latin typeface="Arial"/>
            </a:endParaRPr>
          </a:p>
        </p:txBody>
      </p:sp>
      <p:sp>
        <p:nvSpPr>
          <p:cNvPr id="267" name="Rounded Rectangle 10"/>
          <p:cNvSpPr/>
          <p:nvPr/>
        </p:nvSpPr>
        <p:spPr>
          <a:xfrm>
            <a:off x="6701760" y="2084760"/>
            <a:ext cx="4922640" cy="1023840"/>
          </a:xfrm>
          <a:prstGeom prst="roundRect">
            <a:avLst>
              <a:gd name="adj" fmla="val 5500"/>
            </a:avLst>
          </a:prstGeom>
          <a:solidFill>
            <a:srgbClr val="F6F8FC"/>
          </a:solidFill>
          <a:ln w="12700">
            <a:solidFill>
              <a:srgbClr val="E3E8F0"/>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201240" tIns="146160" rIns="164520" bIns="45000" anchor="ctr">
            <a:noAutofit/>
          </a:bodyPr>
          <a:p>
            <a:pPr defTabSz="457200">
              <a:lnSpc>
                <a:spcPct val="106000"/>
              </a:lnSpc>
              <a:spcAft>
                <a:spcPts val="400"/>
              </a:spcAft>
            </a:pPr>
            <a:r>
              <a:rPr lang="en-US" sz="1300" b="1" u="none" strike="noStrike">
                <a:solidFill>
                  <a:srgbClr val="4F46E5"/>
                </a:solidFill>
                <a:effectLst/>
                <a:uFillTx/>
                <a:latin typeface="Calibri"/>
              </a:rPr>
              <a:t>POST /process</a:t>
            </a:r>
            <a:endParaRPr lang="en-US" sz="1300" b="0" u="none" strike="noStrike">
              <a:solidFill>
                <a:srgbClr val="000000"/>
              </a:solidFill>
              <a:effectLst/>
              <a:uFillTx/>
              <a:latin typeface="Arial"/>
            </a:endParaRPr>
          </a:p>
          <a:p>
            <a:pPr defTabSz="457200">
              <a:lnSpc>
                <a:spcPct val="114000"/>
              </a:lnSpc>
            </a:pPr>
            <a:r>
              <a:rPr lang="en-US" sz="1050" b="0" u="none" strike="noStrike">
                <a:solidFill>
                  <a:srgbClr val="6B7280"/>
                </a:solidFill>
                <a:effectLst/>
                <a:uFillTx/>
                <a:latin typeface="Calibri"/>
              </a:rPr>
              <a:t>Assess an application. Returns decision, new EMI, EMI ratio, per-rule reasoning and retrieved evidence.</a:t>
            </a:r>
            <a:endParaRPr lang="en-US" sz="1050" b="0" u="none" strike="noStrike">
              <a:solidFill>
                <a:srgbClr val="000000"/>
              </a:solidFill>
              <a:effectLst/>
              <a:uFillTx/>
              <a:latin typeface="Arial"/>
            </a:endParaRPr>
          </a:p>
        </p:txBody>
      </p:sp>
      <p:sp>
        <p:nvSpPr>
          <p:cNvPr id="268" name="Rectangle 11"/>
          <p:cNvSpPr/>
          <p:nvPr/>
        </p:nvSpPr>
        <p:spPr>
          <a:xfrm>
            <a:off x="6702840" y="2084760"/>
            <a:ext cx="50040" cy="1023840"/>
          </a:xfrm>
          <a:prstGeom prst="rect">
            <a:avLst/>
          </a:prstGeom>
          <a:solidFill>
            <a:srgbClr val="4F46E5"/>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269" name="Rounded Rectangle 12"/>
          <p:cNvSpPr/>
          <p:nvPr/>
        </p:nvSpPr>
        <p:spPr>
          <a:xfrm>
            <a:off x="6701760" y="3218760"/>
            <a:ext cx="4922640" cy="1023840"/>
          </a:xfrm>
          <a:prstGeom prst="roundRect">
            <a:avLst>
              <a:gd name="adj" fmla="val 5500"/>
            </a:avLst>
          </a:prstGeom>
          <a:solidFill>
            <a:srgbClr val="F6F8FC"/>
          </a:solidFill>
          <a:ln w="12700">
            <a:solidFill>
              <a:srgbClr val="E3E8F0"/>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201240" tIns="146160" rIns="164520" bIns="45000" anchor="ctr">
            <a:noAutofit/>
          </a:bodyPr>
          <a:p>
            <a:pPr defTabSz="457200">
              <a:lnSpc>
                <a:spcPct val="106000"/>
              </a:lnSpc>
              <a:spcAft>
                <a:spcPts val="400"/>
              </a:spcAft>
            </a:pPr>
            <a:r>
              <a:rPr lang="en-US" sz="1300" b="1" u="none" strike="noStrike">
                <a:solidFill>
                  <a:srgbClr val="7C3AED"/>
                </a:solidFill>
                <a:effectLst/>
                <a:uFillTx/>
                <a:latin typeface="Calibri"/>
              </a:rPr>
              <a:t>POST /chat</a:t>
            </a:r>
            <a:endParaRPr lang="en-US" sz="1300" b="0" u="none" strike="noStrike">
              <a:solidFill>
                <a:srgbClr val="000000"/>
              </a:solidFill>
              <a:effectLst/>
              <a:uFillTx/>
              <a:latin typeface="Arial"/>
            </a:endParaRPr>
          </a:p>
          <a:p>
            <a:pPr defTabSz="457200">
              <a:lnSpc>
                <a:spcPct val="114000"/>
              </a:lnSpc>
            </a:pPr>
            <a:r>
              <a:rPr lang="en-US" sz="1050" b="0" u="none" strike="noStrike">
                <a:solidFill>
                  <a:srgbClr val="6B7280"/>
                </a:solidFill>
                <a:effectLst/>
                <a:uFillTx/>
                <a:latin typeface="Calibri"/>
              </a:rPr>
              <a:t>Answer one customer question. Accepts history and the applicant's assessment context; returns answer, sources and mode.</a:t>
            </a:r>
            <a:endParaRPr lang="en-US" sz="1050" b="0" u="none" strike="noStrike">
              <a:solidFill>
                <a:srgbClr val="000000"/>
              </a:solidFill>
              <a:effectLst/>
              <a:uFillTx/>
              <a:latin typeface="Arial"/>
            </a:endParaRPr>
          </a:p>
        </p:txBody>
      </p:sp>
      <p:sp>
        <p:nvSpPr>
          <p:cNvPr id="270" name="Rectangle 13"/>
          <p:cNvSpPr/>
          <p:nvPr/>
        </p:nvSpPr>
        <p:spPr>
          <a:xfrm>
            <a:off x="6702840" y="3218760"/>
            <a:ext cx="50040" cy="1023840"/>
          </a:xfrm>
          <a:prstGeom prst="rect">
            <a:avLst/>
          </a:prstGeom>
          <a:solidFill>
            <a:srgbClr val="7C3AED"/>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271" name="Rounded Rectangle 14"/>
          <p:cNvSpPr/>
          <p:nvPr/>
        </p:nvSpPr>
        <p:spPr>
          <a:xfrm>
            <a:off x="6701760" y="4352400"/>
            <a:ext cx="4922640" cy="1023840"/>
          </a:xfrm>
          <a:prstGeom prst="roundRect">
            <a:avLst>
              <a:gd name="adj" fmla="val 5500"/>
            </a:avLst>
          </a:prstGeom>
          <a:solidFill>
            <a:srgbClr val="F6F8FC"/>
          </a:solidFill>
          <a:ln w="12700">
            <a:solidFill>
              <a:srgbClr val="E3E8F0"/>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201240" tIns="146160" rIns="164520" bIns="45000" anchor="ctr">
            <a:noAutofit/>
          </a:bodyPr>
          <a:p>
            <a:pPr defTabSz="457200">
              <a:lnSpc>
                <a:spcPct val="106000"/>
              </a:lnSpc>
              <a:spcAft>
                <a:spcPts val="400"/>
              </a:spcAft>
            </a:pPr>
            <a:r>
              <a:rPr lang="en-US" sz="1300" b="1" u="none" strike="noStrike">
                <a:solidFill>
                  <a:srgbClr val="06B6D4"/>
                </a:solidFill>
                <a:effectLst/>
                <a:uFillTx/>
                <a:latin typeface="Calibri"/>
              </a:rPr>
              <a:t>GET /chat/info</a:t>
            </a:r>
            <a:endParaRPr lang="en-US" sz="1300" b="0" u="none" strike="noStrike">
              <a:solidFill>
                <a:srgbClr val="000000"/>
              </a:solidFill>
              <a:effectLst/>
              <a:uFillTx/>
              <a:latin typeface="Arial"/>
            </a:endParaRPr>
          </a:p>
          <a:p>
            <a:pPr defTabSz="457200">
              <a:lnSpc>
                <a:spcPct val="114000"/>
              </a:lnSpc>
            </a:pPr>
            <a:r>
              <a:rPr lang="en-US" sz="1050" b="0" u="none" strike="noStrike">
                <a:solidFill>
                  <a:srgbClr val="6B7280"/>
                </a:solidFill>
                <a:effectLst/>
                <a:uFillTx/>
                <a:latin typeface="Calibri"/>
              </a:rPr>
              <a:t>Report whether the LLM mode is enabled and list suggested questions for the UI.</a:t>
            </a:r>
            <a:endParaRPr lang="en-US" sz="1050" b="0" u="none" strike="noStrike">
              <a:solidFill>
                <a:srgbClr val="000000"/>
              </a:solidFill>
              <a:effectLst/>
              <a:uFillTx/>
              <a:latin typeface="Arial"/>
            </a:endParaRPr>
          </a:p>
        </p:txBody>
      </p:sp>
      <p:sp>
        <p:nvSpPr>
          <p:cNvPr id="272" name="Rectangle 15"/>
          <p:cNvSpPr/>
          <p:nvPr/>
        </p:nvSpPr>
        <p:spPr>
          <a:xfrm>
            <a:off x="6702840" y="4352400"/>
            <a:ext cx="50040" cy="1023840"/>
          </a:xfrm>
          <a:prstGeom prst="rect">
            <a:avLst/>
          </a:prstGeom>
          <a:solidFill>
            <a:srgbClr val="06B6D4"/>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273" name="Rounded Rectangle 16"/>
          <p:cNvSpPr/>
          <p:nvPr/>
        </p:nvSpPr>
        <p:spPr>
          <a:xfrm>
            <a:off x="6701760" y="5541120"/>
            <a:ext cx="4922640" cy="658080"/>
          </a:xfrm>
          <a:prstGeom prst="roundRect">
            <a:avLst>
              <a:gd name="adj" fmla="val 5500"/>
            </a:avLst>
          </a:prstGeom>
          <a:solidFill>
            <a:srgbClr val="FFFFFF"/>
          </a:solidFill>
          <a:ln w="12700">
            <a:solidFill>
              <a:srgbClr val="E3E8F0"/>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201240" tIns="45000" rIns="90000" bIns="45000" anchor="ctr">
            <a:noAutofit/>
          </a:bodyPr>
          <a:p>
            <a:pPr defTabSz="457200">
              <a:lnSpc>
                <a:spcPct val="108000"/>
              </a:lnSpc>
            </a:pPr>
            <a:r>
              <a:rPr lang="en-US" sz="1100" b="0" u="none" strike="noStrike">
                <a:solidFill>
                  <a:srgbClr val="6B7280"/>
                </a:solidFill>
                <a:effectLst/>
                <a:uFillTx/>
                <a:latin typeface="Calibri"/>
              </a:rPr>
              <a:t>Every request carries an </a:t>
            </a:r>
            <a:r>
              <a:rPr lang="en-US" sz="1100" b="1" u="none" strike="noStrike">
                <a:solidFill>
                  <a:srgbClr val="0E1A33"/>
                </a:solidFill>
                <a:effectLst/>
                <a:uFillTx/>
                <a:latin typeface="Calibri"/>
              </a:rPr>
              <a:t>X-Request-ID</a:t>
            </a:r>
            <a:r>
              <a:rPr lang="en-US" sz="1100" b="0" u="none" strike="noStrike">
                <a:solidFill>
                  <a:srgbClr val="6B7280"/>
                </a:solidFill>
                <a:effectLst/>
                <a:uFillTx/>
                <a:latin typeface="Calibri"/>
              </a:rPr>
              <a:t> through the logs and the audit file.</a:t>
            </a:r>
            <a:endParaRPr lang="en-US" sz="11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74" name="Rectangle 1"/>
          <p:cNvSpPr/>
          <p:nvPr/>
        </p:nvSpPr>
        <p:spPr>
          <a:xfrm>
            <a:off x="0" y="0"/>
            <a:ext cx="12191400" cy="6857640"/>
          </a:xfrm>
          <a:prstGeom prst="rect">
            <a:avLst/>
          </a:prstGeom>
          <a:solidFill>
            <a:srgbClr val="0E1A33"/>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275" name="Rectangle 2"/>
          <p:cNvSpPr/>
          <p:nvPr/>
        </p:nvSpPr>
        <p:spPr>
          <a:xfrm>
            <a:off x="0" y="0"/>
            <a:ext cx="200880" cy="6857640"/>
          </a:xfrm>
          <a:prstGeom prst="rect">
            <a:avLst/>
          </a:prstGeom>
          <a:gradFill rotWithShape="0">
            <a:gsLst>
              <a:gs pos="0">
                <a:srgbClr val="4F46E5"/>
              </a:gs>
              <a:gs pos="100000">
                <a:srgbClr val="7C3AED"/>
              </a:gs>
            </a:gsLst>
            <a:lin ang="16200000"/>
          </a:gra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276" name="TextBox 3"/>
          <p:cNvSpPr/>
          <p:nvPr/>
        </p:nvSpPr>
        <p:spPr>
          <a:xfrm>
            <a:off x="1371600" y="2148840"/>
            <a:ext cx="2742840" cy="1462680"/>
          </a:xfrm>
          <a:prstGeom prst="rect">
            <a:avLst/>
          </a:prstGeom>
          <a:noFill/>
          <a:ln w="0">
            <a:noFill/>
          </a:ln>
        </p:spPr>
        <p:style>
          <a:lnRef idx="0"/>
          <a:fillRef idx="0"/>
          <a:effectRef idx="0"/>
          <a:fontRef idx="minor"/>
        </p:style>
        <p:txBody>
          <a:bodyPr lIns="0" tIns="0" rIns="0" bIns="0" anchor="t">
            <a:spAutoFit/>
          </a:bodyPr>
          <a:p>
            <a:pPr defTabSz="457200">
              <a:lnSpc>
                <a:spcPct val="106000"/>
              </a:lnSpc>
            </a:pPr>
            <a:r>
              <a:rPr lang="en-US" sz="9600" b="1" u="none" strike="noStrike">
                <a:solidFill>
                  <a:srgbClr val="4F46E5"/>
                </a:solidFill>
                <a:effectLst/>
                <a:uFillTx/>
                <a:latin typeface="Calibri"/>
              </a:rPr>
              <a:t>03</a:t>
            </a:r>
            <a:endParaRPr lang="en-US" sz="9600" b="0" u="none" strike="noStrike">
              <a:solidFill>
                <a:srgbClr val="000000"/>
              </a:solidFill>
              <a:effectLst/>
              <a:uFillTx/>
              <a:latin typeface="Arial"/>
            </a:endParaRPr>
          </a:p>
        </p:txBody>
      </p:sp>
      <p:sp>
        <p:nvSpPr>
          <p:cNvPr id="277" name="TextBox 4"/>
          <p:cNvSpPr/>
          <p:nvPr/>
        </p:nvSpPr>
        <p:spPr>
          <a:xfrm>
            <a:off x="3108960" y="2331720"/>
            <a:ext cx="7680600" cy="914040"/>
          </a:xfrm>
          <a:prstGeom prst="rect">
            <a:avLst/>
          </a:prstGeom>
          <a:noFill/>
          <a:ln w="0">
            <a:noFill/>
          </a:ln>
        </p:spPr>
        <p:style>
          <a:lnRef idx="0"/>
          <a:fillRef idx="0"/>
          <a:effectRef idx="0"/>
          <a:fontRef idx="minor"/>
        </p:style>
        <p:txBody>
          <a:bodyPr lIns="0" tIns="0" rIns="0" bIns="0" anchor="t">
            <a:spAutoFit/>
          </a:bodyPr>
          <a:p>
            <a:pPr defTabSz="457200">
              <a:lnSpc>
                <a:spcPct val="106000"/>
              </a:lnSpc>
              <a:spcAft>
                <a:spcPts val="601"/>
              </a:spcAft>
            </a:pPr>
            <a:r>
              <a:rPr lang="en-US" sz="3600" b="1" u="none" strike="noStrike">
                <a:solidFill>
                  <a:srgbClr val="FFFFFF"/>
                </a:solidFill>
                <a:effectLst/>
                <a:uFillTx/>
                <a:latin typeface="Calibri"/>
              </a:rPr>
              <a:t>Live Walkthrough</a:t>
            </a:r>
            <a:endParaRPr lang="en-US" sz="3600" b="0" u="none" strike="noStrike">
              <a:solidFill>
                <a:srgbClr val="000000"/>
              </a:solidFill>
              <a:effectLst/>
              <a:uFillTx/>
              <a:latin typeface="Arial"/>
            </a:endParaRPr>
          </a:p>
          <a:p>
            <a:pPr defTabSz="457200">
              <a:lnSpc>
                <a:spcPct val="106000"/>
              </a:lnSpc>
            </a:pPr>
            <a:r>
              <a:rPr lang="en-US" sz="1400" b="0" u="none" strike="noStrike">
                <a:solidFill>
                  <a:srgbClr val="B9C2D6"/>
                </a:solidFill>
                <a:effectLst/>
                <a:uFillTx/>
                <a:latin typeface="Calibri"/>
              </a:rPr>
              <a:t>Every screen of the running application, captured from localhost.</a:t>
            </a:r>
            <a:endParaRPr lang="en-US" sz="1400" b="0" u="none" strike="noStrike">
              <a:solidFill>
                <a:srgbClr val="000000"/>
              </a:solidFill>
              <a:effectLst/>
              <a:uFillTx/>
              <a:latin typeface="Arial"/>
            </a:endParaRPr>
          </a:p>
        </p:txBody>
      </p:sp>
      <p:sp>
        <p:nvSpPr>
          <p:cNvPr id="278" name="TextBox 5"/>
          <p:cNvSpPr/>
          <p:nvPr/>
        </p:nvSpPr>
        <p:spPr>
          <a:xfrm>
            <a:off x="3108960" y="3794760"/>
            <a:ext cx="7680600" cy="186120"/>
          </a:xfrm>
          <a:prstGeom prst="rect">
            <a:avLst/>
          </a:prstGeom>
          <a:noFill/>
          <a:ln w="0">
            <a:noFill/>
          </a:ln>
        </p:spPr>
        <p:style>
          <a:lnRef idx="0"/>
          <a:fillRef idx="0"/>
          <a:effectRef idx="0"/>
          <a:fontRef idx="minor"/>
        </p:style>
        <p:txBody>
          <a:bodyPr lIns="0" tIns="0" rIns="0" bIns="0" anchor="t">
            <a:spAutoFit/>
          </a:bodyPr>
          <a:p>
            <a:pPr defTabSz="457200">
              <a:lnSpc>
                <a:spcPct val="106000"/>
              </a:lnSpc>
            </a:pPr>
            <a:endParaRPr lang="en-US" sz="1800" b="0" u="none" strike="noStrike">
              <a:solidFill>
                <a:srgbClr val="000000"/>
              </a:solidFill>
              <a:effectLst/>
              <a:uFillTx/>
              <a:latin typeface="Arial"/>
            </a:endParaRPr>
          </a:p>
        </p:txBody>
      </p:sp>
      <p:sp>
        <p:nvSpPr>
          <p:cNvPr id="279" name="TextBox 6"/>
          <p:cNvSpPr/>
          <p:nvPr/>
        </p:nvSpPr>
        <p:spPr>
          <a:xfrm>
            <a:off x="567000" y="6382440"/>
            <a:ext cx="7740000" cy="273960"/>
          </a:xfrm>
          <a:prstGeom prst="rect">
            <a:avLst/>
          </a:prstGeom>
          <a:noFill/>
          <a:ln w="0">
            <a:noFill/>
          </a:ln>
        </p:spPr>
        <p:style>
          <a:lnRef idx="0"/>
          <a:fillRef idx="0"/>
          <a:effectRef idx="0"/>
          <a:fontRef idx="minor"/>
        </p:style>
        <p:txBody>
          <a:bodyPr lIns="0" tIns="0" rIns="0" bIns="0" anchor="t">
            <a:spAutoFit/>
          </a:bodyPr>
          <a:p>
            <a:pPr defTabSz="457200">
              <a:lnSpc>
                <a:spcPct val="106000"/>
              </a:lnSpc>
            </a:pPr>
            <a:r>
              <a:rPr lang="en-US" sz="900" b="0" u="none" strike="noStrike">
                <a:solidFill>
                  <a:srgbClr val="9AA3B2"/>
                </a:solidFill>
                <a:effectLst/>
                <a:uFillTx/>
                <a:latin typeface="Calibri"/>
              </a:rPr>
              <a:t>Loan Eligibility AI  ·  Capstone Demonstration</a:t>
            </a:r>
            <a:endParaRPr lang="en-US" sz="900" b="0" u="none" strike="noStrike">
              <a:solidFill>
                <a:srgbClr val="000000"/>
              </a:solidFill>
              <a:effectLst/>
              <a:uFillTx/>
              <a:latin typeface="Arial"/>
            </a:endParaRPr>
          </a:p>
        </p:txBody>
      </p:sp>
      <p:sp>
        <p:nvSpPr>
          <p:cNvPr id="280" name="TextBox 7"/>
          <p:cNvSpPr/>
          <p:nvPr/>
        </p:nvSpPr>
        <p:spPr>
          <a:xfrm>
            <a:off x="10527480" y="6382440"/>
            <a:ext cx="1096920" cy="273960"/>
          </a:xfrm>
          <a:prstGeom prst="rect">
            <a:avLst/>
          </a:prstGeom>
          <a:noFill/>
          <a:ln w="0">
            <a:noFill/>
          </a:ln>
        </p:spPr>
        <p:style>
          <a:lnRef idx="0"/>
          <a:fillRef idx="0"/>
          <a:effectRef idx="0"/>
          <a:fontRef idx="minor"/>
        </p:style>
        <p:txBody>
          <a:bodyPr lIns="0" tIns="0" rIns="0" bIns="0" anchor="t">
            <a:spAutoFit/>
          </a:bodyPr>
          <a:p>
            <a:pPr algn="r" defTabSz="457200">
              <a:lnSpc>
                <a:spcPct val="106000"/>
              </a:lnSpc>
            </a:pPr>
            <a:r>
              <a:rPr lang="en-US" sz="900" b="0" u="none" strike="noStrike">
                <a:solidFill>
                  <a:srgbClr val="9AA3B2"/>
                </a:solidFill>
                <a:effectLst/>
                <a:uFillTx/>
                <a:latin typeface="Calibri"/>
              </a:rPr>
              <a:t>13</a:t>
            </a:r>
            <a:endParaRPr lang="en-US" sz="9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81" name="Rectangle 1"/>
          <p:cNvSpPr/>
          <p:nvPr/>
        </p:nvSpPr>
        <p:spPr>
          <a:xfrm>
            <a:off x="0" y="0"/>
            <a:ext cx="12191400" cy="6857640"/>
          </a:xfrm>
          <a:prstGeom prst="rect">
            <a:avLst/>
          </a:prstGeom>
          <a:solidFill>
            <a:srgbClr val="FFFFFF"/>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282" name="Rectangle 2"/>
          <p:cNvSpPr/>
          <p:nvPr/>
        </p:nvSpPr>
        <p:spPr>
          <a:xfrm>
            <a:off x="0" y="0"/>
            <a:ext cx="12191400" cy="77400"/>
          </a:xfrm>
          <a:prstGeom prst="rect">
            <a:avLst/>
          </a:prstGeom>
          <a:gradFill rotWithShape="0">
            <a:gsLst>
              <a:gs pos="0">
                <a:srgbClr val="4F46E5"/>
              </a:gs>
              <a:gs pos="100000">
                <a:srgbClr val="7C3AED"/>
              </a:gs>
            </a:gsLst>
            <a:lin ang="0"/>
          </a:gra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32760" rIns="90000" bIns="32760" anchor="ctr">
            <a:noAutofit/>
          </a:bodyPr>
          <a:p>
            <a:endParaRPr lang="en-US" sz="1800" b="0" u="none" strike="noStrike">
              <a:solidFill>
                <a:schemeClr val="lt1"/>
              </a:solidFill>
              <a:effectLst/>
              <a:uFillTx/>
              <a:latin typeface="Calibri"/>
            </a:endParaRPr>
          </a:p>
        </p:txBody>
      </p:sp>
      <p:sp>
        <p:nvSpPr>
          <p:cNvPr id="283" name="TextBox 3"/>
          <p:cNvSpPr/>
          <p:nvPr/>
        </p:nvSpPr>
        <p:spPr>
          <a:xfrm>
            <a:off x="567000" y="384120"/>
            <a:ext cx="11057400" cy="237240"/>
          </a:xfrm>
          <a:prstGeom prst="rect">
            <a:avLst/>
          </a:prstGeom>
          <a:noFill/>
          <a:ln w="0">
            <a:noFill/>
          </a:ln>
        </p:spPr>
        <p:style>
          <a:lnRef idx="0"/>
          <a:fillRef idx="0"/>
          <a:effectRef idx="0"/>
          <a:fontRef idx="minor"/>
        </p:style>
        <p:txBody>
          <a:bodyPr lIns="0" tIns="0" rIns="0" bIns="0" anchor="t">
            <a:spAutoFit/>
          </a:bodyPr>
          <a:p>
            <a:pPr defTabSz="457200">
              <a:lnSpc>
                <a:spcPct val="106000"/>
              </a:lnSpc>
            </a:pPr>
            <a:r>
              <a:rPr lang="en-US" sz="950" b="1" u="none" strike="noStrike">
                <a:solidFill>
                  <a:srgbClr val="4F46E5"/>
                </a:solidFill>
                <a:effectLst/>
                <a:uFillTx/>
                <a:latin typeface="Calibri"/>
              </a:rPr>
              <a:t>PART 03  ·  WALKTHROUGH 1</a:t>
            </a:r>
            <a:endParaRPr lang="en-US" sz="950" b="0" u="none" strike="noStrike">
              <a:solidFill>
                <a:srgbClr val="000000"/>
              </a:solidFill>
              <a:effectLst/>
              <a:uFillTx/>
              <a:latin typeface="Arial"/>
            </a:endParaRPr>
          </a:p>
        </p:txBody>
      </p:sp>
      <p:sp>
        <p:nvSpPr>
          <p:cNvPr id="284" name="TextBox 4"/>
          <p:cNvSpPr/>
          <p:nvPr/>
        </p:nvSpPr>
        <p:spPr>
          <a:xfrm>
            <a:off x="567000" y="658440"/>
            <a:ext cx="11057400" cy="502560"/>
          </a:xfrm>
          <a:prstGeom prst="rect">
            <a:avLst/>
          </a:prstGeom>
          <a:noFill/>
          <a:ln w="0">
            <a:noFill/>
          </a:ln>
        </p:spPr>
        <p:style>
          <a:lnRef idx="0"/>
          <a:fillRef idx="0"/>
          <a:effectRef idx="0"/>
          <a:fontRef idx="minor"/>
        </p:style>
        <p:txBody>
          <a:bodyPr lIns="0" tIns="0" rIns="0" bIns="0" anchor="t">
            <a:spAutoFit/>
          </a:bodyPr>
          <a:p>
            <a:pPr defTabSz="457200">
              <a:lnSpc>
                <a:spcPct val="106000"/>
              </a:lnSpc>
            </a:pPr>
            <a:r>
              <a:rPr lang="en-US" sz="2700" b="1" u="none" strike="noStrike">
                <a:solidFill>
                  <a:srgbClr val="0E1A33"/>
                </a:solidFill>
                <a:effectLst/>
                <a:uFillTx/>
                <a:latin typeface="Calibri"/>
              </a:rPr>
              <a:t>The application form</a:t>
            </a:r>
            <a:endParaRPr lang="en-US" sz="2700" b="0" u="none" strike="noStrike">
              <a:solidFill>
                <a:srgbClr val="000000"/>
              </a:solidFill>
              <a:effectLst/>
              <a:uFillTx/>
              <a:latin typeface="Arial"/>
            </a:endParaRPr>
          </a:p>
        </p:txBody>
      </p:sp>
      <p:sp>
        <p:nvSpPr>
          <p:cNvPr id="285" name="TextBox 5"/>
          <p:cNvSpPr/>
          <p:nvPr/>
        </p:nvSpPr>
        <p:spPr>
          <a:xfrm>
            <a:off x="567000" y="1225440"/>
            <a:ext cx="9509400" cy="365400"/>
          </a:xfrm>
          <a:prstGeom prst="rect">
            <a:avLst/>
          </a:prstGeom>
          <a:noFill/>
          <a:ln w="0">
            <a:noFill/>
          </a:ln>
        </p:spPr>
        <p:style>
          <a:lnRef idx="0"/>
          <a:fillRef idx="0"/>
          <a:effectRef idx="0"/>
          <a:fontRef idx="minor"/>
        </p:style>
        <p:txBody>
          <a:bodyPr lIns="0" tIns="0" rIns="0" bIns="0" anchor="t">
            <a:spAutoFit/>
          </a:bodyPr>
          <a:p>
            <a:pPr defTabSz="457200">
              <a:lnSpc>
                <a:spcPct val="106000"/>
              </a:lnSpc>
            </a:pPr>
            <a:r>
              <a:rPr lang="en-US" sz="1250" b="0" u="none" strike="noStrike">
                <a:solidFill>
                  <a:srgbClr val="6B7280"/>
                </a:solidFill>
                <a:effectLst/>
                <a:uFillTx/>
                <a:latin typeface="Calibri"/>
              </a:rPr>
              <a:t>http://localhost:8501 — one screen, seven inputs, guidance on the left.</a:t>
            </a:r>
            <a:endParaRPr lang="en-US" sz="1250" b="0" u="none" strike="noStrike">
              <a:solidFill>
                <a:srgbClr val="000000"/>
              </a:solidFill>
              <a:effectLst/>
              <a:uFillTx/>
              <a:latin typeface="Arial"/>
            </a:endParaRPr>
          </a:p>
        </p:txBody>
      </p:sp>
      <p:sp>
        <p:nvSpPr>
          <p:cNvPr id="286" name="TextBox 6"/>
          <p:cNvSpPr/>
          <p:nvPr/>
        </p:nvSpPr>
        <p:spPr>
          <a:xfrm>
            <a:off x="567000" y="6382440"/>
            <a:ext cx="7740000" cy="273960"/>
          </a:xfrm>
          <a:prstGeom prst="rect">
            <a:avLst/>
          </a:prstGeom>
          <a:noFill/>
          <a:ln w="0">
            <a:noFill/>
          </a:ln>
        </p:spPr>
        <p:style>
          <a:lnRef idx="0"/>
          <a:fillRef idx="0"/>
          <a:effectRef idx="0"/>
          <a:fontRef idx="minor"/>
        </p:style>
        <p:txBody>
          <a:bodyPr lIns="0" tIns="0" rIns="0" bIns="0" anchor="t">
            <a:spAutoFit/>
          </a:bodyPr>
          <a:p>
            <a:pPr defTabSz="457200">
              <a:lnSpc>
                <a:spcPct val="106000"/>
              </a:lnSpc>
            </a:pPr>
            <a:r>
              <a:rPr lang="en-US" sz="900" b="0" u="none" strike="noStrike">
                <a:solidFill>
                  <a:srgbClr val="6B7280"/>
                </a:solidFill>
                <a:effectLst/>
                <a:uFillTx/>
                <a:latin typeface="Calibri"/>
              </a:rPr>
              <a:t>Loan Eligibility AI  ·  Capstone Demonstration</a:t>
            </a:r>
            <a:endParaRPr lang="en-US" sz="900" b="0" u="none" strike="noStrike">
              <a:solidFill>
                <a:srgbClr val="000000"/>
              </a:solidFill>
              <a:effectLst/>
              <a:uFillTx/>
              <a:latin typeface="Arial"/>
            </a:endParaRPr>
          </a:p>
        </p:txBody>
      </p:sp>
      <p:sp>
        <p:nvSpPr>
          <p:cNvPr id="287" name="TextBox 7"/>
          <p:cNvSpPr/>
          <p:nvPr/>
        </p:nvSpPr>
        <p:spPr>
          <a:xfrm>
            <a:off x="10527480" y="6382440"/>
            <a:ext cx="1096920" cy="273960"/>
          </a:xfrm>
          <a:prstGeom prst="rect">
            <a:avLst/>
          </a:prstGeom>
          <a:noFill/>
          <a:ln w="0">
            <a:noFill/>
          </a:ln>
        </p:spPr>
        <p:style>
          <a:lnRef idx="0"/>
          <a:fillRef idx="0"/>
          <a:effectRef idx="0"/>
          <a:fontRef idx="minor"/>
        </p:style>
        <p:txBody>
          <a:bodyPr lIns="0" tIns="0" rIns="0" bIns="0" anchor="t">
            <a:spAutoFit/>
          </a:bodyPr>
          <a:p>
            <a:pPr algn="r" defTabSz="457200">
              <a:lnSpc>
                <a:spcPct val="106000"/>
              </a:lnSpc>
            </a:pPr>
            <a:r>
              <a:rPr lang="en-US" sz="900" b="0" u="none" strike="noStrike">
                <a:solidFill>
                  <a:srgbClr val="6B7280"/>
                </a:solidFill>
                <a:effectLst/>
                <a:uFillTx/>
                <a:latin typeface="Calibri"/>
              </a:rPr>
              <a:t>14</a:t>
            </a:r>
            <a:endParaRPr lang="en-US" sz="900" b="0" u="none" strike="noStrike">
              <a:solidFill>
                <a:srgbClr val="000000"/>
              </a:solidFill>
              <a:effectLst/>
              <a:uFillTx/>
              <a:latin typeface="Arial"/>
            </a:endParaRPr>
          </a:p>
        </p:txBody>
      </p:sp>
      <p:sp>
        <p:nvSpPr>
          <p:cNvPr id="288" name="Rounded Rectangle 8"/>
          <p:cNvSpPr/>
          <p:nvPr/>
        </p:nvSpPr>
        <p:spPr>
          <a:xfrm>
            <a:off x="1093680" y="1636920"/>
            <a:ext cx="5580720" cy="4626360"/>
          </a:xfrm>
          <a:prstGeom prst="roundRect">
            <a:avLst>
              <a:gd name="adj" fmla="val 3000"/>
            </a:avLst>
          </a:prstGeom>
          <a:solidFill>
            <a:srgbClr val="F6F8FC"/>
          </a:solidFill>
          <a:ln w="12700">
            <a:solidFill>
              <a:srgbClr val="E3E8F0"/>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pic>
        <p:nvPicPr>
          <p:cNvPr id="289" name="Picture 9" descr="01_landing_d.png"/>
          <p:cNvPicPr/>
          <p:nvPr/>
        </p:nvPicPr>
        <p:blipFill>
          <a:blip r:embed="rId1"/>
          <a:stretch/>
        </p:blipFill>
        <p:spPr>
          <a:xfrm>
            <a:off x="1157760" y="1700640"/>
            <a:ext cx="5452920" cy="4498560"/>
          </a:xfrm>
          <a:prstGeom prst="rect">
            <a:avLst/>
          </a:prstGeom>
          <a:noFill/>
          <a:ln w="9525">
            <a:solidFill>
              <a:srgbClr val="E3E8F0"/>
            </a:solidFill>
            <a:round/>
          </a:ln>
        </p:spPr>
      </p:pic>
      <p:sp>
        <p:nvSpPr>
          <p:cNvPr id="290" name="TextBox 10"/>
          <p:cNvSpPr/>
          <p:nvPr/>
        </p:nvSpPr>
        <p:spPr>
          <a:xfrm>
            <a:off x="7585560" y="1719000"/>
            <a:ext cx="4038840" cy="273960"/>
          </a:xfrm>
          <a:prstGeom prst="rect">
            <a:avLst/>
          </a:prstGeom>
          <a:noFill/>
          <a:ln w="0">
            <a:noFill/>
          </a:ln>
        </p:spPr>
        <p:style>
          <a:lnRef idx="0"/>
          <a:fillRef idx="0"/>
          <a:effectRef idx="0"/>
          <a:fontRef idx="minor"/>
        </p:style>
        <p:txBody>
          <a:bodyPr lIns="0" tIns="0" rIns="0" bIns="0" anchor="t">
            <a:spAutoFit/>
          </a:bodyPr>
          <a:p>
            <a:pPr defTabSz="457200">
              <a:lnSpc>
                <a:spcPct val="106000"/>
              </a:lnSpc>
            </a:pPr>
            <a:r>
              <a:rPr lang="en-US" sz="950" b="1" u="none" strike="noStrike">
                <a:solidFill>
                  <a:srgbClr val="4F46E5"/>
                </a:solidFill>
                <a:effectLst/>
                <a:uFillTx/>
                <a:latin typeface="Calibri"/>
              </a:rPr>
              <a:t>WHAT THE APPLICANT SEES</a:t>
            </a:r>
            <a:endParaRPr lang="en-US" sz="950" b="0" u="none" strike="noStrike">
              <a:solidFill>
                <a:srgbClr val="000000"/>
              </a:solidFill>
              <a:effectLst/>
              <a:uFillTx/>
              <a:latin typeface="Arial"/>
            </a:endParaRPr>
          </a:p>
        </p:txBody>
      </p:sp>
      <p:sp>
        <p:nvSpPr>
          <p:cNvPr id="291" name="Oval 11"/>
          <p:cNvSpPr/>
          <p:nvPr/>
        </p:nvSpPr>
        <p:spPr>
          <a:xfrm>
            <a:off x="7585560" y="2103120"/>
            <a:ext cx="237240" cy="237240"/>
          </a:xfrm>
          <a:prstGeom prst="ellipse">
            <a:avLst/>
          </a:prstGeom>
          <a:solidFill>
            <a:srgbClr val="4F46E5"/>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pPr algn="ctr" defTabSz="457200">
              <a:lnSpc>
                <a:spcPct val="106000"/>
              </a:lnSpc>
            </a:pPr>
            <a:r>
              <a:rPr lang="en-US" sz="1050" b="1" u="none" strike="noStrike">
                <a:solidFill>
                  <a:srgbClr val="FFFFFF"/>
                </a:solidFill>
                <a:effectLst/>
                <a:uFillTx/>
                <a:latin typeface="Calibri"/>
              </a:rPr>
              <a:t>1</a:t>
            </a:r>
            <a:endParaRPr lang="en-US" sz="1050" b="0" u="none" strike="noStrike">
              <a:solidFill>
                <a:srgbClr val="FFFFFF"/>
              </a:solidFill>
              <a:effectLst/>
              <a:uFillTx/>
              <a:latin typeface="Arial"/>
            </a:endParaRPr>
          </a:p>
        </p:txBody>
      </p:sp>
      <p:sp>
        <p:nvSpPr>
          <p:cNvPr id="292" name="TextBox 12"/>
          <p:cNvSpPr/>
          <p:nvPr/>
        </p:nvSpPr>
        <p:spPr>
          <a:xfrm>
            <a:off x="7951320" y="2066400"/>
            <a:ext cx="3673080" cy="365400"/>
          </a:xfrm>
          <a:prstGeom prst="rect">
            <a:avLst/>
          </a:prstGeom>
          <a:noFill/>
          <a:ln w="0">
            <a:noFill/>
          </a:ln>
        </p:spPr>
        <p:style>
          <a:lnRef idx="0"/>
          <a:fillRef idx="0"/>
          <a:effectRef idx="0"/>
          <a:fontRef idx="minor"/>
        </p:style>
        <p:txBody>
          <a:bodyPr lIns="0" tIns="0" rIns="0" bIns="0" anchor="t">
            <a:spAutoFit/>
          </a:bodyPr>
          <a:p>
            <a:pPr defTabSz="457200">
              <a:lnSpc>
                <a:spcPct val="106000"/>
              </a:lnSpc>
              <a:spcAft>
                <a:spcPts val="201"/>
              </a:spcAft>
            </a:pPr>
            <a:r>
              <a:rPr lang="en-US" sz="1250" b="1" u="none" strike="noStrike">
                <a:solidFill>
                  <a:srgbClr val="0E1A33"/>
                </a:solidFill>
                <a:effectLst/>
                <a:uFillTx/>
                <a:latin typeface="Calibri"/>
              </a:rPr>
              <a:t>Guided sidebar</a:t>
            </a:r>
            <a:endParaRPr lang="en-US" sz="1250" b="0" u="none" strike="noStrike">
              <a:solidFill>
                <a:srgbClr val="000000"/>
              </a:solidFill>
              <a:effectLst/>
              <a:uFillTx/>
              <a:latin typeface="Arial"/>
            </a:endParaRPr>
          </a:p>
          <a:p>
            <a:pPr defTabSz="457200">
              <a:lnSpc>
                <a:spcPct val="110000"/>
              </a:lnSpc>
            </a:pPr>
            <a:r>
              <a:rPr lang="en-US" sz="1100" b="0" u="none" strike="noStrike">
                <a:solidFill>
                  <a:srgbClr val="6B7280"/>
                </a:solidFill>
                <a:effectLst/>
                <a:uFillTx/>
                <a:latin typeface="Calibri"/>
              </a:rPr>
              <a:t>How it works, the decision criteria and every field requirement, before the applicant types anything.</a:t>
            </a:r>
            <a:endParaRPr lang="en-US" sz="1100" b="0" u="none" strike="noStrike">
              <a:solidFill>
                <a:srgbClr val="000000"/>
              </a:solidFill>
              <a:effectLst/>
              <a:uFillTx/>
              <a:latin typeface="Arial"/>
            </a:endParaRPr>
          </a:p>
        </p:txBody>
      </p:sp>
      <p:sp>
        <p:nvSpPr>
          <p:cNvPr id="293" name="Oval 13"/>
          <p:cNvSpPr/>
          <p:nvPr/>
        </p:nvSpPr>
        <p:spPr>
          <a:xfrm>
            <a:off x="7585560" y="2994840"/>
            <a:ext cx="237240" cy="237240"/>
          </a:xfrm>
          <a:prstGeom prst="ellipse">
            <a:avLst/>
          </a:prstGeom>
          <a:solidFill>
            <a:srgbClr val="7C3AED"/>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pPr algn="ctr" defTabSz="457200">
              <a:lnSpc>
                <a:spcPct val="106000"/>
              </a:lnSpc>
            </a:pPr>
            <a:r>
              <a:rPr lang="en-US" sz="1050" b="1" u="none" strike="noStrike">
                <a:solidFill>
                  <a:srgbClr val="FFFFFF"/>
                </a:solidFill>
                <a:effectLst/>
                <a:uFillTx/>
                <a:latin typeface="Calibri"/>
              </a:rPr>
              <a:t>2</a:t>
            </a:r>
            <a:endParaRPr lang="en-US" sz="1050" b="0" u="none" strike="noStrike">
              <a:solidFill>
                <a:srgbClr val="FFFFFF"/>
              </a:solidFill>
              <a:effectLst/>
              <a:uFillTx/>
              <a:latin typeface="Arial"/>
            </a:endParaRPr>
          </a:p>
        </p:txBody>
      </p:sp>
      <p:sp>
        <p:nvSpPr>
          <p:cNvPr id="294" name="TextBox 14"/>
          <p:cNvSpPr/>
          <p:nvPr/>
        </p:nvSpPr>
        <p:spPr>
          <a:xfrm>
            <a:off x="7951320" y="2958120"/>
            <a:ext cx="3673080" cy="365400"/>
          </a:xfrm>
          <a:prstGeom prst="rect">
            <a:avLst/>
          </a:prstGeom>
          <a:noFill/>
          <a:ln w="0">
            <a:noFill/>
          </a:ln>
        </p:spPr>
        <p:style>
          <a:lnRef idx="0"/>
          <a:fillRef idx="0"/>
          <a:effectRef idx="0"/>
          <a:fontRef idx="minor"/>
        </p:style>
        <p:txBody>
          <a:bodyPr lIns="0" tIns="0" rIns="0" bIns="0" anchor="t">
            <a:spAutoFit/>
          </a:bodyPr>
          <a:p>
            <a:pPr defTabSz="457200">
              <a:lnSpc>
                <a:spcPct val="106000"/>
              </a:lnSpc>
              <a:spcAft>
                <a:spcPts val="201"/>
              </a:spcAft>
            </a:pPr>
            <a:r>
              <a:rPr lang="en-US" sz="1250" b="1" u="none" strike="noStrike">
                <a:solidFill>
                  <a:srgbClr val="0E1A33"/>
                </a:solidFill>
                <a:effectLst/>
                <a:uFillTx/>
                <a:latin typeface="Calibri"/>
              </a:rPr>
              <a:t>Personal details</a:t>
            </a:r>
            <a:endParaRPr lang="en-US" sz="1250" b="0" u="none" strike="noStrike">
              <a:solidFill>
                <a:srgbClr val="000000"/>
              </a:solidFill>
              <a:effectLst/>
              <a:uFillTx/>
              <a:latin typeface="Arial"/>
            </a:endParaRPr>
          </a:p>
          <a:p>
            <a:pPr defTabSz="457200">
              <a:lnSpc>
                <a:spcPct val="110000"/>
              </a:lnSpc>
            </a:pPr>
            <a:r>
              <a:rPr lang="en-US" sz="1100" b="0" u="none" strike="noStrike">
                <a:solidFill>
                  <a:srgbClr val="6B7280"/>
                </a:solidFill>
                <a:effectLst/>
                <a:uFillTx/>
                <a:latin typeface="Calibri"/>
              </a:rPr>
              <a:t>Name, age and employment type, each with inline help text.</a:t>
            </a:r>
            <a:endParaRPr lang="en-US" sz="1100" b="0" u="none" strike="noStrike">
              <a:solidFill>
                <a:srgbClr val="000000"/>
              </a:solidFill>
              <a:effectLst/>
              <a:uFillTx/>
              <a:latin typeface="Arial"/>
            </a:endParaRPr>
          </a:p>
        </p:txBody>
      </p:sp>
      <p:sp>
        <p:nvSpPr>
          <p:cNvPr id="295" name="Oval 15"/>
          <p:cNvSpPr/>
          <p:nvPr/>
        </p:nvSpPr>
        <p:spPr>
          <a:xfrm>
            <a:off x="7585560" y="3717000"/>
            <a:ext cx="237240" cy="237240"/>
          </a:xfrm>
          <a:prstGeom prst="ellipse">
            <a:avLst/>
          </a:prstGeom>
          <a:solidFill>
            <a:srgbClr val="06B6D4"/>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pPr algn="ctr" defTabSz="457200">
              <a:lnSpc>
                <a:spcPct val="106000"/>
              </a:lnSpc>
            </a:pPr>
            <a:r>
              <a:rPr lang="en-US" sz="1050" b="1" u="none" strike="noStrike">
                <a:solidFill>
                  <a:srgbClr val="FFFFFF"/>
                </a:solidFill>
                <a:effectLst/>
                <a:uFillTx/>
                <a:latin typeface="Calibri"/>
              </a:rPr>
              <a:t>3</a:t>
            </a:r>
            <a:endParaRPr lang="en-US" sz="1050" b="0" u="none" strike="noStrike">
              <a:solidFill>
                <a:srgbClr val="000000"/>
              </a:solidFill>
              <a:effectLst/>
              <a:uFillTx/>
              <a:latin typeface="Arial"/>
            </a:endParaRPr>
          </a:p>
        </p:txBody>
      </p:sp>
      <p:sp>
        <p:nvSpPr>
          <p:cNvPr id="296" name="TextBox 16"/>
          <p:cNvSpPr/>
          <p:nvPr/>
        </p:nvSpPr>
        <p:spPr>
          <a:xfrm>
            <a:off x="7951320" y="3680640"/>
            <a:ext cx="3673080" cy="365400"/>
          </a:xfrm>
          <a:prstGeom prst="rect">
            <a:avLst/>
          </a:prstGeom>
          <a:noFill/>
          <a:ln w="0">
            <a:noFill/>
          </a:ln>
        </p:spPr>
        <p:style>
          <a:lnRef idx="0"/>
          <a:fillRef idx="0"/>
          <a:effectRef idx="0"/>
          <a:fontRef idx="minor"/>
        </p:style>
        <p:txBody>
          <a:bodyPr lIns="0" tIns="0" rIns="0" bIns="0" anchor="t">
            <a:spAutoFit/>
          </a:bodyPr>
          <a:p>
            <a:pPr defTabSz="457200">
              <a:lnSpc>
                <a:spcPct val="106000"/>
              </a:lnSpc>
              <a:spcAft>
                <a:spcPts val="201"/>
              </a:spcAft>
            </a:pPr>
            <a:r>
              <a:rPr lang="en-US" sz="1250" b="1" u="none" strike="noStrike">
                <a:solidFill>
                  <a:srgbClr val="0E1A33"/>
                </a:solidFill>
                <a:effectLst/>
                <a:uFillTx/>
                <a:latin typeface="Calibri"/>
              </a:rPr>
              <a:t>Financial details</a:t>
            </a:r>
            <a:endParaRPr lang="en-US" sz="1250" b="0" u="none" strike="noStrike">
              <a:solidFill>
                <a:srgbClr val="000000"/>
              </a:solidFill>
              <a:effectLst/>
              <a:uFillTx/>
              <a:latin typeface="Arial"/>
            </a:endParaRPr>
          </a:p>
          <a:p>
            <a:pPr defTabSz="457200">
              <a:lnSpc>
                <a:spcPct val="110000"/>
              </a:lnSpc>
            </a:pPr>
            <a:r>
              <a:rPr lang="en-US" sz="1100" b="0" u="none" strike="noStrike">
                <a:solidFill>
                  <a:srgbClr val="6B7280"/>
                </a:solidFill>
                <a:effectLst/>
                <a:uFillTx/>
                <a:latin typeface="Calibri"/>
              </a:rPr>
              <a:t>Monthly income, existing EMI and credit score.</a:t>
            </a:r>
            <a:endParaRPr lang="en-US" sz="1100" b="0" u="none" strike="noStrike">
              <a:solidFill>
                <a:srgbClr val="000000"/>
              </a:solidFill>
              <a:effectLst/>
              <a:uFillTx/>
              <a:latin typeface="Arial"/>
            </a:endParaRPr>
          </a:p>
        </p:txBody>
      </p:sp>
      <p:sp>
        <p:nvSpPr>
          <p:cNvPr id="297" name="Oval 17"/>
          <p:cNvSpPr/>
          <p:nvPr/>
        </p:nvSpPr>
        <p:spPr>
          <a:xfrm>
            <a:off x="7585560" y="4439520"/>
            <a:ext cx="237240" cy="237240"/>
          </a:xfrm>
          <a:prstGeom prst="ellipse">
            <a:avLst/>
          </a:prstGeom>
          <a:solidFill>
            <a:srgbClr val="15A34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pPr algn="ctr" defTabSz="457200">
              <a:lnSpc>
                <a:spcPct val="106000"/>
              </a:lnSpc>
            </a:pPr>
            <a:r>
              <a:rPr lang="en-US" sz="1050" b="1" u="none" strike="noStrike">
                <a:solidFill>
                  <a:srgbClr val="FFFFFF"/>
                </a:solidFill>
                <a:effectLst/>
                <a:uFillTx/>
                <a:latin typeface="Calibri"/>
              </a:rPr>
              <a:t>4</a:t>
            </a:r>
            <a:endParaRPr lang="en-US" sz="1050" b="0" u="none" strike="noStrike">
              <a:solidFill>
                <a:srgbClr val="FFFFFF"/>
              </a:solidFill>
              <a:effectLst/>
              <a:uFillTx/>
              <a:latin typeface="Arial"/>
            </a:endParaRPr>
          </a:p>
        </p:txBody>
      </p:sp>
      <p:sp>
        <p:nvSpPr>
          <p:cNvPr id="298" name="TextBox 18"/>
          <p:cNvSpPr/>
          <p:nvPr/>
        </p:nvSpPr>
        <p:spPr>
          <a:xfrm>
            <a:off x="7951320" y="4402800"/>
            <a:ext cx="3673080" cy="365400"/>
          </a:xfrm>
          <a:prstGeom prst="rect">
            <a:avLst/>
          </a:prstGeom>
          <a:noFill/>
          <a:ln w="0">
            <a:noFill/>
          </a:ln>
        </p:spPr>
        <p:style>
          <a:lnRef idx="0"/>
          <a:fillRef idx="0"/>
          <a:effectRef idx="0"/>
          <a:fontRef idx="minor"/>
        </p:style>
        <p:txBody>
          <a:bodyPr lIns="0" tIns="0" rIns="0" bIns="0" anchor="t">
            <a:spAutoFit/>
          </a:bodyPr>
          <a:p>
            <a:pPr defTabSz="457200">
              <a:lnSpc>
                <a:spcPct val="106000"/>
              </a:lnSpc>
              <a:spcAft>
                <a:spcPts val="201"/>
              </a:spcAft>
            </a:pPr>
            <a:r>
              <a:rPr lang="en-US" sz="1250" b="1" u="none" strike="noStrike">
                <a:solidFill>
                  <a:srgbClr val="0E1A33"/>
                </a:solidFill>
                <a:effectLst/>
                <a:uFillTx/>
                <a:latin typeface="Calibri"/>
              </a:rPr>
              <a:t>Loan details</a:t>
            </a:r>
            <a:endParaRPr lang="en-US" sz="1250" b="0" u="none" strike="noStrike">
              <a:solidFill>
                <a:srgbClr val="000000"/>
              </a:solidFill>
              <a:effectLst/>
              <a:uFillTx/>
              <a:latin typeface="Arial"/>
            </a:endParaRPr>
          </a:p>
          <a:p>
            <a:pPr defTabSz="457200">
              <a:lnSpc>
                <a:spcPct val="110000"/>
              </a:lnSpc>
            </a:pPr>
            <a:r>
              <a:rPr lang="en-US" sz="1100" b="0" u="none" strike="noStrike">
                <a:solidFill>
                  <a:srgbClr val="6B7280"/>
                </a:solidFill>
                <a:effectLst/>
                <a:uFillTx/>
                <a:latin typeface="Calibri"/>
              </a:rPr>
              <a:t>The requested amount, from which the new EMI is estimated.</a:t>
            </a:r>
            <a:endParaRPr lang="en-US" sz="1100" b="0" u="none" strike="noStrike">
              <a:solidFill>
                <a:srgbClr val="000000"/>
              </a:solidFill>
              <a:effectLst/>
              <a:uFillTx/>
              <a:latin typeface="Arial"/>
            </a:endParaRPr>
          </a:p>
        </p:txBody>
      </p:sp>
      <p:sp>
        <p:nvSpPr>
          <p:cNvPr id="299" name="Oval 19"/>
          <p:cNvSpPr/>
          <p:nvPr/>
        </p:nvSpPr>
        <p:spPr>
          <a:xfrm>
            <a:off x="7585560" y="5161680"/>
            <a:ext cx="237240" cy="237240"/>
          </a:xfrm>
          <a:prstGeom prst="ellipse">
            <a:avLst/>
          </a:prstGeom>
          <a:solidFill>
            <a:srgbClr val="D9770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pPr algn="ctr" defTabSz="457200">
              <a:lnSpc>
                <a:spcPct val="106000"/>
              </a:lnSpc>
            </a:pPr>
            <a:r>
              <a:rPr lang="en-US" sz="1050" b="1" u="none" strike="noStrike">
                <a:solidFill>
                  <a:srgbClr val="FFFFFF"/>
                </a:solidFill>
                <a:effectLst/>
                <a:uFillTx/>
                <a:latin typeface="Calibri"/>
              </a:rPr>
              <a:t>5</a:t>
            </a:r>
            <a:endParaRPr lang="en-US" sz="1050" b="0" u="none" strike="noStrike">
              <a:solidFill>
                <a:srgbClr val="FFFFFF"/>
              </a:solidFill>
              <a:effectLst/>
              <a:uFillTx/>
              <a:latin typeface="Arial"/>
            </a:endParaRPr>
          </a:p>
        </p:txBody>
      </p:sp>
      <p:sp>
        <p:nvSpPr>
          <p:cNvPr id="300" name="TextBox 20"/>
          <p:cNvSpPr/>
          <p:nvPr/>
        </p:nvSpPr>
        <p:spPr>
          <a:xfrm>
            <a:off x="7951320" y="5125320"/>
            <a:ext cx="3673080" cy="365400"/>
          </a:xfrm>
          <a:prstGeom prst="rect">
            <a:avLst/>
          </a:prstGeom>
          <a:noFill/>
          <a:ln w="0">
            <a:noFill/>
          </a:ln>
        </p:spPr>
        <p:style>
          <a:lnRef idx="0"/>
          <a:fillRef idx="0"/>
          <a:effectRef idx="0"/>
          <a:fontRef idx="minor"/>
        </p:style>
        <p:txBody>
          <a:bodyPr lIns="0" tIns="0" rIns="0" bIns="0" anchor="t">
            <a:spAutoFit/>
          </a:bodyPr>
          <a:p>
            <a:pPr defTabSz="457200">
              <a:lnSpc>
                <a:spcPct val="106000"/>
              </a:lnSpc>
              <a:spcAft>
                <a:spcPts val="201"/>
              </a:spcAft>
            </a:pPr>
            <a:r>
              <a:rPr lang="en-US" sz="1250" b="1" u="none" strike="noStrike">
                <a:solidFill>
                  <a:srgbClr val="0E1A33"/>
                </a:solidFill>
                <a:effectLst/>
                <a:uFillTx/>
                <a:latin typeface="Calibri"/>
              </a:rPr>
              <a:t>Two actions</a:t>
            </a:r>
            <a:endParaRPr lang="en-US" sz="1250" b="0" u="none" strike="noStrike">
              <a:solidFill>
                <a:srgbClr val="000000"/>
              </a:solidFill>
              <a:effectLst/>
              <a:uFillTx/>
              <a:latin typeface="Arial"/>
            </a:endParaRPr>
          </a:p>
          <a:p>
            <a:pPr defTabSz="457200">
              <a:lnSpc>
                <a:spcPct val="110000"/>
              </a:lnSpc>
            </a:pPr>
            <a:r>
              <a:rPr lang="en-US" sz="1100" b="0" u="none" strike="noStrike">
                <a:solidFill>
                  <a:srgbClr val="6B7280"/>
                </a:solidFill>
                <a:effectLst/>
                <a:uFillTx/>
                <a:latin typeface="Calibri"/>
              </a:rPr>
              <a:t>Evaluate submits to the API; the assistant panel sits below the guide.</a:t>
            </a:r>
            <a:endParaRPr lang="en-US" sz="11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01" name="Rectangle 1"/>
          <p:cNvSpPr/>
          <p:nvPr/>
        </p:nvSpPr>
        <p:spPr>
          <a:xfrm>
            <a:off x="0" y="0"/>
            <a:ext cx="12191400" cy="6857640"/>
          </a:xfrm>
          <a:prstGeom prst="rect">
            <a:avLst/>
          </a:prstGeom>
          <a:solidFill>
            <a:srgbClr val="FFFFFF"/>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302" name="Rectangle 2"/>
          <p:cNvSpPr/>
          <p:nvPr/>
        </p:nvSpPr>
        <p:spPr>
          <a:xfrm>
            <a:off x="0" y="0"/>
            <a:ext cx="12191400" cy="77400"/>
          </a:xfrm>
          <a:prstGeom prst="rect">
            <a:avLst/>
          </a:prstGeom>
          <a:gradFill rotWithShape="0">
            <a:gsLst>
              <a:gs pos="0">
                <a:srgbClr val="4F46E5"/>
              </a:gs>
              <a:gs pos="100000">
                <a:srgbClr val="7C3AED"/>
              </a:gs>
            </a:gsLst>
            <a:lin ang="0"/>
          </a:gra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32760" rIns="90000" bIns="32760" anchor="ctr">
            <a:noAutofit/>
          </a:bodyPr>
          <a:p>
            <a:endParaRPr lang="en-US" sz="1800" b="0" u="none" strike="noStrike">
              <a:solidFill>
                <a:schemeClr val="lt1"/>
              </a:solidFill>
              <a:effectLst/>
              <a:uFillTx/>
              <a:latin typeface="Calibri"/>
            </a:endParaRPr>
          </a:p>
        </p:txBody>
      </p:sp>
      <p:sp>
        <p:nvSpPr>
          <p:cNvPr id="303" name="TextBox 3"/>
          <p:cNvSpPr/>
          <p:nvPr/>
        </p:nvSpPr>
        <p:spPr>
          <a:xfrm>
            <a:off x="567000" y="384120"/>
            <a:ext cx="11057400" cy="237240"/>
          </a:xfrm>
          <a:prstGeom prst="rect">
            <a:avLst/>
          </a:prstGeom>
          <a:noFill/>
          <a:ln w="0">
            <a:noFill/>
          </a:ln>
        </p:spPr>
        <p:style>
          <a:lnRef idx="0"/>
          <a:fillRef idx="0"/>
          <a:effectRef idx="0"/>
          <a:fontRef idx="minor"/>
        </p:style>
        <p:txBody>
          <a:bodyPr lIns="0" tIns="0" rIns="0" bIns="0" anchor="t">
            <a:spAutoFit/>
          </a:bodyPr>
          <a:p>
            <a:pPr defTabSz="457200">
              <a:lnSpc>
                <a:spcPct val="106000"/>
              </a:lnSpc>
            </a:pPr>
            <a:r>
              <a:rPr lang="en-US" sz="950" b="1" u="none" strike="noStrike">
                <a:solidFill>
                  <a:srgbClr val="4F46E5"/>
                </a:solidFill>
                <a:effectLst/>
                <a:uFillTx/>
                <a:latin typeface="Calibri"/>
              </a:rPr>
              <a:t>PART 03  ·  WALKTHROUGH 2</a:t>
            </a:r>
            <a:endParaRPr lang="en-US" sz="950" b="0" u="none" strike="noStrike">
              <a:solidFill>
                <a:srgbClr val="000000"/>
              </a:solidFill>
              <a:effectLst/>
              <a:uFillTx/>
              <a:latin typeface="Arial"/>
            </a:endParaRPr>
          </a:p>
        </p:txBody>
      </p:sp>
      <p:sp>
        <p:nvSpPr>
          <p:cNvPr id="304" name="TextBox 4"/>
          <p:cNvSpPr/>
          <p:nvPr/>
        </p:nvSpPr>
        <p:spPr>
          <a:xfrm>
            <a:off x="567000" y="658440"/>
            <a:ext cx="11057400" cy="502560"/>
          </a:xfrm>
          <a:prstGeom prst="rect">
            <a:avLst/>
          </a:prstGeom>
          <a:noFill/>
          <a:ln w="0">
            <a:noFill/>
          </a:ln>
        </p:spPr>
        <p:style>
          <a:lnRef idx="0"/>
          <a:fillRef idx="0"/>
          <a:effectRef idx="0"/>
          <a:fontRef idx="minor"/>
        </p:style>
        <p:txBody>
          <a:bodyPr lIns="0" tIns="0" rIns="0" bIns="0" anchor="t">
            <a:spAutoFit/>
          </a:bodyPr>
          <a:p>
            <a:pPr defTabSz="457200">
              <a:lnSpc>
                <a:spcPct val="106000"/>
              </a:lnSpc>
            </a:pPr>
            <a:r>
              <a:rPr lang="en-US" sz="2700" b="1" u="none" strike="noStrike">
                <a:solidFill>
                  <a:srgbClr val="0E1A33"/>
                </a:solidFill>
                <a:effectLst/>
                <a:uFillTx/>
                <a:latin typeface="Calibri"/>
              </a:rPr>
              <a:t>Validation happens before any decision</a:t>
            </a:r>
            <a:endParaRPr lang="en-US" sz="2700" b="0" u="none" strike="noStrike">
              <a:solidFill>
                <a:srgbClr val="000000"/>
              </a:solidFill>
              <a:effectLst/>
              <a:uFillTx/>
              <a:latin typeface="Arial"/>
            </a:endParaRPr>
          </a:p>
        </p:txBody>
      </p:sp>
      <p:sp>
        <p:nvSpPr>
          <p:cNvPr id="305" name="TextBox 5"/>
          <p:cNvSpPr/>
          <p:nvPr/>
        </p:nvSpPr>
        <p:spPr>
          <a:xfrm>
            <a:off x="567000" y="1225440"/>
            <a:ext cx="9509400" cy="365400"/>
          </a:xfrm>
          <a:prstGeom prst="rect">
            <a:avLst/>
          </a:prstGeom>
          <a:noFill/>
          <a:ln w="0">
            <a:noFill/>
          </a:ln>
        </p:spPr>
        <p:style>
          <a:lnRef idx="0"/>
          <a:fillRef idx="0"/>
          <a:effectRef idx="0"/>
          <a:fontRef idx="minor"/>
        </p:style>
        <p:txBody>
          <a:bodyPr lIns="0" tIns="0" rIns="0" bIns="0" anchor="t">
            <a:spAutoFit/>
          </a:bodyPr>
          <a:p>
            <a:pPr defTabSz="457200">
              <a:lnSpc>
                <a:spcPct val="106000"/>
              </a:lnSpc>
            </a:pPr>
            <a:r>
              <a:rPr lang="en-US" sz="1250" b="0" u="none" strike="noStrike">
                <a:solidFill>
                  <a:srgbClr val="6B7280"/>
                </a:solidFill>
                <a:effectLst/>
                <a:uFillTx/>
                <a:latin typeface="Calibri"/>
              </a:rPr>
              <a:t>An empty submission never reaches the rule engine.</a:t>
            </a:r>
            <a:endParaRPr lang="en-US" sz="1250" b="0" u="none" strike="noStrike">
              <a:solidFill>
                <a:srgbClr val="000000"/>
              </a:solidFill>
              <a:effectLst/>
              <a:uFillTx/>
              <a:latin typeface="Arial"/>
            </a:endParaRPr>
          </a:p>
        </p:txBody>
      </p:sp>
      <p:sp>
        <p:nvSpPr>
          <p:cNvPr id="306" name="TextBox 6"/>
          <p:cNvSpPr/>
          <p:nvPr/>
        </p:nvSpPr>
        <p:spPr>
          <a:xfrm>
            <a:off x="567000" y="6382440"/>
            <a:ext cx="7740000" cy="273960"/>
          </a:xfrm>
          <a:prstGeom prst="rect">
            <a:avLst/>
          </a:prstGeom>
          <a:noFill/>
          <a:ln w="0">
            <a:noFill/>
          </a:ln>
        </p:spPr>
        <p:style>
          <a:lnRef idx="0"/>
          <a:fillRef idx="0"/>
          <a:effectRef idx="0"/>
          <a:fontRef idx="minor"/>
        </p:style>
        <p:txBody>
          <a:bodyPr lIns="0" tIns="0" rIns="0" bIns="0" anchor="t">
            <a:spAutoFit/>
          </a:bodyPr>
          <a:p>
            <a:pPr defTabSz="457200">
              <a:lnSpc>
                <a:spcPct val="106000"/>
              </a:lnSpc>
            </a:pPr>
            <a:r>
              <a:rPr lang="en-US" sz="900" b="0" u="none" strike="noStrike">
                <a:solidFill>
                  <a:srgbClr val="6B7280"/>
                </a:solidFill>
                <a:effectLst/>
                <a:uFillTx/>
                <a:latin typeface="Calibri"/>
              </a:rPr>
              <a:t>Loan Eligibility AI  ·  Capstone Demonstration</a:t>
            </a:r>
            <a:endParaRPr lang="en-US" sz="900" b="0" u="none" strike="noStrike">
              <a:solidFill>
                <a:srgbClr val="000000"/>
              </a:solidFill>
              <a:effectLst/>
              <a:uFillTx/>
              <a:latin typeface="Arial"/>
            </a:endParaRPr>
          </a:p>
        </p:txBody>
      </p:sp>
      <p:sp>
        <p:nvSpPr>
          <p:cNvPr id="307" name="TextBox 7"/>
          <p:cNvSpPr/>
          <p:nvPr/>
        </p:nvSpPr>
        <p:spPr>
          <a:xfrm>
            <a:off x="10527480" y="6382440"/>
            <a:ext cx="1096920" cy="273960"/>
          </a:xfrm>
          <a:prstGeom prst="rect">
            <a:avLst/>
          </a:prstGeom>
          <a:noFill/>
          <a:ln w="0">
            <a:noFill/>
          </a:ln>
        </p:spPr>
        <p:style>
          <a:lnRef idx="0"/>
          <a:fillRef idx="0"/>
          <a:effectRef idx="0"/>
          <a:fontRef idx="minor"/>
        </p:style>
        <p:txBody>
          <a:bodyPr lIns="0" tIns="0" rIns="0" bIns="0" anchor="t">
            <a:spAutoFit/>
          </a:bodyPr>
          <a:p>
            <a:pPr algn="r" defTabSz="457200">
              <a:lnSpc>
                <a:spcPct val="106000"/>
              </a:lnSpc>
            </a:pPr>
            <a:r>
              <a:rPr lang="en-US" sz="900" b="0" u="none" strike="noStrike">
                <a:solidFill>
                  <a:srgbClr val="6B7280"/>
                </a:solidFill>
                <a:effectLst/>
                <a:uFillTx/>
                <a:latin typeface="Calibri"/>
              </a:rPr>
              <a:t>15</a:t>
            </a:r>
            <a:endParaRPr lang="en-US" sz="900" b="0" u="none" strike="noStrike">
              <a:solidFill>
                <a:srgbClr val="000000"/>
              </a:solidFill>
              <a:effectLst/>
              <a:uFillTx/>
              <a:latin typeface="Arial"/>
            </a:endParaRPr>
          </a:p>
        </p:txBody>
      </p:sp>
      <p:sp>
        <p:nvSpPr>
          <p:cNvPr id="308" name="Rounded Rectangle 8"/>
          <p:cNvSpPr/>
          <p:nvPr/>
        </p:nvSpPr>
        <p:spPr>
          <a:xfrm>
            <a:off x="502920" y="2117880"/>
            <a:ext cx="6762240" cy="3664080"/>
          </a:xfrm>
          <a:prstGeom prst="roundRect">
            <a:avLst>
              <a:gd name="adj" fmla="val 3000"/>
            </a:avLst>
          </a:prstGeom>
          <a:solidFill>
            <a:srgbClr val="F6F8FC"/>
          </a:solidFill>
          <a:ln w="12700">
            <a:solidFill>
              <a:srgbClr val="E3E8F0"/>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pic>
        <p:nvPicPr>
          <p:cNvPr id="309" name="Picture 9" descr="10_validation_errors.png"/>
          <p:cNvPicPr/>
          <p:nvPr/>
        </p:nvPicPr>
        <p:blipFill>
          <a:blip r:embed="rId1"/>
          <a:stretch/>
        </p:blipFill>
        <p:spPr>
          <a:xfrm>
            <a:off x="567000" y="2181960"/>
            <a:ext cx="6634440" cy="3535920"/>
          </a:xfrm>
          <a:prstGeom prst="rect">
            <a:avLst/>
          </a:prstGeom>
          <a:noFill/>
          <a:ln w="9525">
            <a:solidFill>
              <a:srgbClr val="E3E8F0"/>
            </a:solidFill>
            <a:round/>
          </a:ln>
        </p:spPr>
      </p:pic>
      <p:sp>
        <p:nvSpPr>
          <p:cNvPr id="310" name="TextBox 10"/>
          <p:cNvSpPr/>
          <p:nvPr/>
        </p:nvSpPr>
        <p:spPr>
          <a:xfrm>
            <a:off x="7585560" y="1719000"/>
            <a:ext cx="4038840" cy="273960"/>
          </a:xfrm>
          <a:prstGeom prst="rect">
            <a:avLst/>
          </a:prstGeom>
          <a:noFill/>
          <a:ln w="0">
            <a:noFill/>
          </a:ln>
        </p:spPr>
        <p:style>
          <a:lnRef idx="0"/>
          <a:fillRef idx="0"/>
          <a:effectRef idx="0"/>
          <a:fontRef idx="minor"/>
        </p:style>
        <p:txBody>
          <a:bodyPr lIns="0" tIns="0" rIns="0" bIns="0" anchor="t">
            <a:spAutoFit/>
          </a:bodyPr>
          <a:p>
            <a:pPr defTabSz="457200">
              <a:lnSpc>
                <a:spcPct val="106000"/>
              </a:lnSpc>
            </a:pPr>
            <a:r>
              <a:rPr lang="en-US" sz="950" b="1" u="none" strike="noStrike">
                <a:solidFill>
                  <a:srgbClr val="4F46E5"/>
                </a:solidFill>
                <a:effectLst/>
                <a:uFillTx/>
                <a:latin typeface="Calibri"/>
              </a:rPr>
              <a:t>TWO INDEPENDENT LAYERS</a:t>
            </a:r>
            <a:endParaRPr lang="en-US" sz="950" b="0" u="none" strike="noStrike">
              <a:solidFill>
                <a:srgbClr val="000000"/>
              </a:solidFill>
              <a:effectLst/>
              <a:uFillTx/>
              <a:latin typeface="Arial"/>
            </a:endParaRPr>
          </a:p>
        </p:txBody>
      </p:sp>
      <p:sp>
        <p:nvSpPr>
          <p:cNvPr id="311" name="Oval 11"/>
          <p:cNvSpPr/>
          <p:nvPr/>
        </p:nvSpPr>
        <p:spPr>
          <a:xfrm>
            <a:off x="7585560" y="2103120"/>
            <a:ext cx="237240" cy="237240"/>
          </a:xfrm>
          <a:prstGeom prst="ellipse">
            <a:avLst/>
          </a:prstGeom>
          <a:solidFill>
            <a:srgbClr val="4F46E5"/>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pPr algn="ctr" defTabSz="457200">
              <a:lnSpc>
                <a:spcPct val="106000"/>
              </a:lnSpc>
            </a:pPr>
            <a:r>
              <a:rPr lang="en-US" sz="1050" b="1" u="none" strike="noStrike">
                <a:solidFill>
                  <a:srgbClr val="FFFFFF"/>
                </a:solidFill>
                <a:effectLst/>
                <a:uFillTx/>
                <a:latin typeface="Calibri"/>
              </a:rPr>
              <a:t>1</a:t>
            </a:r>
            <a:endParaRPr lang="en-US" sz="1050" b="0" u="none" strike="noStrike">
              <a:solidFill>
                <a:srgbClr val="FFFFFF"/>
              </a:solidFill>
              <a:effectLst/>
              <a:uFillTx/>
              <a:latin typeface="Arial"/>
            </a:endParaRPr>
          </a:p>
        </p:txBody>
      </p:sp>
      <p:sp>
        <p:nvSpPr>
          <p:cNvPr id="312" name="TextBox 12"/>
          <p:cNvSpPr/>
          <p:nvPr/>
        </p:nvSpPr>
        <p:spPr>
          <a:xfrm>
            <a:off x="7951320" y="2066400"/>
            <a:ext cx="3673080" cy="365400"/>
          </a:xfrm>
          <a:prstGeom prst="rect">
            <a:avLst/>
          </a:prstGeom>
          <a:noFill/>
          <a:ln w="0">
            <a:noFill/>
          </a:ln>
        </p:spPr>
        <p:style>
          <a:lnRef idx="0"/>
          <a:fillRef idx="0"/>
          <a:effectRef idx="0"/>
          <a:fontRef idx="minor"/>
        </p:style>
        <p:txBody>
          <a:bodyPr lIns="0" tIns="0" rIns="0" bIns="0" anchor="t">
            <a:spAutoFit/>
          </a:bodyPr>
          <a:p>
            <a:pPr defTabSz="457200">
              <a:lnSpc>
                <a:spcPct val="106000"/>
              </a:lnSpc>
              <a:spcAft>
                <a:spcPts val="201"/>
              </a:spcAft>
            </a:pPr>
            <a:r>
              <a:rPr lang="en-US" sz="1250" b="1" u="none" strike="noStrike">
                <a:solidFill>
                  <a:srgbClr val="0E1A33"/>
                </a:solidFill>
                <a:effectLst/>
                <a:uFillTx/>
                <a:latin typeface="Calibri"/>
              </a:rPr>
              <a:t>UI layer</a:t>
            </a:r>
            <a:endParaRPr lang="en-US" sz="1250" b="0" u="none" strike="noStrike">
              <a:solidFill>
                <a:srgbClr val="000000"/>
              </a:solidFill>
              <a:effectLst/>
              <a:uFillTx/>
              <a:latin typeface="Arial"/>
            </a:endParaRPr>
          </a:p>
          <a:p>
            <a:pPr defTabSz="457200">
              <a:lnSpc>
                <a:spcPct val="110000"/>
              </a:lnSpc>
            </a:pPr>
            <a:r>
              <a:rPr lang="en-US" sz="1100" b="0" u="none" strike="noStrike">
                <a:solidFill>
                  <a:srgbClr val="6B7280"/>
                </a:solidFill>
                <a:effectLst/>
                <a:uFillTx/>
                <a:latin typeface="Calibri"/>
              </a:rPr>
              <a:t>Name presence and length, age 18–120, income &gt; 0, EMI not negative and not above income, credit score 0–1000, loan &gt; 0, plus sanity ceilings.</a:t>
            </a:r>
            <a:endParaRPr lang="en-US" sz="1100" b="0" u="none" strike="noStrike">
              <a:solidFill>
                <a:srgbClr val="000000"/>
              </a:solidFill>
              <a:effectLst/>
              <a:uFillTx/>
              <a:latin typeface="Arial"/>
            </a:endParaRPr>
          </a:p>
        </p:txBody>
      </p:sp>
      <p:sp>
        <p:nvSpPr>
          <p:cNvPr id="313" name="Oval 13"/>
          <p:cNvSpPr/>
          <p:nvPr/>
        </p:nvSpPr>
        <p:spPr>
          <a:xfrm>
            <a:off x="7585560" y="3163680"/>
            <a:ext cx="237240" cy="237240"/>
          </a:xfrm>
          <a:prstGeom prst="ellipse">
            <a:avLst/>
          </a:prstGeom>
          <a:solidFill>
            <a:srgbClr val="7C3AED"/>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pPr algn="ctr" defTabSz="457200">
              <a:lnSpc>
                <a:spcPct val="106000"/>
              </a:lnSpc>
            </a:pPr>
            <a:r>
              <a:rPr lang="en-US" sz="1050" b="1" u="none" strike="noStrike">
                <a:solidFill>
                  <a:srgbClr val="FFFFFF"/>
                </a:solidFill>
                <a:effectLst/>
                <a:uFillTx/>
                <a:latin typeface="Calibri"/>
              </a:rPr>
              <a:t>2</a:t>
            </a:r>
            <a:endParaRPr lang="en-US" sz="1050" b="0" u="none" strike="noStrike">
              <a:solidFill>
                <a:srgbClr val="FFFFFF"/>
              </a:solidFill>
              <a:effectLst/>
              <a:uFillTx/>
              <a:latin typeface="Arial"/>
            </a:endParaRPr>
          </a:p>
        </p:txBody>
      </p:sp>
      <p:sp>
        <p:nvSpPr>
          <p:cNvPr id="314" name="TextBox 14"/>
          <p:cNvSpPr/>
          <p:nvPr/>
        </p:nvSpPr>
        <p:spPr>
          <a:xfrm>
            <a:off x="7951320" y="3127320"/>
            <a:ext cx="3673080" cy="365400"/>
          </a:xfrm>
          <a:prstGeom prst="rect">
            <a:avLst/>
          </a:prstGeom>
          <a:noFill/>
          <a:ln w="0">
            <a:noFill/>
          </a:ln>
        </p:spPr>
        <p:style>
          <a:lnRef idx="0"/>
          <a:fillRef idx="0"/>
          <a:effectRef idx="0"/>
          <a:fontRef idx="minor"/>
        </p:style>
        <p:txBody>
          <a:bodyPr lIns="0" tIns="0" rIns="0" bIns="0" anchor="t">
            <a:spAutoFit/>
          </a:bodyPr>
          <a:p>
            <a:pPr defTabSz="457200">
              <a:lnSpc>
                <a:spcPct val="106000"/>
              </a:lnSpc>
              <a:spcAft>
                <a:spcPts val="201"/>
              </a:spcAft>
            </a:pPr>
            <a:r>
              <a:rPr lang="en-US" sz="1250" b="1" u="none" strike="noStrike">
                <a:solidFill>
                  <a:srgbClr val="0E1A33"/>
                </a:solidFill>
                <a:effectLst/>
                <a:uFillTx/>
                <a:latin typeface="Calibri"/>
              </a:rPr>
              <a:t>API layer</a:t>
            </a:r>
            <a:endParaRPr lang="en-US" sz="1250" b="0" u="none" strike="noStrike">
              <a:solidFill>
                <a:srgbClr val="000000"/>
              </a:solidFill>
              <a:effectLst/>
              <a:uFillTx/>
              <a:latin typeface="Arial"/>
            </a:endParaRPr>
          </a:p>
          <a:p>
            <a:pPr defTabSz="457200">
              <a:lnSpc>
                <a:spcPct val="110000"/>
              </a:lnSpc>
            </a:pPr>
            <a:r>
              <a:rPr lang="en-US" sz="1100" b="0" u="none" strike="noStrike">
                <a:solidFill>
                  <a:srgbClr val="6B7280"/>
                </a:solidFill>
                <a:effectLst/>
                <a:uFillTx/>
                <a:latin typeface="Calibri"/>
              </a:rPr>
              <a:t>Pydantic re-validates types and bounds, and rejects an unknown employment type outright.</a:t>
            </a:r>
            <a:endParaRPr lang="en-US" sz="1100" b="0" u="none" strike="noStrike">
              <a:solidFill>
                <a:srgbClr val="000000"/>
              </a:solidFill>
              <a:effectLst/>
              <a:uFillTx/>
              <a:latin typeface="Arial"/>
            </a:endParaRPr>
          </a:p>
        </p:txBody>
      </p:sp>
      <p:sp>
        <p:nvSpPr>
          <p:cNvPr id="315" name="Oval 15"/>
          <p:cNvSpPr/>
          <p:nvPr/>
        </p:nvSpPr>
        <p:spPr>
          <a:xfrm>
            <a:off x="7585560" y="3886200"/>
            <a:ext cx="237240" cy="237240"/>
          </a:xfrm>
          <a:prstGeom prst="ellipse">
            <a:avLst/>
          </a:prstGeom>
          <a:solidFill>
            <a:srgbClr val="06B6D4"/>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pPr algn="ctr" defTabSz="457200">
              <a:lnSpc>
                <a:spcPct val="106000"/>
              </a:lnSpc>
            </a:pPr>
            <a:r>
              <a:rPr lang="en-US" sz="1050" b="1" u="none" strike="noStrike">
                <a:solidFill>
                  <a:srgbClr val="FFFFFF"/>
                </a:solidFill>
                <a:effectLst/>
                <a:uFillTx/>
                <a:latin typeface="Calibri"/>
              </a:rPr>
              <a:t>3</a:t>
            </a:r>
            <a:endParaRPr lang="en-US" sz="1050" b="0" u="none" strike="noStrike">
              <a:solidFill>
                <a:srgbClr val="000000"/>
              </a:solidFill>
              <a:effectLst/>
              <a:uFillTx/>
              <a:latin typeface="Arial"/>
            </a:endParaRPr>
          </a:p>
        </p:txBody>
      </p:sp>
      <p:sp>
        <p:nvSpPr>
          <p:cNvPr id="316" name="TextBox 16"/>
          <p:cNvSpPr/>
          <p:nvPr/>
        </p:nvSpPr>
        <p:spPr>
          <a:xfrm>
            <a:off x="7951320" y="3849480"/>
            <a:ext cx="3673080" cy="365400"/>
          </a:xfrm>
          <a:prstGeom prst="rect">
            <a:avLst/>
          </a:prstGeom>
          <a:noFill/>
          <a:ln w="0">
            <a:noFill/>
          </a:ln>
        </p:spPr>
        <p:style>
          <a:lnRef idx="0"/>
          <a:fillRef idx="0"/>
          <a:effectRef idx="0"/>
          <a:fontRef idx="minor"/>
        </p:style>
        <p:txBody>
          <a:bodyPr lIns="0" tIns="0" rIns="0" bIns="0" anchor="t">
            <a:spAutoFit/>
          </a:bodyPr>
          <a:p>
            <a:pPr defTabSz="457200">
              <a:lnSpc>
                <a:spcPct val="106000"/>
              </a:lnSpc>
              <a:spcAft>
                <a:spcPts val="201"/>
              </a:spcAft>
            </a:pPr>
            <a:r>
              <a:rPr lang="en-US" sz="1250" b="1" u="none" strike="noStrike">
                <a:solidFill>
                  <a:srgbClr val="0E1A33"/>
                </a:solidFill>
                <a:effectLst/>
                <a:uFillTx/>
                <a:latin typeface="Calibri"/>
              </a:rPr>
              <a:t>Blocked early</a:t>
            </a:r>
            <a:endParaRPr lang="en-US" sz="1250" b="0" u="none" strike="noStrike">
              <a:solidFill>
                <a:srgbClr val="000000"/>
              </a:solidFill>
              <a:effectLst/>
              <a:uFillTx/>
              <a:latin typeface="Arial"/>
            </a:endParaRPr>
          </a:p>
          <a:p>
            <a:pPr defTabSz="457200">
              <a:lnSpc>
                <a:spcPct val="110000"/>
              </a:lnSpc>
            </a:pPr>
            <a:r>
              <a:rPr lang="en-US" sz="1100" b="0" u="none" strike="noStrike">
                <a:solidFill>
                  <a:srgbClr val="6B7280"/>
                </a:solidFill>
                <a:effectLst/>
                <a:uFillTx/>
                <a:latin typeface="Calibri"/>
              </a:rPr>
              <a:t>The request is never sent, so no audit entry and no decision are produced for invalid input.</a:t>
            </a:r>
            <a:endParaRPr lang="en-US" sz="1100" b="0" u="none" strike="noStrike">
              <a:solidFill>
                <a:srgbClr val="000000"/>
              </a:solidFill>
              <a:effectLst/>
              <a:uFillTx/>
              <a:latin typeface="Arial"/>
            </a:endParaRPr>
          </a:p>
        </p:txBody>
      </p:sp>
      <p:sp>
        <p:nvSpPr>
          <p:cNvPr id="317" name="Oval 17"/>
          <p:cNvSpPr/>
          <p:nvPr/>
        </p:nvSpPr>
        <p:spPr>
          <a:xfrm>
            <a:off x="7585560" y="4777920"/>
            <a:ext cx="237240" cy="237240"/>
          </a:xfrm>
          <a:prstGeom prst="ellipse">
            <a:avLst/>
          </a:prstGeom>
          <a:solidFill>
            <a:srgbClr val="15A34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pPr algn="ctr" defTabSz="457200">
              <a:lnSpc>
                <a:spcPct val="106000"/>
              </a:lnSpc>
            </a:pPr>
            <a:r>
              <a:rPr lang="en-US" sz="1050" b="1" u="none" strike="noStrike">
                <a:solidFill>
                  <a:srgbClr val="FFFFFF"/>
                </a:solidFill>
                <a:effectLst/>
                <a:uFillTx/>
                <a:latin typeface="Calibri"/>
              </a:rPr>
              <a:t>4</a:t>
            </a:r>
            <a:endParaRPr lang="en-US" sz="1050" b="0" u="none" strike="noStrike">
              <a:solidFill>
                <a:srgbClr val="FFFFFF"/>
              </a:solidFill>
              <a:effectLst/>
              <a:uFillTx/>
              <a:latin typeface="Arial"/>
            </a:endParaRPr>
          </a:p>
        </p:txBody>
      </p:sp>
      <p:sp>
        <p:nvSpPr>
          <p:cNvPr id="318" name="TextBox 18"/>
          <p:cNvSpPr/>
          <p:nvPr/>
        </p:nvSpPr>
        <p:spPr>
          <a:xfrm>
            <a:off x="7951320" y="4741200"/>
            <a:ext cx="3673080" cy="365400"/>
          </a:xfrm>
          <a:prstGeom prst="rect">
            <a:avLst/>
          </a:prstGeom>
          <a:noFill/>
          <a:ln w="0">
            <a:noFill/>
          </a:ln>
        </p:spPr>
        <p:style>
          <a:lnRef idx="0"/>
          <a:fillRef idx="0"/>
          <a:effectRef idx="0"/>
          <a:fontRef idx="minor"/>
        </p:style>
        <p:txBody>
          <a:bodyPr lIns="0" tIns="0" rIns="0" bIns="0" anchor="t">
            <a:spAutoFit/>
          </a:bodyPr>
          <a:p>
            <a:pPr defTabSz="457200">
              <a:lnSpc>
                <a:spcPct val="106000"/>
              </a:lnSpc>
              <a:spcAft>
                <a:spcPts val="201"/>
              </a:spcAft>
            </a:pPr>
            <a:r>
              <a:rPr lang="en-US" sz="1250" b="1" u="none" strike="noStrike">
                <a:solidFill>
                  <a:srgbClr val="0E1A33"/>
                </a:solidFill>
                <a:effectLst/>
                <a:uFillTx/>
                <a:latin typeface="Calibri"/>
              </a:rPr>
              <a:t>Plain messages</a:t>
            </a:r>
            <a:endParaRPr lang="en-US" sz="1250" b="0" u="none" strike="noStrike">
              <a:solidFill>
                <a:srgbClr val="000000"/>
              </a:solidFill>
              <a:effectLst/>
              <a:uFillTx/>
              <a:latin typeface="Arial"/>
            </a:endParaRPr>
          </a:p>
          <a:p>
            <a:pPr defTabSz="457200">
              <a:lnSpc>
                <a:spcPct val="110000"/>
              </a:lnSpc>
            </a:pPr>
            <a:r>
              <a:rPr lang="en-US" sz="1100" b="0" u="none" strike="noStrike">
                <a:solidFill>
                  <a:srgbClr val="6B7280"/>
                </a:solidFill>
                <a:effectLst/>
                <a:uFillTx/>
                <a:latin typeface="Calibri"/>
              </a:rPr>
              <a:t>Each failure names the field and the expected range, rather than a generic error.</a:t>
            </a:r>
            <a:endParaRPr lang="en-US" sz="11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19" name="Rectangle 1"/>
          <p:cNvSpPr/>
          <p:nvPr/>
        </p:nvSpPr>
        <p:spPr>
          <a:xfrm>
            <a:off x="0" y="0"/>
            <a:ext cx="12191400" cy="6857640"/>
          </a:xfrm>
          <a:prstGeom prst="rect">
            <a:avLst/>
          </a:prstGeom>
          <a:solidFill>
            <a:srgbClr val="FFFFFF"/>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320" name="Rectangle 2"/>
          <p:cNvSpPr/>
          <p:nvPr/>
        </p:nvSpPr>
        <p:spPr>
          <a:xfrm>
            <a:off x="0" y="0"/>
            <a:ext cx="12191400" cy="77400"/>
          </a:xfrm>
          <a:prstGeom prst="rect">
            <a:avLst/>
          </a:prstGeom>
          <a:gradFill rotWithShape="0">
            <a:gsLst>
              <a:gs pos="0">
                <a:srgbClr val="4F46E5"/>
              </a:gs>
              <a:gs pos="100000">
                <a:srgbClr val="7C3AED"/>
              </a:gs>
            </a:gsLst>
            <a:lin ang="0"/>
          </a:gra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32760" rIns="90000" bIns="32760" anchor="ctr">
            <a:noAutofit/>
          </a:bodyPr>
          <a:p>
            <a:endParaRPr lang="en-US" sz="1800" b="0" u="none" strike="noStrike">
              <a:solidFill>
                <a:schemeClr val="lt1"/>
              </a:solidFill>
              <a:effectLst/>
              <a:uFillTx/>
              <a:latin typeface="Calibri"/>
            </a:endParaRPr>
          </a:p>
        </p:txBody>
      </p:sp>
      <p:sp>
        <p:nvSpPr>
          <p:cNvPr id="321" name="TextBox 3"/>
          <p:cNvSpPr/>
          <p:nvPr/>
        </p:nvSpPr>
        <p:spPr>
          <a:xfrm>
            <a:off x="567000" y="384120"/>
            <a:ext cx="11057400" cy="237240"/>
          </a:xfrm>
          <a:prstGeom prst="rect">
            <a:avLst/>
          </a:prstGeom>
          <a:noFill/>
          <a:ln w="0">
            <a:noFill/>
          </a:ln>
        </p:spPr>
        <p:style>
          <a:lnRef idx="0"/>
          <a:fillRef idx="0"/>
          <a:effectRef idx="0"/>
          <a:fontRef idx="minor"/>
        </p:style>
        <p:txBody>
          <a:bodyPr lIns="0" tIns="0" rIns="0" bIns="0" anchor="t">
            <a:spAutoFit/>
          </a:bodyPr>
          <a:p>
            <a:pPr defTabSz="457200">
              <a:lnSpc>
                <a:spcPct val="106000"/>
              </a:lnSpc>
            </a:pPr>
            <a:r>
              <a:rPr lang="en-US" sz="950" b="1" u="none" strike="noStrike">
                <a:solidFill>
                  <a:srgbClr val="4F46E5"/>
                </a:solidFill>
                <a:effectLst/>
                <a:uFillTx/>
                <a:latin typeface="Calibri"/>
              </a:rPr>
              <a:t>PART 03  ·  WALKTHROUGH 3</a:t>
            </a:r>
            <a:endParaRPr lang="en-US" sz="950" b="0" u="none" strike="noStrike">
              <a:solidFill>
                <a:srgbClr val="000000"/>
              </a:solidFill>
              <a:effectLst/>
              <a:uFillTx/>
              <a:latin typeface="Arial"/>
            </a:endParaRPr>
          </a:p>
        </p:txBody>
      </p:sp>
      <p:sp>
        <p:nvSpPr>
          <p:cNvPr id="322" name="TextBox 4"/>
          <p:cNvSpPr/>
          <p:nvPr/>
        </p:nvSpPr>
        <p:spPr>
          <a:xfrm>
            <a:off x="567000" y="658440"/>
            <a:ext cx="11057400" cy="502560"/>
          </a:xfrm>
          <a:prstGeom prst="rect">
            <a:avLst/>
          </a:prstGeom>
          <a:noFill/>
          <a:ln w="0">
            <a:noFill/>
          </a:ln>
        </p:spPr>
        <p:style>
          <a:lnRef idx="0"/>
          <a:fillRef idx="0"/>
          <a:effectRef idx="0"/>
          <a:fontRef idx="minor"/>
        </p:style>
        <p:txBody>
          <a:bodyPr lIns="0" tIns="0" rIns="0" bIns="0" anchor="t">
            <a:spAutoFit/>
          </a:bodyPr>
          <a:p>
            <a:pPr defTabSz="457200">
              <a:lnSpc>
                <a:spcPct val="106000"/>
              </a:lnSpc>
            </a:pPr>
            <a:r>
              <a:rPr lang="en-US" sz="2700" b="1" u="none" strike="noStrike">
                <a:solidFill>
                  <a:srgbClr val="0E1A33"/>
                </a:solidFill>
                <a:effectLst/>
                <a:uFillTx/>
                <a:latin typeface="Calibri"/>
              </a:rPr>
              <a:t>An eligible decision, with the arithmetic shown</a:t>
            </a:r>
            <a:endParaRPr lang="en-US" sz="2700" b="0" u="none" strike="noStrike">
              <a:solidFill>
                <a:srgbClr val="000000"/>
              </a:solidFill>
              <a:effectLst/>
              <a:uFillTx/>
              <a:latin typeface="Arial"/>
            </a:endParaRPr>
          </a:p>
        </p:txBody>
      </p:sp>
      <p:sp>
        <p:nvSpPr>
          <p:cNvPr id="323" name="TextBox 5"/>
          <p:cNvSpPr/>
          <p:nvPr/>
        </p:nvSpPr>
        <p:spPr>
          <a:xfrm>
            <a:off x="567000" y="1225440"/>
            <a:ext cx="9509400" cy="365400"/>
          </a:xfrm>
          <a:prstGeom prst="rect">
            <a:avLst/>
          </a:prstGeom>
          <a:noFill/>
          <a:ln w="0">
            <a:noFill/>
          </a:ln>
        </p:spPr>
        <p:style>
          <a:lnRef idx="0"/>
          <a:fillRef idx="0"/>
          <a:effectRef idx="0"/>
          <a:fontRef idx="minor"/>
        </p:style>
        <p:txBody>
          <a:bodyPr lIns="0" tIns="0" rIns="0" bIns="0" anchor="t">
            <a:spAutoFit/>
          </a:bodyPr>
          <a:p>
            <a:pPr defTabSz="457200">
              <a:lnSpc>
                <a:spcPct val="106000"/>
              </a:lnSpc>
            </a:pPr>
            <a:r>
              <a:rPr lang="en-US" sz="1250" b="0" u="none" strike="noStrike">
                <a:solidFill>
                  <a:srgbClr val="6B7280"/>
                </a:solidFill>
                <a:effectLst/>
                <a:uFillTx/>
                <a:latin typeface="Calibri"/>
              </a:rPr>
              <a:t>Applicant: 34, salaried, income ₹95,000, existing EMI ₹8,000, score 762, loan ₹300,000.</a:t>
            </a:r>
            <a:endParaRPr lang="en-US" sz="1250" b="0" u="none" strike="noStrike">
              <a:solidFill>
                <a:srgbClr val="000000"/>
              </a:solidFill>
              <a:effectLst/>
              <a:uFillTx/>
              <a:latin typeface="Arial"/>
            </a:endParaRPr>
          </a:p>
        </p:txBody>
      </p:sp>
      <p:sp>
        <p:nvSpPr>
          <p:cNvPr id="324" name="TextBox 6"/>
          <p:cNvSpPr/>
          <p:nvPr/>
        </p:nvSpPr>
        <p:spPr>
          <a:xfrm>
            <a:off x="567000" y="6382440"/>
            <a:ext cx="7740000" cy="273960"/>
          </a:xfrm>
          <a:prstGeom prst="rect">
            <a:avLst/>
          </a:prstGeom>
          <a:noFill/>
          <a:ln w="0">
            <a:noFill/>
          </a:ln>
        </p:spPr>
        <p:style>
          <a:lnRef idx="0"/>
          <a:fillRef idx="0"/>
          <a:effectRef idx="0"/>
          <a:fontRef idx="minor"/>
        </p:style>
        <p:txBody>
          <a:bodyPr lIns="0" tIns="0" rIns="0" bIns="0" anchor="t">
            <a:spAutoFit/>
          </a:bodyPr>
          <a:p>
            <a:pPr defTabSz="457200">
              <a:lnSpc>
                <a:spcPct val="106000"/>
              </a:lnSpc>
            </a:pPr>
            <a:r>
              <a:rPr lang="en-US" sz="900" b="0" u="none" strike="noStrike">
                <a:solidFill>
                  <a:srgbClr val="6B7280"/>
                </a:solidFill>
                <a:effectLst/>
                <a:uFillTx/>
                <a:latin typeface="Calibri"/>
              </a:rPr>
              <a:t>Loan Eligibility AI  ·  Capstone Demonstration</a:t>
            </a:r>
            <a:endParaRPr lang="en-US" sz="900" b="0" u="none" strike="noStrike">
              <a:solidFill>
                <a:srgbClr val="000000"/>
              </a:solidFill>
              <a:effectLst/>
              <a:uFillTx/>
              <a:latin typeface="Arial"/>
            </a:endParaRPr>
          </a:p>
        </p:txBody>
      </p:sp>
      <p:sp>
        <p:nvSpPr>
          <p:cNvPr id="325" name="TextBox 7"/>
          <p:cNvSpPr/>
          <p:nvPr/>
        </p:nvSpPr>
        <p:spPr>
          <a:xfrm>
            <a:off x="10527480" y="6382440"/>
            <a:ext cx="1096920" cy="273960"/>
          </a:xfrm>
          <a:prstGeom prst="rect">
            <a:avLst/>
          </a:prstGeom>
          <a:noFill/>
          <a:ln w="0">
            <a:noFill/>
          </a:ln>
        </p:spPr>
        <p:style>
          <a:lnRef idx="0"/>
          <a:fillRef idx="0"/>
          <a:effectRef idx="0"/>
          <a:fontRef idx="minor"/>
        </p:style>
        <p:txBody>
          <a:bodyPr lIns="0" tIns="0" rIns="0" bIns="0" anchor="t">
            <a:spAutoFit/>
          </a:bodyPr>
          <a:p>
            <a:pPr algn="r" defTabSz="457200">
              <a:lnSpc>
                <a:spcPct val="106000"/>
              </a:lnSpc>
            </a:pPr>
            <a:r>
              <a:rPr lang="en-US" sz="900" b="0" u="none" strike="noStrike">
                <a:solidFill>
                  <a:srgbClr val="6B7280"/>
                </a:solidFill>
                <a:effectLst/>
                <a:uFillTx/>
                <a:latin typeface="Calibri"/>
              </a:rPr>
              <a:t>16</a:t>
            </a:r>
            <a:endParaRPr lang="en-US" sz="900" b="0" u="none" strike="noStrike">
              <a:solidFill>
                <a:srgbClr val="000000"/>
              </a:solidFill>
              <a:effectLst/>
              <a:uFillTx/>
              <a:latin typeface="Arial"/>
            </a:endParaRPr>
          </a:p>
        </p:txBody>
      </p:sp>
      <p:sp>
        <p:nvSpPr>
          <p:cNvPr id="326" name="Rounded Rectangle 8"/>
          <p:cNvSpPr/>
          <p:nvPr/>
        </p:nvSpPr>
        <p:spPr>
          <a:xfrm>
            <a:off x="502920" y="2154600"/>
            <a:ext cx="6762240" cy="3591000"/>
          </a:xfrm>
          <a:prstGeom prst="roundRect">
            <a:avLst>
              <a:gd name="adj" fmla="val 3000"/>
            </a:avLst>
          </a:prstGeom>
          <a:solidFill>
            <a:srgbClr val="F6F8FC"/>
          </a:solidFill>
          <a:ln w="12700">
            <a:solidFill>
              <a:srgbClr val="E3E8F0"/>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pic>
        <p:nvPicPr>
          <p:cNvPr id="327" name="Picture 9" descr="03_result_eligible_d.png"/>
          <p:cNvPicPr/>
          <p:nvPr/>
        </p:nvPicPr>
        <p:blipFill>
          <a:blip r:embed="rId1"/>
          <a:stretch/>
        </p:blipFill>
        <p:spPr>
          <a:xfrm>
            <a:off x="567000" y="2218680"/>
            <a:ext cx="6634440" cy="3462840"/>
          </a:xfrm>
          <a:prstGeom prst="rect">
            <a:avLst/>
          </a:prstGeom>
          <a:noFill/>
          <a:ln w="9525">
            <a:solidFill>
              <a:srgbClr val="E3E8F0"/>
            </a:solidFill>
            <a:round/>
          </a:ln>
        </p:spPr>
      </p:pic>
      <p:sp>
        <p:nvSpPr>
          <p:cNvPr id="328" name="TextBox 10"/>
          <p:cNvSpPr/>
          <p:nvPr/>
        </p:nvSpPr>
        <p:spPr>
          <a:xfrm>
            <a:off x="7585560" y="1719000"/>
            <a:ext cx="4038840" cy="273960"/>
          </a:xfrm>
          <a:prstGeom prst="rect">
            <a:avLst/>
          </a:prstGeom>
          <a:noFill/>
          <a:ln w="0">
            <a:noFill/>
          </a:ln>
        </p:spPr>
        <p:style>
          <a:lnRef idx="0"/>
          <a:fillRef idx="0"/>
          <a:effectRef idx="0"/>
          <a:fontRef idx="minor"/>
        </p:style>
        <p:txBody>
          <a:bodyPr lIns="0" tIns="0" rIns="0" bIns="0" anchor="t">
            <a:spAutoFit/>
          </a:bodyPr>
          <a:p>
            <a:pPr defTabSz="457200">
              <a:lnSpc>
                <a:spcPct val="106000"/>
              </a:lnSpc>
            </a:pPr>
            <a:r>
              <a:rPr lang="en-US" sz="950" b="1" u="none" strike="noStrike">
                <a:solidFill>
                  <a:srgbClr val="4F46E5"/>
                </a:solidFill>
                <a:effectLst/>
                <a:uFillTx/>
                <a:latin typeface="Calibri"/>
              </a:rPr>
              <a:t>READING THE RESULT</a:t>
            </a:r>
            <a:endParaRPr lang="en-US" sz="950" b="0" u="none" strike="noStrike">
              <a:solidFill>
                <a:srgbClr val="000000"/>
              </a:solidFill>
              <a:effectLst/>
              <a:uFillTx/>
              <a:latin typeface="Arial"/>
            </a:endParaRPr>
          </a:p>
        </p:txBody>
      </p:sp>
      <p:sp>
        <p:nvSpPr>
          <p:cNvPr id="329" name="Oval 11"/>
          <p:cNvSpPr/>
          <p:nvPr/>
        </p:nvSpPr>
        <p:spPr>
          <a:xfrm>
            <a:off x="7585560" y="2103120"/>
            <a:ext cx="237240" cy="237240"/>
          </a:xfrm>
          <a:prstGeom prst="ellipse">
            <a:avLst/>
          </a:prstGeom>
          <a:solidFill>
            <a:srgbClr val="4F46E5"/>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pPr algn="ctr" defTabSz="457200">
              <a:lnSpc>
                <a:spcPct val="106000"/>
              </a:lnSpc>
            </a:pPr>
            <a:r>
              <a:rPr lang="en-US" sz="1050" b="1" u="none" strike="noStrike">
                <a:solidFill>
                  <a:srgbClr val="FFFFFF"/>
                </a:solidFill>
                <a:effectLst/>
                <a:uFillTx/>
                <a:latin typeface="Calibri"/>
              </a:rPr>
              <a:t>1</a:t>
            </a:r>
            <a:endParaRPr lang="en-US" sz="1050" b="0" u="none" strike="noStrike">
              <a:solidFill>
                <a:srgbClr val="FFFFFF"/>
              </a:solidFill>
              <a:effectLst/>
              <a:uFillTx/>
              <a:latin typeface="Arial"/>
            </a:endParaRPr>
          </a:p>
        </p:txBody>
      </p:sp>
      <p:sp>
        <p:nvSpPr>
          <p:cNvPr id="330" name="TextBox 12"/>
          <p:cNvSpPr/>
          <p:nvPr/>
        </p:nvSpPr>
        <p:spPr>
          <a:xfrm>
            <a:off x="7951320" y="2066400"/>
            <a:ext cx="3673080" cy="365400"/>
          </a:xfrm>
          <a:prstGeom prst="rect">
            <a:avLst/>
          </a:prstGeom>
          <a:noFill/>
          <a:ln w="0">
            <a:noFill/>
          </a:ln>
        </p:spPr>
        <p:style>
          <a:lnRef idx="0"/>
          <a:fillRef idx="0"/>
          <a:effectRef idx="0"/>
          <a:fontRef idx="minor"/>
        </p:style>
        <p:txBody>
          <a:bodyPr lIns="0" tIns="0" rIns="0" bIns="0" anchor="t">
            <a:spAutoFit/>
          </a:bodyPr>
          <a:p>
            <a:pPr defTabSz="457200">
              <a:lnSpc>
                <a:spcPct val="106000"/>
              </a:lnSpc>
              <a:spcAft>
                <a:spcPts val="201"/>
              </a:spcAft>
            </a:pPr>
            <a:r>
              <a:rPr lang="en-US" sz="1250" b="1" u="none" strike="noStrike">
                <a:solidFill>
                  <a:srgbClr val="0E1A33"/>
                </a:solidFill>
                <a:effectLst/>
                <a:uFillTx/>
                <a:latin typeface="Calibri"/>
              </a:rPr>
              <a:t>Colour-coded verdict</a:t>
            </a:r>
            <a:endParaRPr lang="en-US" sz="1250" b="0" u="none" strike="noStrike">
              <a:solidFill>
                <a:srgbClr val="000000"/>
              </a:solidFill>
              <a:effectLst/>
              <a:uFillTx/>
              <a:latin typeface="Arial"/>
            </a:endParaRPr>
          </a:p>
          <a:p>
            <a:pPr defTabSz="457200">
              <a:lnSpc>
                <a:spcPct val="110000"/>
              </a:lnSpc>
            </a:pPr>
            <a:r>
              <a:rPr lang="en-US" sz="1100" b="0" u="none" strike="noStrike">
                <a:solidFill>
                  <a:srgbClr val="6B7280"/>
                </a:solidFill>
                <a:effectLst/>
                <a:uFillTx/>
                <a:latin typeface="Calibri"/>
              </a:rPr>
              <a:t>Green for Eligible, amber for manual review, red for refusal — the same three colours in the UI and the PDF.</a:t>
            </a:r>
            <a:endParaRPr lang="en-US" sz="1100" b="0" u="none" strike="noStrike">
              <a:solidFill>
                <a:srgbClr val="000000"/>
              </a:solidFill>
              <a:effectLst/>
              <a:uFillTx/>
              <a:latin typeface="Arial"/>
            </a:endParaRPr>
          </a:p>
        </p:txBody>
      </p:sp>
      <p:sp>
        <p:nvSpPr>
          <p:cNvPr id="331" name="Oval 13"/>
          <p:cNvSpPr/>
          <p:nvPr/>
        </p:nvSpPr>
        <p:spPr>
          <a:xfrm>
            <a:off x="7585560" y="2994840"/>
            <a:ext cx="237240" cy="237240"/>
          </a:xfrm>
          <a:prstGeom prst="ellipse">
            <a:avLst/>
          </a:prstGeom>
          <a:solidFill>
            <a:srgbClr val="7C3AED"/>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pPr algn="ctr" defTabSz="457200">
              <a:lnSpc>
                <a:spcPct val="106000"/>
              </a:lnSpc>
            </a:pPr>
            <a:r>
              <a:rPr lang="en-US" sz="1050" b="1" u="none" strike="noStrike">
                <a:solidFill>
                  <a:srgbClr val="FFFFFF"/>
                </a:solidFill>
                <a:effectLst/>
                <a:uFillTx/>
                <a:latin typeface="Calibri"/>
              </a:rPr>
              <a:t>2</a:t>
            </a:r>
            <a:endParaRPr lang="en-US" sz="1050" b="0" u="none" strike="noStrike">
              <a:solidFill>
                <a:srgbClr val="FFFFFF"/>
              </a:solidFill>
              <a:effectLst/>
              <a:uFillTx/>
              <a:latin typeface="Arial"/>
            </a:endParaRPr>
          </a:p>
        </p:txBody>
      </p:sp>
      <p:sp>
        <p:nvSpPr>
          <p:cNvPr id="332" name="TextBox 14"/>
          <p:cNvSpPr/>
          <p:nvPr/>
        </p:nvSpPr>
        <p:spPr>
          <a:xfrm>
            <a:off x="7951320" y="2958120"/>
            <a:ext cx="3673080" cy="365400"/>
          </a:xfrm>
          <a:prstGeom prst="rect">
            <a:avLst/>
          </a:prstGeom>
          <a:noFill/>
          <a:ln w="0">
            <a:noFill/>
          </a:ln>
        </p:spPr>
        <p:style>
          <a:lnRef idx="0"/>
          <a:fillRef idx="0"/>
          <a:effectRef idx="0"/>
          <a:fontRef idx="minor"/>
        </p:style>
        <p:txBody>
          <a:bodyPr lIns="0" tIns="0" rIns="0" bIns="0" anchor="t">
            <a:spAutoFit/>
          </a:bodyPr>
          <a:p>
            <a:pPr defTabSz="457200">
              <a:lnSpc>
                <a:spcPct val="106000"/>
              </a:lnSpc>
              <a:spcAft>
                <a:spcPts val="201"/>
              </a:spcAft>
            </a:pPr>
            <a:r>
              <a:rPr lang="en-US" sz="1250" b="1" u="none" strike="noStrike">
                <a:solidFill>
                  <a:srgbClr val="0E1A33"/>
                </a:solidFill>
                <a:effectLst/>
                <a:uFillTx/>
                <a:latin typeface="Calibri"/>
              </a:rPr>
              <a:t>Credit score</a:t>
            </a:r>
            <a:endParaRPr lang="en-US" sz="1250" b="0" u="none" strike="noStrike">
              <a:solidFill>
                <a:srgbClr val="000000"/>
              </a:solidFill>
              <a:effectLst/>
              <a:uFillTx/>
              <a:latin typeface="Arial"/>
            </a:endParaRPr>
          </a:p>
          <a:p>
            <a:pPr defTabSz="457200">
              <a:lnSpc>
                <a:spcPct val="110000"/>
              </a:lnSpc>
            </a:pPr>
            <a:r>
              <a:rPr lang="en-US" sz="1100" b="0" u="none" strike="noStrike">
                <a:solidFill>
                  <a:srgbClr val="6B7280"/>
                </a:solidFill>
                <a:effectLst/>
                <a:uFillTx/>
                <a:latin typeface="Calibri"/>
              </a:rPr>
              <a:t>762 / 1000, flagged GOOD because it clears the 700 threshold.</a:t>
            </a:r>
            <a:endParaRPr lang="en-US" sz="1100" b="0" u="none" strike="noStrike">
              <a:solidFill>
                <a:srgbClr val="000000"/>
              </a:solidFill>
              <a:effectLst/>
              <a:uFillTx/>
              <a:latin typeface="Arial"/>
            </a:endParaRPr>
          </a:p>
        </p:txBody>
      </p:sp>
      <p:sp>
        <p:nvSpPr>
          <p:cNvPr id="333" name="Oval 15"/>
          <p:cNvSpPr/>
          <p:nvPr/>
        </p:nvSpPr>
        <p:spPr>
          <a:xfrm>
            <a:off x="7585560" y="3717000"/>
            <a:ext cx="237240" cy="237240"/>
          </a:xfrm>
          <a:prstGeom prst="ellipse">
            <a:avLst/>
          </a:prstGeom>
          <a:solidFill>
            <a:srgbClr val="06B6D4"/>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pPr algn="ctr" defTabSz="457200">
              <a:lnSpc>
                <a:spcPct val="106000"/>
              </a:lnSpc>
            </a:pPr>
            <a:r>
              <a:rPr lang="en-US" sz="1050" b="1" u="none" strike="noStrike">
                <a:solidFill>
                  <a:srgbClr val="FFFFFF"/>
                </a:solidFill>
                <a:effectLst/>
                <a:uFillTx/>
                <a:latin typeface="Calibri"/>
              </a:rPr>
              <a:t>3</a:t>
            </a:r>
            <a:endParaRPr lang="en-US" sz="1050" b="0" u="none" strike="noStrike">
              <a:solidFill>
                <a:srgbClr val="000000"/>
              </a:solidFill>
              <a:effectLst/>
              <a:uFillTx/>
              <a:latin typeface="Arial"/>
            </a:endParaRPr>
          </a:p>
        </p:txBody>
      </p:sp>
      <p:sp>
        <p:nvSpPr>
          <p:cNvPr id="334" name="TextBox 16"/>
          <p:cNvSpPr/>
          <p:nvPr/>
        </p:nvSpPr>
        <p:spPr>
          <a:xfrm>
            <a:off x="7951320" y="3680640"/>
            <a:ext cx="3673080" cy="365400"/>
          </a:xfrm>
          <a:prstGeom prst="rect">
            <a:avLst/>
          </a:prstGeom>
          <a:noFill/>
          <a:ln w="0">
            <a:noFill/>
          </a:ln>
        </p:spPr>
        <p:style>
          <a:lnRef idx="0"/>
          <a:fillRef idx="0"/>
          <a:effectRef idx="0"/>
          <a:fontRef idx="minor"/>
        </p:style>
        <p:txBody>
          <a:bodyPr lIns="0" tIns="0" rIns="0" bIns="0" anchor="t">
            <a:spAutoFit/>
          </a:bodyPr>
          <a:p>
            <a:pPr defTabSz="457200">
              <a:lnSpc>
                <a:spcPct val="106000"/>
              </a:lnSpc>
              <a:spcAft>
                <a:spcPts val="201"/>
              </a:spcAft>
            </a:pPr>
            <a:r>
              <a:rPr lang="en-US" sz="1250" b="1" u="none" strike="noStrike">
                <a:solidFill>
                  <a:srgbClr val="0E1A33"/>
                </a:solidFill>
                <a:effectLst/>
                <a:uFillTx/>
                <a:latin typeface="Calibri"/>
              </a:rPr>
              <a:t>Estimated new EMI</a:t>
            </a:r>
            <a:endParaRPr lang="en-US" sz="1250" b="0" u="none" strike="noStrike">
              <a:solidFill>
                <a:srgbClr val="000000"/>
              </a:solidFill>
              <a:effectLst/>
              <a:uFillTx/>
              <a:latin typeface="Arial"/>
            </a:endParaRPr>
          </a:p>
          <a:p>
            <a:pPr defTabSz="457200">
              <a:lnSpc>
                <a:spcPct val="110000"/>
              </a:lnSpc>
            </a:pPr>
            <a:r>
              <a:rPr lang="en-US" sz="1100" b="0" u="none" strike="noStrike">
                <a:solidFill>
                  <a:srgbClr val="6B7280"/>
                </a:solidFill>
                <a:effectLst/>
                <a:uFillTx/>
                <a:latin typeface="Calibri"/>
              </a:rPr>
              <a:t>₹25,000 — the requested ₹300,000 spread over twelve months.</a:t>
            </a:r>
            <a:endParaRPr lang="en-US" sz="1100" b="0" u="none" strike="noStrike">
              <a:solidFill>
                <a:srgbClr val="000000"/>
              </a:solidFill>
              <a:effectLst/>
              <a:uFillTx/>
              <a:latin typeface="Arial"/>
            </a:endParaRPr>
          </a:p>
        </p:txBody>
      </p:sp>
      <p:sp>
        <p:nvSpPr>
          <p:cNvPr id="335" name="Oval 17"/>
          <p:cNvSpPr/>
          <p:nvPr/>
        </p:nvSpPr>
        <p:spPr>
          <a:xfrm>
            <a:off x="7585560" y="4439520"/>
            <a:ext cx="237240" cy="237240"/>
          </a:xfrm>
          <a:prstGeom prst="ellipse">
            <a:avLst/>
          </a:prstGeom>
          <a:solidFill>
            <a:srgbClr val="15A34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pPr algn="ctr" defTabSz="457200">
              <a:lnSpc>
                <a:spcPct val="106000"/>
              </a:lnSpc>
            </a:pPr>
            <a:r>
              <a:rPr lang="en-US" sz="1050" b="1" u="none" strike="noStrike">
                <a:solidFill>
                  <a:srgbClr val="FFFFFF"/>
                </a:solidFill>
                <a:effectLst/>
                <a:uFillTx/>
                <a:latin typeface="Calibri"/>
              </a:rPr>
              <a:t>4</a:t>
            </a:r>
            <a:endParaRPr lang="en-US" sz="1050" b="0" u="none" strike="noStrike">
              <a:solidFill>
                <a:srgbClr val="FFFFFF"/>
              </a:solidFill>
              <a:effectLst/>
              <a:uFillTx/>
              <a:latin typeface="Arial"/>
            </a:endParaRPr>
          </a:p>
        </p:txBody>
      </p:sp>
      <p:sp>
        <p:nvSpPr>
          <p:cNvPr id="336" name="TextBox 18"/>
          <p:cNvSpPr/>
          <p:nvPr/>
        </p:nvSpPr>
        <p:spPr>
          <a:xfrm>
            <a:off x="7951320" y="4402800"/>
            <a:ext cx="3673080" cy="365400"/>
          </a:xfrm>
          <a:prstGeom prst="rect">
            <a:avLst/>
          </a:prstGeom>
          <a:noFill/>
          <a:ln w="0">
            <a:noFill/>
          </a:ln>
        </p:spPr>
        <p:style>
          <a:lnRef idx="0"/>
          <a:fillRef idx="0"/>
          <a:effectRef idx="0"/>
          <a:fontRef idx="minor"/>
        </p:style>
        <p:txBody>
          <a:bodyPr lIns="0" tIns="0" rIns="0" bIns="0" anchor="t">
            <a:spAutoFit/>
          </a:bodyPr>
          <a:p>
            <a:pPr defTabSz="457200">
              <a:lnSpc>
                <a:spcPct val="106000"/>
              </a:lnSpc>
              <a:spcAft>
                <a:spcPts val="201"/>
              </a:spcAft>
            </a:pPr>
            <a:r>
              <a:rPr lang="en-US" sz="1250" b="1" u="none" strike="noStrike">
                <a:solidFill>
                  <a:srgbClr val="0E1A33"/>
                </a:solidFill>
                <a:effectLst/>
                <a:uFillTx/>
                <a:latin typeface="Calibri"/>
              </a:rPr>
              <a:t>EMI-to-income ratio</a:t>
            </a:r>
            <a:endParaRPr lang="en-US" sz="1250" b="0" u="none" strike="noStrike">
              <a:solidFill>
                <a:srgbClr val="000000"/>
              </a:solidFill>
              <a:effectLst/>
              <a:uFillTx/>
              <a:latin typeface="Arial"/>
            </a:endParaRPr>
          </a:p>
          <a:p>
            <a:pPr defTabSz="457200">
              <a:lnSpc>
                <a:spcPct val="110000"/>
              </a:lnSpc>
            </a:pPr>
            <a:r>
              <a:rPr lang="en-US" sz="1100" b="0" u="none" strike="noStrike">
                <a:solidFill>
                  <a:srgbClr val="6B7280"/>
                </a:solidFill>
                <a:effectLst/>
                <a:uFillTx/>
                <a:latin typeface="Calibri"/>
              </a:rPr>
              <a:t>33,000 / 95,000 = 34.7%, inside the 40% limit.</a:t>
            </a:r>
            <a:endParaRPr lang="en-US" sz="1100" b="0" u="none" strike="noStrike">
              <a:solidFill>
                <a:srgbClr val="000000"/>
              </a:solidFill>
              <a:effectLst/>
              <a:uFillTx/>
              <a:latin typeface="Arial"/>
            </a:endParaRPr>
          </a:p>
        </p:txBody>
      </p:sp>
      <p:sp>
        <p:nvSpPr>
          <p:cNvPr id="337" name="Oval 19"/>
          <p:cNvSpPr/>
          <p:nvPr/>
        </p:nvSpPr>
        <p:spPr>
          <a:xfrm>
            <a:off x="7585560" y="5161680"/>
            <a:ext cx="237240" cy="237240"/>
          </a:xfrm>
          <a:prstGeom prst="ellipse">
            <a:avLst/>
          </a:prstGeom>
          <a:solidFill>
            <a:srgbClr val="D9770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pPr algn="ctr" defTabSz="457200">
              <a:lnSpc>
                <a:spcPct val="106000"/>
              </a:lnSpc>
            </a:pPr>
            <a:r>
              <a:rPr lang="en-US" sz="1050" b="1" u="none" strike="noStrike">
                <a:solidFill>
                  <a:srgbClr val="FFFFFF"/>
                </a:solidFill>
                <a:effectLst/>
                <a:uFillTx/>
                <a:latin typeface="Calibri"/>
              </a:rPr>
              <a:t>5</a:t>
            </a:r>
            <a:endParaRPr lang="en-US" sz="1050" b="0" u="none" strike="noStrike">
              <a:solidFill>
                <a:srgbClr val="FFFFFF"/>
              </a:solidFill>
              <a:effectLst/>
              <a:uFillTx/>
              <a:latin typeface="Arial"/>
            </a:endParaRPr>
          </a:p>
        </p:txBody>
      </p:sp>
      <p:sp>
        <p:nvSpPr>
          <p:cNvPr id="338" name="TextBox 20"/>
          <p:cNvSpPr/>
          <p:nvPr/>
        </p:nvSpPr>
        <p:spPr>
          <a:xfrm>
            <a:off x="7951320" y="5125320"/>
            <a:ext cx="3673080" cy="365400"/>
          </a:xfrm>
          <a:prstGeom prst="rect">
            <a:avLst/>
          </a:prstGeom>
          <a:noFill/>
          <a:ln w="0">
            <a:noFill/>
          </a:ln>
        </p:spPr>
        <p:style>
          <a:lnRef idx="0"/>
          <a:fillRef idx="0"/>
          <a:effectRef idx="0"/>
          <a:fontRef idx="minor"/>
        </p:style>
        <p:txBody>
          <a:bodyPr lIns="0" tIns="0" rIns="0" bIns="0" anchor="t">
            <a:spAutoFit/>
          </a:bodyPr>
          <a:p>
            <a:pPr defTabSz="457200">
              <a:lnSpc>
                <a:spcPct val="106000"/>
              </a:lnSpc>
              <a:spcAft>
                <a:spcPts val="201"/>
              </a:spcAft>
            </a:pPr>
            <a:r>
              <a:rPr lang="en-US" sz="1250" b="1" u="none" strike="noStrike">
                <a:solidFill>
                  <a:srgbClr val="0E1A33"/>
                </a:solidFill>
                <a:effectLst/>
                <a:uFillTx/>
                <a:latin typeface="Calibri"/>
              </a:rPr>
              <a:t>Report download</a:t>
            </a:r>
            <a:endParaRPr lang="en-US" sz="1250" b="0" u="none" strike="noStrike">
              <a:solidFill>
                <a:srgbClr val="000000"/>
              </a:solidFill>
              <a:effectLst/>
              <a:uFillTx/>
              <a:latin typeface="Arial"/>
            </a:endParaRPr>
          </a:p>
          <a:p>
            <a:pPr defTabSz="457200">
              <a:lnSpc>
                <a:spcPct val="110000"/>
              </a:lnSpc>
            </a:pPr>
            <a:r>
              <a:rPr lang="en-US" sz="1100" b="0" u="none" strike="noStrike">
                <a:solidFill>
                  <a:srgbClr val="6B7280"/>
                </a:solidFill>
                <a:effectLst/>
                <a:uFillTx/>
                <a:latin typeface="Calibri"/>
              </a:rPr>
              <a:t>The PDF is generated in the same run, ready before the applicant asks.</a:t>
            </a:r>
            <a:endParaRPr lang="en-US" sz="11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39" name="Rectangle 1"/>
          <p:cNvSpPr/>
          <p:nvPr/>
        </p:nvSpPr>
        <p:spPr>
          <a:xfrm>
            <a:off x="0" y="0"/>
            <a:ext cx="12191400" cy="6857640"/>
          </a:xfrm>
          <a:prstGeom prst="rect">
            <a:avLst/>
          </a:prstGeom>
          <a:solidFill>
            <a:srgbClr val="FFFFFF"/>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340" name="Rectangle 2"/>
          <p:cNvSpPr/>
          <p:nvPr/>
        </p:nvSpPr>
        <p:spPr>
          <a:xfrm>
            <a:off x="0" y="0"/>
            <a:ext cx="12191400" cy="77400"/>
          </a:xfrm>
          <a:prstGeom prst="rect">
            <a:avLst/>
          </a:prstGeom>
          <a:gradFill rotWithShape="0">
            <a:gsLst>
              <a:gs pos="0">
                <a:srgbClr val="4F46E5"/>
              </a:gs>
              <a:gs pos="100000">
                <a:srgbClr val="7C3AED"/>
              </a:gs>
            </a:gsLst>
            <a:lin ang="0"/>
          </a:gra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32760" rIns="90000" bIns="32760" anchor="ctr">
            <a:noAutofit/>
          </a:bodyPr>
          <a:p>
            <a:endParaRPr lang="en-US" sz="1800" b="0" u="none" strike="noStrike">
              <a:solidFill>
                <a:schemeClr val="lt1"/>
              </a:solidFill>
              <a:effectLst/>
              <a:uFillTx/>
              <a:latin typeface="Calibri"/>
            </a:endParaRPr>
          </a:p>
        </p:txBody>
      </p:sp>
      <p:sp>
        <p:nvSpPr>
          <p:cNvPr id="341" name="TextBox 3"/>
          <p:cNvSpPr/>
          <p:nvPr/>
        </p:nvSpPr>
        <p:spPr>
          <a:xfrm>
            <a:off x="567000" y="384120"/>
            <a:ext cx="11057400" cy="237240"/>
          </a:xfrm>
          <a:prstGeom prst="rect">
            <a:avLst/>
          </a:prstGeom>
          <a:noFill/>
          <a:ln w="0">
            <a:noFill/>
          </a:ln>
        </p:spPr>
        <p:style>
          <a:lnRef idx="0"/>
          <a:fillRef idx="0"/>
          <a:effectRef idx="0"/>
          <a:fontRef idx="minor"/>
        </p:style>
        <p:txBody>
          <a:bodyPr lIns="0" tIns="0" rIns="0" bIns="0" anchor="t">
            <a:spAutoFit/>
          </a:bodyPr>
          <a:p>
            <a:pPr defTabSz="457200">
              <a:lnSpc>
                <a:spcPct val="106000"/>
              </a:lnSpc>
            </a:pPr>
            <a:r>
              <a:rPr lang="en-US" sz="950" b="1" u="none" strike="noStrike">
                <a:solidFill>
                  <a:srgbClr val="4F46E5"/>
                </a:solidFill>
                <a:effectLst/>
                <a:uFillTx/>
                <a:latin typeface="Calibri"/>
              </a:rPr>
              <a:t>PART 03  ·  WALKTHROUGH 4</a:t>
            </a:r>
            <a:endParaRPr lang="en-US" sz="950" b="0" u="none" strike="noStrike">
              <a:solidFill>
                <a:srgbClr val="000000"/>
              </a:solidFill>
              <a:effectLst/>
              <a:uFillTx/>
              <a:latin typeface="Arial"/>
            </a:endParaRPr>
          </a:p>
        </p:txBody>
      </p:sp>
      <p:sp>
        <p:nvSpPr>
          <p:cNvPr id="342" name="TextBox 4"/>
          <p:cNvSpPr/>
          <p:nvPr/>
        </p:nvSpPr>
        <p:spPr>
          <a:xfrm>
            <a:off x="567000" y="658440"/>
            <a:ext cx="11057400" cy="502560"/>
          </a:xfrm>
          <a:prstGeom prst="rect">
            <a:avLst/>
          </a:prstGeom>
          <a:noFill/>
          <a:ln w="0">
            <a:noFill/>
          </a:ln>
        </p:spPr>
        <p:style>
          <a:lnRef idx="0"/>
          <a:fillRef idx="0"/>
          <a:effectRef idx="0"/>
          <a:fontRef idx="minor"/>
        </p:style>
        <p:txBody>
          <a:bodyPr lIns="0" tIns="0" rIns="0" bIns="0" anchor="t">
            <a:spAutoFit/>
          </a:bodyPr>
          <a:p>
            <a:pPr defTabSz="457200">
              <a:lnSpc>
                <a:spcPct val="106000"/>
              </a:lnSpc>
            </a:pPr>
            <a:r>
              <a:rPr lang="en-US" sz="2700" b="1" u="none" strike="noStrike">
                <a:solidFill>
                  <a:srgbClr val="0E1A33"/>
                </a:solidFill>
                <a:effectLst/>
                <a:uFillTx/>
                <a:latin typeface="Calibri"/>
              </a:rPr>
              <a:t>Every decision ships with its reasoning and its evidence</a:t>
            </a:r>
            <a:endParaRPr lang="en-US" sz="2700" b="0" u="none" strike="noStrike">
              <a:solidFill>
                <a:srgbClr val="000000"/>
              </a:solidFill>
              <a:effectLst/>
              <a:uFillTx/>
              <a:latin typeface="Arial"/>
            </a:endParaRPr>
          </a:p>
        </p:txBody>
      </p:sp>
      <p:sp>
        <p:nvSpPr>
          <p:cNvPr id="343" name="TextBox 5"/>
          <p:cNvSpPr/>
          <p:nvPr/>
        </p:nvSpPr>
        <p:spPr>
          <a:xfrm>
            <a:off x="567000" y="1225440"/>
            <a:ext cx="9509400" cy="365400"/>
          </a:xfrm>
          <a:prstGeom prst="rect">
            <a:avLst/>
          </a:prstGeom>
          <a:noFill/>
          <a:ln w="0">
            <a:noFill/>
          </a:ln>
        </p:spPr>
        <p:style>
          <a:lnRef idx="0"/>
          <a:fillRef idx="0"/>
          <a:effectRef idx="0"/>
          <a:fontRef idx="minor"/>
        </p:style>
        <p:txBody>
          <a:bodyPr lIns="0" tIns="0" rIns="0" bIns="0" anchor="t">
            <a:spAutoFit/>
          </a:bodyPr>
          <a:p>
            <a:pPr defTabSz="457200">
              <a:lnSpc>
                <a:spcPct val="106000"/>
              </a:lnSpc>
            </a:pPr>
            <a:r>
              <a:rPr lang="en-US" sz="1250" b="0" u="none" strike="noStrike">
                <a:solidFill>
                  <a:srgbClr val="6B7280"/>
                </a:solidFill>
                <a:effectLst/>
                <a:uFillTx/>
                <a:latin typeface="Calibri"/>
              </a:rPr>
              <a:t>The same four lines appear on screen, in the PDF and in the assistant's answers.</a:t>
            </a:r>
            <a:endParaRPr lang="en-US" sz="1250" b="0" u="none" strike="noStrike">
              <a:solidFill>
                <a:srgbClr val="000000"/>
              </a:solidFill>
              <a:effectLst/>
              <a:uFillTx/>
              <a:latin typeface="Arial"/>
            </a:endParaRPr>
          </a:p>
        </p:txBody>
      </p:sp>
      <p:sp>
        <p:nvSpPr>
          <p:cNvPr id="344" name="TextBox 6"/>
          <p:cNvSpPr/>
          <p:nvPr/>
        </p:nvSpPr>
        <p:spPr>
          <a:xfrm>
            <a:off x="567000" y="6382440"/>
            <a:ext cx="7740000" cy="273960"/>
          </a:xfrm>
          <a:prstGeom prst="rect">
            <a:avLst/>
          </a:prstGeom>
          <a:noFill/>
          <a:ln w="0">
            <a:noFill/>
          </a:ln>
        </p:spPr>
        <p:style>
          <a:lnRef idx="0"/>
          <a:fillRef idx="0"/>
          <a:effectRef idx="0"/>
          <a:fontRef idx="minor"/>
        </p:style>
        <p:txBody>
          <a:bodyPr lIns="0" tIns="0" rIns="0" bIns="0" anchor="t">
            <a:spAutoFit/>
          </a:bodyPr>
          <a:p>
            <a:pPr defTabSz="457200">
              <a:lnSpc>
                <a:spcPct val="106000"/>
              </a:lnSpc>
            </a:pPr>
            <a:r>
              <a:rPr lang="en-US" sz="900" b="0" u="none" strike="noStrike">
                <a:solidFill>
                  <a:srgbClr val="6B7280"/>
                </a:solidFill>
                <a:effectLst/>
                <a:uFillTx/>
                <a:latin typeface="Calibri"/>
              </a:rPr>
              <a:t>Loan Eligibility AI  ·  Capstone Demonstration</a:t>
            </a:r>
            <a:endParaRPr lang="en-US" sz="900" b="0" u="none" strike="noStrike">
              <a:solidFill>
                <a:srgbClr val="000000"/>
              </a:solidFill>
              <a:effectLst/>
              <a:uFillTx/>
              <a:latin typeface="Arial"/>
            </a:endParaRPr>
          </a:p>
        </p:txBody>
      </p:sp>
      <p:sp>
        <p:nvSpPr>
          <p:cNvPr id="345" name="TextBox 7"/>
          <p:cNvSpPr/>
          <p:nvPr/>
        </p:nvSpPr>
        <p:spPr>
          <a:xfrm>
            <a:off x="10527480" y="6382440"/>
            <a:ext cx="1096920" cy="273960"/>
          </a:xfrm>
          <a:prstGeom prst="rect">
            <a:avLst/>
          </a:prstGeom>
          <a:noFill/>
          <a:ln w="0">
            <a:noFill/>
          </a:ln>
        </p:spPr>
        <p:style>
          <a:lnRef idx="0"/>
          <a:fillRef idx="0"/>
          <a:effectRef idx="0"/>
          <a:fontRef idx="minor"/>
        </p:style>
        <p:txBody>
          <a:bodyPr lIns="0" tIns="0" rIns="0" bIns="0" anchor="t">
            <a:spAutoFit/>
          </a:bodyPr>
          <a:p>
            <a:pPr algn="r" defTabSz="457200">
              <a:lnSpc>
                <a:spcPct val="106000"/>
              </a:lnSpc>
            </a:pPr>
            <a:r>
              <a:rPr lang="en-US" sz="900" b="0" u="none" strike="noStrike">
                <a:solidFill>
                  <a:srgbClr val="6B7280"/>
                </a:solidFill>
                <a:effectLst/>
                <a:uFillTx/>
                <a:latin typeface="Calibri"/>
              </a:rPr>
              <a:t>17</a:t>
            </a:r>
            <a:endParaRPr lang="en-US" sz="900" b="0" u="none" strike="noStrike">
              <a:solidFill>
                <a:srgbClr val="000000"/>
              </a:solidFill>
              <a:effectLst/>
              <a:uFillTx/>
              <a:latin typeface="Arial"/>
            </a:endParaRPr>
          </a:p>
        </p:txBody>
      </p:sp>
      <p:sp>
        <p:nvSpPr>
          <p:cNvPr id="346" name="Rounded Rectangle 8"/>
          <p:cNvSpPr/>
          <p:nvPr/>
        </p:nvSpPr>
        <p:spPr>
          <a:xfrm>
            <a:off x="502920" y="2403720"/>
            <a:ext cx="6762240" cy="3092760"/>
          </a:xfrm>
          <a:prstGeom prst="roundRect">
            <a:avLst>
              <a:gd name="adj" fmla="val 3000"/>
            </a:avLst>
          </a:prstGeom>
          <a:solidFill>
            <a:srgbClr val="F6F8FC"/>
          </a:solidFill>
          <a:ln w="12700">
            <a:solidFill>
              <a:srgbClr val="E3E8F0"/>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pic>
        <p:nvPicPr>
          <p:cNvPr id="347" name="Picture 9" descr="04_reasoning_and_recommendations.png"/>
          <p:cNvPicPr/>
          <p:nvPr/>
        </p:nvPicPr>
        <p:blipFill>
          <a:blip r:embed="rId1"/>
          <a:stretch/>
        </p:blipFill>
        <p:spPr>
          <a:xfrm>
            <a:off x="567000" y="2467800"/>
            <a:ext cx="6634440" cy="2964600"/>
          </a:xfrm>
          <a:prstGeom prst="rect">
            <a:avLst/>
          </a:prstGeom>
          <a:noFill/>
          <a:ln w="9525">
            <a:solidFill>
              <a:srgbClr val="E3E8F0"/>
            </a:solidFill>
            <a:round/>
          </a:ln>
        </p:spPr>
      </p:pic>
      <p:sp>
        <p:nvSpPr>
          <p:cNvPr id="348" name="TextBox 10"/>
          <p:cNvSpPr/>
          <p:nvPr/>
        </p:nvSpPr>
        <p:spPr>
          <a:xfrm>
            <a:off x="7585560" y="1719000"/>
            <a:ext cx="4038840" cy="273960"/>
          </a:xfrm>
          <a:prstGeom prst="rect">
            <a:avLst/>
          </a:prstGeom>
          <a:noFill/>
          <a:ln w="0">
            <a:noFill/>
          </a:ln>
        </p:spPr>
        <p:style>
          <a:lnRef idx="0"/>
          <a:fillRef idx="0"/>
          <a:effectRef idx="0"/>
          <a:fontRef idx="minor"/>
        </p:style>
        <p:txBody>
          <a:bodyPr lIns="0" tIns="0" rIns="0" bIns="0" anchor="t">
            <a:spAutoFit/>
          </a:bodyPr>
          <a:p>
            <a:pPr defTabSz="457200">
              <a:lnSpc>
                <a:spcPct val="106000"/>
              </a:lnSpc>
            </a:pPr>
            <a:r>
              <a:rPr lang="en-US" sz="950" b="1" u="none" strike="noStrike">
                <a:solidFill>
                  <a:srgbClr val="4F46E5"/>
                </a:solidFill>
                <a:effectLst/>
                <a:uFillTx/>
                <a:latin typeface="Calibri"/>
              </a:rPr>
              <a:t>EXPLAINABILITY</a:t>
            </a:r>
            <a:endParaRPr lang="en-US" sz="950" b="0" u="none" strike="noStrike">
              <a:solidFill>
                <a:srgbClr val="000000"/>
              </a:solidFill>
              <a:effectLst/>
              <a:uFillTx/>
              <a:latin typeface="Arial"/>
            </a:endParaRPr>
          </a:p>
        </p:txBody>
      </p:sp>
      <p:sp>
        <p:nvSpPr>
          <p:cNvPr id="349" name="Oval 11"/>
          <p:cNvSpPr/>
          <p:nvPr/>
        </p:nvSpPr>
        <p:spPr>
          <a:xfrm>
            <a:off x="7585560" y="2103120"/>
            <a:ext cx="237240" cy="237240"/>
          </a:xfrm>
          <a:prstGeom prst="ellipse">
            <a:avLst/>
          </a:prstGeom>
          <a:solidFill>
            <a:srgbClr val="4F46E5"/>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pPr algn="ctr" defTabSz="457200">
              <a:lnSpc>
                <a:spcPct val="106000"/>
              </a:lnSpc>
            </a:pPr>
            <a:r>
              <a:rPr lang="en-US" sz="1050" b="1" u="none" strike="noStrike">
                <a:solidFill>
                  <a:srgbClr val="FFFFFF"/>
                </a:solidFill>
                <a:effectLst/>
                <a:uFillTx/>
                <a:latin typeface="Calibri"/>
              </a:rPr>
              <a:t>1</a:t>
            </a:r>
            <a:endParaRPr lang="en-US" sz="1050" b="0" u="none" strike="noStrike">
              <a:solidFill>
                <a:srgbClr val="FFFFFF"/>
              </a:solidFill>
              <a:effectLst/>
              <a:uFillTx/>
              <a:latin typeface="Arial"/>
            </a:endParaRPr>
          </a:p>
        </p:txBody>
      </p:sp>
      <p:sp>
        <p:nvSpPr>
          <p:cNvPr id="350" name="TextBox 12"/>
          <p:cNvSpPr/>
          <p:nvPr/>
        </p:nvSpPr>
        <p:spPr>
          <a:xfrm>
            <a:off x="7951320" y="2066400"/>
            <a:ext cx="3673080" cy="365400"/>
          </a:xfrm>
          <a:prstGeom prst="rect">
            <a:avLst/>
          </a:prstGeom>
          <a:noFill/>
          <a:ln w="0">
            <a:noFill/>
          </a:ln>
        </p:spPr>
        <p:style>
          <a:lnRef idx="0"/>
          <a:fillRef idx="0"/>
          <a:effectRef idx="0"/>
          <a:fontRef idx="minor"/>
        </p:style>
        <p:txBody>
          <a:bodyPr lIns="0" tIns="0" rIns="0" bIns="0" anchor="t">
            <a:spAutoFit/>
          </a:bodyPr>
          <a:p>
            <a:pPr defTabSz="457200">
              <a:lnSpc>
                <a:spcPct val="106000"/>
              </a:lnSpc>
              <a:spcAft>
                <a:spcPts val="201"/>
              </a:spcAft>
            </a:pPr>
            <a:r>
              <a:rPr lang="en-US" sz="1250" b="1" u="none" strike="noStrike">
                <a:solidFill>
                  <a:srgbClr val="0E1A33"/>
                </a:solidFill>
                <a:effectLst/>
                <a:uFillTx/>
                <a:latin typeface="Calibri"/>
              </a:rPr>
              <a:t>Rule-by-rule trace</a:t>
            </a:r>
            <a:endParaRPr lang="en-US" sz="1250" b="0" u="none" strike="noStrike">
              <a:solidFill>
                <a:srgbClr val="000000"/>
              </a:solidFill>
              <a:effectLst/>
              <a:uFillTx/>
              <a:latin typeface="Arial"/>
            </a:endParaRPr>
          </a:p>
          <a:p>
            <a:pPr defTabSz="457200">
              <a:lnSpc>
                <a:spcPct val="110000"/>
              </a:lnSpc>
            </a:pPr>
            <a:r>
              <a:rPr lang="en-US" sz="1100" b="0" u="none" strike="noStrike">
                <a:solidFill>
                  <a:srgbClr val="6B7280"/>
                </a:solidFill>
                <a:effectLst/>
                <a:uFillTx/>
                <a:latin typeface="Calibri"/>
              </a:rPr>
              <a:t>Each rule reports PASSED or FAILED, the value used and the policy sentence behind it.</a:t>
            </a:r>
            <a:endParaRPr lang="en-US" sz="1100" b="0" u="none" strike="noStrike">
              <a:solidFill>
                <a:srgbClr val="000000"/>
              </a:solidFill>
              <a:effectLst/>
              <a:uFillTx/>
              <a:latin typeface="Arial"/>
            </a:endParaRPr>
          </a:p>
        </p:txBody>
      </p:sp>
      <p:sp>
        <p:nvSpPr>
          <p:cNvPr id="351" name="Oval 13"/>
          <p:cNvSpPr/>
          <p:nvPr/>
        </p:nvSpPr>
        <p:spPr>
          <a:xfrm>
            <a:off x="7585560" y="2825640"/>
            <a:ext cx="237240" cy="237240"/>
          </a:xfrm>
          <a:prstGeom prst="ellipse">
            <a:avLst/>
          </a:prstGeom>
          <a:solidFill>
            <a:srgbClr val="7C3AED"/>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pPr algn="ctr" defTabSz="457200">
              <a:lnSpc>
                <a:spcPct val="106000"/>
              </a:lnSpc>
            </a:pPr>
            <a:r>
              <a:rPr lang="en-US" sz="1050" b="1" u="none" strike="noStrike">
                <a:solidFill>
                  <a:srgbClr val="FFFFFF"/>
                </a:solidFill>
                <a:effectLst/>
                <a:uFillTx/>
                <a:latin typeface="Calibri"/>
              </a:rPr>
              <a:t>2</a:t>
            </a:r>
            <a:endParaRPr lang="en-US" sz="1050" b="0" u="none" strike="noStrike">
              <a:solidFill>
                <a:srgbClr val="FFFFFF"/>
              </a:solidFill>
              <a:effectLst/>
              <a:uFillTx/>
              <a:latin typeface="Arial"/>
            </a:endParaRPr>
          </a:p>
        </p:txBody>
      </p:sp>
      <p:sp>
        <p:nvSpPr>
          <p:cNvPr id="352" name="TextBox 14"/>
          <p:cNvSpPr/>
          <p:nvPr/>
        </p:nvSpPr>
        <p:spPr>
          <a:xfrm>
            <a:off x="7951320" y="2788920"/>
            <a:ext cx="3673080" cy="365400"/>
          </a:xfrm>
          <a:prstGeom prst="rect">
            <a:avLst/>
          </a:prstGeom>
          <a:noFill/>
          <a:ln w="0">
            <a:noFill/>
          </a:ln>
        </p:spPr>
        <p:style>
          <a:lnRef idx="0"/>
          <a:fillRef idx="0"/>
          <a:effectRef idx="0"/>
          <a:fontRef idx="minor"/>
        </p:style>
        <p:txBody>
          <a:bodyPr lIns="0" tIns="0" rIns="0" bIns="0" anchor="t">
            <a:spAutoFit/>
          </a:bodyPr>
          <a:p>
            <a:pPr defTabSz="457200">
              <a:lnSpc>
                <a:spcPct val="106000"/>
              </a:lnSpc>
              <a:spcAft>
                <a:spcPts val="201"/>
              </a:spcAft>
            </a:pPr>
            <a:r>
              <a:rPr lang="en-US" sz="1250" b="1" u="none" strike="noStrike">
                <a:solidFill>
                  <a:srgbClr val="0E1A33"/>
                </a:solidFill>
                <a:effectLst/>
                <a:uFillTx/>
                <a:latin typeface="Calibri"/>
              </a:rPr>
              <a:t>No black box</a:t>
            </a:r>
            <a:endParaRPr lang="en-US" sz="1250" b="0" u="none" strike="noStrike">
              <a:solidFill>
                <a:srgbClr val="000000"/>
              </a:solidFill>
              <a:effectLst/>
              <a:uFillTx/>
              <a:latin typeface="Arial"/>
            </a:endParaRPr>
          </a:p>
          <a:p>
            <a:pPr defTabSz="457200">
              <a:lnSpc>
                <a:spcPct val="110000"/>
              </a:lnSpc>
            </a:pPr>
            <a:r>
              <a:rPr lang="en-US" sz="1100" b="0" u="none" strike="noStrike">
                <a:solidFill>
                  <a:srgbClr val="6B7280"/>
                </a:solidFill>
                <a:effectLst/>
                <a:uFillTx/>
                <a:latin typeface="Calibri"/>
              </a:rPr>
              <a:t>Nothing is aggregated into an opaque score — the applicant sees the four independent checks.</a:t>
            </a:r>
            <a:endParaRPr lang="en-US" sz="1100" b="0" u="none" strike="noStrike">
              <a:solidFill>
                <a:srgbClr val="000000"/>
              </a:solidFill>
              <a:effectLst/>
              <a:uFillTx/>
              <a:latin typeface="Arial"/>
            </a:endParaRPr>
          </a:p>
        </p:txBody>
      </p:sp>
      <p:sp>
        <p:nvSpPr>
          <p:cNvPr id="353" name="Oval 15"/>
          <p:cNvSpPr/>
          <p:nvPr/>
        </p:nvSpPr>
        <p:spPr>
          <a:xfrm>
            <a:off x="7585560" y="3717000"/>
            <a:ext cx="237240" cy="237240"/>
          </a:xfrm>
          <a:prstGeom prst="ellipse">
            <a:avLst/>
          </a:prstGeom>
          <a:solidFill>
            <a:srgbClr val="06B6D4"/>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pPr algn="ctr" defTabSz="457200">
              <a:lnSpc>
                <a:spcPct val="106000"/>
              </a:lnSpc>
            </a:pPr>
            <a:r>
              <a:rPr lang="en-US" sz="1050" b="1" u="none" strike="noStrike">
                <a:solidFill>
                  <a:srgbClr val="FFFFFF"/>
                </a:solidFill>
                <a:effectLst/>
                <a:uFillTx/>
                <a:latin typeface="Calibri"/>
              </a:rPr>
              <a:t>3</a:t>
            </a:r>
            <a:endParaRPr lang="en-US" sz="1050" b="0" u="none" strike="noStrike">
              <a:solidFill>
                <a:srgbClr val="000000"/>
              </a:solidFill>
              <a:effectLst/>
              <a:uFillTx/>
              <a:latin typeface="Arial"/>
            </a:endParaRPr>
          </a:p>
        </p:txBody>
      </p:sp>
      <p:sp>
        <p:nvSpPr>
          <p:cNvPr id="354" name="TextBox 16"/>
          <p:cNvSpPr/>
          <p:nvPr/>
        </p:nvSpPr>
        <p:spPr>
          <a:xfrm>
            <a:off x="7951320" y="3680640"/>
            <a:ext cx="3673080" cy="365400"/>
          </a:xfrm>
          <a:prstGeom prst="rect">
            <a:avLst/>
          </a:prstGeom>
          <a:noFill/>
          <a:ln w="0">
            <a:noFill/>
          </a:ln>
        </p:spPr>
        <p:style>
          <a:lnRef idx="0"/>
          <a:fillRef idx="0"/>
          <a:effectRef idx="0"/>
          <a:fontRef idx="minor"/>
        </p:style>
        <p:txBody>
          <a:bodyPr lIns="0" tIns="0" rIns="0" bIns="0" anchor="t">
            <a:spAutoFit/>
          </a:bodyPr>
          <a:p>
            <a:pPr defTabSz="457200">
              <a:lnSpc>
                <a:spcPct val="106000"/>
              </a:lnSpc>
              <a:spcAft>
                <a:spcPts val="201"/>
              </a:spcAft>
            </a:pPr>
            <a:r>
              <a:rPr lang="en-US" sz="1250" b="1" u="none" strike="noStrike">
                <a:solidFill>
                  <a:srgbClr val="0E1A33"/>
                </a:solidFill>
                <a:effectLst/>
                <a:uFillTx/>
                <a:latin typeface="Calibri"/>
              </a:rPr>
              <a:t>Recommendations</a:t>
            </a:r>
            <a:endParaRPr lang="en-US" sz="1250" b="0" u="none" strike="noStrike">
              <a:solidFill>
                <a:srgbClr val="000000"/>
              </a:solidFill>
              <a:effectLst/>
              <a:uFillTx/>
              <a:latin typeface="Arial"/>
            </a:endParaRPr>
          </a:p>
          <a:p>
            <a:pPr defTabSz="457200">
              <a:lnSpc>
                <a:spcPct val="110000"/>
              </a:lnSpc>
            </a:pPr>
            <a:r>
              <a:rPr lang="en-US" sz="1100" b="0" u="none" strike="noStrike">
                <a:solidFill>
                  <a:srgbClr val="6B7280"/>
                </a:solidFill>
                <a:effectLst/>
                <a:uFillTx/>
                <a:latin typeface="Calibri"/>
              </a:rPr>
              <a:t>Generated only for the rules that failed, so a strong profile is told 'no improvements needed'.</a:t>
            </a:r>
            <a:endParaRPr lang="en-US" sz="1100" b="0" u="none" strike="noStrike">
              <a:solidFill>
                <a:srgbClr val="000000"/>
              </a:solidFill>
              <a:effectLst/>
              <a:uFillTx/>
              <a:latin typeface="Arial"/>
            </a:endParaRPr>
          </a:p>
        </p:txBody>
      </p:sp>
      <p:sp>
        <p:nvSpPr>
          <p:cNvPr id="355" name="Oval 17"/>
          <p:cNvSpPr/>
          <p:nvPr/>
        </p:nvSpPr>
        <p:spPr>
          <a:xfrm>
            <a:off x="7585560" y="4608720"/>
            <a:ext cx="237240" cy="237240"/>
          </a:xfrm>
          <a:prstGeom prst="ellipse">
            <a:avLst/>
          </a:prstGeom>
          <a:solidFill>
            <a:srgbClr val="15A34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pPr algn="ctr" defTabSz="457200">
              <a:lnSpc>
                <a:spcPct val="106000"/>
              </a:lnSpc>
            </a:pPr>
            <a:r>
              <a:rPr lang="en-US" sz="1050" b="1" u="none" strike="noStrike">
                <a:solidFill>
                  <a:srgbClr val="FFFFFF"/>
                </a:solidFill>
                <a:effectLst/>
                <a:uFillTx/>
                <a:latin typeface="Calibri"/>
              </a:rPr>
              <a:t>4</a:t>
            </a:r>
            <a:endParaRPr lang="en-US" sz="1050" b="0" u="none" strike="noStrike">
              <a:solidFill>
                <a:srgbClr val="FFFFFF"/>
              </a:solidFill>
              <a:effectLst/>
              <a:uFillTx/>
              <a:latin typeface="Arial"/>
            </a:endParaRPr>
          </a:p>
        </p:txBody>
      </p:sp>
      <p:sp>
        <p:nvSpPr>
          <p:cNvPr id="356" name="TextBox 18"/>
          <p:cNvSpPr/>
          <p:nvPr/>
        </p:nvSpPr>
        <p:spPr>
          <a:xfrm>
            <a:off x="7951320" y="4572000"/>
            <a:ext cx="3673080" cy="365400"/>
          </a:xfrm>
          <a:prstGeom prst="rect">
            <a:avLst/>
          </a:prstGeom>
          <a:noFill/>
          <a:ln w="0">
            <a:noFill/>
          </a:ln>
        </p:spPr>
        <p:style>
          <a:lnRef idx="0"/>
          <a:fillRef idx="0"/>
          <a:effectRef idx="0"/>
          <a:fontRef idx="minor"/>
        </p:style>
        <p:txBody>
          <a:bodyPr lIns="0" tIns="0" rIns="0" bIns="0" anchor="t">
            <a:spAutoFit/>
          </a:bodyPr>
          <a:p>
            <a:pPr defTabSz="457200">
              <a:lnSpc>
                <a:spcPct val="106000"/>
              </a:lnSpc>
              <a:spcAft>
                <a:spcPts val="201"/>
              </a:spcAft>
            </a:pPr>
            <a:r>
              <a:rPr lang="en-US" sz="1250" b="1" u="none" strike="noStrike">
                <a:solidFill>
                  <a:srgbClr val="0E1A33"/>
                </a:solidFill>
                <a:effectLst/>
                <a:uFillTx/>
                <a:latin typeface="Calibri"/>
              </a:rPr>
              <a:t>Policy references</a:t>
            </a:r>
            <a:endParaRPr lang="en-US" sz="1250" b="0" u="none" strike="noStrike">
              <a:solidFill>
                <a:srgbClr val="000000"/>
              </a:solidFill>
              <a:effectLst/>
              <a:uFillTx/>
              <a:latin typeface="Arial"/>
            </a:endParaRPr>
          </a:p>
          <a:p>
            <a:pPr defTabSz="457200">
              <a:lnSpc>
                <a:spcPct val="110000"/>
              </a:lnSpc>
            </a:pPr>
            <a:r>
              <a:rPr lang="en-US" sz="1100" b="0" u="none" strike="noStrike">
                <a:solidFill>
                  <a:srgbClr val="6B7280"/>
                </a:solidFill>
                <a:effectLst/>
                <a:uFillTx/>
                <a:latin typeface="Calibri"/>
              </a:rPr>
              <a:t>Retrieved snippets are attached to the decision and expandable, with their source ids.</a:t>
            </a:r>
            <a:endParaRPr lang="en-US" sz="11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57" name="Rectangle 1"/>
          <p:cNvSpPr/>
          <p:nvPr/>
        </p:nvSpPr>
        <p:spPr>
          <a:xfrm>
            <a:off x="0" y="0"/>
            <a:ext cx="12191400" cy="6857640"/>
          </a:xfrm>
          <a:prstGeom prst="rect">
            <a:avLst/>
          </a:prstGeom>
          <a:solidFill>
            <a:srgbClr val="FFFFFF"/>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358" name="Rectangle 2"/>
          <p:cNvSpPr/>
          <p:nvPr/>
        </p:nvSpPr>
        <p:spPr>
          <a:xfrm>
            <a:off x="0" y="0"/>
            <a:ext cx="12191400" cy="77400"/>
          </a:xfrm>
          <a:prstGeom prst="rect">
            <a:avLst/>
          </a:prstGeom>
          <a:gradFill rotWithShape="0">
            <a:gsLst>
              <a:gs pos="0">
                <a:srgbClr val="4F46E5"/>
              </a:gs>
              <a:gs pos="100000">
                <a:srgbClr val="7C3AED"/>
              </a:gs>
            </a:gsLst>
            <a:lin ang="0"/>
          </a:gra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32760" rIns="90000" bIns="32760" anchor="ctr">
            <a:noAutofit/>
          </a:bodyPr>
          <a:p>
            <a:endParaRPr lang="en-US" sz="1800" b="0" u="none" strike="noStrike">
              <a:solidFill>
                <a:schemeClr val="lt1"/>
              </a:solidFill>
              <a:effectLst/>
              <a:uFillTx/>
              <a:latin typeface="Calibri"/>
            </a:endParaRPr>
          </a:p>
        </p:txBody>
      </p:sp>
      <p:sp>
        <p:nvSpPr>
          <p:cNvPr id="359" name="TextBox 3"/>
          <p:cNvSpPr/>
          <p:nvPr/>
        </p:nvSpPr>
        <p:spPr>
          <a:xfrm>
            <a:off x="567000" y="384120"/>
            <a:ext cx="11057400" cy="237240"/>
          </a:xfrm>
          <a:prstGeom prst="rect">
            <a:avLst/>
          </a:prstGeom>
          <a:noFill/>
          <a:ln w="0">
            <a:noFill/>
          </a:ln>
        </p:spPr>
        <p:style>
          <a:lnRef idx="0"/>
          <a:fillRef idx="0"/>
          <a:effectRef idx="0"/>
          <a:fontRef idx="minor"/>
        </p:style>
        <p:txBody>
          <a:bodyPr lIns="0" tIns="0" rIns="0" bIns="0" anchor="t">
            <a:spAutoFit/>
          </a:bodyPr>
          <a:p>
            <a:pPr defTabSz="457200">
              <a:lnSpc>
                <a:spcPct val="106000"/>
              </a:lnSpc>
            </a:pPr>
            <a:r>
              <a:rPr lang="en-US" sz="950" b="1" u="none" strike="noStrike">
                <a:solidFill>
                  <a:srgbClr val="4F46E5"/>
                </a:solidFill>
                <a:effectLst/>
                <a:uFillTx/>
                <a:latin typeface="Calibri"/>
              </a:rPr>
              <a:t>PART 03  ·  WALKTHROUGH 5</a:t>
            </a:r>
            <a:endParaRPr lang="en-US" sz="950" b="0" u="none" strike="noStrike">
              <a:solidFill>
                <a:srgbClr val="000000"/>
              </a:solidFill>
              <a:effectLst/>
              <a:uFillTx/>
              <a:latin typeface="Arial"/>
            </a:endParaRPr>
          </a:p>
        </p:txBody>
      </p:sp>
      <p:sp>
        <p:nvSpPr>
          <p:cNvPr id="360" name="TextBox 4"/>
          <p:cNvSpPr/>
          <p:nvPr/>
        </p:nvSpPr>
        <p:spPr>
          <a:xfrm>
            <a:off x="567000" y="658440"/>
            <a:ext cx="11057400" cy="502560"/>
          </a:xfrm>
          <a:prstGeom prst="rect">
            <a:avLst/>
          </a:prstGeom>
          <a:noFill/>
          <a:ln w="0">
            <a:noFill/>
          </a:ln>
        </p:spPr>
        <p:style>
          <a:lnRef idx="0"/>
          <a:fillRef idx="0"/>
          <a:effectRef idx="0"/>
          <a:fontRef idx="minor"/>
        </p:style>
        <p:txBody>
          <a:bodyPr lIns="0" tIns="0" rIns="0" bIns="0" anchor="t">
            <a:spAutoFit/>
          </a:bodyPr>
          <a:p>
            <a:pPr defTabSz="457200">
              <a:lnSpc>
                <a:spcPct val="106000"/>
              </a:lnSpc>
            </a:pPr>
            <a:r>
              <a:rPr lang="en-US" sz="2700" b="1" u="none" strike="noStrike">
                <a:solidFill>
                  <a:srgbClr val="0E1A33"/>
                </a:solidFill>
                <a:effectLst/>
                <a:uFillTx/>
                <a:latin typeface="Calibri"/>
              </a:rPr>
              <a:t>The borderline case routes to a human</a:t>
            </a:r>
            <a:endParaRPr lang="en-US" sz="2700" b="0" u="none" strike="noStrike">
              <a:solidFill>
                <a:srgbClr val="000000"/>
              </a:solidFill>
              <a:effectLst/>
              <a:uFillTx/>
              <a:latin typeface="Arial"/>
            </a:endParaRPr>
          </a:p>
        </p:txBody>
      </p:sp>
      <p:sp>
        <p:nvSpPr>
          <p:cNvPr id="361" name="TextBox 5"/>
          <p:cNvSpPr/>
          <p:nvPr/>
        </p:nvSpPr>
        <p:spPr>
          <a:xfrm>
            <a:off x="567000" y="1225440"/>
            <a:ext cx="9509400" cy="365400"/>
          </a:xfrm>
          <a:prstGeom prst="rect">
            <a:avLst/>
          </a:prstGeom>
          <a:noFill/>
          <a:ln w="0">
            <a:noFill/>
          </a:ln>
        </p:spPr>
        <p:style>
          <a:lnRef idx="0"/>
          <a:fillRef idx="0"/>
          <a:effectRef idx="0"/>
          <a:fontRef idx="minor"/>
        </p:style>
        <p:txBody>
          <a:bodyPr lIns="0" tIns="0" rIns="0" bIns="0" anchor="t">
            <a:spAutoFit/>
          </a:bodyPr>
          <a:p>
            <a:pPr defTabSz="457200">
              <a:lnSpc>
                <a:spcPct val="106000"/>
              </a:lnSpc>
            </a:pPr>
            <a:r>
              <a:rPr lang="en-US" sz="1250" b="0" u="none" strike="noStrike">
                <a:solidFill>
                  <a:srgbClr val="6B7280"/>
                </a:solidFill>
                <a:effectLst/>
                <a:uFillTx/>
                <a:latin typeface="Calibri"/>
              </a:rPr>
              <a:t>Applicant: 38, self-employed, income ₹70,000, existing EMI ₹4,000, score 695, loan ₹300,000.</a:t>
            </a:r>
            <a:endParaRPr lang="en-US" sz="1250" b="0" u="none" strike="noStrike">
              <a:solidFill>
                <a:srgbClr val="000000"/>
              </a:solidFill>
              <a:effectLst/>
              <a:uFillTx/>
              <a:latin typeface="Arial"/>
            </a:endParaRPr>
          </a:p>
        </p:txBody>
      </p:sp>
      <p:sp>
        <p:nvSpPr>
          <p:cNvPr id="362" name="TextBox 6"/>
          <p:cNvSpPr/>
          <p:nvPr/>
        </p:nvSpPr>
        <p:spPr>
          <a:xfrm>
            <a:off x="567000" y="6382440"/>
            <a:ext cx="7740000" cy="273960"/>
          </a:xfrm>
          <a:prstGeom prst="rect">
            <a:avLst/>
          </a:prstGeom>
          <a:noFill/>
          <a:ln w="0">
            <a:noFill/>
          </a:ln>
        </p:spPr>
        <p:style>
          <a:lnRef idx="0"/>
          <a:fillRef idx="0"/>
          <a:effectRef idx="0"/>
          <a:fontRef idx="minor"/>
        </p:style>
        <p:txBody>
          <a:bodyPr lIns="0" tIns="0" rIns="0" bIns="0" anchor="t">
            <a:spAutoFit/>
          </a:bodyPr>
          <a:p>
            <a:pPr defTabSz="457200">
              <a:lnSpc>
                <a:spcPct val="106000"/>
              </a:lnSpc>
            </a:pPr>
            <a:r>
              <a:rPr lang="en-US" sz="900" b="0" u="none" strike="noStrike">
                <a:solidFill>
                  <a:srgbClr val="6B7280"/>
                </a:solidFill>
                <a:effectLst/>
                <a:uFillTx/>
                <a:latin typeface="Calibri"/>
              </a:rPr>
              <a:t>Loan Eligibility AI  ·  Capstone Demonstration</a:t>
            </a:r>
            <a:endParaRPr lang="en-US" sz="900" b="0" u="none" strike="noStrike">
              <a:solidFill>
                <a:srgbClr val="000000"/>
              </a:solidFill>
              <a:effectLst/>
              <a:uFillTx/>
              <a:latin typeface="Arial"/>
            </a:endParaRPr>
          </a:p>
        </p:txBody>
      </p:sp>
      <p:sp>
        <p:nvSpPr>
          <p:cNvPr id="363" name="TextBox 7"/>
          <p:cNvSpPr/>
          <p:nvPr/>
        </p:nvSpPr>
        <p:spPr>
          <a:xfrm>
            <a:off x="10527480" y="6382440"/>
            <a:ext cx="1096920" cy="273960"/>
          </a:xfrm>
          <a:prstGeom prst="rect">
            <a:avLst/>
          </a:prstGeom>
          <a:noFill/>
          <a:ln w="0">
            <a:noFill/>
          </a:ln>
        </p:spPr>
        <p:style>
          <a:lnRef idx="0"/>
          <a:fillRef idx="0"/>
          <a:effectRef idx="0"/>
          <a:fontRef idx="minor"/>
        </p:style>
        <p:txBody>
          <a:bodyPr lIns="0" tIns="0" rIns="0" bIns="0" anchor="t">
            <a:spAutoFit/>
          </a:bodyPr>
          <a:p>
            <a:pPr algn="r" defTabSz="457200">
              <a:lnSpc>
                <a:spcPct val="106000"/>
              </a:lnSpc>
            </a:pPr>
            <a:r>
              <a:rPr lang="en-US" sz="900" b="0" u="none" strike="noStrike">
                <a:solidFill>
                  <a:srgbClr val="6B7280"/>
                </a:solidFill>
                <a:effectLst/>
                <a:uFillTx/>
                <a:latin typeface="Calibri"/>
              </a:rPr>
              <a:t>18</a:t>
            </a:r>
            <a:endParaRPr lang="en-US" sz="900" b="0" u="none" strike="noStrike">
              <a:solidFill>
                <a:srgbClr val="000000"/>
              </a:solidFill>
              <a:effectLst/>
              <a:uFillTx/>
              <a:latin typeface="Arial"/>
            </a:endParaRPr>
          </a:p>
        </p:txBody>
      </p:sp>
      <p:sp>
        <p:nvSpPr>
          <p:cNvPr id="364" name="Rounded Rectangle 8"/>
          <p:cNvSpPr/>
          <p:nvPr/>
        </p:nvSpPr>
        <p:spPr>
          <a:xfrm>
            <a:off x="502920" y="2154600"/>
            <a:ext cx="6762240" cy="3591000"/>
          </a:xfrm>
          <a:prstGeom prst="roundRect">
            <a:avLst>
              <a:gd name="adj" fmla="val 3000"/>
            </a:avLst>
          </a:prstGeom>
          <a:solidFill>
            <a:srgbClr val="F6F8FC"/>
          </a:solidFill>
          <a:ln w="12700">
            <a:solidFill>
              <a:srgbClr val="E3E8F0"/>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pic>
        <p:nvPicPr>
          <p:cNvPr id="365" name="Picture 9" descr="08_result_manual_review_d.png"/>
          <p:cNvPicPr/>
          <p:nvPr/>
        </p:nvPicPr>
        <p:blipFill>
          <a:blip r:embed="rId1"/>
          <a:stretch/>
        </p:blipFill>
        <p:spPr>
          <a:xfrm>
            <a:off x="567000" y="2218680"/>
            <a:ext cx="6634440" cy="3462840"/>
          </a:xfrm>
          <a:prstGeom prst="rect">
            <a:avLst/>
          </a:prstGeom>
          <a:noFill/>
          <a:ln w="9525">
            <a:solidFill>
              <a:srgbClr val="E3E8F0"/>
            </a:solidFill>
            <a:round/>
          </a:ln>
        </p:spPr>
      </p:pic>
      <p:sp>
        <p:nvSpPr>
          <p:cNvPr id="366" name="TextBox 10"/>
          <p:cNvSpPr/>
          <p:nvPr/>
        </p:nvSpPr>
        <p:spPr>
          <a:xfrm>
            <a:off x="7585560" y="1719000"/>
            <a:ext cx="4038840" cy="273960"/>
          </a:xfrm>
          <a:prstGeom prst="rect">
            <a:avLst/>
          </a:prstGeom>
          <a:noFill/>
          <a:ln w="0">
            <a:noFill/>
          </a:ln>
        </p:spPr>
        <p:style>
          <a:lnRef idx="0"/>
          <a:fillRef idx="0"/>
          <a:effectRef idx="0"/>
          <a:fontRef idx="minor"/>
        </p:style>
        <p:txBody>
          <a:bodyPr lIns="0" tIns="0" rIns="0" bIns="0" anchor="t">
            <a:spAutoFit/>
          </a:bodyPr>
          <a:p>
            <a:pPr defTabSz="457200">
              <a:lnSpc>
                <a:spcPct val="106000"/>
              </a:lnSpc>
            </a:pPr>
            <a:r>
              <a:rPr lang="en-US" sz="950" b="1" u="none" strike="noStrike">
                <a:solidFill>
                  <a:srgbClr val="4F46E5"/>
                </a:solidFill>
                <a:effectLst/>
                <a:uFillTx/>
                <a:latin typeface="Calibri"/>
              </a:rPr>
              <a:t>WHY AMBER, NOT RED</a:t>
            </a:r>
            <a:endParaRPr lang="en-US" sz="950" b="0" u="none" strike="noStrike">
              <a:solidFill>
                <a:srgbClr val="000000"/>
              </a:solidFill>
              <a:effectLst/>
              <a:uFillTx/>
              <a:latin typeface="Arial"/>
            </a:endParaRPr>
          </a:p>
        </p:txBody>
      </p:sp>
      <p:sp>
        <p:nvSpPr>
          <p:cNvPr id="367" name="Oval 11"/>
          <p:cNvSpPr/>
          <p:nvPr/>
        </p:nvSpPr>
        <p:spPr>
          <a:xfrm>
            <a:off x="7585560" y="2103120"/>
            <a:ext cx="237240" cy="237240"/>
          </a:xfrm>
          <a:prstGeom prst="ellipse">
            <a:avLst/>
          </a:prstGeom>
          <a:solidFill>
            <a:srgbClr val="4F46E5"/>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pPr algn="ctr" defTabSz="457200">
              <a:lnSpc>
                <a:spcPct val="106000"/>
              </a:lnSpc>
            </a:pPr>
            <a:r>
              <a:rPr lang="en-US" sz="1050" b="1" u="none" strike="noStrike">
                <a:solidFill>
                  <a:srgbClr val="FFFFFF"/>
                </a:solidFill>
                <a:effectLst/>
                <a:uFillTx/>
                <a:latin typeface="Calibri"/>
              </a:rPr>
              <a:t>1</a:t>
            </a:r>
            <a:endParaRPr lang="en-US" sz="1050" b="0" u="none" strike="noStrike">
              <a:solidFill>
                <a:srgbClr val="FFFFFF"/>
              </a:solidFill>
              <a:effectLst/>
              <a:uFillTx/>
              <a:latin typeface="Arial"/>
            </a:endParaRPr>
          </a:p>
        </p:txBody>
      </p:sp>
      <p:sp>
        <p:nvSpPr>
          <p:cNvPr id="368" name="TextBox 12"/>
          <p:cNvSpPr/>
          <p:nvPr/>
        </p:nvSpPr>
        <p:spPr>
          <a:xfrm>
            <a:off x="7951320" y="2066400"/>
            <a:ext cx="3673080" cy="365400"/>
          </a:xfrm>
          <a:prstGeom prst="rect">
            <a:avLst/>
          </a:prstGeom>
          <a:noFill/>
          <a:ln w="0">
            <a:noFill/>
          </a:ln>
        </p:spPr>
        <p:style>
          <a:lnRef idx="0"/>
          <a:fillRef idx="0"/>
          <a:effectRef idx="0"/>
          <a:fontRef idx="minor"/>
        </p:style>
        <p:txBody>
          <a:bodyPr lIns="0" tIns="0" rIns="0" bIns="0" anchor="t">
            <a:spAutoFit/>
          </a:bodyPr>
          <a:p>
            <a:pPr defTabSz="457200">
              <a:lnSpc>
                <a:spcPct val="106000"/>
              </a:lnSpc>
              <a:spcAft>
                <a:spcPts val="201"/>
              </a:spcAft>
            </a:pPr>
            <a:r>
              <a:rPr lang="en-US" sz="1250" b="1" u="none" strike="noStrike">
                <a:solidFill>
                  <a:srgbClr val="0E1A33"/>
                </a:solidFill>
                <a:effectLst/>
                <a:uFillTx/>
                <a:latin typeface="Calibri"/>
              </a:rPr>
              <a:t>Two near misses</a:t>
            </a:r>
            <a:endParaRPr lang="en-US" sz="1250" b="0" u="none" strike="noStrike">
              <a:solidFill>
                <a:srgbClr val="000000"/>
              </a:solidFill>
              <a:effectLst/>
              <a:uFillTx/>
              <a:latin typeface="Arial"/>
            </a:endParaRPr>
          </a:p>
          <a:p>
            <a:pPr defTabSz="457200">
              <a:lnSpc>
                <a:spcPct val="110000"/>
              </a:lnSpc>
            </a:pPr>
            <a:r>
              <a:rPr lang="en-US" sz="1100" b="0" u="none" strike="noStrike">
                <a:solidFill>
                  <a:srgbClr val="6B7280"/>
                </a:solidFill>
                <a:effectLst/>
                <a:uFillTx/>
                <a:latin typeface="Calibri"/>
              </a:rPr>
              <a:t>Score 695 sits in the 690–710 band; the EMI ratio of 41.4% sits in the 0.38–0.42 band.</a:t>
            </a:r>
            <a:endParaRPr lang="en-US" sz="1100" b="0" u="none" strike="noStrike">
              <a:solidFill>
                <a:srgbClr val="000000"/>
              </a:solidFill>
              <a:effectLst/>
              <a:uFillTx/>
              <a:latin typeface="Arial"/>
            </a:endParaRPr>
          </a:p>
        </p:txBody>
      </p:sp>
      <p:sp>
        <p:nvSpPr>
          <p:cNvPr id="369" name="Oval 13"/>
          <p:cNvSpPr/>
          <p:nvPr/>
        </p:nvSpPr>
        <p:spPr>
          <a:xfrm>
            <a:off x="7585560" y="2825640"/>
            <a:ext cx="237240" cy="237240"/>
          </a:xfrm>
          <a:prstGeom prst="ellipse">
            <a:avLst/>
          </a:prstGeom>
          <a:solidFill>
            <a:srgbClr val="7C3AED"/>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pPr algn="ctr" defTabSz="457200">
              <a:lnSpc>
                <a:spcPct val="106000"/>
              </a:lnSpc>
            </a:pPr>
            <a:r>
              <a:rPr lang="en-US" sz="1050" b="1" u="none" strike="noStrike">
                <a:solidFill>
                  <a:srgbClr val="FFFFFF"/>
                </a:solidFill>
                <a:effectLst/>
                <a:uFillTx/>
                <a:latin typeface="Calibri"/>
              </a:rPr>
              <a:t>2</a:t>
            </a:r>
            <a:endParaRPr lang="en-US" sz="1050" b="0" u="none" strike="noStrike">
              <a:solidFill>
                <a:srgbClr val="FFFFFF"/>
              </a:solidFill>
              <a:effectLst/>
              <a:uFillTx/>
              <a:latin typeface="Arial"/>
            </a:endParaRPr>
          </a:p>
        </p:txBody>
      </p:sp>
      <p:sp>
        <p:nvSpPr>
          <p:cNvPr id="370" name="TextBox 14"/>
          <p:cNvSpPr/>
          <p:nvPr/>
        </p:nvSpPr>
        <p:spPr>
          <a:xfrm>
            <a:off x="7951320" y="2788920"/>
            <a:ext cx="3673080" cy="365400"/>
          </a:xfrm>
          <a:prstGeom prst="rect">
            <a:avLst/>
          </a:prstGeom>
          <a:noFill/>
          <a:ln w="0">
            <a:noFill/>
          </a:ln>
        </p:spPr>
        <p:style>
          <a:lnRef idx="0"/>
          <a:fillRef idx="0"/>
          <a:effectRef idx="0"/>
          <a:fontRef idx="minor"/>
        </p:style>
        <p:txBody>
          <a:bodyPr lIns="0" tIns="0" rIns="0" bIns="0" anchor="t">
            <a:spAutoFit/>
          </a:bodyPr>
          <a:p>
            <a:pPr defTabSz="457200">
              <a:lnSpc>
                <a:spcPct val="106000"/>
              </a:lnSpc>
              <a:spcAft>
                <a:spcPts val="201"/>
              </a:spcAft>
            </a:pPr>
            <a:r>
              <a:rPr lang="en-US" sz="1250" b="1" u="none" strike="noStrike">
                <a:solidFill>
                  <a:srgbClr val="0E1A33"/>
                </a:solidFill>
                <a:effectLst/>
                <a:uFillTx/>
                <a:latin typeface="Calibri"/>
              </a:rPr>
              <a:t>Not a refusal</a:t>
            </a:r>
            <a:endParaRPr lang="en-US" sz="1250" b="0" u="none" strike="noStrike">
              <a:solidFill>
                <a:srgbClr val="000000"/>
              </a:solidFill>
              <a:effectLst/>
              <a:uFillTx/>
              <a:latin typeface="Arial"/>
            </a:endParaRPr>
          </a:p>
          <a:p>
            <a:pPr defTabSz="457200">
              <a:lnSpc>
                <a:spcPct val="110000"/>
              </a:lnSpc>
            </a:pPr>
            <a:r>
              <a:rPr lang="en-US" sz="1100" b="0" u="none" strike="noStrike">
                <a:solidFill>
                  <a:srgbClr val="6B7280"/>
                </a:solidFill>
                <a:effectLst/>
                <a:uFillTx/>
                <a:latin typeface="Calibri"/>
              </a:rPr>
              <a:t>Both failures are borderline, so the decision is Needs Manual Review rather than Not Eligible.</a:t>
            </a:r>
            <a:endParaRPr lang="en-US" sz="1100" b="0" u="none" strike="noStrike">
              <a:solidFill>
                <a:srgbClr val="000000"/>
              </a:solidFill>
              <a:effectLst/>
              <a:uFillTx/>
              <a:latin typeface="Arial"/>
            </a:endParaRPr>
          </a:p>
        </p:txBody>
      </p:sp>
      <p:sp>
        <p:nvSpPr>
          <p:cNvPr id="371" name="Oval 15"/>
          <p:cNvSpPr/>
          <p:nvPr/>
        </p:nvSpPr>
        <p:spPr>
          <a:xfrm>
            <a:off x="7585560" y="3717000"/>
            <a:ext cx="237240" cy="237240"/>
          </a:xfrm>
          <a:prstGeom prst="ellipse">
            <a:avLst/>
          </a:prstGeom>
          <a:solidFill>
            <a:srgbClr val="06B6D4"/>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pPr algn="ctr" defTabSz="457200">
              <a:lnSpc>
                <a:spcPct val="106000"/>
              </a:lnSpc>
            </a:pPr>
            <a:r>
              <a:rPr lang="en-US" sz="1050" b="1" u="none" strike="noStrike">
                <a:solidFill>
                  <a:srgbClr val="FFFFFF"/>
                </a:solidFill>
                <a:effectLst/>
                <a:uFillTx/>
                <a:latin typeface="Calibri"/>
              </a:rPr>
              <a:t>3</a:t>
            </a:r>
            <a:endParaRPr lang="en-US" sz="1050" b="0" u="none" strike="noStrike">
              <a:solidFill>
                <a:srgbClr val="000000"/>
              </a:solidFill>
              <a:effectLst/>
              <a:uFillTx/>
              <a:latin typeface="Arial"/>
            </a:endParaRPr>
          </a:p>
        </p:txBody>
      </p:sp>
      <p:sp>
        <p:nvSpPr>
          <p:cNvPr id="372" name="TextBox 16"/>
          <p:cNvSpPr/>
          <p:nvPr/>
        </p:nvSpPr>
        <p:spPr>
          <a:xfrm>
            <a:off x="7951320" y="3680640"/>
            <a:ext cx="3673080" cy="365400"/>
          </a:xfrm>
          <a:prstGeom prst="rect">
            <a:avLst/>
          </a:prstGeom>
          <a:noFill/>
          <a:ln w="0">
            <a:noFill/>
          </a:ln>
        </p:spPr>
        <p:style>
          <a:lnRef idx="0"/>
          <a:fillRef idx="0"/>
          <a:effectRef idx="0"/>
          <a:fontRef idx="minor"/>
        </p:style>
        <p:txBody>
          <a:bodyPr lIns="0" tIns="0" rIns="0" bIns="0" anchor="t">
            <a:spAutoFit/>
          </a:bodyPr>
          <a:p>
            <a:pPr defTabSz="457200">
              <a:lnSpc>
                <a:spcPct val="106000"/>
              </a:lnSpc>
              <a:spcAft>
                <a:spcPts val="201"/>
              </a:spcAft>
            </a:pPr>
            <a:r>
              <a:rPr lang="en-US" sz="1250" b="1" u="none" strike="noStrike">
                <a:solidFill>
                  <a:srgbClr val="0E1A33"/>
                </a:solidFill>
                <a:effectLst/>
                <a:uFillTx/>
                <a:latin typeface="Calibri"/>
              </a:rPr>
              <a:t>Amber everywhere</a:t>
            </a:r>
            <a:endParaRPr lang="en-US" sz="1250" b="0" u="none" strike="noStrike">
              <a:solidFill>
                <a:srgbClr val="000000"/>
              </a:solidFill>
              <a:effectLst/>
              <a:uFillTx/>
              <a:latin typeface="Arial"/>
            </a:endParaRPr>
          </a:p>
          <a:p>
            <a:pPr defTabSz="457200">
              <a:lnSpc>
                <a:spcPct val="110000"/>
              </a:lnSpc>
            </a:pPr>
            <a:r>
              <a:rPr lang="en-US" sz="1100" b="0" u="none" strike="noStrike">
                <a:solidFill>
                  <a:srgbClr val="6B7280"/>
                </a:solidFill>
                <a:effectLst/>
                <a:uFillTx/>
                <a:latin typeface="Calibri"/>
              </a:rPr>
              <a:t>The badge, the metrics and the PDF all switch to amber for this state.</a:t>
            </a:r>
            <a:endParaRPr lang="en-US" sz="1100" b="0" u="none" strike="noStrike">
              <a:solidFill>
                <a:srgbClr val="000000"/>
              </a:solidFill>
              <a:effectLst/>
              <a:uFillTx/>
              <a:latin typeface="Arial"/>
            </a:endParaRPr>
          </a:p>
        </p:txBody>
      </p:sp>
      <p:sp>
        <p:nvSpPr>
          <p:cNvPr id="373" name="Oval 17"/>
          <p:cNvSpPr/>
          <p:nvPr/>
        </p:nvSpPr>
        <p:spPr>
          <a:xfrm>
            <a:off x="7585560" y="4439520"/>
            <a:ext cx="237240" cy="237240"/>
          </a:xfrm>
          <a:prstGeom prst="ellipse">
            <a:avLst/>
          </a:prstGeom>
          <a:solidFill>
            <a:srgbClr val="15A34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pPr algn="ctr" defTabSz="457200">
              <a:lnSpc>
                <a:spcPct val="106000"/>
              </a:lnSpc>
            </a:pPr>
            <a:r>
              <a:rPr lang="en-US" sz="1050" b="1" u="none" strike="noStrike">
                <a:solidFill>
                  <a:srgbClr val="FFFFFF"/>
                </a:solidFill>
                <a:effectLst/>
                <a:uFillTx/>
                <a:latin typeface="Calibri"/>
              </a:rPr>
              <a:t>4</a:t>
            </a:r>
            <a:endParaRPr lang="en-US" sz="1050" b="0" u="none" strike="noStrike">
              <a:solidFill>
                <a:srgbClr val="FFFFFF"/>
              </a:solidFill>
              <a:effectLst/>
              <a:uFillTx/>
              <a:latin typeface="Arial"/>
            </a:endParaRPr>
          </a:p>
        </p:txBody>
      </p:sp>
      <p:sp>
        <p:nvSpPr>
          <p:cNvPr id="374" name="TextBox 18"/>
          <p:cNvSpPr/>
          <p:nvPr/>
        </p:nvSpPr>
        <p:spPr>
          <a:xfrm>
            <a:off x="7951320" y="4402800"/>
            <a:ext cx="3673080" cy="365400"/>
          </a:xfrm>
          <a:prstGeom prst="rect">
            <a:avLst/>
          </a:prstGeom>
          <a:noFill/>
          <a:ln w="0">
            <a:noFill/>
          </a:ln>
        </p:spPr>
        <p:style>
          <a:lnRef idx="0"/>
          <a:fillRef idx="0"/>
          <a:effectRef idx="0"/>
          <a:fontRef idx="minor"/>
        </p:style>
        <p:txBody>
          <a:bodyPr lIns="0" tIns="0" rIns="0" bIns="0" anchor="t">
            <a:spAutoFit/>
          </a:bodyPr>
          <a:p>
            <a:pPr defTabSz="457200">
              <a:lnSpc>
                <a:spcPct val="106000"/>
              </a:lnSpc>
              <a:spcAft>
                <a:spcPts val="201"/>
              </a:spcAft>
            </a:pPr>
            <a:r>
              <a:rPr lang="en-US" sz="1250" b="1" u="none" strike="noStrike">
                <a:solidFill>
                  <a:srgbClr val="0E1A33"/>
                </a:solidFill>
                <a:effectLst/>
                <a:uFillTx/>
                <a:latin typeface="Calibri"/>
              </a:rPr>
              <a:t>Human in the loop</a:t>
            </a:r>
            <a:endParaRPr lang="en-US" sz="1250" b="0" u="none" strike="noStrike">
              <a:solidFill>
                <a:srgbClr val="000000"/>
              </a:solidFill>
              <a:effectLst/>
              <a:uFillTx/>
              <a:latin typeface="Arial"/>
            </a:endParaRPr>
          </a:p>
          <a:p>
            <a:pPr defTabSz="457200">
              <a:lnSpc>
                <a:spcPct val="110000"/>
              </a:lnSpc>
            </a:pPr>
            <a:r>
              <a:rPr lang="en-US" sz="1100" b="0" u="none" strike="noStrike">
                <a:solidFill>
                  <a:srgbClr val="6B7280"/>
                </a:solidFill>
                <a:effectLst/>
                <a:uFillTx/>
                <a:latin typeface="Calibri"/>
              </a:rPr>
              <a:t>The applicant is told a loan officer will review the case, and why it was escalated.</a:t>
            </a:r>
            <a:endParaRPr lang="en-US" sz="11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75" name="Rectangle 1"/>
          <p:cNvSpPr/>
          <p:nvPr/>
        </p:nvSpPr>
        <p:spPr>
          <a:xfrm>
            <a:off x="0" y="0"/>
            <a:ext cx="12191400" cy="6857640"/>
          </a:xfrm>
          <a:prstGeom prst="rect">
            <a:avLst/>
          </a:prstGeom>
          <a:solidFill>
            <a:srgbClr val="FFFFFF"/>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376" name="Rectangle 2"/>
          <p:cNvSpPr/>
          <p:nvPr/>
        </p:nvSpPr>
        <p:spPr>
          <a:xfrm>
            <a:off x="0" y="0"/>
            <a:ext cx="12191400" cy="77400"/>
          </a:xfrm>
          <a:prstGeom prst="rect">
            <a:avLst/>
          </a:prstGeom>
          <a:gradFill rotWithShape="0">
            <a:gsLst>
              <a:gs pos="0">
                <a:srgbClr val="4F46E5"/>
              </a:gs>
              <a:gs pos="100000">
                <a:srgbClr val="7C3AED"/>
              </a:gs>
            </a:gsLst>
            <a:lin ang="0"/>
          </a:gra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32760" rIns="90000" bIns="32760" anchor="ctr">
            <a:noAutofit/>
          </a:bodyPr>
          <a:p>
            <a:endParaRPr lang="en-US" sz="1800" b="0" u="none" strike="noStrike">
              <a:solidFill>
                <a:schemeClr val="lt1"/>
              </a:solidFill>
              <a:effectLst/>
              <a:uFillTx/>
              <a:latin typeface="Calibri"/>
            </a:endParaRPr>
          </a:p>
        </p:txBody>
      </p:sp>
      <p:sp>
        <p:nvSpPr>
          <p:cNvPr id="377" name="TextBox 3"/>
          <p:cNvSpPr/>
          <p:nvPr/>
        </p:nvSpPr>
        <p:spPr>
          <a:xfrm>
            <a:off x="567000" y="384120"/>
            <a:ext cx="11057400" cy="237240"/>
          </a:xfrm>
          <a:prstGeom prst="rect">
            <a:avLst/>
          </a:prstGeom>
          <a:noFill/>
          <a:ln w="0">
            <a:noFill/>
          </a:ln>
        </p:spPr>
        <p:style>
          <a:lnRef idx="0"/>
          <a:fillRef idx="0"/>
          <a:effectRef idx="0"/>
          <a:fontRef idx="minor"/>
        </p:style>
        <p:txBody>
          <a:bodyPr lIns="0" tIns="0" rIns="0" bIns="0" anchor="t">
            <a:spAutoFit/>
          </a:bodyPr>
          <a:p>
            <a:pPr defTabSz="457200">
              <a:lnSpc>
                <a:spcPct val="106000"/>
              </a:lnSpc>
            </a:pPr>
            <a:r>
              <a:rPr lang="en-US" sz="950" b="1" u="none" strike="noStrike">
                <a:solidFill>
                  <a:srgbClr val="4F46E5"/>
                </a:solidFill>
                <a:effectLst/>
                <a:uFillTx/>
                <a:latin typeface="Calibri"/>
              </a:rPr>
              <a:t>PART 03  ·  WALKTHROUGH 6</a:t>
            </a:r>
            <a:endParaRPr lang="en-US" sz="950" b="0" u="none" strike="noStrike">
              <a:solidFill>
                <a:srgbClr val="000000"/>
              </a:solidFill>
              <a:effectLst/>
              <a:uFillTx/>
              <a:latin typeface="Arial"/>
            </a:endParaRPr>
          </a:p>
        </p:txBody>
      </p:sp>
      <p:sp>
        <p:nvSpPr>
          <p:cNvPr id="378" name="TextBox 4"/>
          <p:cNvSpPr/>
          <p:nvPr/>
        </p:nvSpPr>
        <p:spPr>
          <a:xfrm>
            <a:off x="567000" y="658440"/>
            <a:ext cx="11057400" cy="502560"/>
          </a:xfrm>
          <a:prstGeom prst="rect">
            <a:avLst/>
          </a:prstGeom>
          <a:noFill/>
          <a:ln w="0">
            <a:noFill/>
          </a:ln>
        </p:spPr>
        <p:style>
          <a:lnRef idx="0"/>
          <a:fillRef idx="0"/>
          <a:effectRef idx="0"/>
          <a:fontRef idx="minor"/>
        </p:style>
        <p:txBody>
          <a:bodyPr lIns="0" tIns="0" rIns="0" bIns="0" anchor="t">
            <a:spAutoFit/>
          </a:bodyPr>
          <a:p>
            <a:pPr defTabSz="457200">
              <a:lnSpc>
                <a:spcPct val="106000"/>
              </a:lnSpc>
            </a:pPr>
            <a:r>
              <a:rPr lang="en-US" sz="2700" b="1" u="none" strike="noStrike">
                <a:solidFill>
                  <a:srgbClr val="0E1A33"/>
                </a:solidFill>
                <a:effectLst/>
                <a:uFillTx/>
                <a:latin typeface="Calibri"/>
              </a:rPr>
              <a:t>A clear refusal still leaves the applicant with a plan</a:t>
            </a:r>
            <a:endParaRPr lang="en-US" sz="2700" b="0" u="none" strike="noStrike">
              <a:solidFill>
                <a:srgbClr val="000000"/>
              </a:solidFill>
              <a:effectLst/>
              <a:uFillTx/>
              <a:latin typeface="Arial"/>
            </a:endParaRPr>
          </a:p>
        </p:txBody>
      </p:sp>
      <p:sp>
        <p:nvSpPr>
          <p:cNvPr id="379" name="TextBox 5"/>
          <p:cNvSpPr/>
          <p:nvPr/>
        </p:nvSpPr>
        <p:spPr>
          <a:xfrm>
            <a:off x="567000" y="1225440"/>
            <a:ext cx="9509400" cy="365400"/>
          </a:xfrm>
          <a:prstGeom prst="rect">
            <a:avLst/>
          </a:prstGeom>
          <a:noFill/>
          <a:ln w="0">
            <a:noFill/>
          </a:ln>
        </p:spPr>
        <p:style>
          <a:lnRef idx="0"/>
          <a:fillRef idx="0"/>
          <a:effectRef idx="0"/>
          <a:fontRef idx="minor"/>
        </p:style>
        <p:txBody>
          <a:bodyPr lIns="0" tIns="0" rIns="0" bIns="0" anchor="t">
            <a:spAutoFit/>
          </a:bodyPr>
          <a:p>
            <a:pPr defTabSz="457200">
              <a:lnSpc>
                <a:spcPct val="106000"/>
              </a:lnSpc>
            </a:pPr>
            <a:r>
              <a:rPr lang="en-US" sz="1250" b="0" u="none" strike="noStrike">
                <a:solidFill>
                  <a:srgbClr val="6B7280"/>
                </a:solidFill>
                <a:effectLst/>
                <a:uFillTx/>
                <a:latin typeface="Calibri"/>
              </a:rPr>
              <a:t>Applicant: 29, other employment, income ₹50,000, existing EMI ₹10,000, score 640, loan ₹600,000.</a:t>
            </a:r>
            <a:endParaRPr lang="en-US" sz="1250" b="0" u="none" strike="noStrike">
              <a:solidFill>
                <a:srgbClr val="000000"/>
              </a:solidFill>
              <a:effectLst/>
              <a:uFillTx/>
              <a:latin typeface="Arial"/>
            </a:endParaRPr>
          </a:p>
        </p:txBody>
      </p:sp>
      <p:sp>
        <p:nvSpPr>
          <p:cNvPr id="380" name="TextBox 6"/>
          <p:cNvSpPr/>
          <p:nvPr/>
        </p:nvSpPr>
        <p:spPr>
          <a:xfrm>
            <a:off x="567000" y="6382440"/>
            <a:ext cx="7740000" cy="273960"/>
          </a:xfrm>
          <a:prstGeom prst="rect">
            <a:avLst/>
          </a:prstGeom>
          <a:noFill/>
          <a:ln w="0">
            <a:noFill/>
          </a:ln>
        </p:spPr>
        <p:style>
          <a:lnRef idx="0"/>
          <a:fillRef idx="0"/>
          <a:effectRef idx="0"/>
          <a:fontRef idx="minor"/>
        </p:style>
        <p:txBody>
          <a:bodyPr lIns="0" tIns="0" rIns="0" bIns="0" anchor="t">
            <a:spAutoFit/>
          </a:bodyPr>
          <a:p>
            <a:pPr defTabSz="457200">
              <a:lnSpc>
                <a:spcPct val="106000"/>
              </a:lnSpc>
            </a:pPr>
            <a:r>
              <a:rPr lang="en-US" sz="900" b="0" u="none" strike="noStrike">
                <a:solidFill>
                  <a:srgbClr val="6B7280"/>
                </a:solidFill>
                <a:effectLst/>
                <a:uFillTx/>
                <a:latin typeface="Calibri"/>
              </a:rPr>
              <a:t>Loan Eligibility AI  ·  Capstone Demonstration</a:t>
            </a:r>
            <a:endParaRPr lang="en-US" sz="900" b="0" u="none" strike="noStrike">
              <a:solidFill>
                <a:srgbClr val="000000"/>
              </a:solidFill>
              <a:effectLst/>
              <a:uFillTx/>
              <a:latin typeface="Arial"/>
            </a:endParaRPr>
          </a:p>
        </p:txBody>
      </p:sp>
      <p:sp>
        <p:nvSpPr>
          <p:cNvPr id="381" name="TextBox 7"/>
          <p:cNvSpPr/>
          <p:nvPr/>
        </p:nvSpPr>
        <p:spPr>
          <a:xfrm>
            <a:off x="10527480" y="6382440"/>
            <a:ext cx="1096920" cy="273960"/>
          </a:xfrm>
          <a:prstGeom prst="rect">
            <a:avLst/>
          </a:prstGeom>
          <a:noFill/>
          <a:ln w="0">
            <a:noFill/>
          </a:ln>
        </p:spPr>
        <p:style>
          <a:lnRef idx="0"/>
          <a:fillRef idx="0"/>
          <a:effectRef idx="0"/>
          <a:fontRef idx="minor"/>
        </p:style>
        <p:txBody>
          <a:bodyPr lIns="0" tIns="0" rIns="0" bIns="0" anchor="t">
            <a:spAutoFit/>
          </a:bodyPr>
          <a:p>
            <a:pPr algn="r" defTabSz="457200">
              <a:lnSpc>
                <a:spcPct val="106000"/>
              </a:lnSpc>
            </a:pPr>
            <a:r>
              <a:rPr lang="en-US" sz="900" b="0" u="none" strike="noStrike">
                <a:solidFill>
                  <a:srgbClr val="6B7280"/>
                </a:solidFill>
                <a:effectLst/>
                <a:uFillTx/>
                <a:latin typeface="Calibri"/>
              </a:rPr>
              <a:t>19</a:t>
            </a:r>
            <a:endParaRPr lang="en-US" sz="900" b="0" u="none" strike="noStrike">
              <a:solidFill>
                <a:srgbClr val="000000"/>
              </a:solidFill>
              <a:effectLst/>
              <a:uFillTx/>
              <a:latin typeface="Arial"/>
            </a:endParaRPr>
          </a:p>
        </p:txBody>
      </p:sp>
      <p:sp>
        <p:nvSpPr>
          <p:cNvPr id="382" name="Rounded Rectangle 8"/>
          <p:cNvSpPr/>
          <p:nvPr/>
        </p:nvSpPr>
        <p:spPr>
          <a:xfrm>
            <a:off x="502920" y="1825200"/>
            <a:ext cx="5501160" cy="2932560"/>
          </a:xfrm>
          <a:prstGeom prst="roundRect">
            <a:avLst>
              <a:gd name="adj" fmla="val 3000"/>
            </a:avLst>
          </a:prstGeom>
          <a:solidFill>
            <a:srgbClr val="F6F8FC"/>
          </a:solidFill>
          <a:ln w="12700">
            <a:solidFill>
              <a:srgbClr val="E3E8F0"/>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pic>
        <p:nvPicPr>
          <p:cNvPr id="383" name="Picture 9" descr="09_result_not_eligible_d.png"/>
          <p:cNvPicPr/>
          <p:nvPr/>
        </p:nvPicPr>
        <p:blipFill>
          <a:blip r:embed="rId1"/>
          <a:stretch/>
        </p:blipFill>
        <p:spPr>
          <a:xfrm>
            <a:off x="567000" y="1889280"/>
            <a:ext cx="5373000" cy="2804760"/>
          </a:xfrm>
          <a:prstGeom prst="rect">
            <a:avLst/>
          </a:prstGeom>
          <a:noFill/>
          <a:ln w="9525">
            <a:solidFill>
              <a:srgbClr val="E3E8F0"/>
            </a:solidFill>
            <a:round/>
          </a:ln>
        </p:spPr>
      </p:pic>
      <p:sp>
        <p:nvSpPr>
          <p:cNvPr id="384" name="Rounded Rectangle 10"/>
          <p:cNvSpPr/>
          <p:nvPr/>
        </p:nvSpPr>
        <p:spPr>
          <a:xfrm>
            <a:off x="6187320" y="1890720"/>
            <a:ext cx="5501160" cy="2802240"/>
          </a:xfrm>
          <a:prstGeom prst="roundRect">
            <a:avLst>
              <a:gd name="adj" fmla="val 3000"/>
            </a:avLst>
          </a:prstGeom>
          <a:solidFill>
            <a:srgbClr val="F6F8FC"/>
          </a:solidFill>
          <a:ln w="12700">
            <a:solidFill>
              <a:srgbClr val="E3E8F0"/>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pic>
        <p:nvPicPr>
          <p:cNvPr id="385" name="Picture 11" descr="09b_not_eligible_recommendations.png"/>
          <p:cNvPicPr/>
          <p:nvPr/>
        </p:nvPicPr>
        <p:blipFill>
          <a:blip r:embed="rId2"/>
          <a:stretch/>
        </p:blipFill>
        <p:spPr>
          <a:xfrm>
            <a:off x="6251400" y="1954440"/>
            <a:ext cx="5373000" cy="2674080"/>
          </a:xfrm>
          <a:prstGeom prst="rect">
            <a:avLst/>
          </a:prstGeom>
          <a:noFill/>
          <a:ln w="9525">
            <a:solidFill>
              <a:srgbClr val="E3E8F0"/>
            </a:solidFill>
            <a:round/>
          </a:ln>
        </p:spPr>
      </p:pic>
      <p:sp>
        <p:nvSpPr>
          <p:cNvPr id="386" name="Rounded Rectangle 12"/>
          <p:cNvSpPr/>
          <p:nvPr/>
        </p:nvSpPr>
        <p:spPr>
          <a:xfrm>
            <a:off x="567000" y="5047560"/>
            <a:ext cx="3515040" cy="1060200"/>
          </a:xfrm>
          <a:prstGeom prst="roundRect">
            <a:avLst>
              <a:gd name="adj" fmla="val 5500"/>
            </a:avLst>
          </a:prstGeom>
          <a:solidFill>
            <a:srgbClr val="F6F8FC"/>
          </a:solidFill>
          <a:ln w="12700">
            <a:solidFill>
              <a:srgbClr val="E3E8F0"/>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201240" tIns="146160" rIns="164520" bIns="45000" anchor="ctr">
            <a:noAutofit/>
          </a:bodyPr>
          <a:p>
            <a:pPr defTabSz="457200">
              <a:lnSpc>
                <a:spcPct val="106000"/>
              </a:lnSpc>
              <a:spcAft>
                <a:spcPts val="400"/>
              </a:spcAft>
            </a:pPr>
            <a:r>
              <a:rPr lang="en-US" sz="1250" b="1" u="none" strike="noStrike">
                <a:solidFill>
                  <a:srgbClr val="0E1A33"/>
                </a:solidFill>
                <a:effectLst/>
                <a:uFillTx/>
                <a:latin typeface="Calibri"/>
              </a:rPr>
              <a:t>What failed</a:t>
            </a:r>
            <a:endParaRPr lang="en-US" sz="1250" b="0" u="none" strike="noStrike">
              <a:solidFill>
                <a:srgbClr val="000000"/>
              </a:solidFill>
              <a:effectLst/>
              <a:uFillTx/>
              <a:latin typeface="Arial"/>
            </a:endParaRPr>
          </a:p>
          <a:p>
            <a:pPr defTabSz="457200">
              <a:lnSpc>
                <a:spcPct val="114000"/>
              </a:lnSpc>
            </a:pPr>
            <a:r>
              <a:rPr lang="en-US" sz="1050" b="0" u="none" strike="noStrike">
                <a:solidFill>
                  <a:srgbClr val="6B7280"/>
                </a:solidFill>
                <a:effectLst/>
                <a:uFillTx/>
                <a:latin typeface="Calibri"/>
              </a:rPr>
              <a:t>Score 640 is far below 700 and the EMI ratio is 120% — both well outside the borderline bands, so the decision is Not Eligible.</a:t>
            </a:r>
            <a:endParaRPr lang="en-US" sz="1050" b="0" u="none" strike="noStrike">
              <a:solidFill>
                <a:srgbClr val="000000"/>
              </a:solidFill>
              <a:effectLst/>
              <a:uFillTx/>
              <a:latin typeface="Arial"/>
            </a:endParaRPr>
          </a:p>
        </p:txBody>
      </p:sp>
      <p:sp>
        <p:nvSpPr>
          <p:cNvPr id="387" name="Rectangle 13"/>
          <p:cNvSpPr/>
          <p:nvPr/>
        </p:nvSpPr>
        <p:spPr>
          <a:xfrm>
            <a:off x="567720" y="5047560"/>
            <a:ext cx="50040" cy="1060200"/>
          </a:xfrm>
          <a:prstGeom prst="rect">
            <a:avLst/>
          </a:prstGeom>
          <a:solidFill>
            <a:srgbClr val="DC262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388" name="Rounded Rectangle 14"/>
          <p:cNvSpPr/>
          <p:nvPr/>
        </p:nvSpPr>
        <p:spPr>
          <a:xfrm>
            <a:off x="4338360" y="5047560"/>
            <a:ext cx="3515040" cy="1060200"/>
          </a:xfrm>
          <a:prstGeom prst="roundRect">
            <a:avLst>
              <a:gd name="adj" fmla="val 5500"/>
            </a:avLst>
          </a:prstGeom>
          <a:solidFill>
            <a:srgbClr val="F6F8FC"/>
          </a:solidFill>
          <a:ln w="12700">
            <a:solidFill>
              <a:srgbClr val="E3E8F0"/>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201240" tIns="146160" rIns="164520" bIns="45000" anchor="ctr">
            <a:noAutofit/>
          </a:bodyPr>
          <a:p>
            <a:pPr defTabSz="457200">
              <a:lnSpc>
                <a:spcPct val="106000"/>
              </a:lnSpc>
              <a:spcAft>
                <a:spcPts val="400"/>
              </a:spcAft>
            </a:pPr>
            <a:r>
              <a:rPr lang="en-US" sz="1250" b="1" u="none" strike="noStrike">
                <a:solidFill>
                  <a:srgbClr val="0E1A33"/>
                </a:solidFill>
                <a:effectLst/>
                <a:uFillTx/>
                <a:latin typeface="Calibri"/>
              </a:rPr>
              <a:t>What is offered</a:t>
            </a:r>
            <a:endParaRPr lang="en-US" sz="1250" b="0" u="none" strike="noStrike">
              <a:solidFill>
                <a:srgbClr val="000000"/>
              </a:solidFill>
              <a:effectLst/>
              <a:uFillTx/>
              <a:latin typeface="Arial"/>
            </a:endParaRPr>
          </a:p>
          <a:p>
            <a:pPr defTabSz="457200">
              <a:lnSpc>
                <a:spcPct val="114000"/>
              </a:lnSpc>
            </a:pPr>
            <a:r>
              <a:rPr lang="en-US" sz="1050" b="0" u="none" strike="noStrike">
                <a:solidFill>
                  <a:srgbClr val="6B7280"/>
                </a:solidFill>
                <a:effectLst/>
                <a:uFillTx/>
                <a:latin typeface="Calibri"/>
              </a:rPr>
              <a:t>Four targeted actions: raise the score above 700, dispute report errors, cut card utilisation below 30%, avoid new accounts.</a:t>
            </a:r>
            <a:endParaRPr lang="en-US" sz="1050" b="0" u="none" strike="noStrike">
              <a:solidFill>
                <a:srgbClr val="000000"/>
              </a:solidFill>
              <a:effectLst/>
              <a:uFillTx/>
              <a:latin typeface="Arial"/>
            </a:endParaRPr>
          </a:p>
        </p:txBody>
      </p:sp>
      <p:sp>
        <p:nvSpPr>
          <p:cNvPr id="389" name="Rectangle 15"/>
          <p:cNvSpPr/>
          <p:nvPr/>
        </p:nvSpPr>
        <p:spPr>
          <a:xfrm>
            <a:off x="4339080" y="5047560"/>
            <a:ext cx="50040" cy="1060200"/>
          </a:xfrm>
          <a:prstGeom prst="rect">
            <a:avLst/>
          </a:prstGeom>
          <a:solidFill>
            <a:srgbClr val="4F46E5"/>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390" name="Rounded Rectangle 16"/>
          <p:cNvSpPr/>
          <p:nvPr/>
        </p:nvSpPr>
        <p:spPr>
          <a:xfrm>
            <a:off x="8109360" y="5047560"/>
            <a:ext cx="3515040" cy="1060200"/>
          </a:xfrm>
          <a:prstGeom prst="roundRect">
            <a:avLst>
              <a:gd name="adj" fmla="val 5500"/>
            </a:avLst>
          </a:prstGeom>
          <a:solidFill>
            <a:srgbClr val="F6F8FC"/>
          </a:solidFill>
          <a:ln w="12700">
            <a:solidFill>
              <a:srgbClr val="E3E8F0"/>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201240" tIns="146160" rIns="164520" bIns="45000" anchor="ctr">
            <a:noAutofit/>
          </a:bodyPr>
          <a:p>
            <a:pPr defTabSz="457200">
              <a:lnSpc>
                <a:spcPct val="106000"/>
              </a:lnSpc>
              <a:spcAft>
                <a:spcPts val="400"/>
              </a:spcAft>
            </a:pPr>
            <a:r>
              <a:rPr lang="en-US" sz="1250" b="1" u="none" strike="noStrike">
                <a:solidFill>
                  <a:srgbClr val="0E1A33"/>
                </a:solidFill>
                <a:effectLst/>
                <a:uFillTx/>
                <a:latin typeface="Calibri"/>
              </a:rPr>
              <a:t>Why it matters</a:t>
            </a:r>
            <a:endParaRPr lang="en-US" sz="1250" b="0" u="none" strike="noStrike">
              <a:solidFill>
                <a:srgbClr val="000000"/>
              </a:solidFill>
              <a:effectLst/>
              <a:uFillTx/>
              <a:latin typeface="Arial"/>
            </a:endParaRPr>
          </a:p>
          <a:p>
            <a:pPr defTabSz="457200">
              <a:lnSpc>
                <a:spcPct val="114000"/>
              </a:lnSpc>
            </a:pPr>
            <a:r>
              <a:rPr lang="en-US" sz="1050" b="0" u="none" strike="noStrike">
                <a:solidFill>
                  <a:srgbClr val="6B7280"/>
                </a:solidFill>
                <a:effectLst/>
                <a:uFillTx/>
                <a:latin typeface="Calibri"/>
              </a:rPr>
              <a:t>A refusal with a route back is a retained customer. The same list goes into the PDF and drives the assistant's advice.</a:t>
            </a:r>
            <a:endParaRPr lang="en-US" sz="1050" b="0" u="none" strike="noStrike">
              <a:solidFill>
                <a:srgbClr val="000000"/>
              </a:solidFill>
              <a:effectLst/>
              <a:uFillTx/>
              <a:latin typeface="Arial"/>
            </a:endParaRPr>
          </a:p>
        </p:txBody>
      </p:sp>
      <p:sp>
        <p:nvSpPr>
          <p:cNvPr id="391" name="Rectangle 17"/>
          <p:cNvSpPr/>
          <p:nvPr/>
        </p:nvSpPr>
        <p:spPr>
          <a:xfrm>
            <a:off x="8110440" y="5047560"/>
            <a:ext cx="50040" cy="1060200"/>
          </a:xfrm>
          <a:prstGeom prst="rect">
            <a:avLst/>
          </a:prstGeom>
          <a:solidFill>
            <a:srgbClr val="15A34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Tree>
  </p:cSld>
  <mc:AlternateContent>
    <mc:Choice Requires="p14">
      <p:transition spd="slow" p14:dur="2000"/>
    </mc:Choice>
    <mc:Fallback>
      <p:transition spd="slow"/>
    </mc:Fallback>
  </mc:AlternateContent>
</p:sld>
</file>

<file path=ppt/slides/slide2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92" name="Rectangle 1"/>
          <p:cNvSpPr/>
          <p:nvPr/>
        </p:nvSpPr>
        <p:spPr>
          <a:xfrm>
            <a:off x="0" y="0"/>
            <a:ext cx="12191400" cy="6857640"/>
          </a:xfrm>
          <a:prstGeom prst="rect">
            <a:avLst/>
          </a:prstGeom>
          <a:solidFill>
            <a:srgbClr val="FFFFFF"/>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393" name="Rectangle 2"/>
          <p:cNvSpPr/>
          <p:nvPr/>
        </p:nvSpPr>
        <p:spPr>
          <a:xfrm>
            <a:off x="0" y="0"/>
            <a:ext cx="12191400" cy="77400"/>
          </a:xfrm>
          <a:prstGeom prst="rect">
            <a:avLst/>
          </a:prstGeom>
          <a:gradFill rotWithShape="0">
            <a:gsLst>
              <a:gs pos="0">
                <a:srgbClr val="4F46E5"/>
              </a:gs>
              <a:gs pos="100000">
                <a:srgbClr val="7C3AED"/>
              </a:gs>
            </a:gsLst>
            <a:lin ang="0"/>
          </a:gra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32760" rIns="90000" bIns="32760" anchor="ctr">
            <a:noAutofit/>
          </a:bodyPr>
          <a:p>
            <a:endParaRPr lang="en-US" sz="1800" b="0" u="none" strike="noStrike">
              <a:solidFill>
                <a:schemeClr val="lt1"/>
              </a:solidFill>
              <a:effectLst/>
              <a:uFillTx/>
              <a:latin typeface="Calibri"/>
            </a:endParaRPr>
          </a:p>
        </p:txBody>
      </p:sp>
      <p:sp>
        <p:nvSpPr>
          <p:cNvPr id="394" name="TextBox 3"/>
          <p:cNvSpPr/>
          <p:nvPr/>
        </p:nvSpPr>
        <p:spPr>
          <a:xfrm>
            <a:off x="567000" y="384120"/>
            <a:ext cx="11057400" cy="237240"/>
          </a:xfrm>
          <a:prstGeom prst="rect">
            <a:avLst/>
          </a:prstGeom>
          <a:noFill/>
          <a:ln w="0">
            <a:noFill/>
          </a:ln>
        </p:spPr>
        <p:style>
          <a:lnRef idx="0"/>
          <a:fillRef idx="0"/>
          <a:effectRef idx="0"/>
          <a:fontRef idx="minor"/>
        </p:style>
        <p:txBody>
          <a:bodyPr lIns="0" tIns="0" rIns="0" bIns="0" anchor="t">
            <a:spAutoFit/>
          </a:bodyPr>
          <a:p>
            <a:pPr defTabSz="457200">
              <a:lnSpc>
                <a:spcPct val="106000"/>
              </a:lnSpc>
            </a:pPr>
            <a:r>
              <a:rPr lang="en-US" sz="950" b="1" u="none" strike="noStrike">
                <a:solidFill>
                  <a:srgbClr val="4F46E5"/>
                </a:solidFill>
                <a:effectLst/>
                <a:uFillTx/>
                <a:latin typeface="Calibri"/>
              </a:rPr>
              <a:t>PART 03  ·  WALKTHROUGH 7</a:t>
            </a:r>
            <a:endParaRPr lang="en-US" sz="950" b="0" u="none" strike="noStrike">
              <a:solidFill>
                <a:srgbClr val="000000"/>
              </a:solidFill>
              <a:effectLst/>
              <a:uFillTx/>
              <a:latin typeface="Arial"/>
            </a:endParaRPr>
          </a:p>
        </p:txBody>
      </p:sp>
      <p:sp>
        <p:nvSpPr>
          <p:cNvPr id="395" name="TextBox 4"/>
          <p:cNvSpPr/>
          <p:nvPr/>
        </p:nvSpPr>
        <p:spPr>
          <a:xfrm>
            <a:off x="567000" y="658440"/>
            <a:ext cx="11057400" cy="502560"/>
          </a:xfrm>
          <a:prstGeom prst="rect">
            <a:avLst/>
          </a:prstGeom>
          <a:noFill/>
          <a:ln w="0">
            <a:noFill/>
          </a:ln>
        </p:spPr>
        <p:style>
          <a:lnRef idx="0"/>
          <a:fillRef idx="0"/>
          <a:effectRef idx="0"/>
          <a:fontRef idx="minor"/>
        </p:style>
        <p:txBody>
          <a:bodyPr lIns="0" tIns="0" rIns="0" bIns="0" anchor="t">
            <a:spAutoFit/>
          </a:bodyPr>
          <a:p>
            <a:pPr defTabSz="457200">
              <a:lnSpc>
                <a:spcPct val="106000"/>
              </a:lnSpc>
            </a:pPr>
            <a:r>
              <a:rPr lang="en-US" sz="2700" b="1" u="none" strike="noStrike">
                <a:solidFill>
                  <a:srgbClr val="0E1A33"/>
                </a:solidFill>
                <a:effectLst/>
                <a:uFillTx/>
                <a:latin typeface="Calibri"/>
              </a:rPr>
              <a:t>The PDF assessment report</a:t>
            </a:r>
            <a:endParaRPr lang="en-US" sz="2700" b="0" u="none" strike="noStrike">
              <a:solidFill>
                <a:srgbClr val="000000"/>
              </a:solidFill>
              <a:effectLst/>
              <a:uFillTx/>
              <a:latin typeface="Arial"/>
            </a:endParaRPr>
          </a:p>
        </p:txBody>
      </p:sp>
      <p:sp>
        <p:nvSpPr>
          <p:cNvPr id="396" name="TextBox 5"/>
          <p:cNvSpPr/>
          <p:nvPr/>
        </p:nvSpPr>
        <p:spPr>
          <a:xfrm>
            <a:off x="567000" y="1225440"/>
            <a:ext cx="9509400" cy="365400"/>
          </a:xfrm>
          <a:prstGeom prst="rect">
            <a:avLst/>
          </a:prstGeom>
          <a:noFill/>
          <a:ln w="0">
            <a:noFill/>
          </a:ln>
        </p:spPr>
        <p:style>
          <a:lnRef idx="0"/>
          <a:fillRef idx="0"/>
          <a:effectRef idx="0"/>
          <a:fontRef idx="minor"/>
        </p:style>
        <p:txBody>
          <a:bodyPr lIns="0" tIns="0" rIns="0" bIns="0" anchor="t">
            <a:spAutoFit/>
          </a:bodyPr>
          <a:p>
            <a:pPr defTabSz="457200">
              <a:lnSpc>
                <a:spcPct val="106000"/>
              </a:lnSpc>
            </a:pPr>
            <a:r>
              <a:rPr lang="en-US" sz="1250" b="0" u="none" strike="noStrike">
                <a:solidFill>
                  <a:srgbClr val="6B7280"/>
                </a:solidFill>
                <a:effectLst/>
                <a:uFillTx/>
                <a:latin typeface="Calibri"/>
              </a:rPr>
              <a:t>Generated in-process with ReportLab at the moment of the decision — no external service.</a:t>
            </a:r>
            <a:endParaRPr lang="en-US" sz="1250" b="0" u="none" strike="noStrike">
              <a:solidFill>
                <a:srgbClr val="000000"/>
              </a:solidFill>
              <a:effectLst/>
              <a:uFillTx/>
              <a:latin typeface="Arial"/>
            </a:endParaRPr>
          </a:p>
        </p:txBody>
      </p:sp>
      <p:sp>
        <p:nvSpPr>
          <p:cNvPr id="397" name="TextBox 6"/>
          <p:cNvSpPr/>
          <p:nvPr/>
        </p:nvSpPr>
        <p:spPr>
          <a:xfrm>
            <a:off x="567000" y="6382440"/>
            <a:ext cx="7740000" cy="273960"/>
          </a:xfrm>
          <a:prstGeom prst="rect">
            <a:avLst/>
          </a:prstGeom>
          <a:noFill/>
          <a:ln w="0">
            <a:noFill/>
          </a:ln>
        </p:spPr>
        <p:style>
          <a:lnRef idx="0"/>
          <a:fillRef idx="0"/>
          <a:effectRef idx="0"/>
          <a:fontRef idx="minor"/>
        </p:style>
        <p:txBody>
          <a:bodyPr lIns="0" tIns="0" rIns="0" bIns="0" anchor="t">
            <a:spAutoFit/>
          </a:bodyPr>
          <a:p>
            <a:pPr defTabSz="457200">
              <a:lnSpc>
                <a:spcPct val="106000"/>
              </a:lnSpc>
            </a:pPr>
            <a:r>
              <a:rPr lang="en-US" sz="900" b="0" u="none" strike="noStrike">
                <a:solidFill>
                  <a:srgbClr val="6B7280"/>
                </a:solidFill>
                <a:effectLst/>
                <a:uFillTx/>
                <a:latin typeface="Calibri"/>
              </a:rPr>
              <a:t>Loan Eligibility AI  ·  Capstone Demonstration</a:t>
            </a:r>
            <a:endParaRPr lang="en-US" sz="900" b="0" u="none" strike="noStrike">
              <a:solidFill>
                <a:srgbClr val="000000"/>
              </a:solidFill>
              <a:effectLst/>
              <a:uFillTx/>
              <a:latin typeface="Arial"/>
            </a:endParaRPr>
          </a:p>
        </p:txBody>
      </p:sp>
      <p:sp>
        <p:nvSpPr>
          <p:cNvPr id="398" name="TextBox 7"/>
          <p:cNvSpPr/>
          <p:nvPr/>
        </p:nvSpPr>
        <p:spPr>
          <a:xfrm>
            <a:off x="10527480" y="6382440"/>
            <a:ext cx="1096920" cy="273960"/>
          </a:xfrm>
          <a:prstGeom prst="rect">
            <a:avLst/>
          </a:prstGeom>
          <a:noFill/>
          <a:ln w="0">
            <a:noFill/>
          </a:ln>
        </p:spPr>
        <p:style>
          <a:lnRef idx="0"/>
          <a:fillRef idx="0"/>
          <a:effectRef idx="0"/>
          <a:fontRef idx="minor"/>
        </p:style>
        <p:txBody>
          <a:bodyPr lIns="0" tIns="0" rIns="0" bIns="0" anchor="t">
            <a:spAutoFit/>
          </a:bodyPr>
          <a:p>
            <a:pPr algn="r" defTabSz="457200">
              <a:lnSpc>
                <a:spcPct val="106000"/>
              </a:lnSpc>
            </a:pPr>
            <a:r>
              <a:rPr lang="en-US" sz="900" b="0" u="none" strike="noStrike">
                <a:solidFill>
                  <a:srgbClr val="6B7280"/>
                </a:solidFill>
                <a:effectLst/>
                <a:uFillTx/>
                <a:latin typeface="Calibri"/>
              </a:rPr>
              <a:t>20</a:t>
            </a:r>
            <a:endParaRPr lang="en-US" sz="900" b="0" u="none" strike="noStrike">
              <a:solidFill>
                <a:srgbClr val="000000"/>
              </a:solidFill>
              <a:effectLst/>
              <a:uFillTx/>
              <a:latin typeface="Arial"/>
            </a:endParaRPr>
          </a:p>
        </p:txBody>
      </p:sp>
      <p:sp>
        <p:nvSpPr>
          <p:cNvPr id="399" name="Rounded Rectangle 8"/>
          <p:cNvSpPr/>
          <p:nvPr/>
        </p:nvSpPr>
        <p:spPr>
          <a:xfrm>
            <a:off x="502920" y="1840680"/>
            <a:ext cx="5877720" cy="4218480"/>
          </a:xfrm>
          <a:prstGeom prst="roundRect">
            <a:avLst>
              <a:gd name="adj" fmla="val 3000"/>
            </a:avLst>
          </a:prstGeom>
          <a:solidFill>
            <a:srgbClr val="F6F8FC"/>
          </a:solidFill>
          <a:ln w="12700">
            <a:solidFill>
              <a:srgbClr val="E3E8F0"/>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pic>
        <p:nvPicPr>
          <p:cNvPr id="400" name="Picture 9" descr="14_pdf_report_p1_d.png"/>
          <p:cNvPicPr/>
          <p:nvPr/>
        </p:nvPicPr>
        <p:blipFill>
          <a:blip r:embed="rId1"/>
          <a:stretch/>
        </p:blipFill>
        <p:spPr>
          <a:xfrm>
            <a:off x="567000" y="1904760"/>
            <a:ext cx="5749560" cy="4090320"/>
          </a:xfrm>
          <a:prstGeom prst="rect">
            <a:avLst/>
          </a:prstGeom>
          <a:noFill/>
          <a:ln w="9525">
            <a:solidFill>
              <a:srgbClr val="E3E8F0"/>
            </a:solidFill>
            <a:round/>
          </a:ln>
        </p:spPr>
      </p:pic>
      <p:sp>
        <p:nvSpPr>
          <p:cNvPr id="401" name="TextBox 10"/>
          <p:cNvSpPr/>
          <p:nvPr/>
        </p:nvSpPr>
        <p:spPr>
          <a:xfrm>
            <a:off x="6701040" y="1719000"/>
            <a:ext cx="4923360" cy="273960"/>
          </a:xfrm>
          <a:prstGeom prst="rect">
            <a:avLst/>
          </a:prstGeom>
          <a:noFill/>
          <a:ln w="0">
            <a:noFill/>
          </a:ln>
        </p:spPr>
        <p:style>
          <a:lnRef idx="0"/>
          <a:fillRef idx="0"/>
          <a:effectRef idx="0"/>
          <a:fontRef idx="minor"/>
        </p:style>
        <p:txBody>
          <a:bodyPr lIns="0" tIns="0" rIns="0" bIns="0" anchor="t">
            <a:spAutoFit/>
          </a:bodyPr>
          <a:p>
            <a:pPr defTabSz="457200">
              <a:lnSpc>
                <a:spcPct val="106000"/>
              </a:lnSpc>
            </a:pPr>
            <a:r>
              <a:rPr lang="en-US" sz="950" b="1" u="none" strike="noStrike">
                <a:solidFill>
                  <a:srgbClr val="4F46E5"/>
                </a:solidFill>
                <a:effectLst/>
                <a:uFillTx/>
                <a:latin typeface="Calibri"/>
              </a:rPr>
              <a:t>ONE PAGE, EVERYTHING DECIDED</a:t>
            </a:r>
            <a:endParaRPr lang="en-US" sz="950" b="0" u="none" strike="noStrike">
              <a:solidFill>
                <a:srgbClr val="000000"/>
              </a:solidFill>
              <a:effectLst/>
              <a:uFillTx/>
              <a:latin typeface="Arial"/>
            </a:endParaRPr>
          </a:p>
        </p:txBody>
      </p:sp>
      <p:sp>
        <p:nvSpPr>
          <p:cNvPr id="402" name="Oval 11"/>
          <p:cNvSpPr/>
          <p:nvPr/>
        </p:nvSpPr>
        <p:spPr>
          <a:xfrm>
            <a:off x="6701040" y="2103120"/>
            <a:ext cx="237240" cy="237240"/>
          </a:xfrm>
          <a:prstGeom prst="ellipse">
            <a:avLst/>
          </a:prstGeom>
          <a:solidFill>
            <a:srgbClr val="4F46E5"/>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pPr algn="ctr" defTabSz="457200">
              <a:lnSpc>
                <a:spcPct val="106000"/>
              </a:lnSpc>
            </a:pPr>
            <a:r>
              <a:rPr lang="en-US" sz="1050" b="1" u="none" strike="noStrike">
                <a:solidFill>
                  <a:srgbClr val="FFFFFF"/>
                </a:solidFill>
                <a:effectLst/>
                <a:uFillTx/>
                <a:latin typeface="Calibri"/>
              </a:rPr>
              <a:t>1</a:t>
            </a:r>
            <a:endParaRPr lang="en-US" sz="1050" b="0" u="none" strike="noStrike">
              <a:solidFill>
                <a:srgbClr val="FFFFFF"/>
              </a:solidFill>
              <a:effectLst/>
              <a:uFillTx/>
              <a:latin typeface="Arial"/>
            </a:endParaRPr>
          </a:p>
        </p:txBody>
      </p:sp>
      <p:sp>
        <p:nvSpPr>
          <p:cNvPr id="403" name="TextBox 12"/>
          <p:cNvSpPr/>
          <p:nvPr/>
        </p:nvSpPr>
        <p:spPr>
          <a:xfrm>
            <a:off x="7066800" y="2066400"/>
            <a:ext cx="4557600" cy="365400"/>
          </a:xfrm>
          <a:prstGeom prst="rect">
            <a:avLst/>
          </a:prstGeom>
          <a:noFill/>
          <a:ln w="0">
            <a:noFill/>
          </a:ln>
        </p:spPr>
        <p:style>
          <a:lnRef idx="0"/>
          <a:fillRef idx="0"/>
          <a:effectRef idx="0"/>
          <a:fontRef idx="minor"/>
        </p:style>
        <p:txBody>
          <a:bodyPr lIns="0" tIns="0" rIns="0" bIns="0" anchor="t">
            <a:spAutoFit/>
          </a:bodyPr>
          <a:p>
            <a:pPr defTabSz="457200">
              <a:lnSpc>
                <a:spcPct val="106000"/>
              </a:lnSpc>
              <a:spcAft>
                <a:spcPts val="201"/>
              </a:spcAft>
            </a:pPr>
            <a:r>
              <a:rPr lang="en-US" sz="1250" b="1" u="none" strike="noStrike">
                <a:solidFill>
                  <a:srgbClr val="0E1A33"/>
                </a:solidFill>
                <a:effectLst/>
                <a:uFillTx/>
                <a:latin typeface="Calibri"/>
              </a:rPr>
              <a:t>Traceable header</a:t>
            </a:r>
            <a:endParaRPr lang="en-US" sz="1250" b="0" u="none" strike="noStrike">
              <a:solidFill>
                <a:srgbClr val="000000"/>
              </a:solidFill>
              <a:effectLst/>
              <a:uFillTx/>
              <a:latin typeface="Arial"/>
            </a:endParaRPr>
          </a:p>
          <a:p>
            <a:pPr defTabSz="457200">
              <a:lnSpc>
                <a:spcPct val="110000"/>
              </a:lnSpc>
            </a:pPr>
            <a:r>
              <a:rPr lang="en-US" sz="1100" b="0" u="none" strike="noStrike">
                <a:solidFill>
                  <a:srgbClr val="6B7280"/>
                </a:solidFill>
                <a:effectLst/>
                <a:uFillTx/>
                <a:latin typeface="Calibri"/>
              </a:rPr>
              <a:t>Timestamp, applicant name and a short report id for support conversations.</a:t>
            </a:r>
            <a:endParaRPr lang="en-US" sz="1100" b="0" u="none" strike="noStrike">
              <a:solidFill>
                <a:srgbClr val="000000"/>
              </a:solidFill>
              <a:effectLst/>
              <a:uFillTx/>
              <a:latin typeface="Arial"/>
            </a:endParaRPr>
          </a:p>
        </p:txBody>
      </p:sp>
      <p:sp>
        <p:nvSpPr>
          <p:cNvPr id="404" name="Oval 13"/>
          <p:cNvSpPr/>
          <p:nvPr/>
        </p:nvSpPr>
        <p:spPr>
          <a:xfrm>
            <a:off x="6701040" y="2825640"/>
            <a:ext cx="237240" cy="237240"/>
          </a:xfrm>
          <a:prstGeom prst="ellipse">
            <a:avLst/>
          </a:prstGeom>
          <a:solidFill>
            <a:srgbClr val="7C3AED"/>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pPr algn="ctr" defTabSz="457200">
              <a:lnSpc>
                <a:spcPct val="106000"/>
              </a:lnSpc>
            </a:pPr>
            <a:r>
              <a:rPr lang="en-US" sz="1050" b="1" u="none" strike="noStrike">
                <a:solidFill>
                  <a:srgbClr val="FFFFFF"/>
                </a:solidFill>
                <a:effectLst/>
                <a:uFillTx/>
                <a:latin typeface="Calibri"/>
              </a:rPr>
              <a:t>2</a:t>
            </a:r>
            <a:endParaRPr lang="en-US" sz="1050" b="0" u="none" strike="noStrike">
              <a:solidFill>
                <a:srgbClr val="FFFFFF"/>
              </a:solidFill>
              <a:effectLst/>
              <a:uFillTx/>
              <a:latin typeface="Arial"/>
            </a:endParaRPr>
          </a:p>
        </p:txBody>
      </p:sp>
      <p:sp>
        <p:nvSpPr>
          <p:cNvPr id="405" name="TextBox 14"/>
          <p:cNvSpPr/>
          <p:nvPr/>
        </p:nvSpPr>
        <p:spPr>
          <a:xfrm>
            <a:off x="7066800" y="2788920"/>
            <a:ext cx="4557600" cy="365400"/>
          </a:xfrm>
          <a:prstGeom prst="rect">
            <a:avLst/>
          </a:prstGeom>
          <a:noFill/>
          <a:ln w="0">
            <a:noFill/>
          </a:ln>
        </p:spPr>
        <p:style>
          <a:lnRef idx="0"/>
          <a:fillRef idx="0"/>
          <a:effectRef idx="0"/>
          <a:fontRef idx="minor"/>
        </p:style>
        <p:txBody>
          <a:bodyPr lIns="0" tIns="0" rIns="0" bIns="0" anchor="t">
            <a:spAutoFit/>
          </a:bodyPr>
          <a:p>
            <a:pPr defTabSz="457200">
              <a:lnSpc>
                <a:spcPct val="106000"/>
              </a:lnSpc>
              <a:spcAft>
                <a:spcPts val="201"/>
              </a:spcAft>
            </a:pPr>
            <a:r>
              <a:rPr lang="en-US" sz="1250" b="1" u="none" strike="noStrike">
                <a:solidFill>
                  <a:srgbClr val="0E1A33"/>
                </a:solidFill>
                <a:effectLst/>
                <a:uFillTx/>
                <a:latin typeface="Calibri"/>
              </a:rPr>
              <a:t>Colour-coded verdict</a:t>
            </a:r>
            <a:endParaRPr lang="en-US" sz="1250" b="0" u="none" strike="noStrike">
              <a:solidFill>
                <a:srgbClr val="000000"/>
              </a:solidFill>
              <a:effectLst/>
              <a:uFillTx/>
              <a:latin typeface="Arial"/>
            </a:endParaRPr>
          </a:p>
          <a:p>
            <a:pPr defTabSz="457200">
              <a:lnSpc>
                <a:spcPct val="110000"/>
              </a:lnSpc>
            </a:pPr>
            <a:r>
              <a:rPr lang="en-US" sz="1100" b="0" u="none" strike="noStrike">
                <a:solidFill>
                  <a:srgbClr val="6B7280"/>
                </a:solidFill>
                <a:effectLst/>
                <a:uFillTx/>
                <a:latin typeface="Calibri"/>
              </a:rPr>
              <a:t>The same green / amber / red vocabulary as the screen.</a:t>
            </a:r>
            <a:endParaRPr lang="en-US" sz="1100" b="0" u="none" strike="noStrike">
              <a:solidFill>
                <a:srgbClr val="000000"/>
              </a:solidFill>
              <a:effectLst/>
              <a:uFillTx/>
              <a:latin typeface="Arial"/>
            </a:endParaRPr>
          </a:p>
        </p:txBody>
      </p:sp>
      <p:sp>
        <p:nvSpPr>
          <p:cNvPr id="406" name="Oval 15"/>
          <p:cNvSpPr/>
          <p:nvPr/>
        </p:nvSpPr>
        <p:spPr>
          <a:xfrm>
            <a:off x="6701040" y="3547800"/>
            <a:ext cx="237240" cy="237240"/>
          </a:xfrm>
          <a:prstGeom prst="ellipse">
            <a:avLst/>
          </a:prstGeom>
          <a:solidFill>
            <a:srgbClr val="06B6D4"/>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pPr algn="ctr" defTabSz="457200">
              <a:lnSpc>
                <a:spcPct val="106000"/>
              </a:lnSpc>
            </a:pPr>
            <a:r>
              <a:rPr lang="en-US" sz="1050" b="1" u="none" strike="noStrike">
                <a:solidFill>
                  <a:srgbClr val="FFFFFF"/>
                </a:solidFill>
                <a:effectLst/>
                <a:uFillTx/>
                <a:latin typeface="Calibri"/>
              </a:rPr>
              <a:t>3</a:t>
            </a:r>
            <a:endParaRPr lang="en-US" sz="1050" b="0" u="none" strike="noStrike">
              <a:solidFill>
                <a:srgbClr val="000000"/>
              </a:solidFill>
              <a:effectLst/>
              <a:uFillTx/>
              <a:latin typeface="Arial"/>
            </a:endParaRPr>
          </a:p>
        </p:txBody>
      </p:sp>
      <p:sp>
        <p:nvSpPr>
          <p:cNvPr id="407" name="TextBox 16"/>
          <p:cNvSpPr/>
          <p:nvPr/>
        </p:nvSpPr>
        <p:spPr>
          <a:xfrm>
            <a:off x="7066800" y="3511440"/>
            <a:ext cx="4557600" cy="365400"/>
          </a:xfrm>
          <a:prstGeom prst="rect">
            <a:avLst/>
          </a:prstGeom>
          <a:noFill/>
          <a:ln w="0">
            <a:noFill/>
          </a:ln>
        </p:spPr>
        <p:style>
          <a:lnRef idx="0"/>
          <a:fillRef idx="0"/>
          <a:effectRef idx="0"/>
          <a:fontRef idx="minor"/>
        </p:style>
        <p:txBody>
          <a:bodyPr lIns="0" tIns="0" rIns="0" bIns="0" anchor="t">
            <a:spAutoFit/>
          </a:bodyPr>
          <a:p>
            <a:pPr defTabSz="457200">
              <a:lnSpc>
                <a:spcPct val="106000"/>
              </a:lnSpc>
              <a:spcAft>
                <a:spcPts val="201"/>
              </a:spcAft>
            </a:pPr>
            <a:r>
              <a:rPr lang="en-US" sz="1250" b="1" u="none" strike="noStrike">
                <a:solidFill>
                  <a:srgbClr val="0E1A33"/>
                </a:solidFill>
                <a:effectLst/>
                <a:uFillTx/>
                <a:latin typeface="Calibri"/>
              </a:rPr>
              <a:t>Applicant and credit sections</a:t>
            </a:r>
            <a:endParaRPr lang="en-US" sz="1250" b="0" u="none" strike="noStrike">
              <a:solidFill>
                <a:srgbClr val="000000"/>
              </a:solidFill>
              <a:effectLst/>
              <a:uFillTx/>
              <a:latin typeface="Arial"/>
            </a:endParaRPr>
          </a:p>
          <a:p>
            <a:pPr defTabSz="457200">
              <a:lnSpc>
                <a:spcPct val="110000"/>
              </a:lnSpc>
            </a:pPr>
            <a:r>
              <a:rPr lang="en-US" sz="1100" b="0" u="none" strike="noStrike">
                <a:solidFill>
                  <a:srgbClr val="6B7280"/>
                </a:solidFill>
                <a:effectLst/>
                <a:uFillTx/>
                <a:latin typeface="Calibri"/>
              </a:rPr>
              <a:t>Inputs echoed back, plus score status, estimated EMI and the ratio.</a:t>
            </a:r>
            <a:endParaRPr lang="en-US" sz="1100" b="0" u="none" strike="noStrike">
              <a:solidFill>
                <a:srgbClr val="000000"/>
              </a:solidFill>
              <a:effectLst/>
              <a:uFillTx/>
              <a:latin typeface="Arial"/>
            </a:endParaRPr>
          </a:p>
        </p:txBody>
      </p:sp>
      <p:sp>
        <p:nvSpPr>
          <p:cNvPr id="408" name="Oval 17"/>
          <p:cNvSpPr/>
          <p:nvPr/>
        </p:nvSpPr>
        <p:spPr>
          <a:xfrm>
            <a:off x="6701040" y="4270320"/>
            <a:ext cx="237240" cy="237240"/>
          </a:xfrm>
          <a:prstGeom prst="ellipse">
            <a:avLst/>
          </a:prstGeom>
          <a:solidFill>
            <a:srgbClr val="15A34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pPr algn="ctr" defTabSz="457200">
              <a:lnSpc>
                <a:spcPct val="106000"/>
              </a:lnSpc>
            </a:pPr>
            <a:r>
              <a:rPr lang="en-US" sz="1050" b="1" u="none" strike="noStrike">
                <a:solidFill>
                  <a:srgbClr val="FFFFFF"/>
                </a:solidFill>
                <a:effectLst/>
                <a:uFillTx/>
                <a:latin typeface="Calibri"/>
              </a:rPr>
              <a:t>4</a:t>
            </a:r>
            <a:endParaRPr lang="en-US" sz="1050" b="0" u="none" strike="noStrike">
              <a:solidFill>
                <a:srgbClr val="FFFFFF"/>
              </a:solidFill>
              <a:effectLst/>
              <a:uFillTx/>
              <a:latin typeface="Arial"/>
            </a:endParaRPr>
          </a:p>
        </p:txBody>
      </p:sp>
      <p:sp>
        <p:nvSpPr>
          <p:cNvPr id="409" name="TextBox 18"/>
          <p:cNvSpPr/>
          <p:nvPr/>
        </p:nvSpPr>
        <p:spPr>
          <a:xfrm>
            <a:off x="7066800" y="4233600"/>
            <a:ext cx="4557600" cy="365400"/>
          </a:xfrm>
          <a:prstGeom prst="rect">
            <a:avLst/>
          </a:prstGeom>
          <a:noFill/>
          <a:ln w="0">
            <a:noFill/>
          </a:ln>
        </p:spPr>
        <p:style>
          <a:lnRef idx="0"/>
          <a:fillRef idx="0"/>
          <a:effectRef idx="0"/>
          <a:fontRef idx="minor"/>
        </p:style>
        <p:txBody>
          <a:bodyPr lIns="0" tIns="0" rIns="0" bIns="0" anchor="t">
            <a:spAutoFit/>
          </a:bodyPr>
          <a:p>
            <a:pPr defTabSz="457200">
              <a:lnSpc>
                <a:spcPct val="106000"/>
              </a:lnSpc>
              <a:spcAft>
                <a:spcPts val="201"/>
              </a:spcAft>
            </a:pPr>
            <a:r>
              <a:rPr lang="en-US" sz="1250" b="1" u="none" strike="noStrike">
                <a:solidFill>
                  <a:srgbClr val="0E1A33"/>
                </a:solidFill>
                <a:effectLst/>
                <a:uFillTx/>
                <a:latin typeface="Calibri"/>
              </a:rPr>
              <a:t>Reasoning and next steps</a:t>
            </a:r>
            <a:endParaRPr lang="en-US" sz="1250" b="0" u="none" strike="noStrike">
              <a:solidFill>
                <a:srgbClr val="000000"/>
              </a:solidFill>
              <a:effectLst/>
              <a:uFillTx/>
              <a:latin typeface="Arial"/>
            </a:endParaRPr>
          </a:p>
          <a:p>
            <a:pPr defTabSz="457200">
              <a:lnSpc>
                <a:spcPct val="110000"/>
              </a:lnSpc>
            </a:pPr>
            <a:r>
              <a:rPr lang="en-US" sz="1100" b="0" u="none" strike="noStrike">
                <a:solidFill>
                  <a:srgbClr val="6B7280"/>
                </a:solidFill>
                <a:effectLst/>
                <a:uFillTx/>
                <a:latin typeface="Calibri"/>
              </a:rPr>
              <a:t>The four rule lines, then the recommendations — or a clean bill of health.</a:t>
            </a:r>
            <a:endParaRPr lang="en-US" sz="1100" b="0" u="none" strike="noStrike">
              <a:solidFill>
                <a:srgbClr val="000000"/>
              </a:solidFill>
              <a:effectLst/>
              <a:uFillTx/>
              <a:latin typeface="Arial"/>
            </a:endParaRPr>
          </a:p>
        </p:txBody>
      </p:sp>
      <p:sp>
        <p:nvSpPr>
          <p:cNvPr id="410" name="Oval 19"/>
          <p:cNvSpPr/>
          <p:nvPr/>
        </p:nvSpPr>
        <p:spPr>
          <a:xfrm>
            <a:off x="6701040" y="4992480"/>
            <a:ext cx="237240" cy="237240"/>
          </a:xfrm>
          <a:prstGeom prst="ellipse">
            <a:avLst/>
          </a:prstGeom>
          <a:solidFill>
            <a:srgbClr val="D9770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pPr algn="ctr" defTabSz="457200">
              <a:lnSpc>
                <a:spcPct val="106000"/>
              </a:lnSpc>
            </a:pPr>
            <a:r>
              <a:rPr lang="en-US" sz="1050" b="1" u="none" strike="noStrike">
                <a:solidFill>
                  <a:srgbClr val="FFFFFF"/>
                </a:solidFill>
                <a:effectLst/>
                <a:uFillTx/>
                <a:latin typeface="Calibri"/>
              </a:rPr>
              <a:t>5</a:t>
            </a:r>
            <a:endParaRPr lang="en-US" sz="1050" b="0" u="none" strike="noStrike">
              <a:solidFill>
                <a:srgbClr val="FFFFFF"/>
              </a:solidFill>
              <a:effectLst/>
              <a:uFillTx/>
              <a:latin typeface="Arial"/>
            </a:endParaRPr>
          </a:p>
        </p:txBody>
      </p:sp>
      <p:sp>
        <p:nvSpPr>
          <p:cNvPr id="411" name="TextBox 20"/>
          <p:cNvSpPr/>
          <p:nvPr/>
        </p:nvSpPr>
        <p:spPr>
          <a:xfrm>
            <a:off x="7066800" y="4956120"/>
            <a:ext cx="4557600" cy="365400"/>
          </a:xfrm>
          <a:prstGeom prst="rect">
            <a:avLst/>
          </a:prstGeom>
          <a:noFill/>
          <a:ln w="0">
            <a:noFill/>
          </a:ln>
        </p:spPr>
        <p:style>
          <a:lnRef idx="0"/>
          <a:fillRef idx="0"/>
          <a:effectRef idx="0"/>
          <a:fontRef idx="minor"/>
        </p:style>
        <p:txBody>
          <a:bodyPr lIns="0" tIns="0" rIns="0" bIns="0" anchor="t">
            <a:spAutoFit/>
          </a:bodyPr>
          <a:p>
            <a:pPr defTabSz="457200">
              <a:lnSpc>
                <a:spcPct val="106000"/>
              </a:lnSpc>
              <a:spcAft>
                <a:spcPts val="201"/>
              </a:spcAft>
            </a:pPr>
            <a:r>
              <a:rPr lang="en-US" sz="1250" b="1" u="none" strike="noStrike">
                <a:solidFill>
                  <a:srgbClr val="0E1A33"/>
                </a:solidFill>
                <a:effectLst/>
                <a:uFillTx/>
                <a:latin typeface="Calibri"/>
              </a:rPr>
              <a:t>Disclaimer</a:t>
            </a:r>
            <a:endParaRPr lang="en-US" sz="1250" b="0" u="none" strike="noStrike">
              <a:solidFill>
                <a:srgbClr val="000000"/>
              </a:solidFill>
              <a:effectLst/>
              <a:uFillTx/>
              <a:latin typeface="Arial"/>
            </a:endParaRPr>
          </a:p>
          <a:p>
            <a:pPr defTabSz="457200">
              <a:lnSpc>
                <a:spcPct val="110000"/>
              </a:lnSpc>
            </a:pPr>
            <a:r>
              <a:rPr lang="en-US" sz="1100" b="0" u="none" strike="noStrike">
                <a:solidFill>
                  <a:srgbClr val="6B7280"/>
                </a:solidFill>
                <a:effectLst/>
                <a:uFillTx/>
                <a:latin typeface="Calibri"/>
              </a:rPr>
              <a:t>Every report states that the assessment is automated and subject to review.</a:t>
            </a:r>
            <a:endParaRPr lang="en-US" sz="11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2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12" name="Rectangle 1"/>
          <p:cNvSpPr/>
          <p:nvPr/>
        </p:nvSpPr>
        <p:spPr>
          <a:xfrm>
            <a:off x="0" y="0"/>
            <a:ext cx="12191400" cy="6857640"/>
          </a:xfrm>
          <a:prstGeom prst="rect">
            <a:avLst/>
          </a:prstGeom>
          <a:solidFill>
            <a:srgbClr val="FFFFFF"/>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413" name="Rectangle 2"/>
          <p:cNvSpPr/>
          <p:nvPr/>
        </p:nvSpPr>
        <p:spPr>
          <a:xfrm>
            <a:off x="0" y="0"/>
            <a:ext cx="12191400" cy="77400"/>
          </a:xfrm>
          <a:prstGeom prst="rect">
            <a:avLst/>
          </a:prstGeom>
          <a:gradFill rotWithShape="0">
            <a:gsLst>
              <a:gs pos="0">
                <a:srgbClr val="4F46E5"/>
              </a:gs>
              <a:gs pos="100000">
                <a:srgbClr val="7C3AED"/>
              </a:gs>
            </a:gsLst>
            <a:lin ang="0"/>
          </a:gra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32760" rIns="90000" bIns="32760" anchor="ctr">
            <a:noAutofit/>
          </a:bodyPr>
          <a:p>
            <a:endParaRPr lang="en-US" sz="1800" b="0" u="none" strike="noStrike">
              <a:solidFill>
                <a:schemeClr val="lt1"/>
              </a:solidFill>
              <a:effectLst/>
              <a:uFillTx/>
              <a:latin typeface="Calibri"/>
            </a:endParaRPr>
          </a:p>
        </p:txBody>
      </p:sp>
      <p:sp>
        <p:nvSpPr>
          <p:cNvPr id="414" name="TextBox 3"/>
          <p:cNvSpPr/>
          <p:nvPr/>
        </p:nvSpPr>
        <p:spPr>
          <a:xfrm>
            <a:off x="567000" y="384120"/>
            <a:ext cx="11057400" cy="237240"/>
          </a:xfrm>
          <a:prstGeom prst="rect">
            <a:avLst/>
          </a:prstGeom>
          <a:noFill/>
          <a:ln w="0">
            <a:noFill/>
          </a:ln>
        </p:spPr>
        <p:style>
          <a:lnRef idx="0"/>
          <a:fillRef idx="0"/>
          <a:effectRef idx="0"/>
          <a:fontRef idx="minor"/>
        </p:style>
        <p:txBody>
          <a:bodyPr lIns="0" tIns="0" rIns="0" bIns="0" anchor="t">
            <a:spAutoFit/>
          </a:bodyPr>
          <a:p>
            <a:pPr defTabSz="457200">
              <a:lnSpc>
                <a:spcPct val="106000"/>
              </a:lnSpc>
            </a:pPr>
            <a:r>
              <a:rPr lang="en-US" sz="950" b="1" u="none" strike="noStrike">
                <a:solidFill>
                  <a:srgbClr val="4F46E5"/>
                </a:solidFill>
                <a:effectLst/>
                <a:uFillTx/>
                <a:latin typeface="Calibri"/>
              </a:rPr>
              <a:t>PART 03  ·  WALKTHROUGH 8</a:t>
            </a:r>
            <a:endParaRPr lang="en-US" sz="950" b="0" u="none" strike="noStrike">
              <a:solidFill>
                <a:srgbClr val="000000"/>
              </a:solidFill>
              <a:effectLst/>
              <a:uFillTx/>
              <a:latin typeface="Arial"/>
            </a:endParaRPr>
          </a:p>
        </p:txBody>
      </p:sp>
      <p:sp>
        <p:nvSpPr>
          <p:cNvPr id="415" name="TextBox 4"/>
          <p:cNvSpPr/>
          <p:nvPr/>
        </p:nvSpPr>
        <p:spPr>
          <a:xfrm>
            <a:off x="567000" y="658440"/>
            <a:ext cx="11057400" cy="502560"/>
          </a:xfrm>
          <a:prstGeom prst="rect">
            <a:avLst/>
          </a:prstGeom>
          <a:noFill/>
          <a:ln w="0">
            <a:noFill/>
          </a:ln>
        </p:spPr>
        <p:style>
          <a:lnRef idx="0"/>
          <a:fillRef idx="0"/>
          <a:effectRef idx="0"/>
          <a:fontRef idx="minor"/>
        </p:style>
        <p:txBody>
          <a:bodyPr lIns="0" tIns="0" rIns="0" bIns="0" anchor="t">
            <a:spAutoFit/>
          </a:bodyPr>
          <a:p>
            <a:pPr defTabSz="457200">
              <a:lnSpc>
                <a:spcPct val="106000"/>
              </a:lnSpc>
            </a:pPr>
            <a:r>
              <a:rPr lang="en-US" sz="2700" b="1" u="none" strike="noStrike">
                <a:solidFill>
                  <a:srgbClr val="0E1A33"/>
                </a:solidFill>
                <a:effectLst/>
                <a:uFillTx/>
                <a:latin typeface="Calibri"/>
              </a:rPr>
              <a:t>The assistant explains this applicant's own result</a:t>
            </a:r>
            <a:endParaRPr lang="en-US" sz="2700" b="0" u="none" strike="noStrike">
              <a:solidFill>
                <a:srgbClr val="000000"/>
              </a:solidFill>
              <a:effectLst/>
              <a:uFillTx/>
              <a:latin typeface="Arial"/>
            </a:endParaRPr>
          </a:p>
        </p:txBody>
      </p:sp>
      <p:sp>
        <p:nvSpPr>
          <p:cNvPr id="416" name="TextBox 5"/>
          <p:cNvSpPr/>
          <p:nvPr/>
        </p:nvSpPr>
        <p:spPr>
          <a:xfrm>
            <a:off x="567000" y="1225440"/>
            <a:ext cx="9509400" cy="365400"/>
          </a:xfrm>
          <a:prstGeom prst="rect">
            <a:avLst/>
          </a:prstGeom>
          <a:noFill/>
          <a:ln w="0">
            <a:noFill/>
          </a:ln>
        </p:spPr>
        <p:style>
          <a:lnRef idx="0"/>
          <a:fillRef idx="0"/>
          <a:effectRef idx="0"/>
          <a:fontRef idx="minor"/>
        </p:style>
        <p:txBody>
          <a:bodyPr lIns="0" tIns="0" rIns="0" bIns="0" anchor="t">
            <a:spAutoFit/>
          </a:bodyPr>
          <a:p>
            <a:pPr defTabSz="457200">
              <a:lnSpc>
                <a:spcPct val="106000"/>
              </a:lnSpc>
            </a:pPr>
            <a:r>
              <a:rPr lang="en-US" sz="1250" b="0" u="none" strike="noStrike">
                <a:solidFill>
                  <a:srgbClr val="6B7280"/>
                </a:solidFill>
                <a:effectLst/>
                <a:uFillTx/>
                <a:latin typeface="Calibri"/>
              </a:rPr>
              <a:t>The panel sits in the sidebar and receives the assessment — never the applicant's name.</a:t>
            </a:r>
            <a:endParaRPr lang="en-US" sz="1250" b="0" u="none" strike="noStrike">
              <a:solidFill>
                <a:srgbClr val="000000"/>
              </a:solidFill>
              <a:effectLst/>
              <a:uFillTx/>
              <a:latin typeface="Arial"/>
            </a:endParaRPr>
          </a:p>
        </p:txBody>
      </p:sp>
      <p:sp>
        <p:nvSpPr>
          <p:cNvPr id="417" name="TextBox 6"/>
          <p:cNvSpPr/>
          <p:nvPr/>
        </p:nvSpPr>
        <p:spPr>
          <a:xfrm>
            <a:off x="567000" y="6382440"/>
            <a:ext cx="7740000" cy="273960"/>
          </a:xfrm>
          <a:prstGeom prst="rect">
            <a:avLst/>
          </a:prstGeom>
          <a:noFill/>
          <a:ln w="0">
            <a:noFill/>
          </a:ln>
        </p:spPr>
        <p:style>
          <a:lnRef idx="0"/>
          <a:fillRef idx="0"/>
          <a:effectRef idx="0"/>
          <a:fontRef idx="minor"/>
        </p:style>
        <p:txBody>
          <a:bodyPr lIns="0" tIns="0" rIns="0" bIns="0" anchor="t">
            <a:spAutoFit/>
          </a:bodyPr>
          <a:p>
            <a:pPr defTabSz="457200">
              <a:lnSpc>
                <a:spcPct val="106000"/>
              </a:lnSpc>
            </a:pPr>
            <a:r>
              <a:rPr lang="en-US" sz="900" b="0" u="none" strike="noStrike">
                <a:solidFill>
                  <a:srgbClr val="6B7280"/>
                </a:solidFill>
                <a:effectLst/>
                <a:uFillTx/>
                <a:latin typeface="Calibri"/>
              </a:rPr>
              <a:t>Loan Eligibility AI  ·  Capstone Demonstration</a:t>
            </a:r>
            <a:endParaRPr lang="en-US" sz="900" b="0" u="none" strike="noStrike">
              <a:solidFill>
                <a:srgbClr val="000000"/>
              </a:solidFill>
              <a:effectLst/>
              <a:uFillTx/>
              <a:latin typeface="Arial"/>
            </a:endParaRPr>
          </a:p>
        </p:txBody>
      </p:sp>
      <p:sp>
        <p:nvSpPr>
          <p:cNvPr id="418" name="TextBox 7"/>
          <p:cNvSpPr/>
          <p:nvPr/>
        </p:nvSpPr>
        <p:spPr>
          <a:xfrm>
            <a:off x="10527480" y="6382440"/>
            <a:ext cx="1096920" cy="273960"/>
          </a:xfrm>
          <a:prstGeom prst="rect">
            <a:avLst/>
          </a:prstGeom>
          <a:noFill/>
          <a:ln w="0">
            <a:noFill/>
          </a:ln>
        </p:spPr>
        <p:style>
          <a:lnRef idx="0"/>
          <a:fillRef idx="0"/>
          <a:effectRef idx="0"/>
          <a:fontRef idx="minor"/>
        </p:style>
        <p:txBody>
          <a:bodyPr lIns="0" tIns="0" rIns="0" bIns="0" anchor="t">
            <a:spAutoFit/>
          </a:bodyPr>
          <a:p>
            <a:pPr algn="r" defTabSz="457200">
              <a:lnSpc>
                <a:spcPct val="106000"/>
              </a:lnSpc>
            </a:pPr>
            <a:r>
              <a:rPr lang="en-US" sz="900" b="0" u="none" strike="noStrike">
                <a:solidFill>
                  <a:srgbClr val="6B7280"/>
                </a:solidFill>
                <a:effectLst/>
                <a:uFillTx/>
                <a:latin typeface="Calibri"/>
              </a:rPr>
              <a:t>21</a:t>
            </a:r>
            <a:endParaRPr lang="en-US" sz="900" b="0" u="none" strike="noStrike">
              <a:solidFill>
                <a:srgbClr val="000000"/>
              </a:solidFill>
              <a:effectLst/>
              <a:uFillTx/>
              <a:latin typeface="Arial"/>
            </a:endParaRPr>
          </a:p>
        </p:txBody>
      </p:sp>
      <p:sp>
        <p:nvSpPr>
          <p:cNvPr id="419" name="Rounded Rectangle 8"/>
          <p:cNvSpPr/>
          <p:nvPr/>
        </p:nvSpPr>
        <p:spPr>
          <a:xfrm>
            <a:off x="1316160" y="1636920"/>
            <a:ext cx="3366360" cy="4626360"/>
          </a:xfrm>
          <a:prstGeom prst="roundRect">
            <a:avLst>
              <a:gd name="adj" fmla="val 3000"/>
            </a:avLst>
          </a:prstGeom>
          <a:solidFill>
            <a:srgbClr val="F6F8FC"/>
          </a:solidFill>
          <a:ln w="12700">
            <a:solidFill>
              <a:srgbClr val="E3E8F0"/>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pic>
        <p:nvPicPr>
          <p:cNvPr id="420" name="Picture 9" descr="06_chat_sidebar_d.png"/>
          <p:cNvPicPr/>
          <p:nvPr/>
        </p:nvPicPr>
        <p:blipFill>
          <a:blip r:embed="rId1"/>
          <a:stretch/>
        </p:blipFill>
        <p:spPr>
          <a:xfrm>
            <a:off x="1380240" y="1700640"/>
            <a:ext cx="3238560" cy="4498560"/>
          </a:xfrm>
          <a:prstGeom prst="rect">
            <a:avLst/>
          </a:prstGeom>
          <a:noFill/>
          <a:ln w="9525">
            <a:solidFill>
              <a:srgbClr val="E3E8F0"/>
            </a:solidFill>
            <a:round/>
          </a:ln>
        </p:spPr>
      </p:pic>
      <p:sp>
        <p:nvSpPr>
          <p:cNvPr id="421" name="TextBox 10"/>
          <p:cNvSpPr/>
          <p:nvPr/>
        </p:nvSpPr>
        <p:spPr>
          <a:xfrm>
            <a:off x="5816520" y="1719000"/>
            <a:ext cx="5807880" cy="273960"/>
          </a:xfrm>
          <a:prstGeom prst="rect">
            <a:avLst/>
          </a:prstGeom>
          <a:noFill/>
          <a:ln w="0">
            <a:noFill/>
          </a:ln>
        </p:spPr>
        <p:style>
          <a:lnRef idx="0"/>
          <a:fillRef idx="0"/>
          <a:effectRef idx="0"/>
          <a:fontRef idx="minor"/>
        </p:style>
        <p:txBody>
          <a:bodyPr lIns="0" tIns="0" rIns="0" bIns="0" anchor="t">
            <a:spAutoFit/>
          </a:bodyPr>
          <a:p>
            <a:pPr defTabSz="457200">
              <a:lnSpc>
                <a:spcPct val="106000"/>
              </a:lnSpc>
            </a:pPr>
            <a:r>
              <a:rPr lang="en-US" sz="950" b="1" u="none" strike="noStrike">
                <a:solidFill>
                  <a:srgbClr val="4F46E5"/>
                </a:solidFill>
                <a:effectLst/>
                <a:uFillTx/>
                <a:latin typeface="Calibri"/>
              </a:rPr>
              <a:t>RESULT-AWARE ANSWERS</a:t>
            </a:r>
            <a:endParaRPr lang="en-US" sz="950" b="0" u="none" strike="noStrike">
              <a:solidFill>
                <a:srgbClr val="000000"/>
              </a:solidFill>
              <a:effectLst/>
              <a:uFillTx/>
              <a:latin typeface="Arial"/>
            </a:endParaRPr>
          </a:p>
        </p:txBody>
      </p:sp>
      <p:sp>
        <p:nvSpPr>
          <p:cNvPr id="422" name="Oval 11"/>
          <p:cNvSpPr/>
          <p:nvPr/>
        </p:nvSpPr>
        <p:spPr>
          <a:xfrm>
            <a:off x="5816520" y="2103120"/>
            <a:ext cx="237240" cy="237240"/>
          </a:xfrm>
          <a:prstGeom prst="ellipse">
            <a:avLst/>
          </a:prstGeom>
          <a:solidFill>
            <a:srgbClr val="4F46E5"/>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pPr algn="ctr" defTabSz="457200">
              <a:lnSpc>
                <a:spcPct val="106000"/>
              </a:lnSpc>
            </a:pPr>
            <a:r>
              <a:rPr lang="en-US" sz="1050" b="1" u="none" strike="noStrike">
                <a:solidFill>
                  <a:srgbClr val="FFFFFF"/>
                </a:solidFill>
                <a:effectLst/>
                <a:uFillTx/>
                <a:latin typeface="Calibri"/>
              </a:rPr>
              <a:t>1</a:t>
            </a:r>
            <a:endParaRPr lang="en-US" sz="1050" b="0" u="none" strike="noStrike">
              <a:solidFill>
                <a:srgbClr val="FFFFFF"/>
              </a:solidFill>
              <a:effectLst/>
              <a:uFillTx/>
              <a:latin typeface="Arial"/>
            </a:endParaRPr>
          </a:p>
        </p:txBody>
      </p:sp>
      <p:sp>
        <p:nvSpPr>
          <p:cNvPr id="423" name="TextBox 12"/>
          <p:cNvSpPr/>
          <p:nvPr/>
        </p:nvSpPr>
        <p:spPr>
          <a:xfrm>
            <a:off x="6182280" y="2066400"/>
            <a:ext cx="5442120" cy="365400"/>
          </a:xfrm>
          <a:prstGeom prst="rect">
            <a:avLst/>
          </a:prstGeom>
          <a:noFill/>
          <a:ln w="0">
            <a:noFill/>
          </a:ln>
        </p:spPr>
        <p:style>
          <a:lnRef idx="0"/>
          <a:fillRef idx="0"/>
          <a:effectRef idx="0"/>
          <a:fontRef idx="minor"/>
        </p:style>
        <p:txBody>
          <a:bodyPr lIns="0" tIns="0" rIns="0" bIns="0" anchor="t">
            <a:spAutoFit/>
          </a:bodyPr>
          <a:p>
            <a:pPr defTabSz="457200">
              <a:lnSpc>
                <a:spcPct val="106000"/>
              </a:lnSpc>
              <a:spcAft>
                <a:spcPts val="201"/>
              </a:spcAft>
            </a:pPr>
            <a:r>
              <a:rPr lang="en-US" sz="1250" b="1" u="none" strike="noStrike">
                <a:solidFill>
                  <a:srgbClr val="0E1A33"/>
                </a:solidFill>
                <a:effectLst/>
                <a:uFillTx/>
                <a:latin typeface="Calibri"/>
              </a:rPr>
              <a:t>'Why am I eligible?'</a:t>
            </a:r>
            <a:endParaRPr lang="en-US" sz="1250" b="0" u="none" strike="noStrike">
              <a:solidFill>
                <a:srgbClr val="000000"/>
              </a:solidFill>
              <a:effectLst/>
              <a:uFillTx/>
              <a:latin typeface="Arial"/>
            </a:endParaRPr>
          </a:p>
          <a:p>
            <a:pPr defTabSz="457200">
              <a:lnSpc>
                <a:spcPct val="110000"/>
              </a:lnSpc>
            </a:pPr>
            <a:r>
              <a:rPr lang="en-US" sz="1100" b="0" u="none" strike="noStrike">
                <a:solidFill>
                  <a:srgbClr val="6B7280"/>
                </a:solidFill>
                <a:effectLst/>
                <a:uFillTx/>
                <a:latin typeface="Calibri"/>
              </a:rPr>
              <a:t>Answered from the actual rule results, quoting the same four checks shown on the page.</a:t>
            </a:r>
            <a:endParaRPr lang="en-US" sz="1100" b="0" u="none" strike="noStrike">
              <a:solidFill>
                <a:srgbClr val="000000"/>
              </a:solidFill>
              <a:effectLst/>
              <a:uFillTx/>
              <a:latin typeface="Arial"/>
            </a:endParaRPr>
          </a:p>
        </p:txBody>
      </p:sp>
      <p:sp>
        <p:nvSpPr>
          <p:cNvPr id="424" name="Oval 13"/>
          <p:cNvSpPr/>
          <p:nvPr/>
        </p:nvSpPr>
        <p:spPr>
          <a:xfrm>
            <a:off x="5816520" y="2825640"/>
            <a:ext cx="237240" cy="237240"/>
          </a:xfrm>
          <a:prstGeom prst="ellipse">
            <a:avLst/>
          </a:prstGeom>
          <a:solidFill>
            <a:srgbClr val="7C3AED"/>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pPr algn="ctr" defTabSz="457200">
              <a:lnSpc>
                <a:spcPct val="106000"/>
              </a:lnSpc>
            </a:pPr>
            <a:r>
              <a:rPr lang="en-US" sz="1050" b="1" u="none" strike="noStrike">
                <a:solidFill>
                  <a:srgbClr val="FFFFFF"/>
                </a:solidFill>
                <a:effectLst/>
                <a:uFillTx/>
                <a:latin typeface="Calibri"/>
              </a:rPr>
              <a:t>2</a:t>
            </a:r>
            <a:endParaRPr lang="en-US" sz="1050" b="0" u="none" strike="noStrike">
              <a:solidFill>
                <a:srgbClr val="FFFFFF"/>
              </a:solidFill>
              <a:effectLst/>
              <a:uFillTx/>
              <a:latin typeface="Arial"/>
            </a:endParaRPr>
          </a:p>
        </p:txBody>
      </p:sp>
      <p:sp>
        <p:nvSpPr>
          <p:cNvPr id="425" name="TextBox 14"/>
          <p:cNvSpPr/>
          <p:nvPr/>
        </p:nvSpPr>
        <p:spPr>
          <a:xfrm>
            <a:off x="6182280" y="2788920"/>
            <a:ext cx="5442120" cy="365400"/>
          </a:xfrm>
          <a:prstGeom prst="rect">
            <a:avLst/>
          </a:prstGeom>
          <a:noFill/>
          <a:ln w="0">
            <a:noFill/>
          </a:ln>
        </p:spPr>
        <p:style>
          <a:lnRef idx="0"/>
          <a:fillRef idx="0"/>
          <a:effectRef idx="0"/>
          <a:fontRef idx="minor"/>
        </p:style>
        <p:txBody>
          <a:bodyPr lIns="0" tIns="0" rIns="0" bIns="0" anchor="t">
            <a:spAutoFit/>
          </a:bodyPr>
          <a:p>
            <a:pPr defTabSz="457200">
              <a:lnSpc>
                <a:spcPct val="106000"/>
              </a:lnSpc>
              <a:spcAft>
                <a:spcPts val="201"/>
              </a:spcAft>
            </a:pPr>
            <a:r>
              <a:rPr lang="en-US" sz="1250" b="1" u="none" strike="noStrike">
                <a:solidFill>
                  <a:srgbClr val="0E1A33"/>
                </a:solidFill>
                <a:effectLst/>
                <a:uFillTx/>
                <a:latin typeface="Calibri"/>
              </a:rPr>
              <a:t>'What is my EMI ratio?'</a:t>
            </a:r>
            <a:endParaRPr lang="en-US" sz="1250" b="0" u="none" strike="noStrike">
              <a:solidFill>
                <a:srgbClr val="000000"/>
              </a:solidFill>
              <a:effectLst/>
              <a:uFillTx/>
              <a:latin typeface="Arial"/>
            </a:endParaRPr>
          </a:p>
          <a:p>
            <a:pPr defTabSz="457200">
              <a:lnSpc>
                <a:spcPct val="110000"/>
              </a:lnSpc>
            </a:pPr>
            <a:r>
              <a:rPr lang="en-US" sz="1100" b="0" u="none" strike="noStrike">
                <a:solidFill>
                  <a:srgbClr val="6B7280"/>
                </a:solidFill>
                <a:effectLst/>
                <a:uFillTx/>
                <a:latin typeface="Calibri"/>
              </a:rPr>
              <a:t>34.7% with the explanation of how it is composed — the number comes from the assessment, not the model.</a:t>
            </a:r>
            <a:endParaRPr lang="en-US" sz="1100" b="0" u="none" strike="noStrike">
              <a:solidFill>
                <a:srgbClr val="000000"/>
              </a:solidFill>
              <a:effectLst/>
              <a:uFillTx/>
              <a:latin typeface="Arial"/>
            </a:endParaRPr>
          </a:p>
        </p:txBody>
      </p:sp>
      <p:sp>
        <p:nvSpPr>
          <p:cNvPr id="426" name="Oval 15"/>
          <p:cNvSpPr/>
          <p:nvPr/>
        </p:nvSpPr>
        <p:spPr>
          <a:xfrm>
            <a:off x="5816520" y="3717000"/>
            <a:ext cx="237240" cy="237240"/>
          </a:xfrm>
          <a:prstGeom prst="ellipse">
            <a:avLst/>
          </a:prstGeom>
          <a:solidFill>
            <a:srgbClr val="06B6D4"/>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pPr algn="ctr" defTabSz="457200">
              <a:lnSpc>
                <a:spcPct val="106000"/>
              </a:lnSpc>
            </a:pPr>
            <a:r>
              <a:rPr lang="en-US" sz="1050" b="1" u="none" strike="noStrike">
                <a:solidFill>
                  <a:srgbClr val="FFFFFF"/>
                </a:solidFill>
                <a:effectLst/>
                <a:uFillTx/>
                <a:latin typeface="Calibri"/>
              </a:rPr>
              <a:t>3</a:t>
            </a:r>
            <a:endParaRPr lang="en-US" sz="1050" b="0" u="none" strike="noStrike">
              <a:solidFill>
                <a:srgbClr val="000000"/>
              </a:solidFill>
              <a:effectLst/>
              <a:uFillTx/>
              <a:latin typeface="Arial"/>
            </a:endParaRPr>
          </a:p>
        </p:txBody>
      </p:sp>
      <p:sp>
        <p:nvSpPr>
          <p:cNvPr id="427" name="TextBox 16"/>
          <p:cNvSpPr/>
          <p:nvPr/>
        </p:nvSpPr>
        <p:spPr>
          <a:xfrm>
            <a:off x="6182280" y="3680640"/>
            <a:ext cx="5442120" cy="365400"/>
          </a:xfrm>
          <a:prstGeom prst="rect">
            <a:avLst/>
          </a:prstGeom>
          <a:noFill/>
          <a:ln w="0">
            <a:noFill/>
          </a:ln>
        </p:spPr>
        <p:style>
          <a:lnRef idx="0"/>
          <a:fillRef idx="0"/>
          <a:effectRef idx="0"/>
          <a:fontRef idx="minor"/>
        </p:style>
        <p:txBody>
          <a:bodyPr lIns="0" tIns="0" rIns="0" bIns="0" anchor="t">
            <a:spAutoFit/>
          </a:bodyPr>
          <a:p>
            <a:pPr defTabSz="457200">
              <a:lnSpc>
                <a:spcPct val="106000"/>
              </a:lnSpc>
              <a:spcAft>
                <a:spcPts val="201"/>
              </a:spcAft>
            </a:pPr>
            <a:r>
              <a:rPr lang="en-US" sz="1250" b="1" u="none" strike="noStrike">
                <a:solidFill>
                  <a:srgbClr val="0E1A33"/>
                </a:solidFill>
                <a:effectLst/>
                <a:uFillTx/>
                <a:latin typeface="Calibri"/>
              </a:rPr>
              <a:t>'What documents will I need?'</a:t>
            </a:r>
            <a:endParaRPr lang="en-US" sz="1250" b="0" u="none" strike="noStrike">
              <a:solidFill>
                <a:srgbClr val="000000"/>
              </a:solidFill>
              <a:effectLst/>
              <a:uFillTx/>
              <a:latin typeface="Arial"/>
            </a:endParaRPr>
          </a:p>
          <a:p>
            <a:pPr defTabSz="457200">
              <a:lnSpc>
                <a:spcPct val="110000"/>
              </a:lnSpc>
            </a:pPr>
            <a:r>
              <a:rPr lang="en-US" sz="1100" b="0" u="none" strike="noStrike">
                <a:solidFill>
                  <a:srgbClr val="6B7280"/>
                </a:solidFill>
                <a:effectLst/>
                <a:uFillTx/>
                <a:latin typeface="Calibri"/>
              </a:rPr>
              <a:t>A process question, answered from the FAQ knowledge base.</a:t>
            </a:r>
            <a:endParaRPr lang="en-US" sz="1100" b="0" u="none" strike="noStrike">
              <a:solidFill>
                <a:srgbClr val="000000"/>
              </a:solidFill>
              <a:effectLst/>
              <a:uFillTx/>
              <a:latin typeface="Arial"/>
            </a:endParaRPr>
          </a:p>
        </p:txBody>
      </p:sp>
      <p:sp>
        <p:nvSpPr>
          <p:cNvPr id="428" name="Oval 17"/>
          <p:cNvSpPr/>
          <p:nvPr/>
        </p:nvSpPr>
        <p:spPr>
          <a:xfrm>
            <a:off x="5816520" y="4439520"/>
            <a:ext cx="237240" cy="237240"/>
          </a:xfrm>
          <a:prstGeom prst="ellipse">
            <a:avLst/>
          </a:prstGeom>
          <a:solidFill>
            <a:srgbClr val="15A34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pPr algn="ctr" defTabSz="457200">
              <a:lnSpc>
                <a:spcPct val="106000"/>
              </a:lnSpc>
            </a:pPr>
            <a:r>
              <a:rPr lang="en-US" sz="1050" b="1" u="none" strike="noStrike">
                <a:solidFill>
                  <a:srgbClr val="FFFFFF"/>
                </a:solidFill>
                <a:effectLst/>
                <a:uFillTx/>
                <a:latin typeface="Calibri"/>
              </a:rPr>
              <a:t>4</a:t>
            </a:r>
            <a:endParaRPr lang="en-US" sz="1050" b="0" u="none" strike="noStrike">
              <a:solidFill>
                <a:srgbClr val="FFFFFF"/>
              </a:solidFill>
              <a:effectLst/>
              <a:uFillTx/>
              <a:latin typeface="Arial"/>
            </a:endParaRPr>
          </a:p>
        </p:txBody>
      </p:sp>
      <p:sp>
        <p:nvSpPr>
          <p:cNvPr id="429" name="TextBox 18"/>
          <p:cNvSpPr/>
          <p:nvPr/>
        </p:nvSpPr>
        <p:spPr>
          <a:xfrm>
            <a:off x="6182280" y="4402800"/>
            <a:ext cx="5442120" cy="365400"/>
          </a:xfrm>
          <a:prstGeom prst="rect">
            <a:avLst/>
          </a:prstGeom>
          <a:noFill/>
          <a:ln w="0">
            <a:noFill/>
          </a:ln>
        </p:spPr>
        <p:style>
          <a:lnRef idx="0"/>
          <a:fillRef idx="0"/>
          <a:effectRef idx="0"/>
          <a:fontRef idx="minor"/>
        </p:style>
        <p:txBody>
          <a:bodyPr lIns="0" tIns="0" rIns="0" bIns="0" anchor="t">
            <a:spAutoFit/>
          </a:bodyPr>
          <a:p>
            <a:pPr defTabSz="457200">
              <a:lnSpc>
                <a:spcPct val="106000"/>
              </a:lnSpc>
              <a:spcAft>
                <a:spcPts val="201"/>
              </a:spcAft>
            </a:pPr>
            <a:r>
              <a:rPr lang="en-US" sz="1250" b="1" u="none" strike="noStrike">
                <a:solidFill>
                  <a:srgbClr val="0E1A33"/>
                </a:solidFill>
                <a:effectLst/>
                <a:uFillTx/>
                <a:latin typeface="Calibri"/>
              </a:rPr>
              <a:t>Sources shown</a:t>
            </a:r>
            <a:endParaRPr lang="en-US" sz="1250" b="0" u="none" strike="noStrike">
              <a:solidFill>
                <a:srgbClr val="000000"/>
              </a:solidFill>
              <a:effectLst/>
              <a:uFillTx/>
              <a:latin typeface="Arial"/>
            </a:endParaRPr>
          </a:p>
          <a:p>
            <a:pPr defTabSz="457200">
              <a:lnSpc>
                <a:spcPct val="110000"/>
              </a:lnSpc>
            </a:pPr>
            <a:r>
              <a:rPr lang="en-US" sz="1100" b="0" u="none" strike="noStrike">
                <a:solidFill>
                  <a:srgbClr val="6B7280"/>
                </a:solidFill>
                <a:effectLst/>
                <a:uFillTx/>
                <a:latin typeface="Calibri"/>
              </a:rPr>
              <a:t>Each answer lists the FAQ entries it drew on, expandable for the full text.</a:t>
            </a:r>
            <a:endParaRPr lang="en-US" sz="1100" b="0" u="none" strike="noStrike">
              <a:solidFill>
                <a:srgbClr val="000000"/>
              </a:solidFill>
              <a:effectLst/>
              <a:uFillTx/>
              <a:latin typeface="Arial"/>
            </a:endParaRPr>
          </a:p>
        </p:txBody>
      </p:sp>
      <p:sp>
        <p:nvSpPr>
          <p:cNvPr id="430" name="Oval 19"/>
          <p:cNvSpPr/>
          <p:nvPr/>
        </p:nvSpPr>
        <p:spPr>
          <a:xfrm>
            <a:off x="5816520" y="5161680"/>
            <a:ext cx="237240" cy="237240"/>
          </a:xfrm>
          <a:prstGeom prst="ellipse">
            <a:avLst/>
          </a:prstGeom>
          <a:solidFill>
            <a:srgbClr val="D9770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pPr algn="ctr" defTabSz="457200">
              <a:lnSpc>
                <a:spcPct val="106000"/>
              </a:lnSpc>
            </a:pPr>
            <a:r>
              <a:rPr lang="en-US" sz="1050" b="1" u="none" strike="noStrike">
                <a:solidFill>
                  <a:srgbClr val="FFFFFF"/>
                </a:solidFill>
                <a:effectLst/>
                <a:uFillTx/>
                <a:latin typeface="Calibri"/>
              </a:rPr>
              <a:t>5</a:t>
            </a:r>
            <a:endParaRPr lang="en-US" sz="1050" b="0" u="none" strike="noStrike">
              <a:solidFill>
                <a:srgbClr val="FFFFFF"/>
              </a:solidFill>
              <a:effectLst/>
              <a:uFillTx/>
              <a:latin typeface="Arial"/>
            </a:endParaRPr>
          </a:p>
        </p:txBody>
      </p:sp>
      <p:sp>
        <p:nvSpPr>
          <p:cNvPr id="431" name="TextBox 20"/>
          <p:cNvSpPr/>
          <p:nvPr/>
        </p:nvSpPr>
        <p:spPr>
          <a:xfrm>
            <a:off x="6182280" y="5125320"/>
            <a:ext cx="5442120" cy="365400"/>
          </a:xfrm>
          <a:prstGeom prst="rect">
            <a:avLst/>
          </a:prstGeom>
          <a:noFill/>
          <a:ln w="0">
            <a:noFill/>
          </a:ln>
        </p:spPr>
        <p:style>
          <a:lnRef idx="0"/>
          <a:fillRef idx="0"/>
          <a:effectRef idx="0"/>
          <a:fontRef idx="minor"/>
        </p:style>
        <p:txBody>
          <a:bodyPr lIns="0" tIns="0" rIns="0" bIns="0" anchor="t">
            <a:spAutoFit/>
          </a:bodyPr>
          <a:p>
            <a:pPr defTabSz="457200">
              <a:lnSpc>
                <a:spcPct val="106000"/>
              </a:lnSpc>
              <a:spcAft>
                <a:spcPts val="201"/>
              </a:spcAft>
            </a:pPr>
            <a:r>
              <a:rPr lang="en-US" sz="1250" b="1" u="none" strike="noStrike">
                <a:solidFill>
                  <a:srgbClr val="0E1A33"/>
                </a:solidFill>
                <a:effectLst/>
                <a:uFillTx/>
                <a:latin typeface="Calibri"/>
              </a:rPr>
              <a:t>Mode badge</a:t>
            </a:r>
            <a:endParaRPr lang="en-US" sz="1250" b="0" u="none" strike="noStrike">
              <a:solidFill>
                <a:srgbClr val="000000"/>
              </a:solidFill>
              <a:effectLst/>
              <a:uFillTx/>
              <a:latin typeface="Arial"/>
            </a:endParaRPr>
          </a:p>
          <a:p>
            <a:pPr defTabSz="457200">
              <a:lnSpc>
                <a:spcPct val="110000"/>
              </a:lnSpc>
            </a:pPr>
            <a:r>
              <a:rPr lang="en-US" sz="1100" b="0" u="none" strike="noStrike">
                <a:solidFill>
                  <a:srgbClr val="6B7280"/>
                </a:solidFill>
                <a:effectLst/>
                <a:uFillTx/>
                <a:latin typeface="Calibri"/>
              </a:rPr>
              <a:t>'Instant answers from our policy guide' — this run needed no API key at all.</a:t>
            </a:r>
            <a:endParaRPr lang="en-US" sz="11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2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32" name="Rectangle 1"/>
          <p:cNvSpPr/>
          <p:nvPr/>
        </p:nvSpPr>
        <p:spPr>
          <a:xfrm>
            <a:off x="0" y="0"/>
            <a:ext cx="12191400" cy="6857640"/>
          </a:xfrm>
          <a:prstGeom prst="rect">
            <a:avLst/>
          </a:prstGeom>
          <a:solidFill>
            <a:srgbClr val="FFFFFF"/>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433" name="Rectangle 2"/>
          <p:cNvSpPr/>
          <p:nvPr/>
        </p:nvSpPr>
        <p:spPr>
          <a:xfrm>
            <a:off x="0" y="0"/>
            <a:ext cx="12191400" cy="77400"/>
          </a:xfrm>
          <a:prstGeom prst="rect">
            <a:avLst/>
          </a:prstGeom>
          <a:gradFill rotWithShape="0">
            <a:gsLst>
              <a:gs pos="0">
                <a:srgbClr val="4F46E5"/>
              </a:gs>
              <a:gs pos="100000">
                <a:srgbClr val="7C3AED"/>
              </a:gs>
            </a:gsLst>
            <a:lin ang="0"/>
          </a:gra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32760" rIns="90000" bIns="32760" anchor="ctr">
            <a:noAutofit/>
          </a:bodyPr>
          <a:p>
            <a:endParaRPr lang="en-US" sz="1800" b="0" u="none" strike="noStrike">
              <a:solidFill>
                <a:schemeClr val="lt1"/>
              </a:solidFill>
              <a:effectLst/>
              <a:uFillTx/>
              <a:latin typeface="Calibri"/>
            </a:endParaRPr>
          </a:p>
        </p:txBody>
      </p:sp>
      <p:sp>
        <p:nvSpPr>
          <p:cNvPr id="434" name="TextBox 3"/>
          <p:cNvSpPr/>
          <p:nvPr/>
        </p:nvSpPr>
        <p:spPr>
          <a:xfrm>
            <a:off x="567000" y="384120"/>
            <a:ext cx="11057400" cy="237240"/>
          </a:xfrm>
          <a:prstGeom prst="rect">
            <a:avLst/>
          </a:prstGeom>
          <a:noFill/>
          <a:ln w="0">
            <a:noFill/>
          </a:ln>
        </p:spPr>
        <p:style>
          <a:lnRef idx="0"/>
          <a:fillRef idx="0"/>
          <a:effectRef idx="0"/>
          <a:fontRef idx="minor"/>
        </p:style>
        <p:txBody>
          <a:bodyPr lIns="0" tIns="0" rIns="0" bIns="0" anchor="t">
            <a:spAutoFit/>
          </a:bodyPr>
          <a:p>
            <a:pPr defTabSz="457200">
              <a:lnSpc>
                <a:spcPct val="106000"/>
              </a:lnSpc>
            </a:pPr>
            <a:r>
              <a:rPr lang="en-US" sz="950" b="1" u="none" strike="noStrike">
                <a:solidFill>
                  <a:srgbClr val="4F46E5"/>
                </a:solidFill>
                <a:effectLst/>
                <a:uFillTx/>
                <a:latin typeface="Calibri"/>
              </a:rPr>
              <a:t>PART 03  ·  WALKTHROUGH 9</a:t>
            </a:r>
            <a:endParaRPr lang="en-US" sz="950" b="0" u="none" strike="noStrike">
              <a:solidFill>
                <a:srgbClr val="000000"/>
              </a:solidFill>
              <a:effectLst/>
              <a:uFillTx/>
              <a:latin typeface="Arial"/>
            </a:endParaRPr>
          </a:p>
        </p:txBody>
      </p:sp>
      <p:sp>
        <p:nvSpPr>
          <p:cNvPr id="435" name="TextBox 4"/>
          <p:cNvSpPr/>
          <p:nvPr/>
        </p:nvSpPr>
        <p:spPr>
          <a:xfrm>
            <a:off x="567000" y="658440"/>
            <a:ext cx="11057400" cy="502560"/>
          </a:xfrm>
          <a:prstGeom prst="rect">
            <a:avLst/>
          </a:prstGeom>
          <a:noFill/>
          <a:ln w="0">
            <a:noFill/>
          </a:ln>
        </p:spPr>
        <p:style>
          <a:lnRef idx="0"/>
          <a:fillRef idx="0"/>
          <a:effectRef idx="0"/>
          <a:fontRef idx="minor"/>
        </p:style>
        <p:txBody>
          <a:bodyPr lIns="0" tIns="0" rIns="0" bIns="0" anchor="t">
            <a:spAutoFit/>
          </a:bodyPr>
          <a:p>
            <a:pPr defTabSz="457200">
              <a:lnSpc>
                <a:spcPct val="106000"/>
              </a:lnSpc>
            </a:pPr>
            <a:r>
              <a:rPr lang="en-US" sz="2700" b="1" u="none" strike="noStrike">
                <a:solidFill>
                  <a:srgbClr val="0E1A33"/>
                </a:solidFill>
                <a:effectLst/>
                <a:uFillTx/>
                <a:latin typeface="Calibri"/>
              </a:rPr>
              <a:t>Two things the assistant refuses to do</a:t>
            </a:r>
            <a:endParaRPr lang="en-US" sz="2700" b="0" u="none" strike="noStrike">
              <a:solidFill>
                <a:srgbClr val="000000"/>
              </a:solidFill>
              <a:effectLst/>
              <a:uFillTx/>
              <a:latin typeface="Arial"/>
            </a:endParaRPr>
          </a:p>
        </p:txBody>
      </p:sp>
      <p:sp>
        <p:nvSpPr>
          <p:cNvPr id="436" name="TextBox 5"/>
          <p:cNvSpPr/>
          <p:nvPr/>
        </p:nvSpPr>
        <p:spPr>
          <a:xfrm>
            <a:off x="567000" y="1225440"/>
            <a:ext cx="9509400" cy="365400"/>
          </a:xfrm>
          <a:prstGeom prst="rect">
            <a:avLst/>
          </a:prstGeom>
          <a:noFill/>
          <a:ln w="0">
            <a:noFill/>
          </a:ln>
        </p:spPr>
        <p:style>
          <a:lnRef idx="0"/>
          <a:fillRef idx="0"/>
          <a:effectRef idx="0"/>
          <a:fontRef idx="minor"/>
        </p:style>
        <p:txBody>
          <a:bodyPr lIns="0" tIns="0" rIns="0" bIns="0" anchor="t">
            <a:spAutoFit/>
          </a:bodyPr>
          <a:p>
            <a:pPr defTabSz="457200">
              <a:lnSpc>
                <a:spcPct val="106000"/>
              </a:lnSpc>
            </a:pPr>
            <a:r>
              <a:rPr lang="en-US" sz="1250" b="0" u="none" strike="noStrike">
                <a:solidFill>
                  <a:srgbClr val="6B7280"/>
                </a:solidFill>
                <a:effectLst/>
                <a:uFillTx/>
                <a:latin typeface="Calibri"/>
              </a:rPr>
              <a:t>Sensitive data is stopped at the door, and out-of-scope questions are declined, not guessed.</a:t>
            </a:r>
            <a:endParaRPr lang="en-US" sz="1250" b="0" u="none" strike="noStrike">
              <a:solidFill>
                <a:srgbClr val="000000"/>
              </a:solidFill>
              <a:effectLst/>
              <a:uFillTx/>
              <a:latin typeface="Arial"/>
            </a:endParaRPr>
          </a:p>
        </p:txBody>
      </p:sp>
      <p:sp>
        <p:nvSpPr>
          <p:cNvPr id="437" name="TextBox 6"/>
          <p:cNvSpPr/>
          <p:nvPr/>
        </p:nvSpPr>
        <p:spPr>
          <a:xfrm>
            <a:off x="567000" y="6382440"/>
            <a:ext cx="7740000" cy="273960"/>
          </a:xfrm>
          <a:prstGeom prst="rect">
            <a:avLst/>
          </a:prstGeom>
          <a:noFill/>
          <a:ln w="0">
            <a:noFill/>
          </a:ln>
        </p:spPr>
        <p:style>
          <a:lnRef idx="0"/>
          <a:fillRef idx="0"/>
          <a:effectRef idx="0"/>
          <a:fontRef idx="minor"/>
        </p:style>
        <p:txBody>
          <a:bodyPr lIns="0" tIns="0" rIns="0" bIns="0" anchor="t">
            <a:spAutoFit/>
          </a:bodyPr>
          <a:p>
            <a:pPr defTabSz="457200">
              <a:lnSpc>
                <a:spcPct val="106000"/>
              </a:lnSpc>
            </a:pPr>
            <a:r>
              <a:rPr lang="en-US" sz="900" b="0" u="none" strike="noStrike">
                <a:solidFill>
                  <a:srgbClr val="6B7280"/>
                </a:solidFill>
                <a:effectLst/>
                <a:uFillTx/>
                <a:latin typeface="Calibri"/>
              </a:rPr>
              <a:t>Loan Eligibility AI  ·  Capstone Demonstration</a:t>
            </a:r>
            <a:endParaRPr lang="en-US" sz="900" b="0" u="none" strike="noStrike">
              <a:solidFill>
                <a:srgbClr val="000000"/>
              </a:solidFill>
              <a:effectLst/>
              <a:uFillTx/>
              <a:latin typeface="Arial"/>
            </a:endParaRPr>
          </a:p>
        </p:txBody>
      </p:sp>
      <p:sp>
        <p:nvSpPr>
          <p:cNvPr id="438" name="TextBox 7"/>
          <p:cNvSpPr/>
          <p:nvPr/>
        </p:nvSpPr>
        <p:spPr>
          <a:xfrm>
            <a:off x="10527480" y="6382440"/>
            <a:ext cx="1096920" cy="273960"/>
          </a:xfrm>
          <a:prstGeom prst="rect">
            <a:avLst/>
          </a:prstGeom>
          <a:noFill/>
          <a:ln w="0">
            <a:noFill/>
          </a:ln>
        </p:spPr>
        <p:style>
          <a:lnRef idx="0"/>
          <a:fillRef idx="0"/>
          <a:effectRef idx="0"/>
          <a:fontRef idx="minor"/>
        </p:style>
        <p:txBody>
          <a:bodyPr lIns="0" tIns="0" rIns="0" bIns="0" anchor="t">
            <a:spAutoFit/>
          </a:bodyPr>
          <a:p>
            <a:pPr algn="r" defTabSz="457200">
              <a:lnSpc>
                <a:spcPct val="106000"/>
              </a:lnSpc>
            </a:pPr>
            <a:r>
              <a:rPr lang="en-US" sz="900" b="0" u="none" strike="noStrike">
                <a:solidFill>
                  <a:srgbClr val="6B7280"/>
                </a:solidFill>
                <a:effectLst/>
                <a:uFillTx/>
                <a:latin typeface="Calibri"/>
              </a:rPr>
              <a:t>22</a:t>
            </a:r>
            <a:endParaRPr lang="en-US" sz="900" b="0" u="none" strike="noStrike">
              <a:solidFill>
                <a:srgbClr val="000000"/>
              </a:solidFill>
              <a:effectLst/>
              <a:uFillTx/>
              <a:latin typeface="Arial"/>
            </a:endParaRPr>
          </a:p>
        </p:txBody>
      </p:sp>
      <p:sp>
        <p:nvSpPr>
          <p:cNvPr id="439" name="Rounded Rectangle 8"/>
          <p:cNvSpPr/>
          <p:nvPr/>
        </p:nvSpPr>
        <p:spPr>
          <a:xfrm>
            <a:off x="502920" y="1850400"/>
            <a:ext cx="4993200" cy="4199400"/>
          </a:xfrm>
          <a:prstGeom prst="roundRect">
            <a:avLst>
              <a:gd name="adj" fmla="val 3000"/>
            </a:avLst>
          </a:prstGeom>
          <a:solidFill>
            <a:srgbClr val="F6F8FC"/>
          </a:solidFill>
          <a:ln w="12700">
            <a:solidFill>
              <a:srgbClr val="E3E8F0"/>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pic>
        <p:nvPicPr>
          <p:cNvPr id="440" name="Picture 9" descr="07_chat_safety_d.png"/>
          <p:cNvPicPr/>
          <p:nvPr/>
        </p:nvPicPr>
        <p:blipFill>
          <a:blip r:embed="rId1"/>
          <a:stretch/>
        </p:blipFill>
        <p:spPr>
          <a:xfrm>
            <a:off x="567000" y="1914480"/>
            <a:ext cx="4865040" cy="4071240"/>
          </a:xfrm>
          <a:prstGeom prst="rect">
            <a:avLst/>
          </a:prstGeom>
          <a:noFill/>
          <a:ln w="9525">
            <a:solidFill>
              <a:srgbClr val="E3E8F0"/>
            </a:solidFill>
            <a:round/>
          </a:ln>
        </p:spPr>
      </p:pic>
      <p:sp>
        <p:nvSpPr>
          <p:cNvPr id="441" name="TextBox 10"/>
          <p:cNvSpPr/>
          <p:nvPr/>
        </p:nvSpPr>
        <p:spPr>
          <a:xfrm>
            <a:off x="5816520" y="1719000"/>
            <a:ext cx="5807880" cy="273960"/>
          </a:xfrm>
          <a:prstGeom prst="rect">
            <a:avLst/>
          </a:prstGeom>
          <a:noFill/>
          <a:ln w="0">
            <a:noFill/>
          </a:ln>
        </p:spPr>
        <p:style>
          <a:lnRef idx="0"/>
          <a:fillRef idx="0"/>
          <a:effectRef idx="0"/>
          <a:fontRef idx="minor"/>
        </p:style>
        <p:txBody>
          <a:bodyPr lIns="0" tIns="0" rIns="0" bIns="0" anchor="t">
            <a:spAutoFit/>
          </a:bodyPr>
          <a:p>
            <a:pPr defTabSz="457200">
              <a:lnSpc>
                <a:spcPct val="106000"/>
              </a:lnSpc>
            </a:pPr>
            <a:r>
              <a:rPr lang="en-US" sz="950" b="1" u="none" strike="noStrike">
                <a:solidFill>
                  <a:srgbClr val="4F46E5"/>
                </a:solidFill>
                <a:effectLst/>
                <a:uFillTx/>
                <a:latin typeface="Calibri"/>
              </a:rPr>
              <a:t>GUARD RAILS</a:t>
            </a:r>
            <a:endParaRPr lang="en-US" sz="950" b="0" u="none" strike="noStrike">
              <a:solidFill>
                <a:srgbClr val="000000"/>
              </a:solidFill>
              <a:effectLst/>
              <a:uFillTx/>
              <a:latin typeface="Arial"/>
            </a:endParaRPr>
          </a:p>
        </p:txBody>
      </p:sp>
      <p:sp>
        <p:nvSpPr>
          <p:cNvPr id="442" name="Oval 11"/>
          <p:cNvSpPr/>
          <p:nvPr/>
        </p:nvSpPr>
        <p:spPr>
          <a:xfrm>
            <a:off x="5816520" y="2103120"/>
            <a:ext cx="237240" cy="237240"/>
          </a:xfrm>
          <a:prstGeom prst="ellipse">
            <a:avLst/>
          </a:prstGeom>
          <a:solidFill>
            <a:srgbClr val="4F46E5"/>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pPr algn="ctr" defTabSz="457200">
              <a:lnSpc>
                <a:spcPct val="106000"/>
              </a:lnSpc>
            </a:pPr>
            <a:r>
              <a:rPr lang="en-US" sz="1050" b="1" u="none" strike="noStrike">
                <a:solidFill>
                  <a:srgbClr val="FFFFFF"/>
                </a:solidFill>
                <a:effectLst/>
                <a:uFillTx/>
                <a:latin typeface="Calibri"/>
              </a:rPr>
              <a:t>1</a:t>
            </a:r>
            <a:endParaRPr lang="en-US" sz="1050" b="0" u="none" strike="noStrike">
              <a:solidFill>
                <a:srgbClr val="FFFFFF"/>
              </a:solidFill>
              <a:effectLst/>
              <a:uFillTx/>
              <a:latin typeface="Arial"/>
            </a:endParaRPr>
          </a:p>
        </p:txBody>
      </p:sp>
      <p:sp>
        <p:nvSpPr>
          <p:cNvPr id="443" name="TextBox 12"/>
          <p:cNvSpPr/>
          <p:nvPr/>
        </p:nvSpPr>
        <p:spPr>
          <a:xfrm>
            <a:off x="6182280" y="2066400"/>
            <a:ext cx="5442120" cy="365400"/>
          </a:xfrm>
          <a:prstGeom prst="rect">
            <a:avLst/>
          </a:prstGeom>
          <a:noFill/>
          <a:ln w="0">
            <a:noFill/>
          </a:ln>
        </p:spPr>
        <p:style>
          <a:lnRef idx="0"/>
          <a:fillRef idx="0"/>
          <a:effectRef idx="0"/>
          <a:fontRef idx="minor"/>
        </p:style>
        <p:txBody>
          <a:bodyPr lIns="0" tIns="0" rIns="0" bIns="0" anchor="t">
            <a:spAutoFit/>
          </a:bodyPr>
          <a:p>
            <a:pPr defTabSz="457200">
              <a:lnSpc>
                <a:spcPct val="106000"/>
              </a:lnSpc>
              <a:spcAft>
                <a:spcPts val="201"/>
              </a:spcAft>
            </a:pPr>
            <a:r>
              <a:rPr lang="en-US" sz="1250" b="1" u="none" strike="noStrike">
                <a:solidFill>
                  <a:srgbClr val="0E1A33"/>
                </a:solidFill>
                <a:effectLst/>
                <a:uFillTx/>
                <a:latin typeface="Calibri"/>
              </a:rPr>
              <a:t>Sensitive input blocked</a:t>
            </a:r>
            <a:endParaRPr lang="en-US" sz="1250" b="0" u="none" strike="noStrike">
              <a:solidFill>
                <a:srgbClr val="000000"/>
              </a:solidFill>
              <a:effectLst/>
              <a:uFillTx/>
              <a:latin typeface="Arial"/>
            </a:endParaRPr>
          </a:p>
          <a:p>
            <a:pPr defTabSz="457200">
              <a:lnSpc>
                <a:spcPct val="110000"/>
              </a:lnSpc>
            </a:pPr>
            <a:r>
              <a:rPr lang="en-US" sz="1100" b="0" u="none" strike="noStrike">
                <a:solidFill>
                  <a:srgbClr val="6B7280"/>
                </a:solidFill>
                <a:effectLst/>
                <a:uFillTx/>
                <a:latin typeface="Calibri"/>
              </a:rPr>
              <a:t>A card number in the message triggers the guard: the applicant is warned and the text is forwarded nowhere — not to retrieval, not to any API.</a:t>
            </a:r>
            <a:endParaRPr lang="en-US" sz="1100" b="0" u="none" strike="noStrike">
              <a:solidFill>
                <a:srgbClr val="000000"/>
              </a:solidFill>
              <a:effectLst/>
              <a:uFillTx/>
              <a:latin typeface="Arial"/>
            </a:endParaRPr>
          </a:p>
        </p:txBody>
      </p:sp>
      <p:sp>
        <p:nvSpPr>
          <p:cNvPr id="444" name="Oval 13"/>
          <p:cNvSpPr/>
          <p:nvPr/>
        </p:nvSpPr>
        <p:spPr>
          <a:xfrm>
            <a:off x="5816520" y="3163680"/>
            <a:ext cx="237240" cy="237240"/>
          </a:xfrm>
          <a:prstGeom prst="ellipse">
            <a:avLst/>
          </a:prstGeom>
          <a:solidFill>
            <a:srgbClr val="7C3AED"/>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pPr algn="ctr" defTabSz="457200">
              <a:lnSpc>
                <a:spcPct val="106000"/>
              </a:lnSpc>
            </a:pPr>
            <a:r>
              <a:rPr lang="en-US" sz="1050" b="1" u="none" strike="noStrike">
                <a:solidFill>
                  <a:srgbClr val="FFFFFF"/>
                </a:solidFill>
                <a:effectLst/>
                <a:uFillTx/>
                <a:latin typeface="Calibri"/>
              </a:rPr>
              <a:t>2</a:t>
            </a:r>
            <a:endParaRPr lang="en-US" sz="1050" b="0" u="none" strike="noStrike">
              <a:solidFill>
                <a:srgbClr val="FFFFFF"/>
              </a:solidFill>
              <a:effectLst/>
              <a:uFillTx/>
              <a:latin typeface="Arial"/>
            </a:endParaRPr>
          </a:p>
        </p:txBody>
      </p:sp>
      <p:sp>
        <p:nvSpPr>
          <p:cNvPr id="445" name="TextBox 14"/>
          <p:cNvSpPr/>
          <p:nvPr/>
        </p:nvSpPr>
        <p:spPr>
          <a:xfrm>
            <a:off x="6182280" y="3127320"/>
            <a:ext cx="5442120" cy="365400"/>
          </a:xfrm>
          <a:prstGeom prst="rect">
            <a:avLst/>
          </a:prstGeom>
          <a:noFill/>
          <a:ln w="0">
            <a:noFill/>
          </a:ln>
        </p:spPr>
        <p:style>
          <a:lnRef idx="0"/>
          <a:fillRef idx="0"/>
          <a:effectRef idx="0"/>
          <a:fontRef idx="minor"/>
        </p:style>
        <p:txBody>
          <a:bodyPr lIns="0" tIns="0" rIns="0" bIns="0" anchor="t">
            <a:spAutoFit/>
          </a:bodyPr>
          <a:p>
            <a:pPr defTabSz="457200">
              <a:lnSpc>
                <a:spcPct val="106000"/>
              </a:lnSpc>
              <a:spcAft>
                <a:spcPts val="201"/>
              </a:spcAft>
            </a:pPr>
            <a:r>
              <a:rPr lang="en-US" sz="1250" b="1" u="none" strike="noStrike">
                <a:solidFill>
                  <a:srgbClr val="0E1A33"/>
                </a:solidFill>
                <a:effectLst/>
                <a:uFillTx/>
                <a:latin typeface="Calibri"/>
              </a:rPr>
              <a:t>Never logged</a:t>
            </a:r>
            <a:endParaRPr lang="en-US" sz="1250" b="0" u="none" strike="noStrike">
              <a:solidFill>
                <a:srgbClr val="000000"/>
              </a:solidFill>
              <a:effectLst/>
              <a:uFillTx/>
              <a:latin typeface="Arial"/>
            </a:endParaRPr>
          </a:p>
          <a:p>
            <a:pPr defTabSz="457200">
              <a:lnSpc>
                <a:spcPct val="110000"/>
              </a:lnSpc>
            </a:pPr>
            <a:r>
              <a:rPr lang="en-US" sz="1100" b="0" u="none" strike="noStrike">
                <a:solidFill>
                  <a:srgbClr val="6B7280"/>
                </a:solidFill>
                <a:effectLst/>
                <a:uFillTx/>
                <a:latin typeface="Calibri"/>
              </a:rPr>
              <a:t>The audit line records the message length and matched FAQ ids. The question text itself is never written to disk.</a:t>
            </a:r>
            <a:endParaRPr lang="en-US" sz="1100" b="0" u="none" strike="noStrike">
              <a:solidFill>
                <a:srgbClr val="000000"/>
              </a:solidFill>
              <a:effectLst/>
              <a:uFillTx/>
              <a:latin typeface="Arial"/>
            </a:endParaRPr>
          </a:p>
        </p:txBody>
      </p:sp>
      <p:sp>
        <p:nvSpPr>
          <p:cNvPr id="446" name="Oval 15"/>
          <p:cNvSpPr/>
          <p:nvPr/>
        </p:nvSpPr>
        <p:spPr>
          <a:xfrm>
            <a:off x="5816520" y="4055400"/>
            <a:ext cx="237240" cy="237240"/>
          </a:xfrm>
          <a:prstGeom prst="ellipse">
            <a:avLst/>
          </a:prstGeom>
          <a:solidFill>
            <a:srgbClr val="06B6D4"/>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pPr algn="ctr" defTabSz="457200">
              <a:lnSpc>
                <a:spcPct val="106000"/>
              </a:lnSpc>
            </a:pPr>
            <a:r>
              <a:rPr lang="en-US" sz="1050" b="1" u="none" strike="noStrike">
                <a:solidFill>
                  <a:srgbClr val="FFFFFF"/>
                </a:solidFill>
                <a:effectLst/>
                <a:uFillTx/>
                <a:latin typeface="Calibri"/>
              </a:rPr>
              <a:t>3</a:t>
            </a:r>
            <a:endParaRPr lang="en-US" sz="1050" b="0" u="none" strike="noStrike">
              <a:solidFill>
                <a:srgbClr val="000000"/>
              </a:solidFill>
              <a:effectLst/>
              <a:uFillTx/>
              <a:latin typeface="Arial"/>
            </a:endParaRPr>
          </a:p>
        </p:txBody>
      </p:sp>
      <p:sp>
        <p:nvSpPr>
          <p:cNvPr id="447" name="TextBox 16"/>
          <p:cNvSpPr/>
          <p:nvPr/>
        </p:nvSpPr>
        <p:spPr>
          <a:xfrm>
            <a:off x="6182280" y="4018680"/>
            <a:ext cx="5442120" cy="365400"/>
          </a:xfrm>
          <a:prstGeom prst="rect">
            <a:avLst/>
          </a:prstGeom>
          <a:noFill/>
          <a:ln w="0">
            <a:noFill/>
          </a:ln>
        </p:spPr>
        <p:style>
          <a:lnRef idx="0"/>
          <a:fillRef idx="0"/>
          <a:effectRef idx="0"/>
          <a:fontRef idx="minor"/>
        </p:style>
        <p:txBody>
          <a:bodyPr lIns="0" tIns="0" rIns="0" bIns="0" anchor="t">
            <a:spAutoFit/>
          </a:bodyPr>
          <a:p>
            <a:pPr defTabSz="457200">
              <a:lnSpc>
                <a:spcPct val="106000"/>
              </a:lnSpc>
              <a:spcAft>
                <a:spcPts val="201"/>
              </a:spcAft>
            </a:pPr>
            <a:r>
              <a:rPr lang="en-US" sz="1250" b="1" u="none" strike="noStrike">
                <a:solidFill>
                  <a:srgbClr val="0E1A33"/>
                </a:solidFill>
                <a:effectLst/>
                <a:uFillTx/>
                <a:latin typeface="Calibri"/>
              </a:rPr>
              <a:t>Scope control</a:t>
            </a:r>
            <a:endParaRPr lang="en-US" sz="1250" b="0" u="none" strike="noStrike">
              <a:solidFill>
                <a:srgbClr val="000000"/>
              </a:solidFill>
              <a:effectLst/>
              <a:uFillTx/>
              <a:latin typeface="Arial"/>
            </a:endParaRPr>
          </a:p>
          <a:p>
            <a:pPr defTabSz="457200">
              <a:lnSpc>
                <a:spcPct val="110000"/>
              </a:lnSpc>
            </a:pPr>
            <a:r>
              <a:rPr lang="en-US" sz="1100" b="0" u="none" strike="noStrike">
                <a:solidFill>
                  <a:srgbClr val="6B7280"/>
                </a:solidFill>
                <a:effectLst/>
                <a:uFillTx/>
                <a:latin typeface="Calibri"/>
              </a:rPr>
              <a:t>An off-topic question gets an honest 'I can only help with…' plus suggestions, instead of a fabricated answer.</a:t>
            </a:r>
            <a:endParaRPr lang="en-US" sz="1100" b="0" u="none" strike="noStrike">
              <a:solidFill>
                <a:srgbClr val="000000"/>
              </a:solidFill>
              <a:effectLst/>
              <a:uFillTx/>
              <a:latin typeface="Arial"/>
            </a:endParaRPr>
          </a:p>
        </p:txBody>
      </p:sp>
      <p:sp>
        <p:nvSpPr>
          <p:cNvPr id="448" name="Oval 17"/>
          <p:cNvSpPr/>
          <p:nvPr/>
        </p:nvSpPr>
        <p:spPr>
          <a:xfrm>
            <a:off x="5816520" y="4946760"/>
            <a:ext cx="237240" cy="237240"/>
          </a:xfrm>
          <a:prstGeom prst="ellipse">
            <a:avLst/>
          </a:prstGeom>
          <a:solidFill>
            <a:srgbClr val="15A34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pPr algn="ctr" defTabSz="457200">
              <a:lnSpc>
                <a:spcPct val="106000"/>
              </a:lnSpc>
            </a:pPr>
            <a:r>
              <a:rPr lang="en-US" sz="1050" b="1" u="none" strike="noStrike">
                <a:solidFill>
                  <a:srgbClr val="FFFFFF"/>
                </a:solidFill>
                <a:effectLst/>
                <a:uFillTx/>
                <a:latin typeface="Calibri"/>
              </a:rPr>
              <a:t>4</a:t>
            </a:r>
            <a:endParaRPr lang="en-US" sz="1050" b="0" u="none" strike="noStrike">
              <a:solidFill>
                <a:srgbClr val="FFFFFF"/>
              </a:solidFill>
              <a:effectLst/>
              <a:uFillTx/>
              <a:latin typeface="Arial"/>
            </a:endParaRPr>
          </a:p>
        </p:txBody>
      </p:sp>
      <p:sp>
        <p:nvSpPr>
          <p:cNvPr id="449" name="TextBox 18"/>
          <p:cNvSpPr/>
          <p:nvPr/>
        </p:nvSpPr>
        <p:spPr>
          <a:xfrm>
            <a:off x="6182280" y="4910400"/>
            <a:ext cx="5442120" cy="365400"/>
          </a:xfrm>
          <a:prstGeom prst="rect">
            <a:avLst/>
          </a:prstGeom>
          <a:noFill/>
          <a:ln w="0">
            <a:noFill/>
          </a:ln>
        </p:spPr>
        <p:style>
          <a:lnRef idx="0"/>
          <a:fillRef idx="0"/>
          <a:effectRef idx="0"/>
          <a:fontRef idx="minor"/>
        </p:style>
        <p:txBody>
          <a:bodyPr lIns="0" tIns="0" rIns="0" bIns="0" anchor="t">
            <a:spAutoFit/>
          </a:bodyPr>
          <a:p>
            <a:pPr defTabSz="457200">
              <a:lnSpc>
                <a:spcPct val="106000"/>
              </a:lnSpc>
              <a:spcAft>
                <a:spcPts val="201"/>
              </a:spcAft>
            </a:pPr>
            <a:r>
              <a:rPr lang="en-US" sz="1250" b="1" u="none" strike="noStrike">
                <a:solidFill>
                  <a:srgbClr val="0E1A33"/>
                </a:solidFill>
                <a:effectLst/>
                <a:uFillTx/>
                <a:latin typeface="Calibri"/>
              </a:rPr>
              <a:t>Confidence floor</a:t>
            </a:r>
            <a:endParaRPr lang="en-US" sz="1250" b="0" u="none" strike="noStrike">
              <a:solidFill>
                <a:srgbClr val="000000"/>
              </a:solidFill>
              <a:effectLst/>
              <a:uFillTx/>
              <a:latin typeface="Arial"/>
            </a:endParaRPr>
          </a:p>
          <a:p>
            <a:pPr defTabSz="457200">
              <a:lnSpc>
                <a:spcPct val="110000"/>
              </a:lnSpc>
            </a:pPr>
            <a:r>
              <a:rPr lang="en-US" sz="1100" b="0" u="none" strike="noStrike">
                <a:solidFill>
                  <a:srgbClr val="6B7280"/>
                </a:solidFill>
                <a:effectLst/>
                <a:uFillTx/>
                <a:latin typeface="Calibri"/>
              </a:rPr>
              <a:t>Retrieval below 0.34 confidence is treated as out of scope by design.</a:t>
            </a:r>
            <a:endParaRPr lang="en-US" sz="11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2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50" name="Rectangle 1"/>
          <p:cNvSpPr/>
          <p:nvPr/>
        </p:nvSpPr>
        <p:spPr>
          <a:xfrm>
            <a:off x="0" y="0"/>
            <a:ext cx="12191400" cy="6857640"/>
          </a:xfrm>
          <a:prstGeom prst="rect">
            <a:avLst/>
          </a:prstGeom>
          <a:solidFill>
            <a:srgbClr val="FFFFFF"/>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451" name="Rectangle 2"/>
          <p:cNvSpPr/>
          <p:nvPr/>
        </p:nvSpPr>
        <p:spPr>
          <a:xfrm>
            <a:off x="0" y="0"/>
            <a:ext cx="12191400" cy="77400"/>
          </a:xfrm>
          <a:prstGeom prst="rect">
            <a:avLst/>
          </a:prstGeom>
          <a:gradFill rotWithShape="0">
            <a:gsLst>
              <a:gs pos="0">
                <a:srgbClr val="4F46E5"/>
              </a:gs>
              <a:gs pos="100000">
                <a:srgbClr val="7C3AED"/>
              </a:gs>
            </a:gsLst>
            <a:lin ang="0"/>
          </a:gra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32760" rIns="90000" bIns="32760" anchor="ctr">
            <a:noAutofit/>
          </a:bodyPr>
          <a:p>
            <a:endParaRPr lang="en-US" sz="1800" b="0" u="none" strike="noStrike">
              <a:solidFill>
                <a:schemeClr val="lt1"/>
              </a:solidFill>
              <a:effectLst/>
              <a:uFillTx/>
              <a:latin typeface="Calibri"/>
            </a:endParaRPr>
          </a:p>
        </p:txBody>
      </p:sp>
      <p:sp>
        <p:nvSpPr>
          <p:cNvPr id="452" name="TextBox 3"/>
          <p:cNvSpPr/>
          <p:nvPr/>
        </p:nvSpPr>
        <p:spPr>
          <a:xfrm>
            <a:off x="567000" y="384120"/>
            <a:ext cx="11057400" cy="237240"/>
          </a:xfrm>
          <a:prstGeom prst="rect">
            <a:avLst/>
          </a:prstGeom>
          <a:noFill/>
          <a:ln w="0">
            <a:noFill/>
          </a:ln>
        </p:spPr>
        <p:style>
          <a:lnRef idx="0"/>
          <a:fillRef idx="0"/>
          <a:effectRef idx="0"/>
          <a:fontRef idx="minor"/>
        </p:style>
        <p:txBody>
          <a:bodyPr lIns="0" tIns="0" rIns="0" bIns="0" anchor="t">
            <a:spAutoFit/>
          </a:bodyPr>
          <a:p>
            <a:pPr defTabSz="457200">
              <a:lnSpc>
                <a:spcPct val="106000"/>
              </a:lnSpc>
            </a:pPr>
            <a:r>
              <a:rPr lang="en-US" sz="950" b="1" u="none" strike="noStrike">
                <a:solidFill>
                  <a:srgbClr val="4F46E5"/>
                </a:solidFill>
                <a:effectLst/>
                <a:uFillTx/>
                <a:latin typeface="Calibri"/>
              </a:rPr>
              <a:t>PART 03  ·  WALKTHROUGH 10</a:t>
            </a:r>
            <a:endParaRPr lang="en-US" sz="950" b="0" u="none" strike="noStrike">
              <a:solidFill>
                <a:srgbClr val="000000"/>
              </a:solidFill>
              <a:effectLst/>
              <a:uFillTx/>
              <a:latin typeface="Arial"/>
            </a:endParaRPr>
          </a:p>
        </p:txBody>
      </p:sp>
      <p:sp>
        <p:nvSpPr>
          <p:cNvPr id="453" name="TextBox 4"/>
          <p:cNvSpPr/>
          <p:nvPr/>
        </p:nvSpPr>
        <p:spPr>
          <a:xfrm>
            <a:off x="567000" y="658440"/>
            <a:ext cx="11057400" cy="502560"/>
          </a:xfrm>
          <a:prstGeom prst="rect">
            <a:avLst/>
          </a:prstGeom>
          <a:noFill/>
          <a:ln w="0">
            <a:noFill/>
          </a:ln>
        </p:spPr>
        <p:style>
          <a:lnRef idx="0"/>
          <a:fillRef idx="0"/>
          <a:effectRef idx="0"/>
          <a:fontRef idx="minor"/>
        </p:style>
        <p:txBody>
          <a:bodyPr lIns="0" tIns="0" rIns="0" bIns="0" anchor="t">
            <a:spAutoFit/>
          </a:bodyPr>
          <a:p>
            <a:pPr defTabSz="457200">
              <a:lnSpc>
                <a:spcPct val="106000"/>
              </a:lnSpc>
            </a:pPr>
            <a:r>
              <a:rPr lang="en-US" sz="2700" b="1" u="none" strike="noStrike">
                <a:solidFill>
                  <a:srgbClr val="0E1A33"/>
                </a:solidFill>
                <a:effectLst/>
                <a:uFillTx/>
                <a:latin typeface="Calibri"/>
              </a:rPr>
              <a:t>The same decision, straight from the API</a:t>
            </a:r>
            <a:endParaRPr lang="en-US" sz="2700" b="0" u="none" strike="noStrike">
              <a:solidFill>
                <a:srgbClr val="000000"/>
              </a:solidFill>
              <a:effectLst/>
              <a:uFillTx/>
              <a:latin typeface="Arial"/>
            </a:endParaRPr>
          </a:p>
        </p:txBody>
      </p:sp>
      <p:sp>
        <p:nvSpPr>
          <p:cNvPr id="454" name="TextBox 5"/>
          <p:cNvSpPr/>
          <p:nvPr/>
        </p:nvSpPr>
        <p:spPr>
          <a:xfrm>
            <a:off x="567000" y="1225440"/>
            <a:ext cx="9509400" cy="365400"/>
          </a:xfrm>
          <a:prstGeom prst="rect">
            <a:avLst/>
          </a:prstGeom>
          <a:noFill/>
          <a:ln w="0">
            <a:noFill/>
          </a:ln>
        </p:spPr>
        <p:style>
          <a:lnRef idx="0"/>
          <a:fillRef idx="0"/>
          <a:effectRef idx="0"/>
          <a:fontRef idx="minor"/>
        </p:style>
        <p:txBody>
          <a:bodyPr lIns="0" tIns="0" rIns="0" bIns="0" anchor="t">
            <a:spAutoFit/>
          </a:bodyPr>
          <a:p>
            <a:pPr defTabSz="457200">
              <a:lnSpc>
                <a:spcPct val="106000"/>
              </a:lnSpc>
            </a:pPr>
            <a:r>
              <a:rPr lang="en-US" sz="1250" b="0" u="none" strike="noStrike">
                <a:solidFill>
                  <a:srgbClr val="6B7280"/>
                </a:solidFill>
                <a:effectLst/>
                <a:uFillTx/>
                <a:latin typeface="Calibri"/>
              </a:rPr>
              <a:t>http://localhost:8000/docs — FastAPI generates the OpenAPI schema and this console from the code.</a:t>
            </a:r>
            <a:endParaRPr lang="en-US" sz="1250" b="0" u="none" strike="noStrike">
              <a:solidFill>
                <a:srgbClr val="000000"/>
              </a:solidFill>
              <a:effectLst/>
              <a:uFillTx/>
              <a:latin typeface="Arial"/>
            </a:endParaRPr>
          </a:p>
        </p:txBody>
      </p:sp>
      <p:sp>
        <p:nvSpPr>
          <p:cNvPr id="455" name="TextBox 6"/>
          <p:cNvSpPr/>
          <p:nvPr/>
        </p:nvSpPr>
        <p:spPr>
          <a:xfrm>
            <a:off x="567000" y="6382440"/>
            <a:ext cx="7740000" cy="273960"/>
          </a:xfrm>
          <a:prstGeom prst="rect">
            <a:avLst/>
          </a:prstGeom>
          <a:noFill/>
          <a:ln w="0">
            <a:noFill/>
          </a:ln>
        </p:spPr>
        <p:style>
          <a:lnRef idx="0"/>
          <a:fillRef idx="0"/>
          <a:effectRef idx="0"/>
          <a:fontRef idx="minor"/>
        </p:style>
        <p:txBody>
          <a:bodyPr lIns="0" tIns="0" rIns="0" bIns="0" anchor="t">
            <a:spAutoFit/>
          </a:bodyPr>
          <a:p>
            <a:pPr defTabSz="457200">
              <a:lnSpc>
                <a:spcPct val="106000"/>
              </a:lnSpc>
            </a:pPr>
            <a:r>
              <a:rPr lang="en-US" sz="900" b="0" u="none" strike="noStrike">
                <a:solidFill>
                  <a:srgbClr val="6B7280"/>
                </a:solidFill>
                <a:effectLst/>
                <a:uFillTx/>
                <a:latin typeface="Calibri"/>
              </a:rPr>
              <a:t>Loan Eligibility AI  ·  Capstone Demonstration</a:t>
            </a:r>
            <a:endParaRPr lang="en-US" sz="900" b="0" u="none" strike="noStrike">
              <a:solidFill>
                <a:srgbClr val="000000"/>
              </a:solidFill>
              <a:effectLst/>
              <a:uFillTx/>
              <a:latin typeface="Arial"/>
            </a:endParaRPr>
          </a:p>
        </p:txBody>
      </p:sp>
      <p:sp>
        <p:nvSpPr>
          <p:cNvPr id="456" name="TextBox 7"/>
          <p:cNvSpPr/>
          <p:nvPr/>
        </p:nvSpPr>
        <p:spPr>
          <a:xfrm>
            <a:off x="10527480" y="6382440"/>
            <a:ext cx="1096920" cy="273960"/>
          </a:xfrm>
          <a:prstGeom prst="rect">
            <a:avLst/>
          </a:prstGeom>
          <a:noFill/>
          <a:ln w="0">
            <a:noFill/>
          </a:ln>
        </p:spPr>
        <p:style>
          <a:lnRef idx="0"/>
          <a:fillRef idx="0"/>
          <a:effectRef idx="0"/>
          <a:fontRef idx="minor"/>
        </p:style>
        <p:txBody>
          <a:bodyPr lIns="0" tIns="0" rIns="0" bIns="0" anchor="t">
            <a:spAutoFit/>
          </a:bodyPr>
          <a:p>
            <a:pPr algn="r" defTabSz="457200">
              <a:lnSpc>
                <a:spcPct val="106000"/>
              </a:lnSpc>
            </a:pPr>
            <a:r>
              <a:rPr lang="en-US" sz="900" b="0" u="none" strike="noStrike">
                <a:solidFill>
                  <a:srgbClr val="6B7280"/>
                </a:solidFill>
                <a:effectLst/>
                <a:uFillTx/>
                <a:latin typeface="Calibri"/>
              </a:rPr>
              <a:t>23</a:t>
            </a:r>
            <a:endParaRPr lang="en-US" sz="900" b="0" u="none" strike="noStrike">
              <a:solidFill>
                <a:srgbClr val="000000"/>
              </a:solidFill>
              <a:effectLst/>
              <a:uFillTx/>
              <a:latin typeface="Arial"/>
            </a:endParaRPr>
          </a:p>
        </p:txBody>
      </p:sp>
      <p:sp>
        <p:nvSpPr>
          <p:cNvPr id="457" name="Rounded Rectangle 8"/>
          <p:cNvSpPr/>
          <p:nvPr/>
        </p:nvSpPr>
        <p:spPr>
          <a:xfrm>
            <a:off x="502920" y="2086560"/>
            <a:ext cx="6762240" cy="3727080"/>
          </a:xfrm>
          <a:prstGeom prst="roundRect">
            <a:avLst>
              <a:gd name="adj" fmla="val 3000"/>
            </a:avLst>
          </a:prstGeom>
          <a:solidFill>
            <a:srgbClr val="F6F8FC"/>
          </a:solidFill>
          <a:ln w="12700">
            <a:solidFill>
              <a:srgbClr val="E3E8F0"/>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pic>
        <p:nvPicPr>
          <p:cNvPr id="458" name="Picture 9" descr="12_api_process_endpoint_d.png"/>
          <p:cNvPicPr/>
          <p:nvPr/>
        </p:nvPicPr>
        <p:blipFill>
          <a:blip r:embed="rId1"/>
          <a:stretch/>
        </p:blipFill>
        <p:spPr>
          <a:xfrm>
            <a:off x="567000" y="2150640"/>
            <a:ext cx="6634440" cy="3598920"/>
          </a:xfrm>
          <a:prstGeom prst="rect">
            <a:avLst/>
          </a:prstGeom>
          <a:noFill/>
          <a:ln w="9525">
            <a:solidFill>
              <a:srgbClr val="E3E8F0"/>
            </a:solidFill>
            <a:round/>
          </a:ln>
        </p:spPr>
      </p:pic>
      <p:sp>
        <p:nvSpPr>
          <p:cNvPr id="459" name="TextBox 10"/>
          <p:cNvSpPr/>
          <p:nvPr/>
        </p:nvSpPr>
        <p:spPr>
          <a:xfrm>
            <a:off x="7585560" y="1719000"/>
            <a:ext cx="4038840" cy="273960"/>
          </a:xfrm>
          <a:prstGeom prst="rect">
            <a:avLst/>
          </a:prstGeom>
          <a:noFill/>
          <a:ln w="0">
            <a:noFill/>
          </a:ln>
        </p:spPr>
        <p:style>
          <a:lnRef idx="0"/>
          <a:fillRef idx="0"/>
          <a:effectRef idx="0"/>
          <a:fontRef idx="minor"/>
        </p:style>
        <p:txBody>
          <a:bodyPr lIns="0" tIns="0" rIns="0" bIns="0" anchor="t">
            <a:spAutoFit/>
          </a:bodyPr>
          <a:p>
            <a:pPr defTabSz="457200">
              <a:lnSpc>
                <a:spcPct val="106000"/>
              </a:lnSpc>
            </a:pPr>
            <a:r>
              <a:rPr lang="en-US" sz="950" b="1" u="none" strike="noStrike">
                <a:solidFill>
                  <a:srgbClr val="4F46E5"/>
                </a:solidFill>
                <a:effectLst/>
                <a:uFillTx/>
                <a:latin typeface="Calibri"/>
              </a:rPr>
              <a:t>WHY THIS MATTERS</a:t>
            </a:r>
            <a:endParaRPr lang="en-US" sz="950" b="0" u="none" strike="noStrike">
              <a:solidFill>
                <a:srgbClr val="000000"/>
              </a:solidFill>
              <a:effectLst/>
              <a:uFillTx/>
              <a:latin typeface="Arial"/>
            </a:endParaRPr>
          </a:p>
        </p:txBody>
      </p:sp>
      <p:sp>
        <p:nvSpPr>
          <p:cNvPr id="460" name="Oval 11"/>
          <p:cNvSpPr/>
          <p:nvPr/>
        </p:nvSpPr>
        <p:spPr>
          <a:xfrm>
            <a:off x="7585560" y="2103120"/>
            <a:ext cx="237240" cy="237240"/>
          </a:xfrm>
          <a:prstGeom prst="ellipse">
            <a:avLst/>
          </a:prstGeom>
          <a:solidFill>
            <a:srgbClr val="4F46E5"/>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pPr algn="ctr" defTabSz="457200">
              <a:lnSpc>
                <a:spcPct val="106000"/>
              </a:lnSpc>
            </a:pPr>
            <a:r>
              <a:rPr lang="en-US" sz="1050" b="1" u="none" strike="noStrike">
                <a:solidFill>
                  <a:srgbClr val="FFFFFF"/>
                </a:solidFill>
                <a:effectLst/>
                <a:uFillTx/>
                <a:latin typeface="Calibri"/>
              </a:rPr>
              <a:t>1</a:t>
            </a:r>
            <a:endParaRPr lang="en-US" sz="1050" b="0" u="none" strike="noStrike">
              <a:solidFill>
                <a:srgbClr val="FFFFFF"/>
              </a:solidFill>
              <a:effectLst/>
              <a:uFillTx/>
              <a:latin typeface="Arial"/>
            </a:endParaRPr>
          </a:p>
        </p:txBody>
      </p:sp>
      <p:sp>
        <p:nvSpPr>
          <p:cNvPr id="461" name="TextBox 12"/>
          <p:cNvSpPr/>
          <p:nvPr/>
        </p:nvSpPr>
        <p:spPr>
          <a:xfrm>
            <a:off x="7951320" y="2066400"/>
            <a:ext cx="3673080" cy="365400"/>
          </a:xfrm>
          <a:prstGeom prst="rect">
            <a:avLst/>
          </a:prstGeom>
          <a:noFill/>
          <a:ln w="0">
            <a:noFill/>
          </a:ln>
        </p:spPr>
        <p:style>
          <a:lnRef idx="0"/>
          <a:fillRef idx="0"/>
          <a:effectRef idx="0"/>
          <a:fontRef idx="minor"/>
        </p:style>
        <p:txBody>
          <a:bodyPr lIns="0" tIns="0" rIns="0" bIns="0" anchor="t">
            <a:spAutoFit/>
          </a:bodyPr>
          <a:p>
            <a:pPr defTabSz="457200">
              <a:lnSpc>
                <a:spcPct val="106000"/>
              </a:lnSpc>
              <a:spcAft>
                <a:spcPts val="201"/>
              </a:spcAft>
            </a:pPr>
            <a:r>
              <a:rPr lang="en-US" sz="1250" b="1" u="none" strike="noStrike">
                <a:solidFill>
                  <a:srgbClr val="0E1A33"/>
                </a:solidFill>
                <a:effectLst/>
                <a:uFillTx/>
                <a:latin typeface="Calibri"/>
              </a:rPr>
              <a:t>Self-documenting</a:t>
            </a:r>
            <a:endParaRPr lang="en-US" sz="1250" b="0" u="none" strike="noStrike">
              <a:solidFill>
                <a:srgbClr val="000000"/>
              </a:solidFill>
              <a:effectLst/>
              <a:uFillTx/>
              <a:latin typeface="Arial"/>
            </a:endParaRPr>
          </a:p>
          <a:p>
            <a:pPr defTabSz="457200">
              <a:lnSpc>
                <a:spcPct val="110000"/>
              </a:lnSpc>
            </a:pPr>
            <a:r>
              <a:rPr lang="en-US" sz="1100" b="0" u="none" strike="noStrike">
                <a:solidFill>
                  <a:srgbClr val="6B7280"/>
                </a:solidFill>
                <a:effectLst/>
                <a:uFillTx/>
                <a:latin typeface="Calibri"/>
              </a:rPr>
              <a:t>Endpoint descriptions, request schema and response codes come from the Pydantic models and docstrings.</a:t>
            </a:r>
            <a:endParaRPr lang="en-US" sz="1100" b="0" u="none" strike="noStrike">
              <a:solidFill>
                <a:srgbClr val="000000"/>
              </a:solidFill>
              <a:effectLst/>
              <a:uFillTx/>
              <a:latin typeface="Arial"/>
            </a:endParaRPr>
          </a:p>
        </p:txBody>
      </p:sp>
      <p:sp>
        <p:nvSpPr>
          <p:cNvPr id="462" name="Oval 13"/>
          <p:cNvSpPr/>
          <p:nvPr/>
        </p:nvSpPr>
        <p:spPr>
          <a:xfrm>
            <a:off x="7585560" y="2994840"/>
            <a:ext cx="237240" cy="237240"/>
          </a:xfrm>
          <a:prstGeom prst="ellipse">
            <a:avLst/>
          </a:prstGeom>
          <a:solidFill>
            <a:srgbClr val="7C3AED"/>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pPr algn="ctr" defTabSz="457200">
              <a:lnSpc>
                <a:spcPct val="106000"/>
              </a:lnSpc>
            </a:pPr>
            <a:r>
              <a:rPr lang="en-US" sz="1050" b="1" u="none" strike="noStrike">
                <a:solidFill>
                  <a:srgbClr val="FFFFFF"/>
                </a:solidFill>
                <a:effectLst/>
                <a:uFillTx/>
                <a:latin typeface="Calibri"/>
              </a:rPr>
              <a:t>2</a:t>
            </a:r>
            <a:endParaRPr lang="en-US" sz="1050" b="0" u="none" strike="noStrike">
              <a:solidFill>
                <a:srgbClr val="FFFFFF"/>
              </a:solidFill>
              <a:effectLst/>
              <a:uFillTx/>
              <a:latin typeface="Arial"/>
            </a:endParaRPr>
          </a:p>
        </p:txBody>
      </p:sp>
      <p:sp>
        <p:nvSpPr>
          <p:cNvPr id="463" name="TextBox 14"/>
          <p:cNvSpPr/>
          <p:nvPr/>
        </p:nvSpPr>
        <p:spPr>
          <a:xfrm>
            <a:off x="7951320" y="2958120"/>
            <a:ext cx="3673080" cy="365400"/>
          </a:xfrm>
          <a:prstGeom prst="rect">
            <a:avLst/>
          </a:prstGeom>
          <a:noFill/>
          <a:ln w="0">
            <a:noFill/>
          </a:ln>
        </p:spPr>
        <p:style>
          <a:lnRef idx="0"/>
          <a:fillRef idx="0"/>
          <a:effectRef idx="0"/>
          <a:fontRef idx="minor"/>
        </p:style>
        <p:txBody>
          <a:bodyPr lIns="0" tIns="0" rIns="0" bIns="0" anchor="t">
            <a:spAutoFit/>
          </a:bodyPr>
          <a:p>
            <a:pPr defTabSz="457200">
              <a:lnSpc>
                <a:spcPct val="106000"/>
              </a:lnSpc>
              <a:spcAft>
                <a:spcPts val="201"/>
              </a:spcAft>
            </a:pPr>
            <a:r>
              <a:rPr lang="en-US" sz="1250" b="1" u="none" strike="noStrike">
                <a:solidFill>
                  <a:srgbClr val="0E1A33"/>
                </a:solidFill>
                <a:effectLst/>
                <a:uFillTx/>
                <a:latin typeface="Calibri"/>
              </a:rPr>
              <a:t>Try it out</a:t>
            </a:r>
            <a:endParaRPr lang="en-US" sz="1250" b="0" u="none" strike="noStrike">
              <a:solidFill>
                <a:srgbClr val="000000"/>
              </a:solidFill>
              <a:effectLst/>
              <a:uFillTx/>
              <a:latin typeface="Arial"/>
            </a:endParaRPr>
          </a:p>
          <a:p>
            <a:pPr defTabSz="457200">
              <a:lnSpc>
                <a:spcPct val="110000"/>
              </a:lnSpc>
            </a:pPr>
            <a:r>
              <a:rPr lang="en-US" sz="1100" b="0" u="none" strike="noStrike">
                <a:solidFill>
                  <a:srgbClr val="6B7280"/>
                </a:solidFill>
                <a:effectLst/>
                <a:uFillTx/>
                <a:latin typeface="Calibri"/>
              </a:rPr>
              <a:t>The decision can be exercised from the browser, with no UI involved.</a:t>
            </a:r>
            <a:endParaRPr lang="en-US" sz="1100" b="0" u="none" strike="noStrike">
              <a:solidFill>
                <a:srgbClr val="000000"/>
              </a:solidFill>
              <a:effectLst/>
              <a:uFillTx/>
              <a:latin typeface="Arial"/>
            </a:endParaRPr>
          </a:p>
        </p:txBody>
      </p:sp>
      <p:sp>
        <p:nvSpPr>
          <p:cNvPr id="464" name="Oval 15"/>
          <p:cNvSpPr/>
          <p:nvPr/>
        </p:nvSpPr>
        <p:spPr>
          <a:xfrm>
            <a:off x="7585560" y="3717000"/>
            <a:ext cx="237240" cy="237240"/>
          </a:xfrm>
          <a:prstGeom prst="ellipse">
            <a:avLst/>
          </a:prstGeom>
          <a:solidFill>
            <a:srgbClr val="06B6D4"/>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pPr algn="ctr" defTabSz="457200">
              <a:lnSpc>
                <a:spcPct val="106000"/>
              </a:lnSpc>
            </a:pPr>
            <a:r>
              <a:rPr lang="en-US" sz="1050" b="1" u="none" strike="noStrike">
                <a:solidFill>
                  <a:srgbClr val="FFFFFF"/>
                </a:solidFill>
                <a:effectLst/>
                <a:uFillTx/>
                <a:latin typeface="Calibri"/>
              </a:rPr>
              <a:t>3</a:t>
            </a:r>
            <a:endParaRPr lang="en-US" sz="1050" b="0" u="none" strike="noStrike">
              <a:solidFill>
                <a:srgbClr val="000000"/>
              </a:solidFill>
              <a:effectLst/>
              <a:uFillTx/>
              <a:latin typeface="Arial"/>
            </a:endParaRPr>
          </a:p>
        </p:txBody>
      </p:sp>
      <p:sp>
        <p:nvSpPr>
          <p:cNvPr id="465" name="TextBox 16"/>
          <p:cNvSpPr/>
          <p:nvPr/>
        </p:nvSpPr>
        <p:spPr>
          <a:xfrm>
            <a:off x="7951320" y="3680640"/>
            <a:ext cx="3673080" cy="365400"/>
          </a:xfrm>
          <a:prstGeom prst="rect">
            <a:avLst/>
          </a:prstGeom>
          <a:noFill/>
          <a:ln w="0">
            <a:noFill/>
          </a:ln>
        </p:spPr>
        <p:style>
          <a:lnRef idx="0"/>
          <a:fillRef idx="0"/>
          <a:effectRef idx="0"/>
          <a:fontRef idx="minor"/>
        </p:style>
        <p:txBody>
          <a:bodyPr lIns="0" tIns="0" rIns="0" bIns="0" anchor="t">
            <a:spAutoFit/>
          </a:bodyPr>
          <a:p>
            <a:pPr defTabSz="457200">
              <a:lnSpc>
                <a:spcPct val="106000"/>
              </a:lnSpc>
              <a:spcAft>
                <a:spcPts val="201"/>
              </a:spcAft>
            </a:pPr>
            <a:r>
              <a:rPr lang="en-US" sz="1250" b="1" u="none" strike="noStrike">
                <a:solidFill>
                  <a:srgbClr val="0E1A33"/>
                </a:solidFill>
                <a:effectLst/>
                <a:uFillTx/>
                <a:latin typeface="Calibri"/>
              </a:rPr>
              <a:t>Typed contract</a:t>
            </a:r>
            <a:endParaRPr lang="en-US" sz="1250" b="0" u="none" strike="noStrike">
              <a:solidFill>
                <a:srgbClr val="000000"/>
              </a:solidFill>
              <a:effectLst/>
              <a:uFillTx/>
              <a:latin typeface="Arial"/>
            </a:endParaRPr>
          </a:p>
          <a:p>
            <a:pPr defTabSz="457200">
              <a:lnSpc>
                <a:spcPct val="110000"/>
              </a:lnSpc>
            </a:pPr>
            <a:r>
              <a:rPr lang="en-US" sz="1100" b="0" u="none" strike="noStrike">
                <a:solidFill>
                  <a:srgbClr val="6B7280"/>
                </a:solidFill>
                <a:effectLst/>
                <a:uFillTx/>
                <a:latin typeface="Calibri"/>
              </a:rPr>
              <a:t>Unknown employment types or out-of-range values return 422 with the offending field.</a:t>
            </a:r>
            <a:endParaRPr lang="en-US" sz="1100" b="0" u="none" strike="noStrike">
              <a:solidFill>
                <a:srgbClr val="000000"/>
              </a:solidFill>
              <a:effectLst/>
              <a:uFillTx/>
              <a:latin typeface="Arial"/>
            </a:endParaRPr>
          </a:p>
        </p:txBody>
      </p:sp>
      <p:sp>
        <p:nvSpPr>
          <p:cNvPr id="466" name="Oval 17"/>
          <p:cNvSpPr/>
          <p:nvPr/>
        </p:nvSpPr>
        <p:spPr>
          <a:xfrm>
            <a:off x="7585560" y="4439520"/>
            <a:ext cx="237240" cy="237240"/>
          </a:xfrm>
          <a:prstGeom prst="ellipse">
            <a:avLst/>
          </a:prstGeom>
          <a:solidFill>
            <a:srgbClr val="15A34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pPr algn="ctr" defTabSz="457200">
              <a:lnSpc>
                <a:spcPct val="106000"/>
              </a:lnSpc>
            </a:pPr>
            <a:r>
              <a:rPr lang="en-US" sz="1050" b="1" u="none" strike="noStrike">
                <a:solidFill>
                  <a:srgbClr val="FFFFFF"/>
                </a:solidFill>
                <a:effectLst/>
                <a:uFillTx/>
                <a:latin typeface="Calibri"/>
              </a:rPr>
              <a:t>4</a:t>
            </a:r>
            <a:endParaRPr lang="en-US" sz="1050" b="0" u="none" strike="noStrike">
              <a:solidFill>
                <a:srgbClr val="FFFFFF"/>
              </a:solidFill>
              <a:effectLst/>
              <a:uFillTx/>
              <a:latin typeface="Arial"/>
            </a:endParaRPr>
          </a:p>
        </p:txBody>
      </p:sp>
      <p:sp>
        <p:nvSpPr>
          <p:cNvPr id="467" name="TextBox 18"/>
          <p:cNvSpPr/>
          <p:nvPr/>
        </p:nvSpPr>
        <p:spPr>
          <a:xfrm>
            <a:off x="7951320" y="4402800"/>
            <a:ext cx="3673080" cy="365400"/>
          </a:xfrm>
          <a:prstGeom prst="rect">
            <a:avLst/>
          </a:prstGeom>
          <a:noFill/>
          <a:ln w="0">
            <a:noFill/>
          </a:ln>
        </p:spPr>
        <p:style>
          <a:lnRef idx="0"/>
          <a:fillRef idx="0"/>
          <a:effectRef idx="0"/>
          <a:fontRef idx="minor"/>
        </p:style>
        <p:txBody>
          <a:bodyPr lIns="0" tIns="0" rIns="0" bIns="0" anchor="t">
            <a:spAutoFit/>
          </a:bodyPr>
          <a:p>
            <a:pPr defTabSz="457200">
              <a:lnSpc>
                <a:spcPct val="106000"/>
              </a:lnSpc>
              <a:spcAft>
                <a:spcPts val="201"/>
              </a:spcAft>
            </a:pPr>
            <a:r>
              <a:rPr lang="en-US" sz="1250" b="1" u="none" strike="noStrike">
                <a:solidFill>
                  <a:srgbClr val="0E1A33"/>
                </a:solidFill>
                <a:effectLst/>
                <a:uFillTx/>
                <a:latin typeface="Calibri"/>
              </a:rPr>
              <a:t>Integration ready</a:t>
            </a:r>
            <a:endParaRPr lang="en-US" sz="1250" b="0" u="none" strike="noStrike">
              <a:solidFill>
                <a:srgbClr val="000000"/>
              </a:solidFill>
              <a:effectLst/>
              <a:uFillTx/>
              <a:latin typeface="Arial"/>
            </a:endParaRPr>
          </a:p>
          <a:p>
            <a:pPr defTabSz="457200">
              <a:lnSpc>
                <a:spcPct val="110000"/>
              </a:lnSpc>
            </a:pPr>
            <a:r>
              <a:rPr lang="en-US" sz="1100" b="0" u="none" strike="noStrike">
                <a:solidFill>
                  <a:srgbClr val="6B7280"/>
                </a:solidFill>
                <a:effectLst/>
                <a:uFillTx/>
                <a:latin typeface="Calibri"/>
              </a:rPr>
              <a:t>Any channel — mobile app, core banking, batch job — can call the same endpoint.</a:t>
            </a:r>
            <a:endParaRPr lang="en-US" sz="11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2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68" name="Rectangle 1"/>
          <p:cNvSpPr/>
          <p:nvPr/>
        </p:nvSpPr>
        <p:spPr>
          <a:xfrm>
            <a:off x="0" y="0"/>
            <a:ext cx="12191400" cy="6857640"/>
          </a:xfrm>
          <a:prstGeom prst="rect">
            <a:avLst/>
          </a:prstGeom>
          <a:solidFill>
            <a:srgbClr val="0E1A33"/>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469" name="Rectangle 2"/>
          <p:cNvSpPr/>
          <p:nvPr/>
        </p:nvSpPr>
        <p:spPr>
          <a:xfrm>
            <a:off x="0" y="0"/>
            <a:ext cx="200880" cy="6857640"/>
          </a:xfrm>
          <a:prstGeom prst="rect">
            <a:avLst/>
          </a:prstGeom>
          <a:gradFill rotWithShape="0">
            <a:gsLst>
              <a:gs pos="0">
                <a:srgbClr val="4F46E5"/>
              </a:gs>
              <a:gs pos="100000">
                <a:srgbClr val="7C3AED"/>
              </a:gs>
            </a:gsLst>
            <a:lin ang="16200000"/>
          </a:gra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470" name="TextBox 3"/>
          <p:cNvSpPr/>
          <p:nvPr/>
        </p:nvSpPr>
        <p:spPr>
          <a:xfrm>
            <a:off x="1371600" y="2148840"/>
            <a:ext cx="2742840" cy="1462680"/>
          </a:xfrm>
          <a:prstGeom prst="rect">
            <a:avLst/>
          </a:prstGeom>
          <a:noFill/>
          <a:ln w="0">
            <a:noFill/>
          </a:ln>
        </p:spPr>
        <p:style>
          <a:lnRef idx="0"/>
          <a:fillRef idx="0"/>
          <a:effectRef idx="0"/>
          <a:fontRef idx="minor"/>
        </p:style>
        <p:txBody>
          <a:bodyPr lIns="0" tIns="0" rIns="0" bIns="0" anchor="t">
            <a:spAutoFit/>
          </a:bodyPr>
          <a:p>
            <a:pPr defTabSz="457200">
              <a:lnSpc>
                <a:spcPct val="106000"/>
              </a:lnSpc>
            </a:pPr>
            <a:r>
              <a:rPr lang="en-US" sz="9600" b="1" u="none" strike="noStrike">
                <a:solidFill>
                  <a:srgbClr val="4F46E5"/>
                </a:solidFill>
                <a:effectLst/>
                <a:uFillTx/>
                <a:latin typeface="Calibri"/>
              </a:rPr>
              <a:t>04</a:t>
            </a:r>
            <a:endParaRPr lang="en-US" sz="9600" b="0" u="none" strike="noStrike">
              <a:solidFill>
                <a:srgbClr val="000000"/>
              </a:solidFill>
              <a:effectLst/>
              <a:uFillTx/>
              <a:latin typeface="Arial"/>
            </a:endParaRPr>
          </a:p>
        </p:txBody>
      </p:sp>
      <p:sp>
        <p:nvSpPr>
          <p:cNvPr id="471" name="TextBox 4"/>
          <p:cNvSpPr/>
          <p:nvPr/>
        </p:nvSpPr>
        <p:spPr>
          <a:xfrm>
            <a:off x="3108960" y="2331720"/>
            <a:ext cx="7680600" cy="914040"/>
          </a:xfrm>
          <a:prstGeom prst="rect">
            <a:avLst/>
          </a:prstGeom>
          <a:noFill/>
          <a:ln w="0">
            <a:noFill/>
          </a:ln>
        </p:spPr>
        <p:style>
          <a:lnRef idx="0"/>
          <a:fillRef idx="0"/>
          <a:effectRef idx="0"/>
          <a:fontRef idx="minor"/>
        </p:style>
        <p:txBody>
          <a:bodyPr lIns="0" tIns="0" rIns="0" bIns="0" anchor="t">
            <a:spAutoFit/>
          </a:bodyPr>
          <a:p>
            <a:pPr defTabSz="457200">
              <a:lnSpc>
                <a:spcPct val="106000"/>
              </a:lnSpc>
              <a:spcAft>
                <a:spcPts val="601"/>
              </a:spcAft>
            </a:pPr>
            <a:r>
              <a:rPr lang="en-US" sz="3600" b="1" u="none" strike="noStrike">
                <a:solidFill>
                  <a:srgbClr val="FFFFFF"/>
                </a:solidFill>
                <a:effectLst/>
                <a:uFillTx/>
                <a:latin typeface="Calibri"/>
              </a:rPr>
              <a:t>Engineering &amp; Value</a:t>
            </a:r>
            <a:endParaRPr lang="en-US" sz="3600" b="0" u="none" strike="noStrike">
              <a:solidFill>
                <a:srgbClr val="000000"/>
              </a:solidFill>
              <a:effectLst/>
              <a:uFillTx/>
              <a:latin typeface="Arial"/>
            </a:endParaRPr>
          </a:p>
          <a:p>
            <a:pPr defTabSz="457200">
              <a:lnSpc>
                <a:spcPct val="106000"/>
              </a:lnSpc>
            </a:pPr>
            <a:r>
              <a:rPr lang="en-US" sz="1400" b="0" u="none" strike="noStrike">
                <a:solidFill>
                  <a:srgbClr val="B9C2D6"/>
                </a:solidFill>
                <a:effectLst/>
                <a:uFillTx/>
                <a:latin typeface="Calibri"/>
              </a:rPr>
              <a:t>Observability, measured quality, governance, limitations and next steps.</a:t>
            </a:r>
            <a:endParaRPr lang="en-US" sz="1400" b="0" u="none" strike="noStrike">
              <a:solidFill>
                <a:srgbClr val="000000"/>
              </a:solidFill>
              <a:effectLst/>
              <a:uFillTx/>
              <a:latin typeface="Arial"/>
            </a:endParaRPr>
          </a:p>
        </p:txBody>
      </p:sp>
      <p:sp>
        <p:nvSpPr>
          <p:cNvPr id="472" name="TextBox 5"/>
          <p:cNvSpPr/>
          <p:nvPr/>
        </p:nvSpPr>
        <p:spPr>
          <a:xfrm>
            <a:off x="3108960" y="3794760"/>
            <a:ext cx="7680600" cy="186120"/>
          </a:xfrm>
          <a:prstGeom prst="rect">
            <a:avLst/>
          </a:prstGeom>
          <a:noFill/>
          <a:ln w="0">
            <a:noFill/>
          </a:ln>
        </p:spPr>
        <p:style>
          <a:lnRef idx="0"/>
          <a:fillRef idx="0"/>
          <a:effectRef idx="0"/>
          <a:fontRef idx="minor"/>
        </p:style>
        <p:txBody>
          <a:bodyPr lIns="0" tIns="0" rIns="0" bIns="0" anchor="t">
            <a:spAutoFit/>
          </a:bodyPr>
          <a:p>
            <a:pPr defTabSz="457200">
              <a:lnSpc>
                <a:spcPct val="106000"/>
              </a:lnSpc>
            </a:pPr>
            <a:endParaRPr lang="en-US" sz="1800" b="0" u="none" strike="noStrike">
              <a:solidFill>
                <a:srgbClr val="000000"/>
              </a:solidFill>
              <a:effectLst/>
              <a:uFillTx/>
              <a:latin typeface="Arial"/>
            </a:endParaRPr>
          </a:p>
        </p:txBody>
      </p:sp>
      <p:sp>
        <p:nvSpPr>
          <p:cNvPr id="473" name="TextBox 6"/>
          <p:cNvSpPr/>
          <p:nvPr/>
        </p:nvSpPr>
        <p:spPr>
          <a:xfrm>
            <a:off x="567000" y="6382440"/>
            <a:ext cx="7740000" cy="273960"/>
          </a:xfrm>
          <a:prstGeom prst="rect">
            <a:avLst/>
          </a:prstGeom>
          <a:noFill/>
          <a:ln w="0">
            <a:noFill/>
          </a:ln>
        </p:spPr>
        <p:style>
          <a:lnRef idx="0"/>
          <a:fillRef idx="0"/>
          <a:effectRef idx="0"/>
          <a:fontRef idx="minor"/>
        </p:style>
        <p:txBody>
          <a:bodyPr lIns="0" tIns="0" rIns="0" bIns="0" anchor="t">
            <a:spAutoFit/>
          </a:bodyPr>
          <a:p>
            <a:pPr defTabSz="457200">
              <a:lnSpc>
                <a:spcPct val="106000"/>
              </a:lnSpc>
            </a:pPr>
            <a:r>
              <a:rPr lang="en-US" sz="900" b="0" u="none" strike="noStrike">
                <a:solidFill>
                  <a:srgbClr val="9AA3B2"/>
                </a:solidFill>
                <a:effectLst/>
                <a:uFillTx/>
                <a:latin typeface="Calibri"/>
              </a:rPr>
              <a:t>Loan Eligibility AI  ·  Capstone Demonstration</a:t>
            </a:r>
            <a:endParaRPr lang="en-US" sz="900" b="0" u="none" strike="noStrike">
              <a:solidFill>
                <a:srgbClr val="000000"/>
              </a:solidFill>
              <a:effectLst/>
              <a:uFillTx/>
              <a:latin typeface="Arial"/>
            </a:endParaRPr>
          </a:p>
        </p:txBody>
      </p:sp>
      <p:sp>
        <p:nvSpPr>
          <p:cNvPr id="474" name="TextBox 7"/>
          <p:cNvSpPr/>
          <p:nvPr/>
        </p:nvSpPr>
        <p:spPr>
          <a:xfrm>
            <a:off x="10527480" y="6382440"/>
            <a:ext cx="1096920" cy="273960"/>
          </a:xfrm>
          <a:prstGeom prst="rect">
            <a:avLst/>
          </a:prstGeom>
          <a:noFill/>
          <a:ln w="0">
            <a:noFill/>
          </a:ln>
        </p:spPr>
        <p:style>
          <a:lnRef idx="0"/>
          <a:fillRef idx="0"/>
          <a:effectRef idx="0"/>
          <a:fontRef idx="minor"/>
        </p:style>
        <p:txBody>
          <a:bodyPr lIns="0" tIns="0" rIns="0" bIns="0" anchor="t">
            <a:spAutoFit/>
          </a:bodyPr>
          <a:p>
            <a:pPr algn="r" defTabSz="457200">
              <a:lnSpc>
                <a:spcPct val="106000"/>
              </a:lnSpc>
            </a:pPr>
            <a:r>
              <a:rPr lang="en-US" sz="900" b="0" u="none" strike="noStrike">
                <a:solidFill>
                  <a:srgbClr val="9AA3B2"/>
                </a:solidFill>
                <a:effectLst/>
                <a:uFillTx/>
                <a:latin typeface="Calibri"/>
              </a:rPr>
              <a:t>24</a:t>
            </a:r>
            <a:endParaRPr lang="en-US" sz="9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2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75" name="Rectangle 1"/>
          <p:cNvSpPr/>
          <p:nvPr/>
        </p:nvSpPr>
        <p:spPr>
          <a:xfrm>
            <a:off x="0" y="0"/>
            <a:ext cx="12191400" cy="6857640"/>
          </a:xfrm>
          <a:prstGeom prst="rect">
            <a:avLst/>
          </a:prstGeom>
          <a:solidFill>
            <a:srgbClr val="FFFFFF"/>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476" name="Rectangle 2"/>
          <p:cNvSpPr/>
          <p:nvPr/>
        </p:nvSpPr>
        <p:spPr>
          <a:xfrm>
            <a:off x="0" y="0"/>
            <a:ext cx="12191400" cy="77400"/>
          </a:xfrm>
          <a:prstGeom prst="rect">
            <a:avLst/>
          </a:prstGeom>
          <a:gradFill rotWithShape="0">
            <a:gsLst>
              <a:gs pos="0">
                <a:srgbClr val="4F46E5"/>
              </a:gs>
              <a:gs pos="100000">
                <a:srgbClr val="7C3AED"/>
              </a:gs>
            </a:gsLst>
            <a:lin ang="0"/>
          </a:gra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32760" rIns="90000" bIns="32760" anchor="ctr">
            <a:noAutofit/>
          </a:bodyPr>
          <a:p>
            <a:endParaRPr lang="en-US" sz="1800" b="0" u="none" strike="noStrike">
              <a:solidFill>
                <a:schemeClr val="lt1"/>
              </a:solidFill>
              <a:effectLst/>
              <a:uFillTx/>
              <a:latin typeface="Calibri"/>
            </a:endParaRPr>
          </a:p>
        </p:txBody>
      </p:sp>
      <p:sp>
        <p:nvSpPr>
          <p:cNvPr id="477" name="TextBox 3"/>
          <p:cNvSpPr/>
          <p:nvPr/>
        </p:nvSpPr>
        <p:spPr>
          <a:xfrm>
            <a:off x="567000" y="384120"/>
            <a:ext cx="11057400" cy="237240"/>
          </a:xfrm>
          <a:prstGeom prst="rect">
            <a:avLst/>
          </a:prstGeom>
          <a:noFill/>
          <a:ln w="0">
            <a:noFill/>
          </a:ln>
        </p:spPr>
        <p:style>
          <a:lnRef idx="0"/>
          <a:fillRef idx="0"/>
          <a:effectRef idx="0"/>
          <a:fontRef idx="minor"/>
        </p:style>
        <p:txBody>
          <a:bodyPr lIns="0" tIns="0" rIns="0" bIns="0" anchor="t">
            <a:spAutoFit/>
          </a:bodyPr>
          <a:p>
            <a:pPr defTabSz="457200">
              <a:lnSpc>
                <a:spcPct val="106000"/>
              </a:lnSpc>
            </a:pPr>
            <a:r>
              <a:rPr lang="en-US" sz="950" b="1" u="none" strike="noStrike">
                <a:solidFill>
                  <a:srgbClr val="4F46E5"/>
                </a:solidFill>
                <a:effectLst/>
                <a:uFillTx/>
                <a:latin typeface="Calibri"/>
              </a:rPr>
              <a:t>PART 04  ·  OBSERVABILITY</a:t>
            </a:r>
            <a:endParaRPr lang="en-US" sz="950" b="0" u="none" strike="noStrike">
              <a:solidFill>
                <a:srgbClr val="000000"/>
              </a:solidFill>
              <a:effectLst/>
              <a:uFillTx/>
              <a:latin typeface="Arial"/>
            </a:endParaRPr>
          </a:p>
        </p:txBody>
      </p:sp>
      <p:sp>
        <p:nvSpPr>
          <p:cNvPr id="478" name="TextBox 4"/>
          <p:cNvSpPr/>
          <p:nvPr/>
        </p:nvSpPr>
        <p:spPr>
          <a:xfrm>
            <a:off x="567000" y="658440"/>
            <a:ext cx="11057400" cy="502560"/>
          </a:xfrm>
          <a:prstGeom prst="rect">
            <a:avLst/>
          </a:prstGeom>
          <a:noFill/>
          <a:ln w="0">
            <a:noFill/>
          </a:ln>
        </p:spPr>
        <p:style>
          <a:lnRef idx="0"/>
          <a:fillRef idx="0"/>
          <a:effectRef idx="0"/>
          <a:fontRef idx="minor"/>
        </p:style>
        <p:txBody>
          <a:bodyPr lIns="0" tIns="0" rIns="0" bIns="0" anchor="t">
            <a:spAutoFit/>
          </a:bodyPr>
          <a:p>
            <a:pPr defTabSz="457200">
              <a:lnSpc>
                <a:spcPct val="106000"/>
              </a:lnSpc>
            </a:pPr>
            <a:r>
              <a:rPr lang="en-US" sz="2700" b="1" u="none" strike="noStrike">
                <a:solidFill>
                  <a:srgbClr val="0E1A33"/>
                </a:solidFill>
                <a:effectLst/>
                <a:uFillTx/>
                <a:latin typeface="Calibri"/>
              </a:rPr>
              <a:t>Every decision leaves a record, and the suite proves the rules</a:t>
            </a:r>
            <a:endParaRPr lang="en-US" sz="2700" b="0" u="none" strike="noStrike">
              <a:solidFill>
                <a:srgbClr val="000000"/>
              </a:solidFill>
              <a:effectLst/>
              <a:uFillTx/>
              <a:latin typeface="Arial"/>
            </a:endParaRPr>
          </a:p>
        </p:txBody>
      </p:sp>
      <p:sp>
        <p:nvSpPr>
          <p:cNvPr id="479" name="TextBox 5"/>
          <p:cNvSpPr/>
          <p:nvPr/>
        </p:nvSpPr>
        <p:spPr>
          <a:xfrm>
            <a:off x="567000" y="1225440"/>
            <a:ext cx="9509400" cy="365400"/>
          </a:xfrm>
          <a:prstGeom prst="rect">
            <a:avLst/>
          </a:prstGeom>
          <a:noFill/>
          <a:ln w="0">
            <a:noFill/>
          </a:ln>
        </p:spPr>
        <p:style>
          <a:lnRef idx="0"/>
          <a:fillRef idx="0"/>
          <a:effectRef idx="0"/>
          <a:fontRef idx="minor"/>
        </p:style>
        <p:txBody>
          <a:bodyPr lIns="0" tIns="0" rIns="0" bIns="0" anchor="t">
            <a:spAutoFit/>
          </a:bodyPr>
          <a:p>
            <a:pPr defTabSz="457200">
              <a:lnSpc>
                <a:spcPct val="106000"/>
              </a:lnSpc>
            </a:pPr>
            <a:r>
              <a:rPr lang="en-US" sz="1250" b="0" u="none" strike="noStrike">
                <a:solidFill>
                  <a:srgbClr val="6B7280"/>
                </a:solidFill>
                <a:effectLst/>
                <a:uFillTx/>
                <a:latin typeface="Calibri"/>
              </a:rPr>
              <a:t>A real request, the audit lines it produced, and the test run — captured from this machine.</a:t>
            </a:r>
            <a:endParaRPr lang="en-US" sz="1250" b="0" u="none" strike="noStrike">
              <a:solidFill>
                <a:srgbClr val="000000"/>
              </a:solidFill>
              <a:effectLst/>
              <a:uFillTx/>
              <a:latin typeface="Arial"/>
            </a:endParaRPr>
          </a:p>
        </p:txBody>
      </p:sp>
      <p:sp>
        <p:nvSpPr>
          <p:cNvPr id="480" name="TextBox 6"/>
          <p:cNvSpPr/>
          <p:nvPr/>
        </p:nvSpPr>
        <p:spPr>
          <a:xfrm>
            <a:off x="567000" y="6382440"/>
            <a:ext cx="7740000" cy="273960"/>
          </a:xfrm>
          <a:prstGeom prst="rect">
            <a:avLst/>
          </a:prstGeom>
          <a:noFill/>
          <a:ln w="0">
            <a:noFill/>
          </a:ln>
        </p:spPr>
        <p:style>
          <a:lnRef idx="0"/>
          <a:fillRef idx="0"/>
          <a:effectRef idx="0"/>
          <a:fontRef idx="minor"/>
        </p:style>
        <p:txBody>
          <a:bodyPr lIns="0" tIns="0" rIns="0" bIns="0" anchor="t">
            <a:spAutoFit/>
          </a:bodyPr>
          <a:p>
            <a:pPr defTabSz="457200">
              <a:lnSpc>
                <a:spcPct val="106000"/>
              </a:lnSpc>
            </a:pPr>
            <a:r>
              <a:rPr lang="en-US" sz="900" b="0" u="none" strike="noStrike">
                <a:solidFill>
                  <a:srgbClr val="6B7280"/>
                </a:solidFill>
                <a:effectLst/>
                <a:uFillTx/>
                <a:latin typeface="Calibri"/>
              </a:rPr>
              <a:t>Loan Eligibility AI  ·  Capstone Demonstration</a:t>
            </a:r>
            <a:endParaRPr lang="en-US" sz="900" b="0" u="none" strike="noStrike">
              <a:solidFill>
                <a:srgbClr val="000000"/>
              </a:solidFill>
              <a:effectLst/>
              <a:uFillTx/>
              <a:latin typeface="Arial"/>
            </a:endParaRPr>
          </a:p>
        </p:txBody>
      </p:sp>
      <p:sp>
        <p:nvSpPr>
          <p:cNvPr id="481" name="TextBox 7"/>
          <p:cNvSpPr/>
          <p:nvPr/>
        </p:nvSpPr>
        <p:spPr>
          <a:xfrm>
            <a:off x="10527480" y="6382440"/>
            <a:ext cx="1096920" cy="273960"/>
          </a:xfrm>
          <a:prstGeom prst="rect">
            <a:avLst/>
          </a:prstGeom>
          <a:noFill/>
          <a:ln w="0">
            <a:noFill/>
          </a:ln>
        </p:spPr>
        <p:style>
          <a:lnRef idx="0"/>
          <a:fillRef idx="0"/>
          <a:effectRef idx="0"/>
          <a:fontRef idx="minor"/>
        </p:style>
        <p:txBody>
          <a:bodyPr lIns="0" tIns="0" rIns="0" bIns="0" anchor="t">
            <a:spAutoFit/>
          </a:bodyPr>
          <a:p>
            <a:pPr algn="r" defTabSz="457200">
              <a:lnSpc>
                <a:spcPct val="106000"/>
              </a:lnSpc>
            </a:pPr>
            <a:r>
              <a:rPr lang="en-US" sz="900" b="0" u="none" strike="noStrike">
                <a:solidFill>
                  <a:srgbClr val="6B7280"/>
                </a:solidFill>
                <a:effectLst/>
                <a:uFillTx/>
                <a:latin typeface="Calibri"/>
              </a:rPr>
              <a:t>25</a:t>
            </a:r>
            <a:endParaRPr lang="en-US" sz="900" b="0" u="none" strike="noStrike">
              <a:solidFill>
                <a:srgbClr val="000000"/>
              </a:solidFill>
              <a:effectLst/>
              <a:uFillTx/>
              <a:latin typeface="Arial"/>
            </a:endParaRPr>
          </a:p>
        </p:txBody>
      </p:sp>
      <p:sp>
        <p:nvSpPr>
          <p:cNvPr id="482" name="Rounded Rectangle 8"/>
          <p:cNvSpPr/>
          <p:nvPr/>
        </p:nvSpPr>
        <p:spPr>
          <a:xfrm>
            <a:off x="502920" y="1965600"/>
            <a:ext cx="6541200" cy="3969000"/>
          </a:xfrm>
          <a:prstGeom prst="roundRect">
            <a:avLst>
              <a:gd name="adj" fmla="val 3000"/>
            </a:avLst>
          </a:prstGeom>
          <a:solidFill>
            <a:srgbClr val="F6F8FC"/>
          </a:solidFill>
          <a:ln w="12700">
            <a:solidFill>
              <a:srgbClr val="E3E8F0"/>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pic>
        <p:nvPicPr>
          <p:cNvPr id="483" name="Picture 9" descr="13_audit_trail_d.png"/>
          <p:cNvPicPr/>
          <p:nvPr/>
        </p:nvPicPr>
        <p:blipFill>
          <a:blip r:embed="rId1"/>
          <a:stretch/>
        </p:blipFill>
        <p:spPr>
          <a:xfrm>
            <a:off x="567000" y="2029680"/>
            <a:ext cx="6413040" cy="3840840"/>
          </a:xfrm>
          <a:prstGeom prst="rect">
            <a:avLst/>
          </a:prstGeom>
          <a:noFill/>
          <a:ln w="9525">
            <a:solidFill>
              <a:srgbClr val="E3E8F0"/>
            </a:solidFill>
            <a:round/>
          </a:ln>
        </p:spPr>
      </p:pic>
      <p:sp>
        <p:nvSpPr>
          <p:cNvPr id="484" name="TextBox 10"/>
          <p:cNvSpPr/>
          <p:nvPr/>
        </p:nvSpPr>
        <p:spPr>
          <a:xfrm>
            <a:off x="7364520" y="1719000"/>
            <a:ext cx="4259880" cy="273960"/>
          </a:xfrm>
          <a:prstGeom prst="rect">
            <a:avLst/>
          </a:prstGeom>
          <a:noFill/>
          <a:ln w="0">
            <a:noFill/>
          </a:ln>
        </p:spPr>
        <p:style>
          <a:lnRef idx="0"/>
          <a:fillRef idx="0"/>
          <a:effectRef idx="0"/>
          <a:fontRef idx="minor"/>
        </p:style>
        <p:txBody>
          <a:bodyPr lIns="0" tIns="0" rIns="0" bIns="0" anchor="t">
            <a:spAutoFit/>
          </a:bodyPr>
          <a:p>
            <a:pPr defTabSz="457200">
              <a:lnSpc>
                <a:spcPct val="106000"/>
              </a:lnSpc>
            </a:pPr>
            <a:r>
              <a:rPr lang="en-US" sz="950" b="1" u="none" strike="noStrike">
                <a:solidFill>
                  <a:srgbClr val="4F46E5"/>
                </a:solidFill>
                <a:effectLst/>
                <a:uFillTx/>
                <a:latin typeface="Calibri"/>
              </a:rPr>
              <a:t>WHAT WE CAN PROVE AFTER THE FACT</a:t>
            </a:r>
            <a:endParaRPr lang="en-US" sz="950" b="0" u="none" strike="noStrike">
              <a:solidFill>
                <a:srgbClr val="000000"/>
              </a:solidFill>
              <a:effectLst/>
              <a:uFillTx/>
              <a:latin typeface="Arial"/>
            </a:endParaRPr>
          </a:p>
        </p:txBody>
      </p:sp>
      <p:sp>
        <p:nvSpPr>
          <p:cNvPr id="485" name="Oval 11"/>
          <p:cNvSpPr/>
          <p:nvPr/>
        </p:nvSpPr>
        <p:spPr>
          <a:xfrm>
            <a:off x="7364520" y="2103120"/>
            <a:ext cx="237240" cy="237240"/>
          </a:xfrm>
          <a:prstGeom prst="ellipse">
            <a:avLst/>
          </a:prstGeom>
          <a:solidFill>
            <a:srgbClr val="4F46E5"/>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pPr algn="ctr" defTabSz="457200">
              <a:lnSpc>
                <a:spcPct val="106000"/>
              </a:lnSpc>
            </a:pPr>
            <a:r>
              <a:rPr lang="en-US" sz="1050" b="1" u="none" strike="noStrike">
                <a:solidFill>
                  <a:srgbClr val="FFFFFF"/>
                </a:solidFill>
                <a:effectLst/>
                <a:uFillTx/>
                <a:latin typeface="Calibri"/>
              </a:rPr>
              <a:t>1</a:t>
            </a:r>
            <a:endParaRPr lang="en-US" sz="1050" b="0" u="none" strike="noStrike">
              <a:solidFill>
                <a:srgbClr val="FFFFFF"/>
              </a:solidFill>
              <a:effectLst/>
              <a:uFillTx/>
              <a:latin typeface="Arial"/>
            </a:endParaRPr>
          </a:p>
        </p:txBody>
      </p:sp>
      <p:sp>
        <p:nvSpPr>
          <p:cNvPr id="486" name="TextBox 12"/>
          <p:cNvSpPr/>
          <p:nvPr/>
        </p:nvSpPr>
        <p:spPr>
          <a:xfrm>
            <a:off x="7730280" y="2066400"/>
            <a:ext cx="3894120" cy="365400"/>
          </a:xfrm>
          <a:prstGeom prst="rect">
            <a:avLst/>
          </a:prstGeom>
          <a:noFill/>
          <a:ln w="0">
            <a:noFill/>
          </a:ln>
        </p:spPr>
        <p:style>
          <a:lnRef idx="0"/>
          <a:fillRef idx="0"/>
          <a:effectRef idx="0"/>
          <a:fontRef idx="minor"/>
        </p:style>
        <p:txBody>
          <a:bodyPr lIns="0" tIns="0" rIns="0" bIns="0" anchor="t">
            <a:spAutoFit/>
          </a:bodyPr>
          <a:p>
            <a:pPr defTabSz="457200">
              <a:lnSpc>
                <a:spcPct val="106000"/>
              </a:lnSpc>
              <a:spcAft>
                <a:spcPts val="201"/>
              </a:spcAft>
            </a:pPr>
            <a:r>
              <a:rPr lang="en-US" sz="1250" b="1" u="none" strike="noStrike">
                <a:solidFill>
                  <a:srgbClr val="0E1A33"/>
                </a:solidFill>
                <a:effectLst/>
                <a:uFillTx/>
                <a:latin typeface="Calibri"/>
              </a:rPr>
              <a:t>Request in, decision out</a:t>
            </a:r>
            <a:endParaRPr lang="en-US" sz="1250" b="0" u="none" strike="noStrike">
              <a:solidFill>
                <a:srgbClr val="000000"/>
              </a:solidFill>
              <a:effectLst/>
              <a:uFillTx/>
              <a:latin typeface="Arial"/>
            </a:endParaRPr>
          </a:p>
          <a:p>
            <a:pPr defTabSz="457200">
              <a:lnSpc>
                <a:spcPct val="110000"/>
              </a:lnSpc>
            </a:pPr>
            <a:r>
              <a:rPr lang="en-US" sz="1100" b="0" u="none" strike="noStrike">
                <a:solidFill>
                  <a:srgbClr val="6B7280"/>
                </a:solidFill>
                <a:effectLst/>
                <a:uFillTx/>
                <a:latin typeface="Calibri"/>
              </a:rPr>
              <a:t>The JSON response carries the decision, the EMI figures, the reasoning and the evidence ids.</a:t>
            </a:r>
            <a:endParaRPr lang="en-US" sz="1100" b="0" u="none" strike="noStrike">
              <a:solidFill>
                <a:srgbClr val="000000"/>
              </a:solidFill>
              <a:effectLst/>
              <a:uFillTx/>
              <a:latin typeface="Arial"/>
            </a:endParaRPr>
          </a:p>
        </p:txBody>
      </p:sp>
      <p:sp>
        <p:nvSpPr>
          <p:cNvPr id="487" name="Oval 13"/>
          <p:cNvSpPr/>
          <p:nvPr/>
        </p:nvSpPr>
        <p:spPr>
          <a:xfrm>
            <a:off x="7364520" y="2994840"/>
            <a:ext cx="237240" cy="237240"/>
          </a:xfrm>
          <a:prstGeom prst="ellipse">
            <a:avLst/>
          </a:prstGeom>
          <a:solidFill>
            <a:srgbClr val="7C3AED"/>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pPr algn="ctr" defTabSz="457200">
              <a:lnSpc>
                <a:spcPct val="106000"/>
              </a:lnSpc>
            </a:pPr>
            <a:r>
              <a:rPr lang="en-US" sz="1050" b="1" u="none" strike="noStrike">
                <a:solidFill>
                  <a:srgbClr val="FFFFFF"/>
                </a:solidFill>
                <a:effectLst/>
                <a:uFillTx/>
                <a:latin typeface="Calibri"/>
              </a:rPr>
              <a:t>2</a:t>
            </a:r>
            <a:endParaRPr lang="en-US" sz="1050" b="0" u="none" strike="noStrike">
              <a:solidFill>
                <a:srgbClr val="FFFFFF"/>
              </a:solidFill>
              <a:effectLst/>
              <a:uFillTx/>
              <a:latin typeface="Arial"/>
            </a:endParaRPr>
          </a:p>
        </p:txBody>
      </p:sp>
      <p:sp>
        <p:nvSpPr>
          <p:cNvPr id="488" name="TextBox 14"/>
          <p:cNvSpPr/>
          <p:nvPr/>
        </p:nvSpPr>
        <p:spPr>
          <a:xfrm>
            <a:off x="7730280" y="2958120"/>
            <a:ext cx="3894120" cy="365400"/>
          </a:xfrm>
          <a:prstGeom prst="rect">
            <a:avLst/>
          </a:prstGeom>
          <a:noFill/>
          <a:ln w="0">
            <a:noFill/>
          </a:ln>
        </p:spPr>
        <p:style>
          <a:lnRef idx="0"/>
          <a:fillRef idx="0"/>
          <a:effectRef idx="0"/>
          <a:fontRef idx="minor"/>
        </p:style>
        <p:txBody>
          <a:bodyPr lIns="0" tIns="0" rIns="0" bIns="0" anchor="t">
            <a:spAutoFit/>
          </a:bodyPr>
          <a:p>
            <a:pPr defTabSz="457200">
              <a:lnSpc>
                <a:spcPct val="106000"/>
              </a:lnSpc>
              <a:spcAft>
                <a:spcPts val="201"/>
              </a:spcAft>
            </a:pPr>
            <a:r>
              <a:rPr lang="en-US" sz="1250" b="1" u="none" strike="noStrike">
                <a:solidFill>
                  <a:srgbClr val="0E1A33"/>
                </a:solidFill>
                <a:effectLst/>
                <a:uFillTx/>
                <a:latin typeface="Calibri"/>
              </a:rPr>
              <a:t>One audit line per decision</a:t>
            </a:r>
            <a:endParaRPr lang="en-US" sz="1250" b="0" u="none" strike="noStrike">
              <a:solidFill>
                <a:srgbClr val="000000"/>
              </a:solidFill>
              <a:effectLst/>
              <a:uFillTx/>
              <a:latin typeface="Arial"/>
            </a:endParaRPr>
          </a:p>
          <a:p>
            <a:pPr defTabSz="457200">
              <a:lnSpc>
                <a:spcPct val="110000"/>
              </a:lnSpc>
            </a:pPr>
            <a:r>
              <a:rPr lang="en-US" sz="1100" b="0" u="none" strike="noStrike">
                <a:solidFill>
                  <a:srgbClr val="6B7280"/>
                </a:solidFill>
                <a:effectLst/>
                <a:uFillTx/>
                <a:latin typeface="Calibri"/>
              </a:rPr>
              <a:t>logs/audit.log stores request id, UTC timestamp, an input summary, the decision and the evidence ids — as JSON lines, greppable.</a:t>
            </a:r>
            <a:endParaRPr lang="en-US" sz="1100" b="0" u="none" strike="noStrike">
              <a:solidFill>
                <a:srgbClr val="000000"/>
              </a:solidFill>
              <a:effectLst/>
              <a:uFillTx/>
              <a:latin typeface="Arial"/>
            </a:endParaRPr>
          </a:p>
        </p:txBody>
      </p:sp>
      <p:sp>
        <p:nvSpPr>
          <p:cNvPr id="489" name="Oval 15"/>
          <p:cNvSpPr/>
          <p:nvPr/>
        </p:nvSpPr>
        <p:spPr>
          <a:xfrm>
            <a:off x="7364520" y="3886200"/>
            <a:ext cx="237240" cy="237240"/>
          </a:xfrm>
          <a:prstGeom prst="ellipse">
            <a:avLst/>
          </a:prstGeom>
          <a:solidFill>
            <a:srgbClr val="06B6D4"/>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pPr algn="ctr" defTabSz="457200">
              <a:lnSpc>
                <a:spcPct val="106000"/>
              </a:lnSpc>
            </a:pPr>
            <a:r>
              <a:rPr lang="en-US" sz="1050" b="1" u="none" strike="noStrike">
                <a:solidFill>
                  <a:srgbClr val="FFFFFF"/>
                </a:solidFill>
                <a:effectLst/>
                <a:uFillTx/>
                <a:latin typeface="Calibri"/>
              </a:rPr>
              <a:t>3</a:t>
            </a:r>
            <a:endParaRPr lang="en-US" sz="1050" b="0" u="none" strike="noStrike">
              <a:solidFill>
                <a:srgbClr val="000000"/>
              </a:solidFill>
              <a:effectLst/>
              <a:uFillTx/>
              <a:latin typeface="Arial"/>
            </a:endParaRPr>
          </a:p>
        </p:txBody>
      </p:sp>
      <p:sp>
        <p:nvSpPr>
          <p:cNvPr id="490" name="TextBox 16"/>
          <p:cNvSpPr/>
          <p:nvPr/>
        </p:nvSpPr>
        <p:spPr>
          <a:xfrm>
            <a:off x="7730280" y="3849480"/>
            <a:ext cx="3894120" cy="365400"/>
          </a:xfrm>
          <a:prstGeom prst="rect">
            <a:avLst/>
          </a:prstGeom>
          <a:noFill/>
          <a:ln w="0">
            <a:noFill/>
          </a:ln>
        </p:spPr>
        <p:style>
          <a:lnRef idx="0"/>
          <a:fillRef idx="0"/>
          <a:effectRef idx="0"/>
          <a:fontRef idx="minor"/>
        </p:style>
        <p:txBody>
          <a:bodyPr lIns="0" tIns="0" rIns="0" bIns="0" anchor="t">
            <a:spAutoFit/>
          </a:bodyPr>
          <a:p>
            <a:pPr defTabSz="457200">
              <a:lnSpc>
                <a:spcPct val="106000"/>
              </a:lnSpc>
              <a:spcAft>
                <a:spcPts val="201"/>
              </a:spcAft>
            </a:pPr>
            <a:r>
              <a:rPr lang="en-US" sz="1250" b="1" u="none" strike="noStrike">
                <a:solidFill>
                  <a:srgbClr val="0E1A33"/>
                </a:solidFill>
                <a:effectLst/>
                <a:uFillTx/>
                <a:latin typeface="Calibri"/>
              </a:rPr>
              <a:t>Correlated logs</a:t>
            </a:r>
            <a:endParaRPr lang="en-US" sz="1250" b="0" u="none" strike="noStrike">
              <a:solidFill>
                <a:srgbClr val="000000"/>
              </a:solidFill>
              <a:effectLst/>
              <a:uFillTx/>
              <a:latin typeface="Arial"/>
            </a:endParaRPr>
          </a:p>
          <a:p>
            <a:pPr defTabSz="457200">
              <a:lnSpc>
                <a:spcPct val="110000"/>
              </a:lnSpc>
            </a:pPr>
            <a:r>
              <a:rPr lang="en-US" sz="1100" b="0" u="none" strike="noStrike">
                <a:solidFill>
                  <a:srgbClr val="6B7280"/>
                </a:solidFill>
                <a:effectLst/>
                <a:uFillTx/>
                <a:latin typeface="Calibri"/>
              </a:rPr>
              <a:t>An X-Request-ID supplied by the caller is reused, so a UI click, the service log and the audit line share one identifier.</a:t>
            </a:r>
            <a:endParaRPr lang="en-US" sz="1100" b="0" u="none" strike="noStrike">
              <a:solidFill>
                <a:srgbClr val="000000"/>
              </a:solidFill>
              <a:effectLst/>
              <a:uFillTx/>
              <a:latin typeface="Arial"/>
            </a:endParaRPr>
          </a:p>
        </p:txBody>
      </p:sp>
      <p:sp>
        <p:nvSpPr>
          <p:cNvPr id="491" name="Oval 17"/>
          <p:cNvSpPr/>
          <p:nvPr/>
        </p:nvSpPr>
        <p:spPr>
          <a:xfrm>
            <a:off x="7364520" y="4777920"/>
            <a:ext cx="237240" cy="237240"/>
          </a:xfrm>
          <a:prstGeom prst="ellipse">
            <a:avLst/>
          </a:prstGeom>
          <a:solidFill>
            <a:srgbClr val="15A34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pPr algn="ctr" defTabSz="457200">
              <a:lnSpc>
                <a:spcPct val="106000"/>
              </a:lnSpc>
            </a:pPr>
            <a:r>
              <a:rPr lang="en-US" sz="1050" b="1" u="none" strike="noStrike">
                <a:solidFill>
                  <a:srgbClr val="FFFFFF"/>
                </a:solidFill>
                <a:effectLst/>
                <a:uFillTx/>
                <a:latin typeface="Calibri"/>
              </a:rPr>
              <a:t>4</a:t>
            </a:r>
            <a:endParaRPr lang="en-US" sz="1050" b="0" u="none" strike="noStrike">
              <a:solidFill>
                <a:srgbClr val="FFFFFF"/>
              </a:solidFill>
              <a:effectLst/>
              <a:uFillTx/>
              <a:latin typeface="Arial"/>
            </a:endParaRPr>
          </a:p>
        </p:txBody>
      </p:sp>
      <p:sp>
        <p:nvSpPr>
          <p:cNvPr id="492" name="TextBox 18"/>
          <p:cNvSpPr/>
          <p:nvPr/>
        </p:nvSpPr>
        <p:spPr>
          <a:xfrm>
            <a:off x="7730280" y="4741200"/>
            <a:ext cx="3894120" cy="365400"/>
          </a:xfrm>
          <a:prstGeom prst="rect">
            <a:avLst/>
          </a:prstGeom>
          <a:noFill/>
          <a:ln w="0">
            <a:noFill/>
          </a:ln>
        </p:spPr>
        <p:style>
          <a:lnRef idx="0"/>
          <a:fillRef idx="0"/>
          <a:effectRef idx="0"/>
          <a:fontRef idx="minor"/>
        </p:style>
        <p:txBody>
          <a:bodyPr lIns="0" tIns="0" rIns="0" bIns="0" anchor="t">
            <a:spAutoFit/>
          </a:bodyPr>
          <a:p>
            <a:pPr defTabSz="457200">
              <a:lnSpc>
                <a:spcPct val="106000"/>
              </a:lnSpc>
              <a:spcAft>
                <a:spcPts val="201"/>
              </a:spcAft>
            </a:pPr>
            <a:r>
              <a:rPr lang="en-US" sz="1250" b="1" u="none" strike="noStrike">
                <a:solidFill>
                  <a:srgbClr val="0E1A33"/>
                </a:solidFill>
                <a:effectLst/>
                <a:uFillTx/>
                <a:latin typeface="Calibri"/>
              </a:rPr>
              <a:t>43 tests, all passing</a:t>
            </a:r>
            <a:endParaRPr lang="en-US" sz="1250" b="0" u="none" strike="noStrike">
              <a:solidFill>
                <a:srgbClr val="000000"/>
              </a:solidFill>
              <a:effectLst/>
              <a:uFillTx/>
              <a:latin typeface="Arial"/>
            </a:endParaRPr>
          </a:p>
          <a:p>
            <a:pPr defTabSz="457200">
              <a:lnSpc>
                <a:spcPct val="110000"/>
              </a:lnSpc>
            </a:pPr>
            <a:r>
              <a:rPr lang="en-US" sz="1100" b="0" u="none" strike="noStrike">
                <a:solidFill>
                  <a:srgbClr val="6B7280"/>
                </a:solidFill>
                <a:effectLst/>
                <a:uFillTx/>
                <a:latin typeface="Calibri"/>
              </a:rPr>
              <a:t>Rules, chatbot intents, the LLM fallback path, the API endpoints and audit writing are all covered.</a:t>
            </a:r>
            <a:endParaRPr lang="en-US" sz="11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2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93" name="Rectangle 1"/>
          <p:cNvSpPr/>
          <p:nvPr/>
        </p:nvSpPr>
        <p:spPr>
          <a:xfrm>
            <a:off x="0" y="0"/>
            <a:ext cx="12191400" cy="6857640"/>
          </a:xfrm>
          <a:prstGeom prst="rect">
            <a:avLst/>
          </a:prstGeom>
          <a:solidFill>
            <a:srgbClr val="FFFFFF"/>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494" name="Rectangle 2"/>
          <p:cNvSpPr/>
          <p:nvPr/>
        </p:nvSpPr>
        <p:spPr>
          <a:xfrm>
            <a:off x="0" y="0"/>
            <a:ext cx="12191400" cy="77400"/>
          </a:xfrm>
          <a:prstGeom prst="rect">
            <a:avLst/>
          </a:prstGeom>
          <a:gradFill rotWithShape="0">
            <a:gsLst>
              <a:gs pos="0">
                <a:srgbClr val="4F46E5"/>
              </a:gs>
              <a:gs pos="100000">
                <a:srgbClr val="7C3AED"/>
              </a:gs>
            </a:gsLst>
            <a:lin ang="0"/>
          </a:gra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32760" rIns="90000" bIns="32760" anchor="ctr">
            <a:noAutofit/>
          </a:bodyPr>
          <a:p>
            <a:endParaRPr lang="en-US" sz="1800" b="0" u="none" strike="noStrike">
              <a:solidFill>
                <a:schemeClr val="lt1"/>
              </a:solidFill>
              <a:effectLst/>
              <a:uFillTx/>
              <a:latin typeface="Calibri"/>
            </a:endParaRPr>
          </a:p>
        </p:txBody>
      </p:sp>
      <p:sp>
        <p:nvSpPr>
          <p:cNvPr id="495" name="TextBox 3"/>
          <p:cNvSpPr/>
          <p:nvPr/>
        </p:nvSpPr>
        <p:spPr>
          <a:xfrm>
            <a:off x="567000" y="384120"/>
            <a:ext cx="11057400" cy="237240"/>
          </a:xfrm>
          <a:prstGeom prst="rect">
            <a:avLst/>
          </a:prstGeom>
          <a:noFill/>
          <a:ln w="0">
            <a:noFill/>
          </a:ln>
        </p:spPr>
        <p:style>
          <a:lnRef idx="0"/>
          <a:fillRef idx="0"/>
          <a:effectRef idx="0"/>
          <a:fontRef idx="minor"/>
        </p:style>
        <p:txBody>
          <a:bodyPr lIns="0" tIns="0" rIns="0" bIns="0" anchor="t">
            <a:spAutoFit/>
          </a:bodyPr>
          <a:p>
            <a:pPr defTabSz="457200">
              <a:lnSpc>
                <a:spcPct val="106000"/>
              </a:lnSpc>
            </a:pPr>
            <a:r>
              <a:rPr lang="en-US" sz="950" b="1" u="none" strike="noStrike">
                <a:solidFill>
                  <a:srgbClr val="4F46E5"/>
                </a:solidFill>
                <a:effectLst/>
                <a:uFillTx/>
                <a:latin typeface="Calibri"/>
              </a:rPr>
              <a:t>PART 04  ·  ENGINEERING QUALITY</a:t>
            </a:r>
            <a:endParaRPr lang="en-US" sz="950" b="0" u="none" strike="noStrike">
              <a:solidFill>
                <a:srgbClr val="000000"/>
              </a:solidFill>
              <a:effectLst/>
              <a:uFillTx/>
              <a:latin typeface="Arial"/>
            </a:endParaRPr>
          </a:p>
        </p:txBody>
      </p:sp>
      <p:sp>
        <p:nvSpPr>
          <p:cNvPr id="496" name="TextBox 4"/>
          <p:cNvSpPr/>
          <p:nvPr/>
        </p:nvSpPr>
        <p:spPr>
          <a:xfrm>
            <a:off x="567000" y="658440"/>
            <a:ext cx="11057400" cy="502560"/>
          </a:xfrm>
          <a:prstGeom prst="rect">
            <a:avLst/>
          </a:prstGeom>
          <a:noFill/>
          <a:ln w="0">
            <a:noFill/>
          </a:ln>
        </p:spPr>
        <p:style>
          <a:lnRef idx="0"/>
          <a:fillRef idx="0"/>
          <a:effectRef idx="0"/>
          <a:fontRef idx="minor"/>
        </p:style>
        <p:txBody>
          <a:bodyPr lIns="0" tIns="0" rIns="0" bIns="0" anchor="t">
            <a:spAutoFit/>
          </a:bodyPr>
          <a:p>
            <a:pPr defTabSz="457200">
              <a:lnSpc>
                <a:spcPct val="106000"/>
              </a:lnSpc>
            </a:pPr>
            <a:r>
              <a:rPr lang="en-US" sz="2700" b="1" u="none" strike="noStrike">
                <a:solidFill>
                  <a:srgbClr val="0E1A33"/>
                </a:solidFill>
                <a:effectLst/>
                <a:uFillTx/>
                <a:latin typeface="Calibri"/>
              </a:rPr>
              <a:t>Measured, not estimated</a:t>
            </a:r>
            <a:endParaRPr lang="en-US" sz="2700" b="0" u="none" strike="noStrike">
              <a:solidFill>
                <a:srgbClr val="000000"/>
              </a:solidFill>
              <a:effectLst/>
              <a:uFillTx/>
              <a:latin typeface="Arial"/>
            </a:endParaRPr>
          </a:p>
        </p:txBody>
      </p:sp>
      <p:sp>
        <p:nvSpPr>
          <p:cNvPr id="497" name="TextBox 5"/>
          <p:cNvSpPr/>
          <p:nvPr/>
        </p:nvSpPr>
        <p:spPr>
          <a:xfrm>
            <a:off x="567000" y="1225440"/>
            <a:ext cx="9509400" cy="365400"/>
          </a:xfrm>
          <a:prstGeom prst="rect">
            <a:avLst/>
          </a:prstGeom>
          <a:noFill/>
          <a:ln w="0">
            <a:noFill/>
          </a:ln>
        </p:spPr>
        <p:style>
          <a:lnRef idx="0"/>
          <a:fillRef idx="0"/>
          <a:effectRef idx="0"/>
          <a:fontRef idx="minor"/>
        </p:style>
        <p:txBody>
          <a:bodyPr lIns="0" tIns="0" rIns="0" bIns="0" anchor="t">
            <a:spAutoFit/>
          </a:bodyPr>
          <a:p>
            <a:pPr defTabSz="457200">
              <a:lnSpc>
                <a:spcPct val="106000"/>
              </a:lnSpc>
            </a:pPr>
            <a:r>
              <a:rPr lang="en-US" sz="1250" b="0" u="none" strike="noStrike">
                <a:solidFill>
                  <a:srgbClr val="6B7280"/>
                </a:solidFill>
                <a:effectLst/>
                <a:uFillTx/>
                <a:latin typeface="Calibri"/>
              </a:rPr>
              <a:t>Local run on the development machine: single Uvicorn worker, 60 sequential requests, reproducible with pytest -q and docs/capture_screenshots.py.</a:t>
            </a:r>
            <a:endParaRPr lang="en-US" sz="1250" b="0" u="none" strike="noStrike">
              <a:solidFill>
                <a:srgbClr val="000000"/>
              </a:solidFill>
              <a:effectLst/>
              <a:uFillTx/>
              <a:latin typeface="Arial"/>
            </a:endParaRPr>
          </a:p>
        </p:txBody>
      </p:sp>
      <p:sp>
        <p:nvSpPr>
          <p:cNvPr id="498" name="TextBox 6"/>
          <p:cNvSpPr/>
          <p:nvPr/>
        </p:nvSpPr>
        <p:spPr>
          <a:xfrm>
            <a:off x="567000" y="6382440"/>
            <a:ext cx="7740000" cy="273960"/>
          </a:xfrm>
          <a:prstGeom prst="rect">
            <a:avLst/>
          </a:prstGeom>
          <a:noFill/>
          <a:ln w="0">
            <a:noFill/>
          </a:ln>
        </p:spPr>
        <p:style>
          <a:lnRef idx="0"/>
          <a:fillRef idx="0"/>
          <a:effectRef idx="0"/>
          <a:fontRef idx="minor"/>
        </p:style>
        <p:txBody>
          <a:bodyPr lIns="0" tIns="0" rIns="0" bIns="0" anchor="t">
            <a:spAutoFit/>
          </a:bodyPr>
          <a:p>
            <a:pPr defTabSz="457200">
              <a:lnSpc>
                <a:spcPct val="106000"/>
              </a:lnSpc>
            </a:pPr>
            <a:r>
              <a:rPr lang="en-US" sz="900" b="0" u="none" strike="noStrike">
                <a:solidFill>
                  <a:srgbClr val="6B7280"/>
                </a:solidFill>
                <a:effectLst/>
                <a:uFillTx/>
                <a:latin typeface="Calibri"/>
              </a:rPr>
              <a:t>Loan Eligibility AI  ·  Capstone Demonstration</a:t>
            </a:r>
            <a:endParaRPr lang="en-US" sz="900" b="0" u="none" strike="noStrike">
              <a:solidFill>
                <a:srgbClr val="000000"/>
              </a:solidFill>
              <a:effectLst/>
              <a:uFillTx/>
              <a:latin typeface="Arial"/>
            </a:endParaRPr>
          </a:p>
        </p:txBody>
      </p:sp>
      <p:sp>
        <p:nvSpPr>
          <p:cNvPr id="499" name="TextBox 7"/>
          <p:cNvSpPr/>
          <p:nvPr/>
        </p:nvSpPr>
        <p:spPr>
          <a:xfrm>
            <a:off x="10527480" y="6382440"/>
            <a:ext cx="1096920" cy="273960"/>
          </a:xfrm>
          <a:prstGeom prst="rect">
            <a:avLst/>
          </a:prstGeom>
          <a:noFill/>
          <a:ln w="0">
            <a:noFill/>
          </a:ln>
        </p:spPr>
        <p:style>
          <a:lnRef idx="0"/>
          <a:fillRef idx="0"/>
          <a:effectRef idx="0"/>
          <a:fontRef idx="minor"/>
        </p:style>
        <p:txBody>
          <a:bodyPr lIns="0" tIns="0" rIns="0" bIns="0" anchor="t">
            <a:spAutoFit/>
          </a:bodyPr>
          <a:p>
            <a:pPr algn="r" defTabSz="457200">
              <a:lnSpc>
                <a:spcPct val="106000"/>
              </a:lnSpc>
            </a:pPr>
            <a:r>
              <a:rPr lang="en-US" sz="900" b="0" u="none" strike="noStrike">
                <a:solidFill>
                  <a:srgbClr val="6B7280"/>
                </a:solidFill>
                <a:effectLst/>
                <a:uFillTx/>
                <a:latin typeface="Calibri"/>
              </a:rPr>
              <a:t>26</a:t>
            </a:r>
            <a:endParaRPr lang="en-US" sz="900" b="0" u="none" strike="noStrike">
              <a:solidFill>
                <a:srgbClr val="000000"/>
              </a:solidFill>
              <a:effectLst/>
              <a:uFillTx/>
              <a:latin typeface="Arial"/>
            </a:endParaRPr>
          </a:p>
        </p:txBody>
      </p:sp>
      <p:sp>
        <p:nvSpPr>
          <p:cNvPr id="500" name="Rounded Rectangle 8"/>
          <p:cNvSpPr/>
          <p:nvPr/>
        </p:nvSpPr>
        <p:spPr>
          <a:xfrm>
            <a:off x="567000" y="1700640"/>
            <a:ext cx="1675080" cy="1170000"/>
          </a:xfrm>
          <a:prstGeom prst="roundRect">
            <a:avLst>
              <a:gd name="adj" fmla="val 5500"/>
            </a:avLst>
          </a:prstGeom>
          <a:solidFill>
            <a:srgbClr val="F6F8FC"/>
          </a:solidFill>
          <a:ln w="12700">
            <a:solidFill>
              <a:srgbClr val="E3E8F0"/>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201240" tIns="45000" rIns="128160" bIns="45000" anchor="ctr">
            <a:noAutofit/>
          </a:bodyPr>
          <a:p>
            <a:pPr defTabSz="457200">
              <a:lnSpc>
                <a:spcPct val="106000"/>
              </a:lnSpc>
              <a:spcAft>
                <a:spcPts val="99"/>
              </a:spcAft>
            </a:pPr>
            <a:r>
              <a:rPr lang="en-US" sz="1900" b="1" u="none" strike="noStrike">
                <a:solidFill>
                  <a:srgbClr val="0E1A33"/>
                </a:solidFill>
                <a:effectLst/>
                <a:uFillTx/>
                <a:latin typeface="Calibri"/>
              </a:rPr>
              <a:t>43</a:t>
            </a:r>
            <a:endParaRPr lang="en-US" sz="1900" b="0" u="none" strike="noStrike">
              <a:solidFill>
                <a:srgbClr val="000000"/>
              </a:solidFill>
              <a:effectLst/>
              <a:uFillTx/>
              <a:latin typeface="Arial"/>
            </a:endParaRPr>
          </a:p>
          <a:p>
            <a:pPr defTabSz="457200">
              <a:lnSpc>
                <a:spcPct val="106000"/>
              </a:lnSpc>
            </a:pPr>
            <a:r>
              <a:rPr lang="en-US" sz="1050" b="0" u="none" strike="noStrike">
                <a:solidFill>
                  <a:srgbClr val="6B7280"/>
                </a:solidFill>
                <a:effectLst/>
                <a:uFillTx/>
                <a:latin typeface="Calibri"/>
              </a:rPr>
              <a:t>unit tests passing</a:t>
            </a:r>
            <a:endParaRPr lang="en-US" sz="1050" b="0" u="none" strike="noStrike">
              <a:solidFill>
                <a:srgbClr val="000000"/>
              </a:solidFill>
              <a:effectLst/>
              <a:uFillTx/>
              <a:latin typeface="Arial"/>
            </a:endParaRPr>
          </a:p>
        </p:txBody>
      </p:sp>
      <p:sp>
        <p:nvSpPr>
          <p:cNvPr id="501" name="Rectangle 9"/>
          <p:cNvSpPr/>
          <p:nvPr/>
        </p:nvSpPr>
        <p:spPr>
          <a:xfrm>
            <a:off x="567000" y="1700640"/>
            <a:ext cx="50040" cy="1170000"/>
          </a:xfrm>
          <a:prstGeom prst="rect">
            <a:avLst/>
          </a:prstGeom>
          <a:solidFill>
            <a:srgbClr val="4F46E5"/>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502" name="Rounded Rectangle 10"/>
          <p:cNvSpPr/>
          <p:nvPr/>
        </p:nvSpPr>
        <p:spPr>
          <a:xfrm>
            <a:off x="2443320" y="1700640"/>
            <a:ext cx="1675080" cy="1170000"/>
          </a:xfrm>
          <a:prstGeom prst="roundRect">
            <a:avLst>
              <a:gd name="adj" fmla="val 5500"/>
            </a:avLst>
          </a:prstGeom>
          <a:solidFill>
            <a:srgbClr val="F6F8FC"/>
          </a:solidFill>
          <a:ln w="12700">
            <a:solidFill>
              <a:srgbClr val="E3E8F0"/>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201240" tIns="45000" rIns="128160" bIns="45000" anchor="ctr">
            <a:noAutofit/>
          </a:bodyPr>
          <a:p>
            <a:pPr defTabSz="457200">
              <a:lnSpc>
                <a:spcPct val="106000"/>
              </a:lnSpc>
              <a:spcAft>
                <a:spcPts val="99"/>
              </a:spcAft>
            </a:pPr>
            <a:r>
              <a:rPr lang="en-US" sz="1900" b="1" u="none" strike="noStrike">
                <a:solidFill>
                  <a:srgbClr val="0E1A33"/>
                </a:solidFill>
                <a:effectLst/>
                <a:uFillTx/>
                <a:latin typeface="Calibri"/>
              </a:rPr>
              <a:t>4 ms</a:t>
            </a:r>
            <a:endParaRPr lang="en-US" sz="1900" b="0" u="none" strike="noStrike">
              <a:solidFill>
                <a:srgbClr val="000000"/>
              </a:solidFill>
              <a:effectLst/>
              <a:uFillTx/>
              <a:latin typeface="Arial"/>
            </a:endParaRPr>
          </a:p>
          <a:p>
            <a:pPr defTabSz="457200">
              <a:lnSpc>
                <a:spcPct val="106000"/>
              </a:lnSpc>
            </a:pPr>
            <a:r>
              <a:rPr lang="en-US" sz="1050" b="0" u="none" strike="noStrike">
                <a:solidFill>
                  <a:srgbClr val="6B7280"/>
                </a:solidFill>
                <a:effectLst/>
                <a:uFillTx/>
                <a:latin typeface="Calibri"/>
              </a:rPr>
              <a:t>median /process latency</a:t>
            </a:r>
            <a:endParaRPr lang="en-US" sz="1050" b="0" u="none" strike="noStrike">
              <a:solidFill>
                <a:srgbClr val="000000"/>
              </a:solidFill>
              <a:effectLst/>
              <a:uFillTx/>
              <a:latin typeface="Arial"/>
            </a:endParaRPr>
          </a:p>
        </p:txBody>
      </p:sp>
      <p:sp>
        <p:nvSpPr>
          <p:cNvPr id="503" name="Rectangle 11"/>
          <p:cNvSpPr/>
          <p:nvPr/>
        </p:nvSpPr>
        <p:spPr>
          <a:xfrm>
            <a:off x="2443320" y="1700640"/>
            <a:ext cx="50040" cy="1170000"/>
          </a:xfrm>
          <a:prstGeom prst="rect">
            <a:avLst/>
          </a:prstGeom>
          <a:solidFill>
            <a:srgbClr val="7C3AED"/>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504" name="Rounded Rectangle 12"/>
          <p:cNvSpPr/>
          <p:nvPr/>
        </p:nvSpPr>
        <p:spPr>
          <a:xfrm>
            <a:off x="4320000" y="1700640"/>
            <a:ext cx="1675080" cy="1170000"/>
          </a:xfrm>
          <a:prstGeom prst="roundRect">
            <a:avLst>
              <a:gd name="adj" fmla="val 5500"/>
            </a:avLst>
          </a:prstGeom>
          <a:solidFill>
            <a:srgbClr val="F6F8FC"/>
          </a:solidFill>
          <a:ln w="12700">
            <a:solidFill>
              <a:srgbClr val="E3E8F0"/>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201240" tIns="45000" rIns="128160" bIns="45000" anchor="ctr">
            <a:noAutofit/>
          </a:bodyPr>
          <a:p>
            <a:pPr defTabSz="457200">
              <a:lnSpc>
                <a:spcPct val="106000"/>
              </a:lnSpc>
              <a:spcAft>
                <a:spcPts val="99"/>
              </a:spcAft>
            </a:pPr>
            <a:r>
              <a:rPr lang="en-US" sz="1900" b="1" u="none" strike="noStrike">
                <a:solidFill>
                  <a:srgbClr val="0E1A33"/>
                </a:solidFill>
                <a:effectLst/>
                <a:uFillTx/>
                <a:latin typeface="Calibri"/>
              </a:rPr>
              <a:t>5 ms</a:t>
            </a:r>
            <a:endParaRPr lang="en-US" sz="1900" b="0" u="none" strike="noStrike">
              <a:solidFill>
                <a:srgbClr val="000000"/>
              </a:solidFill>
              <a:effectLst/>
              <a:uFillTx/>
              <a:latin typeface="Arial"/>
            </a:endParaRPr>
          </a:p>
          <a:p>
            <a:pPr defTabSz="457200">
              <a:lnSpc>
                <a:spcPct val="106000"/>
              </a:lnSpc>
            </a:pPr>
            <a:r>
              <a:rPr lang="en-US" sz="1050" b="0" u="none" strike="noStrike">
                <a:solidFill>
                  <a:srgbClr val="6B7280"/>
                </a:solidFill>
                <a:effectLst/>
                <a:uFillTx/>
                <a:latin typeface="Calibri"/>
              </a:rPr>
              <a:t>95th percentile latency</a:t>
            </a:r>
            <a:endParaRPr lang="en-US" sz="1050" b="0" u="none" strike="noStrike">
              <a:solidFill>
                <a:srgbClr val="000000"/>
              </a:solidFill>
              <a:effectLst/>
              <a:uFillTx/>
              <a:latin typeface="Arial"/>
            </a:endParaRPr>
          </a:p>
        </p:txBody>
      </p:sp>
      <p:sp>
        <p:nvSpPr>
          <p:cNvPr id="505" name="Rectangle 13"/>
          <p:cNvSpPr/>
          <p:nvPr/>
        </p:nvSpPr>
        <p:spPr>
          <a:xfrm>
            <a:off x="4320000" y="1700640"/>
            <a:ext cx="50040" cy="1170000"/>
          </a:xfrm>
          <a:prstGeom prst="rect">
            <a:avLst/>
          </a:prstGeom>
          <a:solidFill>
            <a:srgbClr val="06B6D4"/>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506" name="Rounded Rectangle 14"/>
          <p:cNvSpPr/>
          <p:nvPr/>
        </p:nvSpPr>
        <p:spPr>
          <a:xfrm>
            <a:off x="6196320" y="1700640"/>
            <a:ext cx="1675080" cy="1170000"/>
          </a:xfrm>
          <a:prstGeom prst="roundRect">
            <a:avLst>
              <a:gd name="adj" fmla="val 5500"/>
            </a:avLst>
          </a:prstGeom>
          <a:solidFill>
            <a:srgbClr val="F6F8FC"/>
          </a:solidFill>
          <a:ln w="12700">
            <a:solidFill>
              <a:srgbClr val="E3E8F0"/>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201240" tIns="45000" rIns="128160" bIns="45000" anchor="ctr">
            <a:noAutofit/>
          </a:bodyPr>
          <a:p>
            <a:pPr defTabSz="457200">
              <a:lnSpc>
                <a:spcPct val="106000"/>
              </a:lnSpc>
              <a:spcAft>
                <a:spcPts val="99"/>
              </a:spcAft>
            </a:pPr>
            <a:r>
              <a:rPr lang="en-US" sz="1900" b="1" u="none" strike="noStrike">
                <a:solidFill>
                  <a:srgbClr val="0E1A33"/>
                </a:solidFill>
                <a:effectLst/>
                <a:uFillTx/>
                <a:latin typeface="Calibri"/>
              </a:rPr>
              <a:t>5 ms</a:t>
            </a:r>
            <a:endParaRPr lang="en-US" sz="1900" b="0" u="none" strike="noStrike">
              <a:solidFill>
                <a:srgbClr val="000000"/>
              </a:solidFill>
              <a:effectLst/>
              <a:uFillTx/>
              <a:latin typeface="Arial"/>
            </a:endParaRPr>
          </a:p>
          <a:p>
            <a:pPr defTabSz="457200">
              <a:lnSpc>
                <a:spcPct val="106000"/>
              </a:lnSpc>
            </a:pPr>
            <a:r>
              <a:rPr lang="en-US" sz="1050" b="0" u="none" strike="noStrike">
                <a:solidFill>
                  <a:srgbClr val="6B7280"/>
                </a:solidFill>
                <a:effectLst/>
                <a:uFillTx/>
                <a:latin typeface="Calibri"/>
              </a:rPr>
              <a:t>median /chat latency (rules mode)</a:t>
            </a:r>
            <a:endParaRPr lang="en-US" sz="1050" b="0" u="none" strike="noStrike">
              <a:solidFill>
                <a:srgbClr val="000000"/>
              </a:solidFill>
              <a:effectLst/>
              <a:uFillTx/>
              <a:latin typeface="Arial"/>
            </a:endParaRPr>
          </a:p>
        </p:txBody>
      </p:sp>
      <p:sp>
        <p:nvSpPr>
          <p:cNvPr id="507" name="Rectangle 15"/>
          <p:cNvSpPr/>
          <p:nvPr/>
        </p:nvSpPr>
        <p:spPr>
          <a:xfrm>
            <a:off x="6196320" y="1700640"/>
            <a:ext cx="50040" cy="1170000"/>
          </a:xfrm>
          <a:prstGeom prst="rect">
            <a:avLst/>
          </a:prstGeom>
          <a:solidFill>
            <a:srgbClr val="15A34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508" name="Rounded Rectangle 16"/>
          <p:cNvSpPr/>
          <p:nvPr/>
        </p:nvSpPr>
        <p:spPr>
          <a:xfrm>
            <a:off x="8073000" y="1700640"/>
            <a:ext cx="1675080" cy="1170000"/>
          </a:xfrm>
          <a:prstGeom prst="roundRect">
            <a:avLst>
              <a:gd name="adj" fmla="val 5500"/>
            </a:avLst>
          </a:prstGeom>
          <a:solidFill>
            <a:srgbClr val="F6F8FC"/>
          </a:solidFill>
          <a:ln w="12700">
            <a:solidFill>
              <a:srgbClr val="E3E8F0"/>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201240" tIns="45000" rIns="128160" bIns="45000" anchor="ctr">
            <a:noAutofit/>
          </a:bodyPr>
          <a:p>
            <a:pPr defTabSz="457200">
              <a:lnSpc>
                <a:spcPct val="106000"/>
              </a:lnSpc>
              <a:spcAft>
                <a:spcPts val="99"/>
              </a:spcAft>
            </a:pPr>
            <a:r>
              <a:rPr lang="en-US" sz="1900" b="1" u="none" strike="noStrike">
                <a:solidFill>
                  <a:srgbClr val="0E1A33"/>
                </a:solidFill>
                <a:effectLst/>
                <a:uFillTx/>
                <a:latin typeface="Calibri"/>
              </a:rPr>
              <a:t>100%</a:t>
            </a:r>
            <a:endParaRPr lang="en-US" sz="1900" b="0" u="none" strike="noStrike">
              <a:solidFill>
                <a:srgbClr val="000000"/>
              </a:solidFill>
              <a:effectLst/>
              <a:uFillTx/>
              <a:latin typeface="Arial"/>
            </a:endParaRPr>
          </a:p>
          <a:p>
            <a:pPr defTabSz="457200">
              <a:lnSpc>
                <a:spcPct val="106000"/>
              </a:lnSpc>
            </a:pPr>
            <a:r>
              <a:rPr lang="en-US" sz="1050" b="0" u="none" strike="noStrike">
                <a:solidFill>
                  <a:srgbClr val="6B7280"/>
                </a:solidFill>
                <a:effectLst/>
                <a:uFillTx/>
                <a:latin typeface="Calibri"/>
              </a:rPr>
              <a:t>repeatable decisions</a:t>
            </a:r>
            <a:endParaRPr lang="en-US" sz="1050" b="0" u="none" strike="noStrike">
              <a:solidFill>
                <a:srgbClr val="000000"/>
              </a:solidFill>
              <a:effectLst/>
              <a:uFillTx/>
              <a:latin typeface="Arial"/>
            </a:endParaRPr>
          </a:p>
        </p:txBody>
      </p:sp>
      <p:sp>
        <p:nvSpPr>
          <p:cNvPr id="509" name="Rectangle 17"/>
          <p:cNvSpPr/>
          <p:nvPr/>
        </p:nvSpPr>
        <p:spPr>
          <a:xfrm>
            <a:off x="8073000" y="1700640"/>
            <a:ext cx="50040" cy="1170000"/>
          </a:xfrm>
          <a:prstGeom prst="rect">
            <a:avLst/>
          </a:prstGeom>
          <a:solidFill>
            <a:srgbClr val="D9770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510" name="Rounded Rectangle 18"/>
          <p:cNvSpPr/>
          <p:nvPr/>
        </p:nvSpPr>
        <p:spPr>
          <a:xfrm>
            <a:off x="9949320" y="1700640"/>
            <a:ext cx="1675080" cy="1170000"/>
          </a:xfrm>
          <a:prstGeom prst="roundRect">
            <a:avLst>
              <a:gd name="adj" fmla="val 5500"/>
            </a:avLst>
          </a:prstGeom>
          <a:solidFill>
            <a:srgbClr val="F6F8FC"/>
          </a:solidFill>
          <a:ln w="12700">
            <a:solidFill>
              <a:srgbClr val="E3E8F0"/>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201240" tIns="45000" rIns="128160" bIns="45000" anchor="ctr">
            <a:noAutofit/>
          </a:bodyPr>
          <a:p>
            <a:pPr defTabSz="457200">
              <a:lnSpc>
                <a:spcPct val="106000"/>
              </a:lnSpc>
              <a:spcAft>
                <a:spcPts val="99"/>
              </a:spcAft>
            </a:pPr>
            <a:r>
              <a:rPr lang="en-US" sz="1900" b="1" u="none" strike="noStrike">
                <a:solidFill>
                  <a:srgbClr val="0E1A33"/>
                </a:solidFill>
                <a:effectLst/>
                <a:uFillTx/>
                <a:latin typeface="Calibri"/>
              </a:rPr>
              <a:t>0</a:t>
            </a:r>
            <a:endParaRPr lang="en-US" sz="1900" b="0" u="none" strike="noStrike">
              <a:solidFill>
                <a:srgbClr val="000000"/>
              </a:solidFill>
              <a:effectLst/>
              <a:uFillTx/>
              <a:latin typeface="Arial"/>
            </a:endParaRPr>
          </a:p>
          <a:p>
            <a:pPr defTabSz="457200">
              <a:lnSpc>
                <a:spcPct val="106000"/>
              </a:lnSpc>
            </a:pPr>
            <a:r>
              <a:rPr lang="en-US" sz="1050" b="0" u="none" strike="noStrike">
                <a:solidFill>
                  <a:srgbClr val="6B7280"/>
                </a:solidFill>
                <a:effectLst/>
                <a:uFillTx/>
                <a:latin typeface="Calibri"/>
              </a:rPr>
              <a:t>external calls per decision</a:t>
            </a:r>
            <a:endParaRPr lang="en-US" sz="1050" b="0" u="none" strike="noStrike">
              <a:solidFill>
                <a:srgbClr val="000000"/>
              </a:solidFill>
              <a:effectLst/>
              <a:uFillTx/>
              <a:latin typeface="Arial"/>
            </a:endParaRPr>
          </a:p>
        </p:txBody>
      </p:sp>
      <p:sp>
        <p:nvSpPr>
          <p:cNvPr id="511" name="Rectangle 19"/>
          <p:cNvSpPr/>
          <p:nvPr/>
        </p:nvSpPr>
        <p:spPr>
          <a:xfrm>
            <a:off x="9949320" y="1700640"/>
            <a:ext cx="50040" cy="1170000"/>
          </a:xfrm>
          <a:prstGeom prst="rect">
            <a:avLst/>
          </a:prstGeom>
          <a:solidFill>
            <a:srgbClr val="DC262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512" name="Rounded Rectangle 20"/>
          <p:cNvSpPr/>
          <p:nvPr/>
        </p:nvSpPr>
        <p:spPr>
          <a:xfrm>
            <a:off x="567000" y="3127320"/>
            <a:ext cx="3515040" cy="1874160"/>
          </a:xfrm>
          <a:prstGeom prst="roundRect">
            <a:avLst>
              <a:gd name="adj" fmla="val 5500"/>
            </a:avLst>
          </a:prstGeom>
          <a:solidFill>
            <a:srgbClr val="FFFFFF"/>
          </a:solidFill>
          <a:ln w="12700">
            <a:solidFill>
              <a:srgbClr val="E3E8F0"/>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219600" tIns="237600" rIns="182880" bIns="45000" anchor="ctr">
            <a:noAutofit/>
          </a:bodyPr>
          <a:p>
            <a:pPr defTabSz="457200">
              <a:lnSpc>
                <a:spcPct val="106000"/>
              </a:lnSpc>
              <a:spcAft>
                <a:spcPts val="799"/>
              </a:spcAft>
            </a:pPr>
            <a:r>
              <a:rPr lang="en-US" sz="1450" b="1" u="none" strike="noStrike">
                <a:solidFill>
                  <a:srgbClr val="0E1A33"/>
                </a:solidFill>
                <a:effectLst/>
                <a:uFillTx/>
                <a:latin typeface="Calibri"/>
              </a:rPr>
              <a:t>Deterministic by construction</a:t>
            </a:r>
            <a:endParaRPr lang="en-US" sz="1450" b="0" u="none" strike="noStrike">
              <a:solidFill>
                <a:srgbClr val="000000"/>
              </a:solidFill>
              <a:effectLst/>
              <a:uFillTx/>
              <a:latin typeface="Arial"/>
            </a:endParaRPr>
          </a:p>
          <a:p>
            <a:pPr defTabSz="457200">
              <a:lnSpc>
                <a:spcPct val="118000"/>
              </a:lnSpc>
            </a:pPr>
            <a:r>
              <a:rPr lang="en-US" sz="1150" b="0" u="none" strike="noStrike">
                <a:solidFill>
                  <a:srgbClr val="6B7280"/>
                </a:solidFill>
                <a:effectLst/>
                <a:uFillTx/>
                <a:latin typeface="Calibri"/>
              </a:rPr>
              <a:t>The decision path contains no sampling and no model call. The same application always yields the same decision, which is what makes the rules unit-testable and the outcome auditable.</a:t>
            </a:r>
            <a:endParaRPr lang="en-US" sz="1150" b="0" u="none" strike="noStrike">
              <a:solidFill>
                <a:srgbClr val="000000"/>
              </a:solidFill>
              <a:effectLst/>
              <a:uFillTx/>
              <a:latin typeface="Arial"/>
            </a:endParaRPr>
          </a:p>
        </p:txBody>
      </p:sp>
      <p:sp>
        <p:nvSpPr>
          <p:cNvPr id="513" name="Rectangle 21"/>
          <p:cNvSpPr/>
          <p:nvPr/>
        </p:nvSpPr>
        <p:spPr>
          <a:xfrm>
            <a:off x="567720" y="3127320"/>
            <a:ext cx="3513240" cy="50040"/>
          </a:xfrm>
          <a:prstGeom prst="rect">
            <a:avLst/>
          </a:prstGeom>
          <a:solidFill>
            <a:srgbClr val="4F46E5"/>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5400" rIns="90000" bIns="5400" anchor="ctr">
            <a:noAutofit/>
          </a:bodyPr>
          <a:p>
            <a:endParaRPr lang="en-US" sz="1800" b="0" u="none" strike="noStrike">
              <a:solidFill>
                <a:schemeClr val="lt1"/>
              </a:solidFill>
              <a:effectLst/>
              <a:uFillTx/>
              <a:latin typeface="Calibri"/>
            </a:endParaRPr>
          </a:p>
        </p:txBody>
      </p:sp>
      <p:sp>
        <p:nvSpPr>
          <p:cNvPr id="514" name="Rounded Rectangle 22"/>
          <p:cNvSpPr/>
          <p:nvPr/>
        </p:nvSpPr>
        <p:spPr>
          <a:xfrm>
            <a:off x="4338360" y="3127320"/>
            <a:ext cx="3515040" cy="1874160"/>
          </a:xfrm>
          <a:prstGeom prst="roundRect">
            <a:avLst>
              <a:gd name="adj" fmla="val 5500"/>
            </a:avLst>
          </a:prstGeom>
          <a:solidFill>
            <a:srgbClr val="FFFFFF"/>
          </a:solidFill>
          <a:ln w="12700">
            <a:solidFill>
              <a:srgbClr val="E3E8F0"/>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219600" tIns="237600" rIns="182880" bIns="45000" anchor="ctr">
            <a:noAutofit/>
          </a:bodyPr>
          <a:p>
            <a:pPr defTabSz="457200">
              <a:lnSpc>
                <a:spcPct val="106000"/>
              </a:lnSpc>
              <a:spcAft>
                <a:spcPts val="799"/>
              </a:spcAft>
            </a:pPr>
            <a:r>
              <a:rPr lang="en-US" sz="1450" b="1" u="none" strike="noStrike">
                <a:solidFill>
                  <a:srgbClr val="0E1A33"/>
                </a:solidFill>
                <a:effectLst/>
                <a:uFillTx/>
                <a:latin typeface="Calibri"/>
              </a:rPr>
              <a:t>Degrades instead of failing</a:t>
            </a:r>
            <a:endParaRPr lang="en-US" sz="1450" b="0" u="none" strike="noStrike">
              <a:solidFill>
                <a:srgbClr val="000000"/>
              </a:solidFill>
              <a:effectLst/>
              <a:uFillTx/>
              <a:latin typeface="Arial"/>
            </a:endParaRPr>
          </a:p>
          <a:p>
            <a:pPr defTabSz="457200">
              <a:lnSpc>
                <a:spcPct val="118000"/>
              </a:lnSpc>
            </a:pPr>
            <a:r>
              <a:rPr lang="en-US" sz="1150" b="0" u="none" strike="noStrike">
                <a:solidFill>
                  <a:srgbClr val="6B7280"/>
                </a:solidFill>
                <a:effectLst/>
                <a:uFillTx/>
                <a:latin typeface="Calibri"/>
              </a:rPr>
              <a:t>If the Claude responder is unreachable, rate-limited or declines, /chat still returns 200 with the deterministic answer. If the backend is down, the UI shows a clear message rather than a stack trace.</a:t>
            </a:r>
            <a:endParaRPr lang="en-US" sz="1150" b="0" u="none" strike="noStrike">
              <a:solidFill>
                <a:srgbClr val="000000"/>
              </a:solidFill>
              <a:effectLst/>
              <a:uFillTx/>
              <a:latin typeface="Arial"/>
            </a:endParaRPr>
          </a:p>
        </p:txBody>
      </p:sp>
      <p:sp>
        <p:nvSpPr>
          <p:cNvPr id="515" name="Rectangle 23"/>
          <p:cNvSpPr/>
          <p:nvPr/>
        </p:nvSpPr>
        <p:spPr>
          <a:xfrm>
            <a:off x="4339080" y="3127320"/>
            <a:ext cx="3513240" cy="50040"/>
          </a:xfrm>
          <a:prstGeom prst="rect">
            <a:avLst/>
          </a:prstGeom>
          <a:solidFill>
            <a:srgbClr val="15A34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5400" rIns="90000" bIns="5400" anchor="ctr">
            <a:noAutofit/>
          </a:bodyPr>
          <a:p>
            <a:endParaRPr lang="en-US" sz="1800" b="0" u="none" strike="noStrike">
              <a:solidFill>
                <a:schemeClr val="lt1"/>
              </a:solidFill>
              <a:effectLst/>
              <a:uFillTx/>
              <a:latin typeface="Calibri"/>
            </a:endParaRPr>
          </a:p>
        </p:txBody>
      </p:sp>
      <p:sp>
        <p:nvSpPr>
          <p:cNvPr id="516" name="Rounded Rectangle 24"/>
          <p:cNvSpPr/>
          <p:nvPr/>
        </p:nvSpPr>
        <p:spPr>
          <a:xfrm>
            <a:off x="8109360" y="3127320"/>
            <a:ext cx="3515040" cy="1874160"/>
          </a:xfrm>
          <a:prstGeom prst="roundRect">
            <a:avLst>
              <a:gd name="adj" fmla="val 5500"/>
            </a:avLst>
          </a:prstGeom>
          <a:solidFill>
            <a:srgbClr val="FFFFFF"/>
          </a:solidFill>
          <a:ln w="12700">
            <a:solidFill>
              <a:srgbClr val="E3E8F0"/>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219600" tIns="237600" rIns="182880" bIns="45000" anchor="ctr">
            <a:noAutofit/>
          </a:bodyPr>
          <a:p>
            <a:pPr defTabSz="457200">
              <a:lnSpc>
                <a:spcPct val="106000"/>
              </a:lnSpc>
              <a:spcAft>
                <a:spcPts val="799"/>
              </a:spcAft>
            </a:pPr>
            <a:r>
              <a:rPr lang="en-US" sz="1450" b="1" u="none" strike="noStrike">
                <a:solidFill>
                  <a:srgbClr val="0E1A33"/>
                </a:solidFill>
                <a:effectLst/>
                <a:uFillTx/>
                <a:latin typeface="Calibri"/>
              </a:rPr>
              <a:t>Honest about scope</a:t>
            </a:r>
            <a:endParaRPr lang="en-US" sz="1450" b="0" u="none" strike="noStrike">
              <a:solidFill>
                <a:srgbClr val="000000"/>
              </a:solidFill>
              <a:effectLst/>
              <a:uFillTx/>
              <a:latin typeface="Arial"/>
            </a:endParaRPr>
          </a:p>
          <a:p>
            <a:pPr defTabSz="457200">
              <a:lnSpc>
                <a:spcPct val="118000"/>
              </a:lnSpc>
            </a:pPr>
            <a:r>
              <a:rPr lang="en-US" sz="1150" b="0" u="none" strike="noStrike">
                <a:solidFill>
                  <a:srgbClr val="6B7280"/>
                </a:solidFill>
                <a:effectLst/>
                <a:uFillTx/>
                <a:latin typeface="Calibri"/>
              </a:rPr>
              <a:t>These are development-machine numbers on a single worker, not a load-tested production claim. We report what we measured and label the rest as projection.</a:t>
            </a:r>
            <a:endParaRPr lang="en-US" sz="1150" b="0" u="none" strike="noStrike">
              <a:solidFill>
                <a:srgbClr val="000000"/>
              </a:solidFill>
              <a:effectLst/>
              <a:uFillTx/>
              <a:latin typeface="Arial"/>
            </a:endParaRPr>
          </a:p>
        </p:txBody>
      </p:sp>
      <p:sp>
        <p:nvSpPr>
          <p:cNvPr id="517" name="Rectangle 25"/>
          <p:cNvSpPr/>
          <p:nvPr/>
        </p:nvSpPr>
        <p:spPr>
          <a:xfrm>
            <a:off x="8110440" y="3127320"/>
            <a:ext cx="3513240" cy="50040"/>
          </a:xfrm>
          <a:prstGeom prst="rect">
            <a:avLst/>
          </a:prstGeom>
          <a:solidFill>
            <a:srgbClr val="D9770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5400" rIns="90000" bIns="5400" anchor="ctr">
            <a:noAutofit/>
          </a:bodyPr>
          <a:p>
            <a:endParaRPr lang="en-US" sz="1800" b="0" u="none" strike="noStrike">
              <a:solidFill>
                <a:schemeClr val="lt1"/>
              </a:solidFill>
              <a:effectLst/>
              <a:uFillTx/>
              <a:latin typeface="Calibri"/>
            </a:endParaRPr>
          </a:p>
        </p:txBody>
      </p:sp>
    </p:spTree>
  </p:cSld>
  <mc:AlternateContent>
    <mc:Choice Requires="p14">
      <p:transition spd="slow" p14:dur="2000"/>
    </mc:Choice>
    <mc:Fallback>
      <p:transition spd="slow"/>
    </mc:Fallback>
  </mc:AlternateContent>
</p:sld>
</file>

<file path=ppt/slides/slide2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18" name="Rectangle 1"/>
          <p:cNvSpPr/>
          <p:nvPr/>
        </p:nvSpPr>
        <p:spPr>
          <a:xfrm>
            <a:off x="0" y="0"/>
            <a:ext cx="12191400" cy="6857640"/>
          </a:xfrm>
          <a:prstGeom prst="rect">
            <a:avLst/>
          </a:prstGeom>
          <a:solidFill>
            <a:srgbClr val="FFFFFF"/>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519" name="Rectangle 2"/>
          <p:cNvSpPr/>
          <p:nvPr/>
        </p:nvSpPr>
        <p:spPr>
          <a:xfrm>
            <a:off x="0" y="0"/>
            <a:ext cx="12191400" cy="77400"/>
          </a:xfrm>
          <a:prstGeom prst="rect">
            <a:avLst/>
          </a:prstGeom>
          <a:gradFill rotWithShape="0">
            <a:gsLst>
              <a:gs pos="0">
                <a:srgbClr val="4F46E5"/>
              </a:gs>
              <a:gs pos="100000">
                <a:srgbClr val="7C3AED"/>
              </a:gs>
            </a:gsLst>
            <a:lin ang="0"/>
          </a:gra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32760" rIns="90000" bIns="32760" anchor="ctr">
            <a:noAutofit/>
          </a:bodyPr>
          <a:p>
            <a:endParaRPr lang="en-US" sz="1800" b="0" u="none" strike="noStrike">
              <a:solidFill>
                <a:schemeClr val="lt1"/>
              </a:solidFill>
              <a:effectLst/>
              <a:uFillTx/>
              <a:latin typeface="Calibri"/>
            </a:endParaRPr>
          </a:p>
        </p:txBody>
      </p:sp>
      <p:sp>
        <p:nvSpPr>
          <p:cNvPr id="520" name="TextBox 3"/>
          <p:cNvSpPr/>
          <p:nvPr/>
        </p:nvSpPr>
        <p:spPr>
          <a:xfrm>
            <a:off x="567000" y="384120"/>
            <a:ext cx="11057400" cy="237240"/>
          </a:xfrm>
          <a:prstGeom prst="rect">
            <a:avLst/>
          </a:prstGeom>
          <a:noFill/>
          <a:ln w="0">
            <a:noFill/>
          </a:ln>
        </p:spPr>
        <p:style>
          <a:lnRef idx="0"/>
          <a:fillRef idx="0"/>
          <a:effectRef idx="0"/>
          <a:fontRef idx="minor"/>
        </p:style>
        <p:txBody>
          <a:bodyPr lIns="0" tIns="0" rIns="0" bIns="0" anchor="t">
            <a:spAutoFit/>
          </a:bodyPr>
          <a:p>
            <a:pPr defTabSz="457200">
              <a:lnSpc>
                <a:spcPct val="106000"/>
              </a:lnSpc>
            </a:pPr>
            <a:r>
              <a:rPr lang="en-US" sz="950" b="1" u="none" strike="noStrike">
                <a:solidFill>
                  <a:srgbClr val="4F46E5"/>
                </a:solidFill>
                <a:effectLst/>
                <a:uFillTx/>
                <a:latin typeface="Calibri"/>
              </a:rPr>
              <a:t>PART 04  ·  GOVERNANCE</a:t>
            </a:r>
            <a:endParaRPr lang="en-US" sz="950" b="0" u="none" strike="noStrike">
              <a:solidFill>
                <a:srgbClr val="000000"/>
              </a:solidFill>
              <a:effectLst/>
              <a:uFillTx/>
              <a:latin typeface="Arial"/>
            </a:endParaRPr>
          </a:p>
        </p:txBody>
      </p:sp>
      <p:sp>
        <p:nvSpPr>
          <p:cNvPr id="521" name="TextBox 4"/>
          <p:cNvSpPr/>
          <p:nvPr/>
        </p:nvSpPr>
        <p:spPr>
          <a:xfrm>
            <a:off x="567000" y="658440"/>
            <a:ext cx="11057400" cy="502560"/>
          </a:xfrm>
          <a:prstGeom prst="rect">
            <a:avLst/>
          </a:prstGeom>
          <a:noFill/>
          <a:ln w="0">
            <a:noFill/>
          </a:ln>
        </p:spPr>
        <p:style>
          <a:lnRef idx="0"/>
          <a:fillRef idx="0"/>
          <a:effectRef idx="0"/>
          <a:fontRef idx="minor"/>
        </p:style>
        <p:txBody>
          <a:bodyPr lIns="0" tIns="0" rIns="0" bIns="0" anchor="t">
            <a:spAutoFit/>
          </a:bodyPr>
          <a:p>
            <a:pPr defTabSz="457200">
              <a:lnSpc>
                <a:spcPct val="106000"/>
              </a:lnSpc>
            </a:pPr>
            <a:r>
              <a:rPr lang="en-US" sz="2700" b="1" u="none" strike="noStrike">
                <a:solidFill>
                  <a:srgbClr val="0E1A33"/>
                </a:solidFill>
                <a:effectLst/>
                <a:uFillTx/>
                <a:latin typeface="Calibri"/>
              </a:rPr>
              <a:t>Controls in place, and limitations we are open about</a:t>
            </a:r>
            <a:endParaRPr lang="en-US" sz="2700" b="0" u="none" strike="noStrike">
              <a:solidFill>
                <a:srgbClr val="000000"/>
              </a:solidFill>
              <a:effectLst/>
              <a:uFillTx/>
              <a:latin typeface="Arial"/>
            </a:endParaRPr>
          </a:p>
        </p:txBody>
      </p:sp>
      <p:sp>
        <p:nvSpPr>
          <p:cNvPr id="522" name="TextBox 5"/>
          <p:cNvSpPr/>
          <p:nvPr/>
        </p:nvSpPr>
        <p:spPr>
          <a:xfrm>
            <a:off x="567000" y="1225440"/>
            <a:ext cx="9509400" cy="365400"/>
          </a:xfrm>
          <a:prstGeom prst="rect">
            <a:avLst/>
          </a:prstGeom>
          <a:noFill/>
          <a:ln w="0">
            <a:noFill/>
          </a:ln>
        </p:spPr>
        <p:style>
          <a:lnRef idx="0"/>
          <a:fillRef idx="0"/>
          <a:effectRef idx="0"/>
          <a:fontRef idx="minor"/>
        </p:style>
        <p:txBody>
          <a:bodyPr lIns="0" tIns="0" rIns="0" bIns="0" anchor="t">
            <a:spAutoFit/>
          </a:bodyPr>
          <a:p>
            <a:pPr defTabSz="457200">
              <a:lnSpc>
                <a:spcPct val="106000"/>
              </a:lnSpc>
            </a:pPr>
            <a:r>
              <a:rPr lang="en-US" sz="1250" b="0" u="none" strike="noStrike">
                <a:solidFill>
                  <a:srgbClr val="6B7280"/>
                </a:solidFill>
                <a:effectLst/>
                <a:uFillTx/>
                <a:latin typeface="Calibri"/>
              </a:rPr>
              <a:t>Knowing the boundary of a prototype is part of presenting it.</a:t>
            </a:r>
            <a:endParaRPr lang="en-US" sz="1250" b="0" u="none" strike="noStrike">
              <a:solidFill>
                <a:srgbClr val="000000"/>
              </a:solidFill>
              <a:effectLst/>
              <a:uFillTx/>
              <a:latin typeface="Arial"/>
            </a:endParaRPr>
          </a:p>
        </p:txBody>
      </p:sp>
      <p:sp>
        <p:nvSpPr>
          <p:cNvPr id="523" name="TextBox 6"/>
          <p:cNvSpPr/>
          <p:nvPr/>
        </p:nvSpPr>
        <p:spPr>
          <a:xfrm>
            <a:off x="567000" y="6382440"/>
            <a:ext cx="7740000" cy="273960"/>
          </a:xfrm>
          <a:prstGeom prst="rect">
            <a:avLst/>
          </a:prstGeom>
          <a:noFill/>
          <a:ln w="0">
            <a:noFill/>
          </a:ln>
        </p:spPr>
        <p:style>
          <a:lnRef idx="0"/>
          <a:fillRef idx="0"/>
          <a:effectRef idx="0"/>
          <a:fontRef idx="minor"/>
        </p:style>
        <p:txBody>
          <a:bodyPr lIns="0" tIns="0" rIns="0" bIns="0" anchor="t">
            <a:spAutoFit/>
          </a:bodyPr>
          <a:p>
            <a:pPr defTabSz="457200">
              <a:lnSpc>
                <a:spcPct val="106000"/>
              </a:lnSpc>
            </a:pPr>
            <a:r>
              <a:rPr lang="en-US" sz="900" b="0" u="none" strike="noStrike">
                <a:solidFill>
                  <a:srgbClr val="6B7280"/>
                </a:solidFill>
                <a:effectLst/>
                <a:uFillTx/>
                <a:latin typeface="Calibri"/>
              </a:rPr>
              <a:t>Loan Eligibility AI  ·  Capstone Demonstration</a:t>
            </a:r>
            <a:endParaRPr lang="en-US" sz="900" b="0" u="none" strike="noStrike">
              <a:solidFill>
                <a:srgbClr val="000000"/>
              </a:solidFill>
              <a:effectLst/>
              <a:uFillTx/>
              <a:latin typeface="Arial"/>
            </a:endParaRPr>
          </a:p>
        </p:txBody>
      </p:sp>
      <p:sp>
        <p:nvSpPr>
          <p:cNvPr id="524" name="TextBox 7"/>
          <p:cNvSpPr/>
          <p:nvPr/>
        </p:nvSpPr>
        <p:spPr>
          <a:xfrm>
            <a:off x="10527480" y="6382440"/>
            <a:ext cx="1096920" cy="273960"/>
          </a:xfrm>
          <a:prstGeom prst="rect">
            <a:avLst/>
          </a:prstGeom>
          <a:noFill/>
          <a:ln w="0">
            <a:noFill/>
          </a:ln>
        </p:spPr>
        <p:style>
          <a:lnRef idx="0"/>
          <a:fillRef idx="0"/>
          <a:effectRef idx="0"/>
          <a:fontRef idx="minor"/>
        </p:style>
        <p:txBody>
          <a:bodyPr lIns="0" tIns="0" rIns="0" bIns="0" anchor="t">
            <a:spAutoFit/>
          </a:bodyPr>
          <a:p>
            <a:pPr algn="r" defTabSz="457200">
              <a:lnSpc>
                <a:spcPct val="106000"/>
              </a:lnSpc>
            </a:pPr>
            <a:r>
              <a:rPr lang="en-US" sz="900" b="0" u="none" strike="noStrike">
                <a:solidFill>
                  <a:srgbClr val="6B7280"/>
                </a:solidFill>
                <a:effectLst/>
                <a:uFillTx/>
                <a:latin typeface="Calibri"/>
              </a:rPr>
              <a:t>27</a:t>
            </a:r>
            <a:endParaRPr lang="en-US" sz="900" b="0" u="none" strike="noStrike">
              <a:solidFill>
                <a:srgbClr val="000000"/>
              </a:solidFill>
              <a:effectLst/>
              <a:uFillTx/>
              <a:latin typeface="Arial"/>
            </a:endParaRPr>
          </a:p>
        </p:txBody>
      </p:sp>
      <p:sp>
        <p:nvSpPr>
          <p:cNvPr id="525" name="Rounded Rectangle 8"/>
          <p:cNvSpPr/>
          <p:nvPr/>
        </p:nvSpPr>
        <p:spPr>
          <a:xfrm>
            <a:off x="567000" y="1700640"/>
            <a:ext cx="5373000" cy="3931560"/>
          </a:xfrm>
          <a:prstGeom prst="roundRect">
            <a:avLst>
              <a:gd name="adj" fmla="val 5500"/>
            </a:avLst>
          </a:prstGeom>
          <a:solidFill>
            <a:srgbClr val="FFFFFF"/>
          </a:solidFill>
          <a:ln w="12700">
            <a:solidFill>
              <a:srgbClr val="E3E8F0"/>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255960" tIns="255960" rIns="219600" bIns="45000" anchor="ctr">
            <a:noAutofit/>
          </a:bodyPr>
          <a:p>
            <a:pPr defTabSz="457200">
              <a:lnSpc>
                <a:spcPct val="106000"/>
              </a:lnSpc>
              <a:spcAft>
                <a:spcPts val="1001"/>
              </a:spcAft>
            </a:pPr>
            <a:r>
              <a:rPr lang="en-US" sz="1600" b="1" u="none" strike="noStrike">
                <a:solidFill>
                  <a:srgbClr val="0E1A33"/>
                </a:solidFill>
                <a:effectLst/>
                <a:uFillTx/>
                <a:latin typeface="Calibri"/>
              </a:rPr>
              <a:t>Controls implemented</a:t>
            </a:r>
            <a:endParaRPr lang="en-US" sz="1600" b="0" u="none" strike="noStrike">
              <a:solidFill>
                <a:srgbClr val="000000"/>
              </a:solidFill>
              <a:effectLst/>
              <a:uFillTx/>
              <a:latin typeface="Arial"/>
            </a:endParaRPr>
          </a:p>
          <a:p>
            <a:pPr defTabSz="457200">
              <a:lnSpc>
                <a:spcPct val="108000"/>
              </a:lnSpc>
              <a:spcAft>
                <a:spcPts val="700"/>
              </a:spcAft>
            </a:pPr>
            <a:r>
              <a:rPr lang="en-US" sz="1150" b="1" u="none" strike="noStrike">
                <a:solidFill>
                  <a:srgbClr val="0E1A33"/>
                </a:solidFill>
                <a:effectLst/>
                <a:uFillTx/>
                <a:latin typeface="Calibri"/>
              </a:rPr>
              <a:t>Validation at both layers — </a:t>
            </a:r>
            <a:r>
              <a:rPr lang="en-US" sz="1150" b="0" u="none" strike="noStrike">
                <a:solidFill>
                  <a:srgbClr val="6B7280"/>
                </a:solidFill>
                <a:effectLst/>
                <a:uFillTx/>
                <a:latin typeface="Calibri"/>
              </a:rPr>
              <a:t>UI ranges and Pydantic types; unknown employment values rejected.</a:t>
            </a:r>
            <a:endParaRPr lang="en-US" sz="1150" b="0" u="none" strike="noStrike">
              <a:solidFill>
                <a:srgbClr val="000000"/>
              </a:solidFill>
              <a:effectLst/>
              <a:uFillTx/>
              <a:latin typeface="Arial"/>
            </a:endParaRPr>
          </a:p>
          <a:p>
            <a:pPr defTabSz="457200">
              <a:lnSpc>
                <a:spcPct val="108000"/>
              </a:lnSpc>
              <a:spcAft>
                <a:spcPts val="700"/>
              </a:spcAft>
            </a:pPr>
            <a:r>
              <a:rPr lang="en-US" sz="1150" b="1" u="none" strike="noStrike">
                <a:solidFill>
                  <a:srgbClr val="0E1A33"/>
                </a:solidFill>
                <a:effectLst/>
                <a:uFillTx/>
                <a:latin typeface="Calibri"/>
              </a:rPr>
              <a:t>Transparent thresholds — </a:t>
            </a:r>
            <a:r>
              <a:rPr lang="en-US" sz="1150" b="0" u="none" strike="noStrike">
                <a:solidFill>
                  <a:srgbClr val="6B7280"/>
                </a:solidFill>
                <a:effectLst/>
                <a:uFillTx/>
                <a:latin typeface="Calibri"/>
              </a:rPr>
              <a:t>Published in the sidebar and restated in every decision.</a:t>
            </a:r>
            <a:endParaRPr lang="en-US" sz="1150" b="0" u="none" strike="noStrike">
              <a:solidFill>
                <a:srgbClr val="000000"/>
              </a:solidFill>
              <a:effectLst/>
              <a:uFillTx/>
              <a:latin typeface="Arial"/>
            </a:endParaRPr>
          </a:p>
          <a:p>
            <a:pPr defTabSz="457200">
              <a:lnSpc>
                <a:spcPct val="108000"/>
              </a:lnSpc>
              <a:spcAft>
                <a:spcPts val="700"/>
              </a:spcAft>
            </a:pPr>
            <a:r>
              <a:rPr lang="en-US" sz="1150" b="1" u="none" strike="noStrike">
                <a:solidFill>
                  <a:srgbClr val="0E1A33"/>
                </a:solidFill>
                <a:effectLst/>
                <a:uFillTx/>
                <a:latin typeface="Calibri"/>
              </a:rPr>
              <a:t>Human escalation path — </a:t>
            </a:r>
            <a:r>
              <a:rPr lang="en-US" sz="1150" b="0" u="none" strike="noStrike">
                <a:solidFill>
                  <a:srgbClr val="6B7280"/>
                </a:solidFill>
                <a:effectLst/>
                <a:uFillTx/>
                <a:latin typeface="Calibri"/>
              </a:rPr>
              <a:t>Borderline cases are routed to review rather than refused.</a:t>
            </a:r>
            <a:endParaRPr lang="en-US" sz="1150" b="0" u="none" strike="noStrike">
              <a:solidFill>
                <a:srgbClr val="000000"/>
              </a:solidFill>
              <a:effectLst/>
              <a:uFillTx/>
              <a:latin typeface="Arial"/>
            </a:endParaRPr>
          </a:p>
          <a:p>
            <a:pPr defTabSz="457200">
              <a:lnSpc>
                <a:spcPct val="108000"/>
              </a:lnSpc>
              <a:spcAft>
                <a:spcPts val="700"/>
              </a:spcAft>
            </a:pPr>
            <a:r>
              <a:rPr lang="en-US" sz="1150" b="1" u="none" strike="noStrike">
                <a:solidFill>
                  <a:srgbClr val="0E1A33"/>
                </a:solidFill>
                <a:effectLst/>
                <a:uFillTx/>
                <a:latin typeface="Calibri"/>
              </a:rPr>
              <a:t>Audit trail — </a:t>
            </a:r>
            <a:r>
              <a:rPr lang="en-US" sz="1150" b="0" u="none" strike="noStrike">
                <a:solidFill>
                  <a:srgbClr val="6B7280"/>
                </a:solidFill>
                <a:effectLst/>
                <a:uFillTx/>
                <a:latin typeface="Calibri"/>
              </a:rPr>
              <a:t>One JSON line per decision, keyed by request id.</a:t>
            </a:r>
            <a:endParaRPr lang="en-US" sz="1150" b="0" u="none" strike="noStrike">
              <a:solidFill>
                <a:srgbClr val="000000"/>
              </a:solidFill>
              <a:effectLst/>
              <a:uFillTx/>
              <a:latin typeface="Arial"/>
            </a:endParaRPr>
          </a:p>
          <a:p>
            <a:pPr defTabSz="457200">
              <a:lnSpc>
                <a:spcPct val="108000"/>
              </a:lnSpc>
              <a:spcAft>
                <a:spcPts val="700"/>
              </a:spcAft>
            </a:pPr>
            <a:r>
              <a:rPr lang="en-US" sz="1150" b="1" u="none" strike="noStrike">
                <a:solidFill>
                  <a:srgbClr val="0E1A33"/>
                </a:solidFill>
                <a:effectLst/>
                <a:uFillTx/>
                <a:latin typeface="Calibri"/>
              </a:rPr>
              <a:t>Sensitive-data guard — </a:t>
            </a:r>
            <a:r>
              <a:rPr lang="en-US" sz="1150" b="0" u="none" strike="noStrike">
                <a:solidFill>
                  <a:srgbClr val="6B7280"/>
                </a:solidFill>
                <a:effectLst/>
                <a:uFillTx/>
                <a:latin typeface="Calibri"/>
              </a:rPr>
              <a:t>Card, PAN, Aadhaar, OTP patterns blocked before any processing.</a:t>
            </a:r>
            <a:endParaRPr lang="en-US" sz="1150" b="0" u="none" strike="noStrike">
              <a:solidFill>
                <a:srgbClr val="000000"/>
              </a:solidFill>
              <a:effectLst/>
              <a:uFillTx/>
              <a:latin typeface="Arial"/>
            </a:endParaRPr>
          </a:p>
          <a:p>
            <a:pPr defTabSz="457200">
              <a:lnSpc>
                <a:spcPct val="108000"/>
              </a:lnSpc>
              <a:spcAft>
                <a:spcPts val="700"/>
              </a:spcAft>
            </a:pPr>
            <a:r>
              <a:rPr lang="en-US" sz="1150" b="1" u="none" strike="noStrike">
                <a:solidFill>
                  <a:srgbClr val="0E1A33"/>
                </a:solidFill>
                <a:effectLst/>
                <a:uFillTx/>
                <a:latin typeface="Calibri"/>
              </a:rPr>
              <a:t>Data minimisation — </a:t>
            </a:r>
            <a:r>
              <a:rPr lang="en-US" sz="1150" b="0" u="none" strike="noStrike">
                <a:solidFill>
                  <a:srgbClr val="6B7280"/>
                </a:solidFill>
                <a:effectLst/>
                <a:uFillTx/>
                <a:latin typeface="Calibri"/>
              </a:rPr>
              <a:t>The chat path never receives the applicant's name; chat text is never logged.</a:t>
            </a:r>
            <a:endParaRPr lang="en-US" sz="1150" b="0" u="none" strike="noStrike">
              <a:solidFill>
                <a:srgbClr val="000000"/>
              </a:solidFill>
              <a:effectLst/>
              <a:uFillTx/>
              <a:latin typeface="Arial"/>
            </a:endParaRPr>
          </a:p>
          <a:p>
            <a:pPr defTabSz="457200">
              <a:lnSpc>
                <a:spcPct val="108000"/>
              </a:lnSpc>
              <a:spcAft>
                <a:spcPts val="700"/>
              </a:spcAft>
            </a:pPr>
            <a:r>
              <a:rPr lang="en-US" sz="1150" b="1" u="none" strike="noStrike">
                <a:solidFill>
                  <a:srgbClr val="0E1A33"/>
                </a:solidFill>
                <a:effectLst/>
                <a:uFillTx/>
                <a:latin typeface="Calibri"/>
              </a:rPr>
              <a:t>Model containment — </a:t>
            </a:r>
            <a:r>
              <a:rPr lang="en-US" sz="1150" b="0" u="none" strike="noStrike">
                <a:solidFill>
                  <a:srgbClr val="6B7280"/>
                </a:solidFill>
                <a:effectLst/>
                <a:uFillTx/>
                <a:latin typeface="Calibri"/>
              </a:rPr>
              <a:t>The LLM only rephrases retrieved facts, and is off by default.</a:t>
            </a:r>
            <a:endParaRPr lang="en-US" sz="1150" b="0" u="none" strike="noStrike">
              <a:solidFill>
                <a:srgbClr val="000000"/>
              </a:solidFill>
              <a:effectLst/>
              <a:uFillTx/>
              <a:latin typeface="Arial"/>
            </a:endParaRPr>
          </a:p>
        </p:txBody>
      </p:sp>
      <p:sp>
        <p:nvSpPr>
          <p:cNvPr id="526" name="Rectangle 9"/>
          <p:cNvSpPr/>
          <p:nvPr/>
        </p:nvSpPr>
        <p:spPr>
          <a:xfrm>
            <a:off x="567720" y="1700640"/>
            <a:ext cx="5371200" cy="50040"/>
          </a:xfrm>
          <a:prstGeom prst="rect">
            <a:avLst/>
          </a:prstGeom>
          <a:solidFill>
            <a:srgbClr val="15A34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5400" rIns="90000" bIns="5400" anchor="ctr">
            <a:noAutofit/>
          </a:bodyPr>
          <a:p>
            <a:endParaRPr lang="en-US" sz="1800" b="0" u="none" strike="noStrike">
              <a:solidFill>
                <a:schemeClr val="lt1"/>
              </a:solidFill>
              <a:effectLst/>
              <a:uFillTx/>
              <a:latin typeface="Calibri"/>
            </a:endParaRPr>
          </a:p>
        </p:txBody>
      </p:sp>
      <p:sp>
        <p:nvSpPr>
          <p:cNvPr id="527" name="Rounded Rectangle 10"/>
          <p:cNvSpPr/>
          <p:nvPr/>
        </p:nvSpPr>
        <p:spPr>
          <a:xfrm>
            <a:off x="6251400" y="1700640"/>
            <a:ext cx="5373000" cy="3931560"/>
          </a:xfrm>
          <a:prstGeom prst="roundRect">
            <a:avLst>
              <a:gd name="adj" fmla="val 5500"/>
            </a:avLst>
          </a:prstGeom>
          <a:solidFill>
            <a:srgbClr val="FFFFFF"/>
          </a:solidFill>
          <a:ln w="12700">
            <a:solidFill>
              <a:srgbClr val="E3E8F0"/>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255960" tIns="255960" rIns="219600" bIns="45000" anchor="ctr">
            <a:noAutofit/>
          </a:bodyPr>
          <a:p>
            <a:pPr defTabSz="457200">
              <a:lnSpc>
                <a:spcPct val="106000"/>
              </a:lnSpc>
              <a:spcAft>
                <a:spcPts val="1001"/>
              </a:spcAft>
            </a:pPr>
            <a:r>
              <a:rPr lang="en-US" sz="1600" b="1" u="none" strike="noStrike">
                <a:solidFill>
                  <a:srgbClr val="0E1A33"/>
                </a:solidFill>
                <a:effectLst/>
                <a:uFillTx/>
                <a:latin typeface="Calibri"/>
              </a:rPr>
              <a:t>Known limitations of this prototype</a:t>
            </a:r>
            <a:endParaRPr lang="en-US" sz="1600" b="0" u="none" strike="noStrike">
              <a:solidFill>
                <a:srgbClr val="000000"/>
              </a:solidFill>
              <a:effectLst/>
              <a:uFillTx/>
              <a:latin typeface="Arial"/>
            </a:endParaRPr>
          </a:p>
          <a:p>
            <a:pPr defTabSz="457200">
              <a:lnSpc>
                <a:spcPct val="108000"/>
              </a:lnSpc>
              <a:spcAft>
                <a:spcPts val="799"/>
              </a:spcAft>
            </a:pPr>
            <a:r>
              <a:rPr lang="en-US" sz="1150" b="1" u="none" strike="noStrike">
                <a:solidFill>
                  <a:srgbClr val="0E1A33"/>
                </a:solidFill>
                <a:effectLst/>
                <a:uFillTx/>
                <a:latin typeface="Calibri"/>
              </a:rPr>
              <a:t>EMI is a placeholder formula — </a:t>
            </a:r>
            <a:r>
              <a:rPr lang="en-US" sz="1150" b="0" u="none" strike="noStrike">
                <a:solidFill>
                  <a:srgbClr val="6B7280"/>
                </a:solidFill>
                <a:effectLst/>
                <a:uFillTx/>
                <a:latin typeface="Calibri"/>
              </a:rPr>
              <a:t>New EMI = loan / 12, with no interest rate or tenure. Real amortisation is required before production use.</a:t>
            </a:r>
            <a:endParaRPr lang="en-US" sz="1150" b="0" u="none" strike="noStrike">
              <a:solidFill>
                <a:srgbClr val="000000"/>
              </a:solidFill>
              <a:effectLst/>
              <a:uFillTx/>
              <a:latin typeface="Arial"/>
            </a:endParaRPr>
          </a:p>
          <a:p>
            <a:pPr defTabSz="457200">
              <a:lnSpc>
                <a:spcPct val="108000"/>
              </a:lnSpc>
              <a:spcAft>
                <a:spcPts val="799"/>
              </a:spcAft>
            </a:pPr>
            <a:r>
              <a:rPr lang="en-US" sz="1150" b="1" u="none" strike="noStrike">
                <a:solidFill>
                  <a:srgbClr val="0E1A33"/>
                </a:solidFill>
                <a:effectLst/>
                <a:uFillTx/>
                <a:latin typeface="Calibri"/>
              </a:rPr>
              <a:t>Retrieval is a stub — </a:t>
            </a:r>
            <a:r>
              <a:rPr lang="en-US" sz="1150" b="0" u="none" strike="noStrike">
                <a:solidFill>
                  <a:srgbClr val="6B7280"/>
                </a:solidFill>
                <a:effectLst/>
                <a:uFillTx/>
                <a:latin typeface="Calibri"/>
              </a:rPr>
              <a:t>Three in-repo policy snippets. The FAISS and Pinecone adapters exist but are not wired to a real policy corpus.</a:t>
            </a:r>
            <a:endParaRPr lang="en-US" sz="1150" b="0" u="none" strike="noStrike">
              <a:solidFill>
                <a:srgbClr val="000000"/>
              </a:solidFill>
              <a:effectLst/>
              <a:uFillTx/>
              <a:latin typeface="Arial"/>
            </a:endParaRPr>
          </a:p>
          <a:p>
            <a:pPr defTabSz="457200">
              <a:lnSpc>
                <a:spcPct val="108000"/>
              </a:lnSpc>
              <a:spcAft>
                <a:spcPts val="799"/>
              </a:spcAft>
            </a:pPr>
            <a:r>
              <a:rPr lang="en-US" sz="1150" b="1" u="none" strike="noStrike">
                <a:solidFill>
                  <a:srgbClr val="0E1A33"/>
                </a:solidFill>
                <a:effectLst/>
                <a:uFillTx/>
                <a:latin typeface="Calibri"/>
              </a:rPr>
              <a:t>No persistence or auth — </a:t>
            </a:r>
            <a:r>
              <a:rPr lang="en-US" sz="1150" b="0" u="none" strike="noStrike">
                <a:solidFill>
                  <a:srgbClr val="6B7280"/>
                </a:solidFill>
                <a:effectLst/>
                <a:uFillTx/>
                <a:latin typeface="Calibri"/>
              </a:rPr>
              <a:t>Nothing is stored beyond the audit log; there is no login, and no role separation for officers.</a:t>
            </a:r>
            <a:endParaRPr lang="en-US" sz="1150" b="0" u="none" strike="noStrike">
              <a:solidFill>
                <a:srgbClr val="000000"/>
              </a:solidFill>
              <a:effectLst/>
              <a:uFillTx/>
              <a:latin typeface="Arial"/>
            </a:endParaRPr>
          </a:p>
          <a:p>
            <a:pPr defTabSz="457200">
              <a:lnSpc>
                <a:spcPct val="108000"/>
              </a:lnSpc>
              <a:spcAft>
                <a:spcPts val="799"/>
              </a:spcAft>
            </a:pPr>
            <a:r>
              <a:rPr lang="en-US" sz="1150" b="1" u="none" strike="noStrike">
                <a:solidFill>
                  <a:srgbClr val="0E1A33"/>
                </a:solidFill>
                <a:effectLst/>
                <a:uFillTx/>
                <a:latin typeface="Calibri"/>
              </a:rPr>
              <a:t>Not a credit bureau — </a:t>
            </a:r>
            <a:r>
              <a:rPr lang="en-US" sz="1150" b="0" u="none" strike="noStrike">
                <a:solidFill>
                  <a:srgbClr val="6B7280"/>
                </a:solidFill>
                <a:effectLst/>
                <a:uFillTx/>
                <a:latin typeface="Calibri"/>
              </a:rPr>
              <a:t>The score is an input the applicant supplies; nothing is verified against an external source.</a:t>
            </a:r>
            <a:endParaRPr lang="en-US" sz="1150" b="0" u="none" strike="noStrike">
              <a:solidFill>
                <a:srgbClr val="000000"/>
              </a:solidFill>
              <a:effectLst/>
              <a:uFillTx/>
              <a:latin typeface="Arial"/>
            </a:endParaRPr>
          </a:p>
          <a:p>
            <a:pPr defTabSz="457200">
              <a:lnSpc>
                <a:spcPct val="108000"/>
              </a:lnSpc>
              <a:spcAft>
                <a:spcPts val="799"/>
              </a:spcAft>
            </a:pPr>
            <a:r>
              <a:rPr lang="en-US" sz="1150" b="1" u="none" strike="noStrike">
                <a:solidFill>
                  <a:srgbClr val="0E1A33"/>
                </a:solidFill>
                <a:effectLst/>
                <a:uFillTx/>
                <a:latin typeface="Calibri"/>
              </a:rPr>
              <a:t>Single-process demo — </a:t>
            </a:r>
            <a:r>
              <a:rPr lang="en-US" sz="1150" b="0" u="none" strike="noStrike">
                <a:solidFill>
                  <a:srgbClr val="6B7280"/>
                </a:solidFill>
                <a:effectLst/>
                <a:uFillTx/>
                <a:latin typeface="Calibri"/>
              </a:rPr>
              <a:t>Local Uvicorn and Streamlit; no TLS, no rate limiting, no horizontal scaling yet.</a:t>
            </a:r>
            <a:endParaRPr lang="en-US" sz="1150" b="0" u="none" strike="noStrike">
              <a:solidFill>
                <a:srgbClr val="000000"/>
              </a:solidFill>
              <a:effectLst/>
              <a:uFillTx/>
              <a:latin typeface="Arial"/>
            </a:endParaRPr>
          </a:p>
        </p:txBody>
      </p:sp>
      <p:sp>
        <p:nvSpPr>
          <p:cNvPr id="528" name="Rectangle 11"/>
          <p:cNvSpPr/>
          <p:nvPr/>
        </p:nvSpPr>
        <p:spPr>
          <a:xfrm>
            <a:off x="6252120" y="1700640"/>
            <a:ext cx="5371200" cy="50040"/>
          </a:xfrm>
          <a:prstGeom prst="rect">
            <a:avLst/>
          </a:prstGeom>
          <a:solidFill>
            <a:srgbClr val="D9770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5400" rIns="90000" bIns="5400" anchor="ctr">
            <a:noAutofit/>
          </a:bodyPr>
          <a:p>
            <a:endParaRPr lang="en-US" sz="1800" b="0" u="none" strike="noStrike">
              <a:solidFill>
                <a:schemeClr val="lt1"/>
              </a:solidFill>
              <a:effectLst/>
              <a:uFillTx/>
              <a:latin typeface="Calibri"/>
            </a:endParaRPr>
          </a:p>
        </p:txBody>
      </p:sp>
    </p:spTree>
  </p:cSld>
  <mc:AlternateContent>
    <mc:Choice Requires="p14">
      <p:transition spd="slow" p14:dur="2000"/>
    </mc:Choice>
    <mc:Fallback>
      <p:transition spd="slow"/>
    </mc:Fallback>
  </mc:AlternateContent>
</p:sld>
</file>

<file path=ppt/slides/slide2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29" name="Rectangle 1"/>
          <p:cNvSpPr/>
          <p:nvPr/>
        </p:nvSpPr>
        <p:spPr>
          <a:xfrm>
            <a:off x="0" y="0"/>
            <a:ext cx="12191400" cy="6857640"/>
          </a:xfrm>
          <a:prstGeom prst="rect">
            <a:avLst/>
          </a:prstGeom>
          <a:solidFill>
            <a:srgbClr val="FFFFFF"/>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530" name="Rectangle 2"/>
          <p:cNvSpPr/>
          <p:nvPr/>
        </p:nvSpPr>
        <p:spPr>
          <a:xfrm>
            <a:off x="0" y="0"/>
            <a:ext cx="12191400" cy="77400"/>
          </a:xfrm>
          <a:prstGeom prst="rect">
            <a:avLst/>
          </a:prstGeom>
          <a:gradFill rotWithShape="0">
            <a:gsLst>
              <a:gs pos="0">
                <a:srgbClr val="4F46E5"/>
              </a:gs>
              <a:gs pos="100000">
                <a:srgbClr val="7C3AED"/>
              </a:gs>
            </a:gsLst>
            <a:lin ang="0"/>
          </a:gra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32760" rIns="90000" bIns="32760" anchor="ctr">
            <a:noAutofit/>
          </a:bodyPr>
          <a:p>
            <a:endParaRPr lang="en-US" sz="1800" b="0" u="none" strike="noStrike">
              <a:solidFill>
                <a:schemeClr val="lt1"/>
              </a:solidFill>
              <a:effectLst/>
              <a:uFillTx/>
              <a:latin typeface="Calibri"/>
            </a:endParaRPr>
          </a:p>
        </p:txBody>
      </p:sp>
      <p:sp>
        <p:nvSpPr>
          <p:cNvPr id="531" name="TextBox 3"/>
          <p:cNvSpPr/>
          <p:nvPr/>
        </p:nvSpPr>
        <p:spPr>
          <a:xfrm>
            <a:off x="567000" y="384120"/>
            <a:ext cx="11057400" cy="237240"/>
          </a:xfrm>
          <a:prstGeom prst="rect">
            <a:avLst/>
          </a:prstGeom>
          <a:noFill/>
          <a:ln w="0">
            <a:noFill/>
          </a:ln>
        </p:spPr>
        <p:style>
          <a:lnRef idx="0"/>
          <a:fillRef idx="0"/>
          <a:effectRef idx="0"/>
          <a:fontRef idx="minor"/>
        </p:style>
        <p:txBody>
          <a:bodyPr lIns="0" tIns="0" rIns="0" bIns="0" anchor="t">
            <a:spAutoFit/>
          </a:bodyPr>
          <a:p>
            <a:pPr defTabSz="457200">
              <a:lnSpc>
                <a:spcPct val="106000"/>
              </a:lnSpc>
            </a:pPr>
            <a:r>
              <a:rPr lang="en-US" sz="950" b="1" u="none" strike="noStrike">
                <a:solidFill>
                  <a:srgbClr val="4F46E5"/>
                </a:solidFill>
                <a:effectLst/>
                <a:uFillTx/>
                <a:latin typeface="Calibri"/>
              </a:rPr>
              <a:t>PART 04  ·  VALUE</a:t>
            </a:r>
            <a:endParaRPr lang="en-US" sz="950" b="0" u="none" strike="noStrike">
              <a:solidFill>
                <a:srgbClr val="000000"/>
              </a:solidFill>
              <a:effectLst/>
              <a:uFillTx/>
              <a:latin typeface="Arial"/>
            </a:endParaRPr>
          </a:p>
        </p:txBody>
      </p:sp>
      <p:sp>
        <p:nvSpPr>
          <p:cNvPr id="532" name="TextBox 4"/>
          <p:cNvSpPr/>
          <p:nvPr/>
        </p:nvSpPr>
        <p:spPr>
          <a:xfrm>
            <a:off x="567000" y="658440"/>
            <a:ext cx="11057400" cy="502560"/>
          </a:xfrm>
          <a:prstGeom prst="rect">
            <a:avLst/>
          </a:prstGeom>
          <a:noFill/>
          <a:ln w="0">
            <a:noFill/>
          </a:ln>
        </p:spPr>
        <p:style>
          <a:lnRef idx="0"/>
          <a:fillRef idx="0"/>
          <a:effectRef idx="0"/>
          <a:fontRef idx="minor"/>
        </p:style>
        <p:txBody>
          <a:bodyPr lIns="0" tIns="0" rIns="0" bIns="0" anchor="t">
            <a:spAutoFit/>
          </a:bodyPr>
          <a:p>
            <a:pPr defTabSz="457200">
              <a:lnSpc>
                <a:spcPct val="106000"/>
              </a:lnSpc>
            </a:pPr>
            <a:r>
              <a:rPr lang="en-US" sz="2700" b="1" u="none" strike="noStrike">
                <a:solidFill>
                  <a:srgbClr val="0E1A33"/>
                </a:solidFill>
                <a:effectLst/>
                <a:uFillTx/>
                <a:latin typeface="Calibri"/>
              </a:rPr>
              <a:t>Where the value comes from — and what we have not proven</a:t>
            </a:r>
            <a:endParaRPr lang="en-US" sz="2700" b="0" u="none" strike="noStrike">
              <a:solidFill>
                <a:srgbClr val="000000"/>
              </a:solidFill>
              <a:effectLst/>
              <a:uFillTx/>
              <a:latin typeface="Arial"/>
            </a:endParaRPr>
          </a:p>
        </p:txBody>
      </p:sp>
      <p:sp>
        <p:nvSpPr>
          <p:cNvPr id="533" name="TextBox 5"/>
          <p:cNvSpPr/>
          <p:nvPr/>
        </p:nvSpPr>
        <p:spPr>
          <a:xfrm>
            <a:off x="567000" y="1225440"/>
            <a:ext cx="9509400" cy="365400"/>
          </a:xfrm>
          <a:prstGeom prst="rect">
            <a:avLst/>
          </a:prstGeom>
          <a:noFill/>
          <a:ln w="0">
            <a:noFill/>
          </a:ln>
        </p:spPr>
        <p:style>
          <a:lnRef idx="0"/>
          <a:fillRef idx="0"/>
          <a:effectRef idx="0"/>
          <a:fontRef idx="minor"/>
        </p:style>
        <p:txBody>
          <a:bodyPr lIns="0" tIns="0" rIns="0" bIns="0" anchor="t">
            <a:spAutoFit/>
          </a:bodyPr>
          <a:p>
            <a:pPr defTabSz="457200">
              <a:lnSpc>
                <a:spcPct val="106000"/>
              </a:lnSpc>
            </a:pPr>
            <a:r>
              <a:rPr lang="en-US" sz="1250" b="0" u="none" strike="noStrike">
                <a:solidFill>
                  <a:srgbClr val="6B7280"/>
                </a:solidFill>
                <a:effectLst/>
                <a:uFillTx/>
                <a:latin typeface="Calibri"/>
              </a:rPr>
              <a:t>The left column is demonstrated in this deck. The right column is an illustrative model with its assumptions stated; it is not a measurement.</a:t>
            </a:r>
            <a:endParaRPr lang="en-US" sz="1250" b="0" u="none" strike="noStrike">
              <a:solidFill>
                <a:srgbClr val="000000"/>
              </a:solidFill>
              <a:effectLst/>
              <a:uFillTx/>
              <a:latin typeface="Arial"/>
            </a:endParaRPr>
          </a:p>
        </p:txBody>
      </p:sp>
      <p:sp>
        <p:nvSpPr>
          <p:cNvPr id="534" name="TextBox 6"/>
          <p:cNvSpPr/>
          <p:nvPr/>
        </p:nvSpPr>
        <p:spPr>
          <a:xfrm>
            <a:off x="567000" y="6382440"/>
            <a:ext cx="7740000" cy="273960"/>
          </a:xfrm>
          <a:prstGeom prst="rect">
            <a:avLst/>
          </a:prstGeom>
          <a:noFill/>
          <a:ln w="0">
            <a:noFill/>
          </a:ln>
        </p:spPr>
        <p:style>
          <a:lnRef idx="0"/>
          <a:fillRef idx="0"/>
          <a:effectRef idx="0"/>
          <a:fontRef idx="minor"/>
        </p:style>
        <p:txBody>
          <a:bodyPr lIns="0" tIns="0" rIns="0" bIns="0" anchor="t">
            <a:spAutoFit/>
          </a:bodyPr>
          <a:p>
            <a:pPr defTabSz="457200">
              <a:lnSpc>
                <a:spcPct val="106000"/>
              </a:lnSpc>
            </a:pPr>
            <a:r>
              <a:rPr lang="en-US" sz="900" b="0" u="none" strike="noStrike">
                <a:solidFill>
                  <a:srgbClr val="6B7280"/>
                </a:solidFill>
                <a:effectLst/>
                <a:uFillTx/>
                <a:latin typeface="Calibri"/>
              </a:rPr>
              <a:t>Loan Eligibility AI  ·  Capstone Demonstration</a:t>
            </a:r>
            <a:endParaRPr lang="en-US" sz="900" b="0" u="none" strike="noStrike">
              <a:solidFill>
                <a:srgbClr val="000000"/>
              </a:solidFill>
              <a:effectLst/>
              <a:uFillTx/>
              <a:latin typeface="Arial"/>
            </a:endParaRPr>
          </a:p>
        </p:txBody>
      </p:sp>
      <p:sp>
        <p:nvSpPr>
          <p:cNvPr id="535" name="TextBox 7"/>
          <p:cNvSpPr/>
          <p:nvPr/>
        </p:nvSpPr>
        <p:spPr>
          <a:xfrm>
            <a:off x="10527480" y="6382440"/>
            <a:ext cx="1096920" cy="273960"/>
          </a:xfrm>
          <a:prstGeom prst="rect">
            <a:avLst/>
          </a:prstGeom>
          <a:noFill/>
          <a:ln w="0">
            <a:noFill/>
          </a:ln>
        </p:spPr>
        <p:style>
          <a:lnRef idx="0"/>
          <a:fillRef idx="0"/>
          <a:effectRef idx="0"/>
          <a:fontRef idx="minor"/>
        </p:style>
        <p:txBody>
          <a:bodyPr lIns="0" tIns="0" rIns="0" bIns="0" anchor="t">
            <a:spAutoFit/>
          </a:bodyPr>
          <a:p>
            <a:pPr algn="r" defTabSz="457200">
              <a:lnSpc>
                <a:spcPct val="106000"/>
              </a:lnSpc>
            </a:pPr>
            <a:r>
              <a:rPr lang="en-US" sz="900" b="0" u="none" strike="noStrike">
                <a:solidFill>
                  <a:srgbClr val="6B7280"/>
                </a:solidFill>
                <a:effectLst/>
                <a:uFillTx/>
                <a:latin typeface="Calibri"/>
              </a:rPr>
              <a:t>28</a:t>
            </a:r>
            <a:endParaRPr lang="en-US" sz="900" b="0" u="none" strike="noStrike">
              <a:solidFill>
                <a:srgbClr val="000000"/>
              </a:solidFill>
              <a:effectLst/>
              <a:uFillTx/>
              <a:latin typeface="Arial"/>
            </a:endParaRPr>
          </a:p>
        </p:txBody>
      </p:sp>
      <p:sp>
        <p:nvSpPr>
          <p:cNvPr id="536" name="Rounded Rectangle 8"/>
          <p:cNvSpPr/>
          <p:nvPr/>
        </p:nvSpPr>
        <p:spPr>
          <a:xfrm>
            <a:off x="567000" y="1700640"/>
            <a:ext cx="5252040" cy="3611520"/>
          </a:xfrm>
          <a:prstGeom prst="roundRect">
            <a:avLst>
              <a:gd name="adj" fmla="val 5500"/>
            </a:avLst>
          </a:prstGeom>
          <a:solidFill>
            <a:srgbClr val="F6F8FC"/>
          </a:solidFill>
          <a:ln w="12700">
            <a:solidFill>
              <a:srgbClr val="E3E8F0"/>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255960" tIns="237600" rIns="90000" bIns="45000" anchor="ctr">
            <a:noAutofit/>
          </a:bodyPr>
          <a:p>
            <a:pPr defTabSz="457200">
              <a:lnSpc>
                <a:spcPct val="106000"/>
              </a:lnSpc>
              <a:spcAft>
                <a:spcPts val="1001"/>
              </a:spcAft>
            </a:pPr>
            <a:r>
              <a:rPr lang="en-US" sz="950" b="1" u="none" strike="noStrike">
                <a:solidFill>
                  <a:srgbClr val="15A34A"/>
                </a:solidFill>
                <a:effectLst/>
                <a:uFillTx/>
                <a:latin typeface="Calibri"/>
              </a:rPr>
              <a:t>DEMONSTRATED IN THIS DECK</a:t>
            </a:r>
            <a:endParaRPr lang="en-US" sz="950" b="0" u="none" strike="noStrike">
              <a:solidFill>
                <a:srgbClr val="000000"/>
              </a:solidFill>
              <a:effectLst/>
              <a:uFillTx/>
              <a:latin typeface="Arial"/>
            </a:endParaRPr>
          </a:p>
          <a:p>
            <a:pPr defTabSz="457200">
              <a:lnSpc>
                <a:spcPct val="108000"/>
              </a:lnSpc>
              <a:spcAft>
                <a:spcPts val="799"/>
              </a:spcAft>
            </a:pPr>
            <a:r>
              <a:rPr lang="en-US" sz="1150" b="1" u="none" strike="noStrike">
                <a:solidFill>
                  <a:srgbClr val="0E1A33"/>
                </a:solidFill>
                <a:effectLst/>
                <a:uFillTx/>
                <a:latin typeface="Calibri"/>
              </a:rPr>
              <a:t>Decision time collapses — </a:t>
            </a:r>
            <a:r>
              <a:rPr lang="en-US" sz="1150" b="0" u="none" strike="noStrike">
                <a:solidFill>
                  <a:srgbClr val="6B7280"/>
                </a:solidFill>
                <a:effectLst/>
                <a:uFillTx/>
                <a:latin typeface="Calibri"/>
              </a:rPr>
              <a:t>A complete assessment returns in about 4 ms, replacing a queue wait.</a:t>
            </a:r>
            <a:endParaRPr lang="en-US" sz="1150" b="0" u="none" strike="noStrike">
              <a:solidFill>
                <a:srgbClr val="000000"/>
              </a:solidFill>
              <a:effectLst/>
              <a:uFillTx/>
              <a:latin typeface="Arial"/>
            </a:endParaRPr>
          </a:p>
          <a:p>
            <a:pPr defTabSz="457200">
              <a:lnSpc>
                <a:spcPct val="108000"/>
              </a:lnSpc>
              <a:spcAft>
                <a:spcPts val="799"/>
              </a:spcAft>
            </a:pPr>
            <a:r>
              <a:rPr lang="en-US" sz="1150" b="1" u="none" strike="noStrike">
                <a:solidFill>
                  <a:srgbClr val="0E1A33"/>
                </a:solidFill>
                <a:effectLst/>
                <a:uFillTx/>
                <a:latin typeface="Calibri"/>
              </a:rPr>
              <a:t>Uniform application of policy — </a:t>
            </a:r>
            <a:r>
              <a:rPr lang="en-US" sz="1150" b="0" u="none" strike="noStrike">
                <a:solidFill>
                  <a:srgbClr val="6B7280"/>
                </a:solidFill>
                <a:effectLst/>
                <a:uFillTx/>
                <a:latin typeface="Calibri"/>
              </a:rPr>
              <a:t>The same input always produces the same decision and the same reasoning.</a:t>
            </a:r>
            <a:endParaRPr lang="en-US" sz="1150" b="0" u="none" strike="noStrike">
              <a:solidFill>
                <a:srgbClr val="000000"/>
              </a:solidFill>
              <a:effectLst/>
              <a:uFillTx/>
              <a:latin typeface="Arial"/>
            </a:endParaRPr>
          </a:p>
          <a:p>
            <a:pPr defTabSz="457200">
              <a:lnSpc>
                <a:spcPct val="108000"/>
              </a:lnSpc>
              <a:spcAft>
                <a:spcPts val="799"/>
              </a:spcAft>
            </a:pPr>
            <a:r>
              <a:rPr lang="en-US" sz="1150" b="1" u="none" strike="noStrike">
                <a:solidFill>
                  <a:srgbClr val="0E1A33"/>
                </a:solidFill>
                <a:effectLst/>
                <a:uFillTx/>
                <a:latin typeface="Calibri"/>
              </a:rPr>
              <a:t>Explanations at zero marginal cost — </a:t>
            </a:r>
            <a:r>
              <a:rPr lang="en-US" sz="1150" b="0" u="none" strike="noStrike">
                <a:solidFill>
                  <a:srgbClr val="6B7280"/>
                </a:solidFill>
                <a:effectLst/>
                <a:uFillTx/>
                <a:latin typeface="Calibri"/>
              </a:rPr>
              <a:t>Reasoning, recommendations and a PDF are produced with the decision.</a:t>
            </a:r>
            <a:endParaRPr lang="en-US" sz="1150" b="0" u="none" strike="noStrike">
              <a:solidFill>
                <a:srgbClr val="000000"/>
              </a:solidFill>
              <a:effectLst/>
              <a:uFillTx/>
              <a:latin typeface="Arial"/>
            </a:endParaRPr>
          </a:p>
          <a:p>
            <a:pPr defTabSz="457200">
              <a:lnSpc>
                <a:spcPct val="108000"/>
              </a:lnSpc>
              <a:spcAft>
                <a:spcPts val="799"/>
              </a:spcAft>
            </a:pPr>
            <a:r>
              <a:rPr lang="en-US" sz="1150" b="1" u="none" strike="noStrike">
                <a:solidFill>
                  <a:srgbClr val="0E1A33"/>
                </a:solidFill>
                <a:effectLst/>
                <a:uFillTx/>
                <a:latin typeface="Calibri"/>
              </a:rPr>
              <a:t>Deflected support contact — </a:t>
            </a:r>
            <a:r>
              <a:rPr lang="en-US" sz="1150" b="0" u="none" strike="noStrike">
                <a:solidFill>
                  <a:srgbClr val="6B7280"/>
                </a:solidFill>
                <a:effectLst/>
                <a:uFillTx/>
                <a:latin typeface="Calibri"/>
              </a:rPr>
              <a:t>Criteria and result questions are answered in the app, without a ticket.</a:t>
            </a:r>
            <a:endParaRPr lang="en-US" sz="1150" b="0" u="none" strike="noStrike">
              <a:solidFill>
                <a:srgbClr val="000000"/>
              </a:solidFill>
              <a:effectLst/>
              <a:uFillTx/>
              <a:latin typeface="Arial"/>
            </a:endParaRPr>
          </a:p>
          <a:p>
            <a:pPr defTabSz="457200">
              <a:lnSpc>
                <a:spcPct val="108000"/>
              </a:lnSpc>
              <a:spcAft>
                <a:spcPts val="799"/>
              </a:spcAft>
            </a:pPr>
            <a:r>
              <a:rPr lang="en-US" sz="1150" b="1" u="none" strike="noStrike">
                <a:solidFill>
                  <a:srgbClr val="0E1A33"/>
                </a:solidFill>
                <a:effectLst/>
                <a:uFillTx/>
                <a:latin typeface="Calibri"/>
              </a:rPr>
              <a:t>Reviewer effort focused — </a:t>
            </a:r>
            <a:r>
              <a:rPr lang="en-US" sz="1150" b="0" u="none" strike="noStrike">
                <a:solidFill>
                  <a:srgbClr val="6B7280"/>
                </a:solidFill>
                <a:effectLst/>
                <a:uFillTx/>
                <a:latin typeface="Calibri"/>
              </a:rPr>
              <a:t>Only borderline files reach a human, with the reason for escalation attached.</a:t>
            </a:r>
            <a:endParaRPr lang="en-US" sz="1150" b="0" u="none" strike="noStrike">
              <a:solidFill>
                <a:srgbClr val="000000"/>
              </a:solidFill>
              <a:effectLst/>
              <a:uFillTx/>
              <a:latin typeface="Arial"/>
            </a:endParaRPr>
          </a:p>
        </p:txBody>
      </p:sp>
      <p:sp>
        <p:nvSpPr>
          <p:cNvPr id="537" name="Rectangle 9"/>
          <p:cNvSpPr/>
          <p:nvPr/>
        </p:nvSpPr>
        <p:spPr>
          <a:xfrm>
            <a:off x="567720" y="1700640"/>
            <a:ext cx="5250240" cy="50040"/>
          </a:xfrm>
          <a:prstGeom prst="rect">
            <a:avLst/>
          </a:prstGeom>
          <a:solidFill>
            <a:srgbClr val="15A34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5400" rIns="90000" bIns="5400" anchor="ctr">
            <a:noAutofit/>
          </a:bodyPr>
          <a:p>
            <a:endParaRPr lang="en-US" sz="1800" b="0" u="none" strike="noStrike">
              <a:solidFill>
                <a:schemeClr val="lt1"/>
              </a:solidFill>
              <a:effectLst/>
              <a:uFillTx/>
              <a:latin typeface="Calibri"/>
            </a:endParaRPr>
          </a:p>
        </p:txBody>
      </p:sp>
      <p:sp>
        <p:nvSpPr>
          <p:cNvPr id="538" name="Rounded Rectangle 10"/>
          <p:cNvSpPr/>
          <p:nvPr/>
        </p:nvSpPr>
        <p:spPr>
          <a:xfrm>
            <a:off x="6112080" y="1700640"/>
            <a:ext cx="5512320" cy="3611520"/>
          </a:xfrm>
          <a:prstGeom prst="roundRect">
            <a:avLst>
              <a:gd name="adj" fmla="val 5500"/>
            </a:avLst>
          </a:prstGeom>
          <a:solidFill>
            <a:srgbClr val="FFFFFF"/>
          </a:solidFill>
          <a:ln w="12700">
            <a:solidFill>
              <a:srgbClr val="E3E8F0"/>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255960" tIns="237600" rIns="90000" bIns="45000" anchor="ctr">
            <a:noAutofit/>
          </a:bodyPr>
          <a:p>
            <a:pPr defTabSz="457200">
              <a:lnSpc>
                <a:spcPct val="106000"/>
              </a:lnSpc>
              <a:spcAft>
                <a:spcPts val="799"/>
              </a:spcAft>
            </a:pPr>
            <a:r>
              <a:rPr lang="en-US" sz="950" b="1" u="none" strike="noStrike">
                <a:solidFill>
                  <a:srgbClr val="D97706"/>
                </a:solidFill>
                <a:effectLst/>
                <a:uFillTx/>
                <a:latin typeface="Calibri"/>
              </a:rPr>
              <a:t>ILLUSTRATIVE MODEL — NOT MEASURED</a:t>
            </a:r>
            <a:endParaRPr lang="en-US" sz="950" b="0" u="none" strike="noStrike">
              <a:solidFill>
                <a:srgbClr val="000000"/>
              </a:solidFill>
              <a:effectLst/>
              <a:uFillTx/>
              <a:latin typeface="Arial"/>
            </a:endParaRPr>
          </a:p>
          <a:p>
            <a:pPr defTabSz="457200">
              <a:lnSpc>
                <a:spcPct val="116000"/>
              </a:lnSpc>
              <a:spcAft>
                <a:spcPts val="1001"/>
              </a:spcAft>
            </a:pPr>
            <a:r>
              <a:rPr lang="en-US" sz="1150" b="0" u="none" strike="noStrike">
                <a:solidFill>
                  <a:srgbClr val="1F2937"/>
                </a:solidFill>
                <a:effectLst/>
                <a:uFillTx/>
                <a:latin typeface="Calibri"/>
              </a:rPr>
              <a:t>If a lender received 2,000 applications a month and a manual first-pass review took 20 minutes at ₹400 per hour, then automating the clear-cut cases would free roughly:</a:t>
            </a:r>
            <a:endParaRPr lang="en-US" sz="1150" b="0" u="none" strike="noStrike">
              <a:solidFill>
                <a:srgbClr val="000000"/>
              </a:solidFill>
              <a:effectLst/>
              <a:uFillTx/>
              <a:latin typeface="Arial"/>
            </a:endParaRPr>
          </a:p>
          <a:p>
            <a:pPr defTabSz="457200">
              <a:lnSpc>
                <a:spcPct val="108000"/>
              </a:lnSpc>
              <a:spcAft>
                <a:spcPts val="700"/>
              </a:spcAft>
            </a:pPr>
            <a:r>
              <a:rPr lang="en-US" sz="1150" b="1" u="none" strike="noStrike">
                <a:solidFill>
                  <a:srgbClr val="0E1A33"/>
                </a:solidFill>
                <a:effectLst/>
                <a:uFillTx/>
                <a:latin typeface="Calibri"/>
              </a:rPr>
              <a:t>~560 reviewer hours a month</a:t>
            </a:r>
            <a:r>
              <a:rPr lang="en-US" sz="1150" b="0" u="none" strike="noStrike">
                <a:solidFill>
                  <a:srgbClr val="6B7280"/>
                </a:solidFill>
                <a:effectLst/>
                <a:uFillTx/>
                <a:latin typeface="Calibri"/>
              </a:rPr>
              <a:t>  ·  assuming 85% of files are not borderline</a:t>
            </a:r>
            <a:endParaRPr lang="en-US" sz="1150" b="0" u="none" strike="noStrike">
              <a:solidFill>
                <a:srgbClr val="000000"/>
              </a:solidFill>
              <a:effectLst/>
              <a:uFillTx/>
              <a:latin typeface="Arial"/>
            </a:endParaRPr>
          </a:p>
          <a:p>
            <a:pPr defTabSz="457200">
              <a:lnSpc>
                <a:spcPct val="108000"/>
              </a:lnSpc>
              <a:spcAft>
                <a:spcPts val="700"/>
              </a:spcAft>
            </a:pPr>
            <a:r>
              <a:rPr lang="en-US" sz="1150" b="1" u="none" strike="noStrike">
                <a:solidFill>
                  <a:srgbClr val="0E1A33"/>
                </a:solidFill>
                <a:effectLst/>
                <a:uFillTx/>
                <a:latin typeface="Calibri"/>
              </a:rPr>
              <a:t>~₹2.7 lakh a month in first-pass effort</a:t>
            </a:r>
            <a:r>
              <a:rPr lang="en-US" sz="1150" b="0" u="none" strike="noStrike">
                <a:solidFill>
                  <a:srgbClr val="6B7280"/>
                </a:solidFill>
                <a:effectLst/>
                <a:uFillTx/>
                <a:latin typeface="Calibri"/>
              </a:rPr>
              <a:t>  ·  at the stated rate, before any quality gain</a:t>
            </a:r>
            <a:endParaRPr lang="en-US" sz="1150" b="0" u="none" strike="noStrike">
              <a:solidFill>
                <a:srgbClr val="000000"/>
              </a:solidFill>
              <a:effectLst/>
              <a:uFillTx/>
              <a:latin typeface="Arial"/>
            </a:endParaRPr>
          </a:p>
          <a:p>
            <a:pPr defTabSz="457200">
              <a:lnSpc>
                <a:spcPct val="108000"/>
              </a:lnSpc>
              <a:spcAft>
                <a:spcPts val="700"/>
              </a:spcAft>
            </a:pPr>
            <a:r>
              <a:rPr lang="en-US" sz="1150" b="1" u="none" strike="noStrike">
                <a:solidFill>
                  <a:srgbClr val="0E1A33"/>
                </a:solidFill>
                <a:effectLst/>
                <a:uFillTx/>
                <a:latin typeface="Calibri"/>
              </a:rPr>
              <a:t>Same-session answers</a:t>
            </a:r>
            <a:r>
              <a:rPr lang="en-US" sz="1150" b="0" u="none" strike="noStrike">
                <a:solidFill>
                  <a:srgbClr val="6B7280"/>
                </a:solidFill>
                <a:effectLst/>
                <a:uFillTx/>
                <a:latin typeface="Calibri"/>
              </a:rPr>
              <a:t>  ·  instead of a multi-day wait for the applicant</a:t>
            </a:r>
            <a:endParaRPr lang="en-US" sz="1150" b="0" u="none" strike="noStrike">
              <a:solidFill>
                <a:srgbClr val="000000"/>
              </a:solidFill>
              <a:effectLst/>
              <a:uFillTx/>
              <a:latin typeface="Arial"/>
            </a:endParaRPr>
          </a:p>
          <a:p>
            <a:pPr defTabSz="457200">
              <a:lnSpc>
                <a:spcPct val="114000"/>
              </a:lnSpc>
            </a:pPr>
            <a:r>
              <a:rPr lang="en-US" sz="1050" b="0" u="none" strike="noStrike">
                <a:solidFill>
                  <a:srgbClr val="D97706"/>
                </a:solidFill>
                <a:effectLst/>
                <a:uFillTx/>
                <a:latin typeface="Calibri"/>
              </a:rPr>
              <a:t>Every figure above is arithmetic on assumptions we chose, shown so it can be challenged. We have not run this system against real applications, so we make no accuracy, ROI or throughput claim.</a:t>
            </a:r>
            <a:endParaRPr lang="en-US" sz="1050" b="0" u="none" strike="noStrike">
              <a:solidFill>
                <a:srgbClr val="000000"/>
              </a:solidFill>
              <a:effectLst/>
              <a:uFillTx/>
              <a:latin typeface="Arial"/>
            </a:endParaRPr>
          </a:p>
        </p:txBody>
      </p:sp>
      <p:sp>
        <p:nvSpPr>
          <p:cNvPr id="539" name="Rectangle 11"/>
          <p:cNvSpPr/>
          <p:nvPr/>
        </p:nvSpPr>
        <p:spPr>
          <a:xfrm>
            <a:off x="6112800" y="1700640"/>
            <a:ext cx="5510520" cy="50040"/>
          </a:xfrm>
          <a:prstGeom prst="rect">
            <a:avLst/>
          </a:prstGeom>
          <a:solidFill>
            <a:srgbClr val="D9770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5400" rIns="90000" bIns="5400" anchor="ctr">
            <a:noAutofit/>
          </a:bodyPr>
          <a:p>
            <a:endParaRPr lang="en-US" sz="1800" b="0" u="none" strike="noStrike">
              <a:solidFill>
                <a:schemeClr val="lt1"/>
              </a:solidFill>
              <a:effectLst/>
              <a:uFillTx/>
              <a:latin typeface="Calibri"/>
            </a:endParaRPr>
          </a:p>
        </p:txBody>
      </p:sp>
      <p:sp>
        <p:nvSpPr>
          <p:cNvPr id="540" name="Rounded Rectangle 12"/>
          <p:cNvSpPr/>
          <p:nvPr/>
        </p:nvSpPr>
        <p:spPr>
          <a:xfrm>
            <a:off x="567000" y="5541120"/>
            <a:ext cx="11057400" cy="566640"/>
          </a:xfrm>
          <a:prstGeom prst="roundRect">
            <a:avLst>
              <a:gd name="adj" fmla="val 5500"/>
            </a:avLst>
          </a:prstGeom>
          <a:solidFill>
            <a:srgbClr val="0E1A33"/>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274320" tIns="45000" rIns="90000" bIns="45000" anchor="ctr">
            <a:noAutofit/>
          </a:bodyPr>
          <a:p>
            <a:pPr defTabSz="457200">
              <a:lnSpc>
                <a:spcPct val="108000"/>
              </a:lnSpc>
            </a:pPr>
            <a:r>
              <a:rPr lang="en-US" sz="1200" b="1" u="none" strike="noStrike">
                <a:solidFill>
                  <a:srgbClr val="FFFFFF"/>
                </a:solidFill>
                <a:effectLst/>
                <a:uFillTx/>
                <a:latin typeface="Calibri"/>
              </a:rPr>
              <a:t>If you take one thing from this section:  </a:t>
            </a:r>
            <a:r>
              <a:rPr lang="en-US" sz="1200" b="0" u="none" strike="noStrike">
                <a:solidFill>
                  <a:srgbClr val="C6CFE2"/>
                </a:solidFill>
                <a:effectLst/>
                <a:uFillTx/>
                <a:latin typeface="Calibri"/>
              </a:rPr>
              <a:t>we separate what we measured from what we modelled, and we label both.</a:t>
            </a:r>
            <a:endParaRPr lang="en-US" sz="12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2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41" name="Rectangle 1"/>
          <p:cNvSpPr/>
          <p:nvPr/>
        </p:nvSpPr>
        <p:spPr>
          <a:xfrm>
            <a:off x="0" y="0"/>
            <a:ext cx="12191400" cy="6857640"/>
          </a:xfrm>
          <a:prstGeom prst="rect">
            <a:avLst/>
          </a:prstGeom>
          <a:solidFill>
            <a:srgbClr val="FFFFFF"/>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542" name="Rectangle 2"/>
          <p:cNvSpPr/>
          <p:nvPr/>
        </p:nvSpPr>
        <p:spPr>
          <a:xfrm>
            <a:off x="0" y="0"/>
            <a:ext cx="12191400" cy="77400"/>
          </a:xfrm>
          <a:prstGeom prst="rect">
            <a:avLst/>
          </a:prstGeom>
          <a:gradFill rotWithShape="0">
            <a:gsLst>
              <a:gs pos="0">
                <a:srgbClr val="4F46E5"/>
              </a:gs>
              <a:gs pos="100000">
                <a:srgbClr val="7C3AED"/>
              </a:gs>
            </a:gsLst>
            <a:lin ang="0"/>
          </a:gra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32760" rIns="90000" bIns="32760" anchor="ctr">
            <a:noAutofit/>
          </a:bodyPr>
          <a:p>
            <a:endParaRPr lang="en-US" sz="1800" b="0" u="none" strike="noStrike">
              <a:solidFill>
                <a:schemeClr val="lt1"/>
              </a:solidFill>
              <a:effectLst/>
              <a:uFillTx/>
              <a:latin typeface="Calibri"/>
            </a:endParaRPr>
          </a:p>
        </p:txBody>
      </p:sp>
      <p:sp>
        <p:nvSpPr>
          <p:cNvPr id="543" name="TextBox 3"/>
          <p:cNvSpPr/>
          <p:nvPr/>
        </p:nvSpPr>
        <p:spPr>
          <a:xfrm>
            <a:off x="567000" y="384120"/>
            <a:ext cx="11057400" cy="237240"/>
          </a:xfrm>
          <a:prstGeom prst="rect">
            <a:avLst/>
          </a:prstGeom>
          <a:noFill/>
          <a:ln w="0">
            <a:noFill/>
          </a:ln>
        </p:spPr>
        <p:style>
          <a:lnRef idx="0"/>
          <a:fillRef idx="0"/>
          <a:effectRef idx="0"/>
          <a:fontRef idx="minor"/>
        </p:style>
        <p:txBody>
          <a:bodyPr lIns="0" tIns="0" rIns="0" bIns="0" anchor="t">
            <a:spAutoFit/>
          </a:bodyPr>
          <a:p>
            <a:pPr defTabSz="457200">
              <a:lnSpc>
                <a:spcPct val="106000"/>
              </a:lnSpc>
            </a:pPr>
            <a:r>
              <a:rPr lang="en-US" sz="950" b="1" u="none" strike="noStrike">
                <a:solidFill>
                  <a:srgbClr val="4F46E5"/>
                </a:solidFill>
                <a:effectLst/>
                <a:uFillTx/>
                <a:latin typeface="Calibri"/>
              </a:rPr>
              <a:t>PART 04  ·  ROADMAP</a:t>
            </a:r>
            <a:endParaRPr lang="en-US" sz="950" b="0" u="none" strike="noStrike">
              <a:solidFill>
                <a:srgbClr val="000000"/>
              </a:solidFill>
              <a:effectLst/>
              <a:uFillTx/>
              <a:latin typeface="Arial"/>
            </a:endParaRPr>
          </a:p>
        </p:txBody>
      </p:sp>
      <p:sp>
        <p:nvSpPr>
          <p:cNvPr id="544" name="TextBox 4"/>
          <p:cNvSpPr/>
          <p:nvPr/>
        </p:nvSpPr>
        <p:spPr>
          <a:xfrm>
            <a:off x="567000" y="658440"/>
            <a:ext cx="11057400" cy="502560"/>
          </a:xfrm>
          <a:prstGeom prst="rect">
            <a:avLst/>
          </a:prstGeom>
          <a:noFill/>
          <a:ln w="0">
            <a:noFill/>
          </a:ln>
        </p:spPr>
        <p:style>
          <a:lnRef idx="0"/>
          <a:fillRef idx="0"/>
          <a:effectRef idx="0"/>
          <a:fontRef idx="minor"/>
        </p:style>
        <p:txBody>
          <a:bodyPr lIns="0" tIns="0" rIns="0" bIns="0" anchor="t">
            <a:spAutoFit/>
          </a:bodyPr>
          <a:p>
            <a:pPr defTabSz="457200">
              <a:lnSpc>
                <a:spcPct val="106000"/>
              </a:lnSpc>
            </a:pPr>
            <a:r>
              <a:rPr lang="en-US" sz="2700" b="1" u="none" strike="noStrike">
                <a:solidFill>
                  <a:srgbClr val="0E1A33"/>
                </a:solidFill>
                <a:effectLst/>
                <a:uFillTx/>
                <a:latin typeface="Calibri"/>
              </a:rPr>
              <a:t>What we would build next, in order</a:t>
            </a:r>
            <a:endParaRPr lang="en-US" sz="2700" b="0" u="none" strike="noStrike">
              <a:solidFill>
                <a:srgbClr val="000000"/>
              </a:solidFill>
              <a:effectLst/>
              <a:uFillTx/>
              <a:latin typeface="Arial"/>
            </a:endParaRPr>
          </a:p>
        </p:txBody>
      </p:sp>
      <p:sp>
        <p:nvSpPr>
          <p:cNvPr id="545" name="TextBox 5"/>
          <p:cNvSpPr/>
          <p:nvPr/>
        </p:nvSpPr>
        <p:spPr>
          <a:xfrm>
            <a:off x="567000" y="1225440"/>
            <a:ext cx="9509400" cy="365400"/>
          </a:xfrm>
          <a:prstGeom prst="rect">
            <a:avLst/>
          </a:prstGeom>
          <a:noFill/>
          <a:ln w="0">
            <a:noFill/>
          </a:ln>
        </p:spPr>
        <p:style>
          <a:lnRef idx="0"/>
          <a:fillRef idx="0"/>
          <a:effectRef idx="0"/>
          <a:fontRef idx="minor"/>
        </p:style>
        <p:txBody>
          <a:bodyPr lIns="0" tIns="0" rIns="0" bIns="0" anchor="t">
            <a:spAutoFit/>
          </a:bodyPr>
          <a:p>
            <a:pPr defTabSz="457200">
              <a:lnSpc>
                <a:spcPct val="106000"/>
              </a:lnSpc>
            </a:pPr>
            <a:r>
              <a:rPr lang="en-US" sz="1250" b="0" u="none" strike="noStrike">
                <a:solidFill>
                  <a:srgbClr val="6B7280"/>
                </a:solidFill>
                <a:effectLst/>
                <a:uFillTx/>
                <a:latin typeface="Calibri"/>
              </a:rPr>
              <a:t>Ordered by what blocks production use, not by what is most interesting to build.</a:t>
            </a:r>
            <a:endParaRPr lang="en-US" sz="1250" b="0" u="none" strike="noStrike">
              <a:solidFill>
                <a:srgbClr val="000000"/>
              </a:solidFill>
              <a:effectLst/>
              <a:uFillTx/>
              <a:latin typeface="Arial"/>
            </a:endParaRPr>
          </a:p>
        </p:txBody>
      </p:sp>
      <p:sp>
        <p:nvSpPr>
          <p:cNvPr id="546" name="TextBox 6"/>
          <p:cNvSpPr/>
          <p:nvPr/>
        </p:nvSpPr>
        <p:spPr>
          <a:xfrm>
            <a:off x="567000" y="6382440"/>
            <a:ext cx="7740000" cy="273960"/>
          </a:xfrm>
          <a:prstGeom prst="rect">
            <a:avLst/>
          </a:prstGeom>
          <a:noFill/>
          <a:ln w="0">
            <a:noFill/>
          </a:ln>
        </p:spPr>
        <p:style>
          <a:lnRef idx="0"/>
          <a:fillRef idx="0"/>
          <a:effectRef idx="0"/>
          <a:fontRef idx="minor"/>
        </p:style>
        <p:txBody>
          <a:bodyPr lIns="0" tIns="0" rIns="0" bIns="0" anchor="t">
            <a:spAutoFit/>
          </a:bodyPr>
          <a:p>
            <a:pPr defTabSz="457200">
              <a:lnSpc>
                <a:spcPct val="106000"/>
              </a:lnSpc>
            </a:pPr>
            <a:r>
              <a:rPr lang="en-US" sz="900" b="0" u="none" strike="noStrike">
                <a:solidFill>
                  <a:srgbClr val="6B7280"/>
                </a:solidFill>
                <a:effectLst/>
                <a:uFillTx/>
                <a:latin typeface="Calibri"/>
              </a:rPr>
              <a:t>Loan Eligibility AI  ·  Capstone Demonstration</a:t>
            </a:r>
            <a:endParaRPr lang="en-US" sz="900" b="0" u="none" strike="noStrike">
              <a:solidFill>
                <a:srgbClr val="000000"/>
              </a:solidFill>
              <a:effectLst/>
              <a:uFillTx/>
              <a:latin typeface="Arial"/>
            </a:endParaRPr>
          </a:p>
        </p:txBody>
      </p:sp>
      <p:sp>
        <p:nvSpPr>
          <p:cNvPr id="547" name="TextBox 7"/>
          <p:cNvSpPr/>
          <p:nvPr/>
        </p:nvSpPr>
        <p:spPr>
          <a:xfrm>
            <a:off x="10527480" y="6382440"/>
            <a:ext cx="1096920" cy="273960"/>
          </a:xfrm>
          <a:prstGeom prst="rect">
            <a:avLst/>
          </a:prstGeom>
          <a:noFill/>
          <a:ln w="0">
            <a:noFill/>
          </a:ln>
        </p:spPr>
        <p:style>
          <a:lnRef idx="0"/>
          <a:fillRef idx="0"/>
          <a:effectRef idx="0"/>
          <a:fontRef idx="minor"/>
        </p:style>
        <p:txBody>
          <a:bodyPr lIns="0" tIns="0" rIns="0" bIns="0" anchor="t">
            <a:spAutoFit/>
          </a:bodyPr>
          <a:p>
            <a:pPr algn="r" defTabSz="457200">
              <a:lnSpc>
                <a:spcPct val="106000"/>
              </a:lnSpc>
            </a:pPr>
            <a:r>
              <a:rPr lang="en-US" sz="900" b="0" u="none" strike="noStrike">
                <a:solidFill>
                  <a:srgbClr val="6B7280"/>
                </a:solidFill>
                <a:effectLst/>
                <a:uFillTx/>
                <a:latin typeface="Calibri"/>
              </a:rPr>
              <a:t>29</a:t>
            </a:r>
            <a:endParaRPr lang="en-US" sz="900" b="0" u="none" strike="noStrike">
              <a:solidFill>
                <a:srgbClr val="000000"/>
              </a:solidFill>
              <a:effectLst/>
              <a:uFillTx/>
              <a:latin typeface="Arial"/>
            </a:endParaRPr>
          </a:p>
        </p:txBody>
      </p:sp>
      <p:sp>
        <p:nvSpPr>
          <p:cNvPr id="548" name="Rounded Rectangle 8"/>
          <p:cNvSpPr/>
          <p:nvPr/>
        </p:nvSpPr>
        <p:spPr>
          <a:xfrm>
            <a:off x="567000" y="1700640"/>
            <a:ext cx="2585880" cy="2788560"/>
          </a:xfrm>
          <a:prstGeom prst="roundRect">
            <a:avLst>
              <a:gd name="adj" fmla="val 5500"/>
            </a:avLst>
          </a:prstGeom>
          <a:solidFill>
            <a:srgbClr val="FFFFFF"/>
          </a:solidFill>
          <a:ln w="12700">
            <a:solidFill>
              <a:srgbClr val="E3E8F0"/>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219600" tIns="237600" rIns="182880" bIns="45000" anchor="ctr">
            <a:noAutofit/>
          </a:bodyPr>
          <a:p>
            <a:pPr defTabSz="457200">
              <a:lnSpc>
                <a:spcPct val="106000"/>
              </a:lnSpc>
              <a:spcAft>
                <a:spcPts val="601"/>
              </a:spcAft>
            </a:pPr>
            <a:r>
              <a:rPr lang="en-US" sz="950" b="1" u="none" strike="noStrike">
                <a:solidFill>
                  <a:srgbClr val="4F46E5"/>
                </a:solidFill>
                <a:effectLst/>
                <a:uFillTx/>
                <a:latin typeface="Calibri"/>
              </a:rPr>
              <a:t>NEXT</a:t>
            </a:r>
            <a:endParaRPr lang="en-US" sz="950" b="0" u="none" strike="noStrike">
              <a:solidFill>
                <a:srgbClr val="000000"/>
              </a:solidFill>
              <a:effectLst/>
              <a:uFillTx/>
              <a:latin typeface="Arial"/>
            </a:endParaRPr>
          </a:p>
          <a:p>
            <a:pPr defTabSz="457200">
              <a:lnSpc>
                <a:spcPct val="106000"/>
              </a:lnSpc>
              <a:spcAft>
                <a:spcPts val="1001"/>
              </a:spcAft>
            </a:pPr>
            <a:r>
              <a:rPr lang="en-US" sz="1500" b="1" u="none" strike="noStrike">
                <a:solidFill>
                  <a:srgbClr val="0E1A33"/>
                </a:solidFill>
                <a:effectLst/>
                <a:uFillTx/>
                <a:latin typeface="Calibri"/>
              </a:rPr>
              <a:t>Make the maths real</a:t>
            </a:r>
            <a:endParaRPr lang="en-US" sz="1500" b="0" u="none" strike="noStrike">
              <a:solidFill>
                <a:srgbClr val="000000"/>
              </a:solidFill>
              <a:effectLst/>
              <a:uFillTx/>
              <a:latin typeface="Arial"/>
            </a:endParaRPr>
          </a:p>
          <a:p>
            <a:pPr defTabSz="457200">
              <a:lnSpc>
                <a:spcPct val="114000"/>
              </a:lnSpc>
              <a:spcAft>
                <a:spcPts val="799"/>
              </a:spcAft>
            </a:pPr>
            <a:r>
              <a:rPr lang="en-US" sz="1150" b="1" u="none" strike="noStrike">
                <a:solidFill>
                  <a:srgbClr val="4F46E5"/>
                </a:solidFill>
                <a:effectLst/>
                <a:uFillTx/>
                <a:latin typeface="Calibri"/>
              </a:rPr>
              <a:t>—  </a:t>
            </a:r>
            <a:r>
              <a:rPr lang="en-US" sz="1150" b="0" u="none" strike="noStrike">
                <a:solidFill>
                  <a:srgbClr val="6B7280"/>
                </a:solidFill>
                <a:effectLst/>
                <a:uFillTx/>
                <a:latin typeface="Calibri"/>
              </a:rPr>
              <a:t>Proper amortisation: rate, tenure, schedule</a:t>
            </a:r>
            <a:endParaRPr lang="en-US" sz="1150" b="0" u="none" strike="noStrike">
              <a:solidFill>
                <a:srgbClr val="000000"/>
              </a:solidFill>
              <a:effectLst/>
              <a:uFillTx/>
              <a:latin typeface="Arial"/>
            </a:endParaRPr>
          </a:p>
          <a:p>
            <a:pPr defTabSz="457200">
              <a:lnSpc>
                <a:spcPct val="114000"/>
              </a:lnSpc>
              <a:spcAft>
                <a:spcPts val="799"/>
              </a:spcAft>
            </a:pPr>
            <a:r>
              <a:rPr lang="en-US" sz="1150" b="1" u="none" strike="noStrike">
                <a:solidFill>
                  <a:srgbClr val="4F46E5"/>
                </a:solidFill>
                <a:effectLst/>
                <a:uFillTx/>
                <a:latin typeface="Calibri"/>
              </a:rPr>
              <a:t>—  </a:t>
            </a:r>
            <a:r>
              <a:rPr lang="en-US" sz="1150" b="0" u="none" strike="noStrike">
                <a:solidFill>
                  <a:srgbClr val="6B7280"/>
                </a:solidFill>
                <a:effectLst/>
                <a:uFillTx/>
                <a:latin typeface="Calibri"/>
              </a:rPr>
              <a:t>Configurable thresholds instead of constants</a:t>
            </a:r>
            <a:endParaRPr lang="en-US" sz="1150" b="0" u="none" strike="noStrike">
              <a:solidFill>
                <a:srgbClr val="000000"/>
              </a:solidFill>
              <a:effectLst/>
              <a:uFillTx/>
              <a:latin typeface="Arial"/>
            </a:endParaRPr>
          </a:p>
          <a:p>
            <a:pPr defTabSz="457200">
              <a:lnSpc>
                <a:spcPct val="114000"/>
              </a:lnSpc>
              <a:spcAft>
                <a:spcPts val="799"/>
              </a:spcAft>
            </a:pPr>
            <a:r>
              <a:rPr lang="en-US" sz="1150" b="1" u="none" strike="noStrike">
                <a:solidFill>
                  <a:srgbClr val="4F46E5"/>
                </a:solidFill>
                <a:effectLst/>
                <a:uFillTx/>
                <a:latin typeface="Calibri"/>
              </a:rPr>
              <a:t>—  </a:t>
            </a:r>
            <a:r>
              <a:rPr lang="en-US" sz="1150" b="0" u="none" strike="noStrike">
                <a:solidFill>
                  <a:srgbClr val="6B7280"/>
                </a:solidFill>
                <a:effectLst/>
                <a:uFillTx/>
                <a:latin typeface="Calibri"/>
              </a:rPr>
              <a:t>Golden-file tests over a scenario matrix</a:t>
            </a:r>
            <a:endParaRPr lang="en-US" sz="1150" b="0" u="none" strike="noStrike">
              <a:solidFill>
                <a:srgbClr val="000000"/>
              </a:solidFill>
              <a:effectLst/>
              <a:uFillTx/>
              <a:latin typeface="Arial"/>
            </a:endParaRPr>
          </a:p>
        </p:txBody>
      </p:sp>
      <p:sp>
        <p:nvSpPr>
          <p:cNvPr id="549" name="Rectangle 9"/>
          <p:cNvSpPr/>
          <p:nvPr/>
        </p:nvSpPr>
        <p:spPr>
          <a:xfrm>
            <a:off x="567720" y="1700640"/>
            <a:ext cx="2584080" cy="50040"/>
          </a:xfrm>
          <a:prstGeom prst="rect">
            <a:avLst/>
          </a:prstGeom>
          <a:solidFill>
            <a:srgbClr val="4F46E5"/>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5400" rIns="90000" bIns="5400" anchor="ctr">
            <a:noAutofit/>
          </a:bodyPr>
          <a:p>
            <a:endParaRPr lang="en-US" sz="1800" b="0" u="none" strike="noStrike">
              <a:solidFill>
                <a:schemeClr val="lt1"/>
              </a:solidFill>
              <a:effectLst/>
              <a:uFillTx/>
              <a:latin typeface="Calibri"/>
            </a:endParaRPr>
          </a:p>
        </p:txBody>
      </p:sp>
      <p:sp>
        <p:nvSpPr>
          <p:cNvPr id="550" name="Rounded Rectangle 10"/>
          <p:cNvSpPr/>
          <p:nvPr/>
        </p:nvSpPr>
        <p:spPr>
          <a:xfrm>
            <a:off x="3390840" y="1700640"/>
            <a:ext cx="2585880" cy="2788560"/>
          </a:xfrm>
          <a:prstGeom prst="roundRect">
            <a:avLst>
              <a:gd name="adj" fmla="val 5500"/>
            </a:avLst>
          </a:prstGeom>
          <a:solidFill>
            <a:srgbClr val="FFFFFF"/>
          </a:solidFill>
          <a:ln w="12700">
            <a:solidFill>
              <a:srgbClr val="E3E8F0"/>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219600" tIns="237600" rIns="182880" bIns="45000" anchor="ctr">
            <a:noAutofit/>
          </a:bodyPr>
          <a:p>
            <a:pPr defTabSz="457200">
              <a:lnSpc>
                <a:spcPct val="106000"/>
              </a:lnSpc>
              <a:spcAft>
                <a:spcPts val="601"/>
              </a:spcAft>
            </a:pPr>
            <a:r>
              <a:rPr lang="en-US" sz="950" b="1" u="none" strike="noStrike">
                <a:solidFill>
                  <a:srgbClr val="7C3AED"/>
                </a:solidFill>
                <a:effectLst/>
                <a:uFillTx/>
                <a:latin typeface="Calibri"/>
              </a:rPr>
              <a:t>THEN</a:t>
            </a:r>
            <a:endParaRPr lang="en-US" sz="950" b="0" u="none" strike="noStrike">
              <a:solidFill>
                <a:srgbClr val="000000"/>
              </a:solidFill>
              <a:effectLst/>
              <a:uFillTx/>
              <a:latin typeface="Arial"/>
            </a:endParaRPr>
          </a:p>
          <a:p>
            <a:pPr defTabSz="457200">
              <a:lnSpc>
                <a:spcPct val="106000"/>
              </a:lnSpc>
              <a:spcAft>
                <a:spcPts val="1001"/>
              </a:spcAft>
            </a:pPr>
            <a:r>
              <a:rPr lang="en-US" sz="1500" b="1" u="none" strike="noStrike">
                <a:solidFill>
                  <a:srgbClr val="0E1A33"/>
                </a:solidFill>
                <a:effectLst/>
                <a:uFillTx/>
                <a:latin typeface="Calibri"/>
              </a:rPr>
              <a:t>Make the knowledge real</a:t>
            </a:r>
            <a:endParaRPr lang="en-US" sz="1500" b="0" u="none" strike="noStrike">
              <a:solidFill>
                <a:srgbClr val="000000"/>
              </a:solidFill>
              <a:effectLst/>
              <a:uFillTx/>
              <a:latin typeface="Arial"/>
            </a:endParaRPr>
          </a:p>
          <a:p>
            <a:pPr defTabSz="457200">
              <a:lnSpc>
                <a:spcPct val="114000"/>
              </a:lnSpc>
              <a:spcAft>
                <a:spcPts val="799"/>
              </a:spcAft>
            </a:pPr>
            <a:r>
              <a:rPr lang="en-US" sz="1150" b="1" u="none" strike="noStrike">
                <a:solidFill>
                  <a:srgbClr val="7C3AED"/>
                </a:solidFill>
                <a:effectLst/>
                <a:uFillTx/>
                <a:latin typeface="Calibri"/>
              </a:rPr>
              <a:t>—  </a:t>
            </a:r>
            <a:r>
              <a:rPr lang="en-US" sz="1150" b="0" u="none" strike="noStrike">
                <a:solidFill>
                  <a:srgbClr val="6B7280"/>
                </a:solidFill>
                <a:effectLst/>
                <a:uFillTx/>
                <a:latin typeface="Calibri"/>
              </a:rPr>
              <a:t>Index the actual policy corpus</a:t>
            </a:r>
            <a:endParaRPr lang="en-US" sz="1150" b="0" u="none" strike="noStrike">
              <a:solidFill>
                <a:srgbClr val="000000"/>
              </a:solidFill>
              <a:effectLst/>
              <a:uFillTx/>
              <a:latin typeface="Arial"/>
            </a:endParaRPr>
          </a:p>
          <a:p>
            <a:pPr defTabSz="457200">
              <a:lnSpc>
                <a:spcPct val="114000"/>
              </a:lnSpc>
              <a:spcAft>
                <a:spcPts val="799"/>
              </a:spcAft>
            </a:pPr>
            <a:r>
              <a:rPr lang="en-US" sz="1150" b="1" u="none" strike="noStrike">
                <a:solidFill>
                  <a:srgbClr val="7C3AED"/>
                </a:solidFill>
                <a:effectLst/>
                <a:uFillTx/>
                <a:latin typeface="Calibri"/>
              </a:rPr>
              <a:t>—  </a:t>
            </a:r>
            <a:r>
              <a:rPr lang="en-US" sz="1150" b="0" u="none" strike="noStrike">
                <a:solidFill>
                  <a:srgbClr val="6B7280"/>
                </a:solidFill>
                <a:effectLst/>
                <a:uFillTx/>
                <a:latin typeface="Calibri"/>
              </a:rPr>
              <a:t>Wire the FAISS / Pinecone adapter in place of the stub</a:t>
            </a:r>
            <a:endParaRPr lang="en-US" sz="1150" b="0" u="none" strike="noStrike">
              <a:solidFill>
                <a:srgbClr val="000000"/>
              </a:solidFill>
              <a:effectLst/>
              <a:uFillTx/>
              <a:latin typeface="Arial"/>
            </a:endParaRPr>
          </a:p>
          <a:p>
            <a:pPr defTabSz="457200">
              <a:lnSpc>
                <a:spcPct val="114000"/>
              </a:lnSpc>
              <a:spcAft>
                <a:spcPts val="799"/>
              </a:spcAft>
            </a:pPr>
            <a:r>
              <a:rPr lang="en-US" sz="1150" b="1" u="none" strike="noStrike">
                <a:solidFill>
                  <a:srgbClr val="7C3AED"/>
                </a:solidFill>
                <a:effectLst/>
                <a:uFillTx/>
                <a:latin typeface="Calibri"/>
              </a:rPr>
              <a:t>—  </a:t>
            </a:r>
            <a:r>
              <a:rPr lang="en-US" sz="1150" b="0" u="none" strike="noStrike">
                <a:solidFill>
                  <a:srgbClr val="6B7280"/>
                </a:solidFill>
                <a:effectLst/>
                <a:uFillTx/>
                <a:latin typeface="Calibri"/>
              </a:rPr>
              <a:t>Cite document and clause in every decision</a:t>
            </a:r>
            <a:endParaRPr lang="en-US" sz="1150" b="0" u="none" strike="noStrike">
              <a:solidFill>
                <a:srgbClr val="000000"/>
              </a:solidFill>
              <a:effectLst/>
              <a:uFillTx/>
              <a:latin typeface="Arial"/>
            </a:endParaRPr>
          </a:p>
        </p:txBody>
      </p:sp>
      <p:sp>
        <p:nvSpPr>
          <p:cNvPr id="551" name="Rectangle 11"/>
          <p:cNvSpPr/>
          <p:nvPr/>
        </p:nvSpPr>
        <p:spPr>
          <a:xfrm>
            <a:off x="3391560" y="1700640"/>
            <a:ext cx="2584080" cy="50040"/>
          </a:xfrm>
          <a:prstGeom prst="rect">
            <a:avLst/>
          </a:prstGeom>
          <a:solidFill>
            <a:srgbClr val="7C3AED"/>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5400" rIns="90000" bIns="5400" anchor="ctr">
            <a:noAutofit/>
          </a:bodyPr>
          <a:p>
            <a:endParaRPr lang="en-US" sz="1800" b="0" u="none" strike="noStrike">
              <a:solidFill>
                <a:schemeClr val="lt1"/>
              </a:solidFill>
              <a:effectLst/>
              <a:uFillTx/>
              <a:latin typeface="Calibri"/>
            </a:endParaRPr>
          </a:p>
        </p:txBody>
      </p:sp>
      <p:sp>
        <p:nvSpPr>
          <p:cNvPr id="552" name="Rounded Rectangle 12"/>
          <p:cNvSpPr/>
          <p:nvPr/>
        </p:nvSpPr>
        <p:spPr>
          <a:xfrm>
            <a:off x="6214680" y="1700640"/>
            <a:ext cx="2585880" cy="2788560"/>
          </a:xfrm>
          <a:prstGeom prst="roundRect">
            <a:avLst>
              <a:gd name="adj" fmla="val 5500"/>
            </a:avLst>
          </a:prstGeom>
          <a:solidFill>
            <a:srgbClr val="FFFFFF"/>
          </a:solidFill>
          <a:ln w="12700">
            <a:solidFill>
              <a:srgbClr val="E3E8F0"/>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219600" tIns="237600" rIns="182880" bIns="45000" anchor="ctr">
            <a:noAutofit/>
          </a:bodyPr>
          <a:p>
            <a:pPr defTabSz="457200">
              <a:lnSpc>
                <a:spcPct val="106000"/>
              </a:lnSpc>
              <a:spcAft>
                <a:spcPts val="601"/>
              </a:spcAft>
            </a:pPr>
            <a:r>
              <a:rPr lang="en-US" sz="950" b="1" u="none" strike="noStrike">
                <a:solidFill>
                  <a:srgbClr val="06B6D4"/>
                </a:solidFill>
                <a:effectLst/>
                <a:uFillTx/>
                <a:latin typeface="Calibri"/>
              </a:rPr>
              <a:t>THEN</a:t>
            </a:r>
            <a:endParaRPr lang="en-US" sz="950" b="0" u="none" strike="noStrike">
              <a:solidFill>
                <a:srgbClr val="000000"/>
              </a:solidFill>
              <a:effectLst/>
              <a:uFillTx/>
              <a:latin typeface="Arial"/>
            </a:endParaRPr>
          </a:p>
          <a:p>
            <a:pPr defTabSz="457200">
              <a:lnSpc>
                <a:spcPct val="106000"/>
              </a:lnSpc>
              <a:spcAft>
                <a:spcPts val="1001"/>
              </a:spcAft>
            </a:pPr>
            <a:r>
              <a:rPr lang="en-US" sz="1500" b="1" u="none" strike="noStrike">
                <a:solidFill>
                  <a:srgbClr val="0E1A33"/>
                </a:solidFill>
                <a:effectLst/>
                <a:uFillTx/>
                <a:latin typeface="Calibri"/>
              </a:rPr>
              <a:t>Make it operable</a:t>
            </a:r>
            <a:endParaRPr lang="en-US" sz="1500" b="0" u="none" strike="noStrike">
              <a:solidFill>
                <a:srgbClr val="000000"/>
              </a:solidFill>
              <a:effectLst/>
              <a:uFillTx/>
              <a:latin typeface="Arial"/>
            </a:endParaRPr>
          </a:p>
          <a:p>
            <a:pPr defTabSz="457200">
              <a:lnSpc>
                <a:spcPct val="114000"/>
              </a:lnSpc>
              <a:spcAft>
                <a:spcPts val="799"/>
              </a:spcAft>
            </a:pPr>
            <a:r>
              <a:rPr lang="en-US" sz="1150" b="1" u="none" strike="noStrike">
                <a:solidFill>
                  <a:srgbClr val="06B6D4"/>
                </a:solidFill>
                <a:effectLst/>
                <a:uFillTx/>
                <a:latin typeface="Calibri"/>
              </a:rPr>
              <a:t>—  </a:t>
            </a:r>
            <a:r>
              <a:rPr lang="en-US" sz="1150" b="0" u="none" strike="noStrike">
                <a:solidFill>
                  <a:srgbClr val="6B7280"/>
                </a:solidFill>
                <a:effectLst/>
                <a:uFillTx/>
                <a:latin typeface="Calibri"/>
              </a:rPr>
              <a:t>PostgreSQL persistence and case history</a:t>
            </a:r>
            <a:endParaRPr lang="en-US" sz="1150" b="0" u="none" strike="noStrike">
              <a:solidFill>
                <a:srgbClr val="000000"/>
              </a:solidFill>
              <a:effectLst/>
              <a:uFillTx/>
              <a:latin typeface="Arial"/>
            </a:endParaRPr>
          </a:p>
          <a:p>
            <a:pPr defTabSz="457200">
              <a:lnSpc>
                <a:spcPct val="114000"/>
              </a:lnSpc>
              <a:spcAft>
                <a:spcPts val="799"/>
              </a:spcAft>
            </a:pPr>
            <a:r>
              <a:rPr lang="en-US" sz="1150" b="1" u="none" strike="noStrike">
                <a:solidFill>
                  <a:srgbClr val="06B6D4"/>
                </a:solidFill>
                <a:effectLst/>
                <a:uFillTx/>
                <a:latin typeface="Calibri"/>
              </a:rPr>
              <a:t>—  </a:t>
            </a:r>
            <a:r>
              <a:rPr lang="en-US" sz="1150" b="0" u="none" strike="noStrike">
                <a:solidFill>
                  <a:srgbClr val="6B7280"/>
                </a:solidFill>
                <a:effectLst/>
                <a:uFillTx/>
                <a:latin typeface="Calibri"/>
              </a:rPr>
              <a:t>Authentication and an officer review queue</a:t>
            </a:r>
            <a:endParaRPr lang="en-US" sz="1150" b="0" u="none" strike="noStrike">
              <a:solidFill>
                <a:srgbClr val="000000"/>
              </a:solidFill>
              <a:effectLst/>
              <a:uFillTx/>
              <a:latin typeface="Arial"/>
            </a:endParaRPr>
          </a:p>
          <a:p>
            <a:pPr defTabSz="457200">
              <a:lnSpc>
                <a:spcPct val="114000"/>
              </a:lnSpc>
              <a:spcAft>
                <a:spcPts val="799"/>
              </a:spcAft>
            </a:pPr>
            <a:r>
              <a:rPr lang="en-US" sz="1150" b="1" u="none" strike="noStrike">
                <a:solidFill>
                  <a:srgbClr val="06B6D4"/>
                </a:solidFill>
                <a:effectLst/>
                <a:uFillTx/>
                <a:latin typeface="Calibri"/>
              </a:rPr>
              <a:t>—  </a:t>
            </a:r>
            <a:r>
              <a:rPr lang="en-US" sz="1150" b="0" u="none" strike="noStrike">
                <a:solidFill>
                  <a:srgbClr val="6B7280"/>
                </a:solidFill>
                <a:effectLst/>
                <a:uFillTx/>
                <a:latin typeface="Calibri"/>
              </a:rPr>
              <a:t>Containerised deploy, TLS, rate limiting</a:t>
            </a:r>
            <a:endParaRPr lang="en-US" sz="1150" b="0" u="none" strike="noStrike">
              <a:solidFill>
                <a:srgbClr val="000000"/>
              </a:solidFill>
              <a:effectLst/>
              <a:uFillTx/>
              <a:latin typeface="Arial"/>
            </a:endParaRPr>
          </a:p>
        </p:txBody>
      </p:sp>
      <p:sp>
        <p:nvSpPr>
          <p:cNvPr id="553" name="Rectangle 13"/>
          <p:cNvSpPr/>
          <p:nvPr/>
        </p:nvSpPr>
        <p:spPr>
          <a:xfrm>
            <a:off x="6215760" y="1700640"/>
            <a:ext cx="2584080" cy="50040"/>
          </a:xfrm>
          <a:prstGeom prst="rect">
            <a:avLst/>
          </a:prstGeom>
          <a:solidFill>
            <a:srgbClr val="06B6D4"/>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5400" rIns="90000" bIns="5400" anchor="ctr">
            <a:noAutofit/>
          </a:bodyPr>
          <a:p>
            <a:endParaRPr lang="en-US" sz="1800" b="0" u="none" strike="noStrike">
              <a:solidFill>
                <a:schemeClr val="lt1"/>
              </a:solidFill>
              <a:effectLst/>
              <a:uFillTx/>
              <a:latin typeface="Calibri"/>
            </a:endParaRPr>
          </a:p>
        </p:txBody>
      </p:sp>
      <p:sp>
        <p:nvSpPr>
          <p:cNvPr id="554" name="Rounded Rectangle 14"/>
          <p:cNvSpPr/>
          <p:nvPr/>
        </p:nvSpPr>
        <p:spPr>
          <a:xfrm>
            <a:off x="9038520" y="1700640"/>
            <a:ext cx="2585880" cy="2788560"/>
          </a:xfrm>
          <a:prstGeom prst="roundRect">
            <a:avLst>
              <a:gd name="adj" fmla="val 5500"/>
            </a:avLst>
          </a:prstGeom>
          <a:solidFill>
            <a:srgbClr val="FFFFFF"/>
          </a:solidFill>
          <a:ln w="12700">
            <a:solidFill>
              <a:srgbClr val="E3E8F0"/>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219600" tIns="237600" rIns="182880" bIns="45000" anchor="ctr">
            <a:noAutofit/>
          </a:bodyPr>
          <a:p>
            <a:pPr defTabSz="457200">
              <a:lnSpc>
                <a:spcPct val="106000"/>
              </a:lnSpc>
              <a:spcAft>
                <a:spcPts val="601"/>
              </a:spcAft>
            </a:pPr>
            <a:r>
              <a:rPr lang="en-US" sz="950" b="1" u="none" strike="noStrike">
                <a:solidFill>
                  <a:srgbClr val="15A34A"/>
                </a:solidFill>
                <a:effectLst/>
                <a:uFillTx/>
                <a:latin typeface="Calibri"/>
              </a:rPr>
              <a:t>LATER</a:t>
            </a:r>
            <a:endParaRPr lang="en-US" sz="950" b="0" u="none" strike="noStrike">
              <a:solidFill>
                <a:srgbClr val="000000"/>
              </a:solidFill>
              <a:effectLst/>
              <a:uFillTx/>
              <a:latin typeface="Arial"/>
            </a:endParaRPr>
          </a:p>
          <a:p>
            <a:pPr defTabSz="457200">
              <a:lnSpc>
                <a:spcPct val="106000"/>
              </a:lnSpc>
              <a:spcAft>
                <a:spcPts val="1001"/>
              </a:spcAft>
            </a:pPr>
            <a:r>
              <a:rPr lang="en-US" sz="1500" b="1" u="none" strike="noStrike">
                <a:solidFill>
                  <a:srgbClr val="0E1A33"/>
                </a:solidFill>
                <a:effectLst/>
                <a:uFillTx/>
                <a:latin typeface="Calibri"/>
              </a:rPr>
              <a:t>Make it verifiable</a:t>
            </a:r>
            <a:endParaRPr lang="en-US" sz="1500" b="0" u="none" strike="noStrike">
              <a:solidFill>
                <a:srgbClr val="000000"/>
              </a:solidFill>
              <a:effectLst/>
              <a:uFillTx/>
              <a:latin typeface="Arial"/>
            </a:endParaRPr>
          </a:p>
          <a:p>
            <a:pPr defTabSz="457200">
              <a:lnSpc>
                <a:spcPct val="114000"/>
              </a:lnSpc>
              <a:spcAft>
                <a:spcPts val="799"/>
              </a:spcAft>
            </a:pPr>
            <a:r>
              <a:rPr lang="en-US" sz="1150" b="1" u="none" strike="noStrike">
                <a:solidFill>
                  <a:srgbClr val="15A34A"/>
                </a:solidFill>
                <a:effectLst/>
                <a:uFillTx/>
                <a:latin typeface="Calibri"/>
              </a:rPr>
              <a:t>—  </a:t>
            </a:r>
            <a:r>
              <a:rPr lang="en-US" sz="1150" b="0" u="none" strike="noStrike">
                <a:solidFill>
                  <a:srgbClr val="6B7280"/>
                </a:solidFill>
                <a:effectLst/>
                <a:uFillTx/>
                <a:latin typeface="Calibri"/>
              </a:rPr>
              <a:t>Bureau integration for score verification</a:t>
            </a:r>
            <a:endParaRPr lang="en-US" sz="1150" b="0" u="none" strike="noStrike">
              <a:solidFill>
                <a:srgbClr val="000000"/>
              </a:solidFill>
              <a:effectLst/>
              <a:uFillTx/>
              <a:latin typeface="Arial"/>
            </a:endParaRPr>
          </a:p>
          <a:p>
            <a:pPr defTabSz="457200">
              <a:lnSpc>
                <a:spcPct val="114000"/>
              </a:lnSpc>
              <a:spcAft>
                <a:spcPts val="799"/>
              </a:spcAft>
            </a:pPr>
            <a:r>
              <a:rPr lang="en-US" sz="1150" b="1" u="none" strike="noStrike">
                <a:solidFill>
                  <a:srgbClr val="15A34A"/>
                </a:solidFill>
                <a:effectLst/>
                <a:uFillTx/>
                <a:latin typeface="Calibri"/>
              </a:rPr>
              <a:t>—  </a:t>
            </a:r>
            <a:r>
              <a:rPr lang="en-US" sz="1150" b="0" u="none" strike="noStrike">
                <a:solidFill>
                  <a:srgbClr val="6B7280"/>
                </a:solidFill>
                <a:effectLst/>
                <a:uFillTx/>
                <a:latin typeface="Calibri"/>
              </a:rPr>
              <a:t>Document upload and checks</a:t>
            </a:r>
            <a:endParaRPr lang="en-US" sz="1150" b="0" u="none" strike="noStrike">
              <a:solidFill>
                <a:srgbClr val="000000"/>
              </a:solidFill>
              <a:effectLst/>
              <a:uFillTx/>
              <a:latin typeface="Arial"/>
            </a:endParaRPr>
          </a:p>
          <a:p>
            <a:pPr defTabSz="457200">
              <a:lnSpc>
                <a:spcPct val="114000"/>
              </a:lnSpc>
              <a:spcAft>
                <a:spcPts val="799"/>
              </a:spcAft>
            </a:pPr>
            <a:r>
              <a:rPr lang="en-US" sz="1150" b="1" u="none" strike="noStrike">
                <a:solidFill>
                  <a:srgbClr val="15A34A"/>
                </a:solidFill>
                <a:effectLst/>
                <a:uFillTx/>
                <a:latin typeface="Calibri"/>
              </a:rPr>
              <a:t>—  </a:t>
            </a:r>
            <a:r>
              <a:rPr lang="en-US" sz="1150" b="0" u="none" strike="noStrike">
                <a:solidFill>
                  <a:srgbClr val="6B7280"/>
                </a:solidFill>
                <a:effectLst/>
                <a:uFillTx/>
                <a:latin typeface="Calibri"/>
              </a:rPr>
              <a:t>Load testing and monitoring dashboards</a:t>
            </a:r>
            <a:endParaRPr lang="en-US" sz="1150" b="0" u="none" strike="noStrike">
              <a:solidFill>
                <a:srgbClr val="000000"/>
              </a:solidFill>
              <a:effectLst/>
              <a:uFillTx/>
              <a:latin typeface="Arial"/>
            </a:endParaRPr>
          </a:p>
        </p:txBody>
      </p:sp>
      <p:sp>
        <p:nvSpPr>
          <p:cNvPr id="555" name="Rectangle 15"/>
          <p:cNvSpPr/>
          <p:nvPr/>
        </p:nvSpPr>
        <p:spPr>
          <a:xfrm>
            <a:off x="9039600" y="1700640"/>
            <a:ext cx="2584080" cy="50040"/>
          </a:xfrm>
          <a:prstGeom prst="rect">
            <a:avLst/>
          </a:prstGeom>
          <a:solidFill>
            <a:srgbClr val="15A34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5400" rIns="90000" bIns="5400" anchor="ctr">
            <a:noAutofit/>
          </a:bodyPr>
          <a:p>
            <a:endParaRPr lang="en-US" sz="1800" b="0" u="none" strike="noStrike">
              <a:solidFill>
                <a:schemeClr val="lt1"/>
              </a:solidFill>
              <a:effectLst/>
              <a:uFillTx/>
              <a:latin typeface="Calibri"/>
            </a:endParaRPr>
          </a:p>
        </p:txBody>
      </p:sp>
      <p:sp>
        <p:nvSpPr>
          <p:cNvPr id="556" name="TextBox 16"/>
          <p:cNvSpPr/>
          <p:nvPr/>
        </p:nvSpPr>
        <p:spPr>
          <a:xfrm>
            <a:off x="567000" y="4700160"/>
            <a:ext cx="11057400" cy="456840"/>
          </a:xfrm>
          <a:prstGeom prst="rect">
            <a:avLst/>
          </a:prstGeom>
          <a:noFill/>
          <a:ln w="0">
            <a:noFill/>
          </a:ln>
        </p:spPr>
        <p:style>
          <a:lnRef idx="0"/>
          <a:fillRef idx="0"/>
          <a:effectRef idx="0"/>
          <a:fontRef idx="minor"/>
        </p:style>
        <p:txBody>
          <a:bodyPr lIns="0" tIns="0" rIns="0" bIns="0" anchor="t">
            <a:spAutoFit/>
          </a:bodyPr>
          <a:p>
            <a:pPr defTabSz="457200">
              <a:lnSpc>
                <a:spcPct val="108000"/>
              </a:lnSpc>
            </a:pPr>
            <a:r>
              <a:rPr lang="en-US" sz="1200" b="1" u="none" strike="noStrike">
                <a:solidFill>
                  <a:srgbClr val="0E1A33"/>
                </a:solidFill>
                <a:effectLst/>
                <a:uFillTx/>
                <a:latin typeface="Calibri"/>
              </a:rPr>
              <a:t>Note the ordering:  </a:t>
            </a:r>
            <a:r>
              <a:rPr lang="en-US" sz="1200" b="0" u="none" strike="noStrike">
                <a:solidFill>
                  <a:srgbClr val="6B7280"/>
                </a:solidFill>
                <a:effectLst/>
                <a:uFillTx/>
                <a:latin typeface="Calibri"/>
              </a:rPr>
              <a:t>the EMI formula and the policy corpus come before any new feature, because a correct-looking decision built on a placeholder calculation is the most dangerous state this system could be in.</a:t>
            </a:r>
            <a:endParaRPr lang="en-US" sz="12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3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57" name="Rectangle 1"/>
          <p:cNvSpPr/>
          <p:nvPr/>
        </p:nvSpPr>
        <p:spPr>
          <a:xfrm>
            <a:off x="0" y="0"/>
            <a:ext cx="12191400" cy="6857640"/>
          </a:xfrm>
          <a:prstGeom prst="rect">
            <a:avLst/>
          </a:prstGeom>
          <a:solidFill>
            <a:srgbClr val="FFFFFF"/>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558" name="Rectangle 2"/>
          <p:cNvSpPr/>
          <p:nvPr/>
        </p:nvSpPr>
        <p:spPr>
          <a:xfrm>
            <a:off x="0" y="0"/>
            <a:ext cx="12191400" cy="77400"/>
          </a:xfrm>
          <a:prstGeom prst="rect">
            <a:avLst/>
          </a:prstGeom>
          <a:gradFill rotWithShape="0">
            <a:gsLst>
              <a:gs pos="0">
                <a:srgbClr val="4F46E5"/>
              </a:gs>
              <a:gs pos="100000">
                <a:srgbClr val="7C3AED"/>
              </a:gs>
            </a:gsLst>
            <a:lin ang="0"/>
          </a:gra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32760" rIns="90000" bIns="32760" anchor="ctr">
            <a:noAutofit/>
          </a:bodyPr>
          <a:p>
            <a:endParaRPr lang="en-US" sz="1800" b="0" u="none" strike="noStrike">
              <a:solidFill>
                <a:schemeClr val="lt1"/>
              </a:solidFill>
              <a:effectLst/>
              <a:uFillTx/>
              <a:latin typeface="Calibri"/>
            </a:endParaRPr>
          </a:p>
        </p:txBody>
      </p:sp>
      <p:sp>
        <p:nvSpPr>
          <p:cNvPr id="559" name="TextBox 3"/>
          <p:cNvSpPr/>
          <p:nvPr/>
        </p:nvSpPr>
        <p:spPr>
          <a:xfrm>
            <a:off x="567000" y="384120"/>
            <a:ext cx="11057400" cy="237240"/>
          </a:xfrm>
          <a:prstGeom prst="rect">
            <a:avLst/>
          </a:prstGeom>
          <a:noFill/>
          <a:ln w="0">
            <a:noFill/>
          </a:ln>
        </p:spPr>
        <p:style>
          <a:lnRef idx="0"/>
          <a:fillRef idx="0"/>
          <a:effectRef idx="0"/>
          <a:fontRef idx="minor"/>
        </p:style>
        <p:txBody>
          <a:bodyPr lIns="0" tIns="0" rIns="0" bIns="0" anchor="t">
            <a:spAutoFit/>
          </a:bodyPr>
          <a:p>
            <a:pPr defTabSz="457200">
              <a:lnSpc>
                <a:spcPct val="106000"/>
              </a:lnSpc>
            </a:pPr>
            <a:r>
              <a:rPr lang="en-US" sz="950" b="1" u="none" strike="noStrike">
                <a:solidFill>
                  <a:srgbClr val="4F46E5"/>
                </a:solidFill>
                <a:effectLst/>
                <a:uFillTx/>
                <a:latin typeface="Calibri"/>
              </a:rPr>
              <a:t>PART 04  ·  LIVE DEMO</a:t>
            </a:r>
            <a:endParaRPr lang="en-US" sz="950" b="0" u="none" strike="noStrike">
              <a:solidFill>
                <a:srgbClr val="000000"/>
              </a:solidFill>
              <a:effectLst/>
              <a:uFillTx/>
              <a:latin typeface="Arial"/>
            </a:endParaRPr>
          </a:p>
        </p:txBody>
      </p:sp>
      <p:sp>
        <p:nvSpPr>
          <p:cNvPr id="560" name="TextBox 4"/>
          <p:cNvSpPr/>
          <p:nvPr/>
        </p:nvSpPr>
        <p:spPr>
          <a:xfrm>
            <a:off x="567000" y="658440"/>
            <a:ext cx="11057400" cy="502560"/>
          </a:xfrm>
          <a:prstGeom prst="rect">
            <a:avLst/>
          </a:prstGeom>
          <a:noFill/>
          <a:ln w="0">
            <a:noFill/>
          </a:ln>
        </p:spPr>
        <p:style>
          <a:lnRef idx="0"/>
          <a:fillRef idx="0"/>
          <a:effectRef idx="0"/>
          <a:fontRef idx="minor"/>
        </p:style>
        <p:txBody>
          <a:bodyPr lIns="0" tIns="0" rIns="0" bIns="0" anchor="t">
            <a:spAutoFit/>
          </a:bodyPr>
          <a:p>
            <a:pPr defTabSz="457200">
              <a:lnSpc>
                <a:spcPct val="106000"/>
              </a:lnSpc>
            </a:pPr>
            <a:r>
              <a:rPr lang="en-US" sz="2700" b="1" u="none" strike="noStrike">
                <a:solidFill>
                  <a:srgbClr val="0E1A33"/>
                </a:solidFill>
                <a:effectLst/>
                <a:uFillTx/>
                <a:latin typeface="Calibri"/>
              </a:rPr>
              <a:t>Runbook for the demonstration</a:t>
            </a:r>
            <a:endParaRPr lang="en-US" sz="2700" b="0" u="none" strike="noStrike">
              <a:solidFill>
                <a:srgbClr val="000000"/>
              </a:solidFill>
              <a:effectLst/>
              <a:uFillTx/>
              <a:latin typeface="Arial"/>
            </a:endParaRPr>
          </a:p>
        </p:txBody>
      </p:sp>
      <p:sp>
        <p:nvSpPr>
          <p:cNvPr id="561" name="TextBox 5"/>
          <p:cNvSpPr/>
          <p:nvPr/>
        </p:nvSpPr>
        <p:spPr>
          <a:xfrm>
            <a:off x="567000" y="1225440"/>
            <a:ext cx="9509400" cy="365400"/>
          </a:xfrm>
          <a:prstGeom prst="rect">
            <a:avLst/>
          </a:prstGeom>
          <a:noFill/>
          <a:ln w="0">
            <a:noFill/>
          </a:ln>
        </p:spPr>
        <p:style>
          <a:lnRef idx="0"/>
          <a:fillRef idx="0"/>
          <a:effectRef idx="0"/>
          <a:fontRef idx="minor"/>
        </p:style>
        <p:txBody>
          <a:bodyPr lIns="0" tIns="0" rIns="0" bIns="0" anchor="t">
            <a:spAutoFit/>
          </a:bodyPr>
          <a:p>
            <a:pPr defTabSz="457200">
              <a:lnSpc>
                <a:spcPct val="106000"/>
              </a:lnSpc>
            </a:pPr>
            <a:r>
              <a:rPr lang="en-US" sz="1250" b="0" u="none" strike="noStrike">
                <a:solidFill>
                  <a:srgbClr val="6B7280"/>
                </a:solidFill>
                <a:effectLst/>
                <a:uFillTx/>
                <a:latin typeface="Calibri"/>
              </a:rPr>
              <a:t>Five minutes, four scenarios, in this order. Both services must already be running.</a:t>
            </a:r>
            <a:endParaRPr lang="en-US" sz="1250" b="0" u="none" strike="noStrike">
              <a:solidFill>
                <a:srgbClr val="000000"/>
              </a:solidFill>
              <a:effectLst/>
              <a:uFillTx/>
              <a:latin typeface="Arial"/>
            </a:endParaRPr>
          </a:p>
        </p:txBody>
      </p:sp>
      <p:sp>
        <p:nvSpPr>
          <p:cNvPr id="562" name="TextBox 6"/>
          <p:cNvSpPr/>
          <p:nvPr/>
        </p:nvSpPr>
        <p:spPr>
          <a:xfrm>
            <a:off x="567000" y="6382440"/>
            <a:ext cx="7740000" cy="273960"/>
          </a:xfrm>
          <a:prstGeom prst="rect">
            <a:avLst/>
          </a:prstGeom>
          <a:noFill/>
          <a:ln w="0">
            <a:noFill/>
          </a:ln>
        </p:spPr>
        <p:style>
          <a:lnRef idx="0"/>
          <a:fillRef idx="0"/>
          <a:effectRef idx="0"/>
          <a:fontRef idx="minor"/>
        </p:style>
        <p:txBody>
          <a:bodyPr lIns="0" tIns="0" rIns="0" bIns="0" anchor="t">
            <a:spAutoFit/>
          </a:bodyPr>
          <a:p>
            <a:pPr defTabSz="457200">
              <a:lnSpc>
                <a:spcPct val="106000"/>
              </a:lnSpc>
            </a:pPr>
            <a:r>
              <a:rPr lang="en-US" sz="900" b="0" u="none" strike="noStrike">
                <a:solidFill>
                  <a:srgbClr val="6B7280"/>
                </a:solidFill>
                <a:effectLst/>
                <a:uFillTx/>
                <a:latin typeface="Calibri"/>
              </a:rPr>
              <a:t>Loan Eligibility AI  ·  Capstone Demonstration</a:t>
            </a:r>
            <a:endParaRPr lang="en-US" sz="900" b="0" u="none" strike="noStrike">
              <a:solidFill>
                <a:srgbClr val="000000"/>
              </a:solidFill>
              <a:effectLst/>
              <a:uFillTx/>
              <a:latin typeface="Arial"/>
            </a:endParaRPr>
          </a:p>
        </p:txBody>
      </p:sp>
      <p:sp>
        <p:nvSpPr>
          <p:cNvPr id="563" name="TextBox 7"/>
          <p:cNvSpPr/>
          <p:nvPr/>
        </p:nvSpPr>
        <p:spPr>
          <a:xfrm>
            <a:off x="10527480" y="6382440"/>
            <a:ext cx="1096920" cy="273960"/>
          </a:xfrm>
          <a:prstGeom prst="rect">
            <a:avLst/>
          </a:prstGeom>
          <a:noFill/>
          <a:ln w="0">
            <a:noFill/>
          </a:ln>
        </p:spPr>
        <p:style>
          <a:lnRef idx="0"/>
          <a:fillRef idx="0"/>
          <a:effectRef idx="0"/>
          <a:fontRef idx="minor"/>
        </p:style>
        <p:txBody>
          <a:bodyPr lIns="0" tIns="0" rIns="0" bIns="0" anchor="t">
            <a:spAutoFit/>
          </a:bodyPr>
          <a:p>
            <a:pPr algn="r" defTabSz="457200">
              <a:lnSpc>
                <a:spcPct val="106000"/>
              </a:lnSpc>
            </a:pPr>
            <a:r>
              <a:rPr lang="en-US" sz="900" b="0" u="none" strike="noStrike">
                <a:solidFill>
                  <a:srgbClr val="6B7280"/>
                </a:solidFill>
                <a:effectLst/>
                <a:uFillTx/>
                <a:latin typeface="Calibri"/>
              </a:rPr>
              <a:t>30</a:t>
            </a:r>
            <a:endParaRPr lang="en-US" sz="900" b="0" u="none" strike="noStrike">
              <a:solidFill>
                <a:srgbClr val="000000"/>
              </a:solidFill>
              <a:effectLst/>
              <a:uFillTx/>
              <a:latin typeface="Arial"/>
            </a:endParaRPr>
          </a:p>
        </p:txBody>
      </p:sp>
      <p:sp>
        <p:nvSpPr>
          <p:cNvPr id="564" name="Rounded Rectangle 8"/>
          <p:cNvSpPr/>
          <p:nvPr/>
        </p:nvSpPr>
        <p:spPr>
          <a:xfrm>
            <a:off x="567000" y="1700640"/>
            <a:ext cx="4644000" cy="1874160"/>
          </a:xfrm>
          <a:prstGeom prst="roundRect">
            <a:avLst>
              <a:gd name="adj" fmla="val 5500"/>
            </a:avLst>
          </a:prstGeom>
          <a:solidFill>
            <a:srgbClr val="0E1A33"/>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255960" tIns="201240" rIns="90000" bIns="45000" anchor="ctr">
            <a:noAutofit/>
          </a:bodyPr>
          <a:p>
            <a:pPr defTabSz="457200">
              <a:lnSpc>
                <a:spcPct val="106000"/>
              </a:lnSpc>
              <a:spcAft>
                <a:spcPts val="799"/>
              </a:spcAft>
            </a:pPr>
            <a:r>
              <a:rPr lang="en-US" sz="950" b="1" u="none" strike="noStrike">
                <a:solidFill>
                  <a:srgbClr val="06B6D4"/>
                </a:solidFill>
                <a:effectLst/>
                <a:uFillTx/>
                <a:latin typeface="Calibri"/>
              </a:rPr>
              <a:t>BEFORE YOU PRESENT</a:t>
            </a:r>
            <a:endParaRPr lang="en-US" sz="950" b="0" u="none" strike="noStrike">
              <a:solidFill>
                <a:srgbClr val="FFFFFF"/>
              </a:solidFill>
              <a:effectLst/>
              <a:uFillTx/>
              <a:latin typeface="Arial"/>
            </a:endParaRPr>
          </a:p>
          <a:p>
            <a:pPr defTabSz="457200">
              <a:lnSpc>
                <a:spcPct val="106000"/>
              </a:lnSpc>
              <a:spcAft>
                <a:spcPts val="601"/>
              </a:spcAft>
            </a:pPr>
            <a:r>
              <a:rPr lang="en-US" sz="1050" b="0" u="none" strike="noStrike">
                <a:solidFill>
                  <a:srgbClr val="9FB0D0"/>
                </a:solidFill>
                <a:effectLst/>
                <a:uFillTx/>
                <a:latin typeface="Consolas"/>
              </a:rPr>
              <a:t>python -m uvicorn service.coordinator_service:app --port 8000</a:t>
            </a:r>
            <a:endParaRPr lang="en-US" sz="1050" b="0" u="none" strike="noStrike">
              <a:solidFill>
                <a:srgbClr val="FFFFFF"/>
              </a:solidFill>
              <a:effectLst/>
              <a:uFillTx/>
              <a:latin typeface="Arial"/>
            </a:endParaRPr>
          </a:p>
          <a:p>
            <a:pPr defTabSz="457200">
              <a:lnSpc>
                <a:spcPct val="106000"/>
              </a:lnSpc>
              <a:spcAft>
                <a:spcPts val="601"/>
              </a:spcAft>
            </a:pPr>
            <a:r>
              <a:rPr lang="en-US" sz="1050" b="0" u="none" strike="noStrike">
                <a:solidFill>
                  <a:srgbClr val="9FB0D0"/>
                </a:solidFill>
                <a:effectLst/>
                <a:uFillTx/>
                <a:latin typeface="Consolas"/>
              </a:rPr>
              <a:t>streamlit run ui/app.py</a:t>
            </a:r>
            <a:endParaRPr lang="en-US" sz="1050" b="0" u="none" strike="noStrike">
              <a:solidFill>
                <a:srgbClr val="FFFFFF"/>
              </a:solidFill>
              <a:effectLst/>
              <a:uFillTx/>
              <a:latin typeface="Arial"/>
            </a:endParaRPr>
          </a:p>
          <a:p>
            <a:pPr defTabSz="457200">
              <a:lnSpc>
                <a:spcPct val="106000"/>
              </a:lnSpc>
              <a:spcAft>
                <a:spcPts val="601"/>
              </a:spcAft>
            </a:pPr>
            <a:r>
              <a:rPr lang="en-US" sz="1050" b="0" u="none" strike="noStrike">
                <a:solidFill>
                  <a:srgbClr val="9FB0D0"/>
                </a:solidFill>
                <a:effectLst/>
                <a:uFillTx/>
                <a:latin typeface="Consolas"/>
              </a:rPr>
              <a:t>pytest -q            # 43 passed</a:t>
            </a:r>
            <a:endParaRPr lang="en-US" sz="1050" b="0" u="none" strike="noStrike">
              <a:solidFill>
                <a:srgbClr val="FFFFFF"/>
              </a:solidFill>
              <a:effectLst/>
              <a:uFillTx/>
              <a:latin typeface="Arial"/>
            </a:endParaRPr>
          </a:p>
          <a:p>
            <a:pPr defTabSz="457200">
              <a:lnSpc>
                <a:spcPct val="106000"/>
              </a:lnSpc>
              <a:spcAft>
                <a:spcPts val="601"/>
              </a:spcAft>
            </a:pPr>
            <a:r>
              <a:rPr lang="en-US" sz="1050" b="0" u="none" strike="noStrike">
                <a:solidFill>
                  <a:srgbClr val="9FB0D0"/>
                </a:solidFill>
                <a:effectLst/>
                <a:uFillTx/>
                <a:latin typeface="Consolas"/>
              </a:rPr>
              <a:t>open http://localhost:8501  and  :8000/docs</a:t>
            </a:r>
            <a:endParaRPr lang="en-US" sz="1050" b="0" u="none" strike="noStrike">
              <a:solidFill>
                <a:srgbClr val="FFFFFF"/>
              </a:solidFill>
              <a:effectLst/>
              <a:uFillTx/>
              <a:latin typeface="Arial"/>
            </a:endParaRPr>
          </a:p>
        </p:txBody>
      </p:sp>
      <p:sp>
        <p:nvSpPr>
          <p:cNvPr id="565" name="Rounded Rectangle 9"/>
          <p:cNvSpPr/>
          <p:nvPr/>
        </p:nvSpPr>
        <p:spPr>
          <a:xfrm>
            <a:off x="5485680" y="1700640"/>
            <a:ext cx="6138720" cy="1874160"/>
          </a:xfrm>
          <a:prstGeom prst="roundRect">
            <a:avLst>
              <a:gd name="adj" fmla="val 5500"/>
            </a:avLst>
          </a:prstGeom>
          <a:solidFill>
            <a:srgbClr val="F6F8FC"/>
          </a:solidFill>
          <a:ln w="12700">
            <a:solidFill>
              <a:srgbClr val="E3E8F0"/>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237600" tIns="201240" rIns="90000" bIns="45000" anchor="ctr">
            <a:noAutofit/>
          </a:bodyPr>
          <a:p>
            <a:pPr defTabSz="457200">
              <a:lnSpc>
                <a:spcPct val="106000"/>
              </a:lnSpc>
              <a:spcAft>
                <a:spcPts val="799"/>
              </a:spcAft>
            </a:pPr>
            <a:r>
              <a:rPr lang="en-US" sz="950" b="1" u="none" strike="noStrike">
                <a:solidFill>
                  <a:srgbClr val="D97706"/>
                </a:solidFill>
                <a:effectLst/>
                <a:uFillTx/>
                <a:latin typeface="Calibri"/>
              </a:rPr>
              <a:t>TWO THINGS TO AVOID ON STAGE</a:t>
            </a:r>
            <a:endParaRPr lang="en-US" sz="950" b="0" u="none" strike="noStrike">
              <a:solidFill>
                <a:srgbClr val="000000"/>
              </a:solidFill>
              <a:effectLst/>
              <a:uFillTx/>
              <a:latin typeface="Arial"/>
            </a:endParaRPr>
          </a:p>
          <a:p>
            <a:pPr defTabSz="457200">
              <a:lnSpc>
                <a:spcPct val="108000"/>
              </a:lnSpc>
              <a:spcAft>
                <a:spcPts val="700"/>
              </a:spcAft>
            </a:pPr>
            <a:r>
              <a:rPr lang="en-US" sz="1150" b="1" u="none" strike="noStrike">
                <a:solidFill>
                  <a:srgbClr val="0E1A33"/>
                </a:solidFill>
                <a:effectLst/>
                <a:uFillTx/>
                <a:latin typeface="Calibri"/>
              </a:rPr>
              <a:t>Do not use 'Clear Form' between scenarios. </a:t>
            </a:r>
            <a:r>
              <a:rPr lang="en-US" sz="1150" b="0" u="none" strike="noStrike">
                <a:solidFill>
                  <a:srgbClr val="6B7280"/>
                </a:solidFill>
                <a:effectLst/>
                <a:uFillTx/>
                <a:latin typeface="Calibri"/>
              </a:rPr>
              <a:t>Streamlit keeps widget state by key, so the fields do not actually reset — reload the page (F5) instead, or simply type over the values.</a:t>
            </a:r>
            <a:endParaRPr lang="en-US" sz="1150" b="0" u="none" strike="noStrike">
              <a:solidFill>
                <a:srgbClr val="000000"/>
              </a:solidFill>
              <a:effectLst/>
              <a:uFillTx/>
              <a:latin typeface="Arial"/>
            </a:endParaRPr>
          </a:p>
          <a:p>
            <a:pPr defTabSz="457200">
              <a:lnSpc>
                <a:spcPct val="108000"/>
              </a:lnSpc>
            </a:pPr>
            <a:r>
              <a:rPr lang="en-US" sz="1150" b="1" u="none" strike="noStrike">
                <a:solidFill>
                  <a:srgbClr val="0E1A33"/>
                </a:solidFill>
                <a:effectLst/>
                <a:uFillTx/>
                <a:latin typeface="Calibri"/>
              </a:rPr>
              <a:t>Do not enable the LLM mode for the demo. </a:t>
            </a:r>
            <a:r>
              <a:rPr lang="en-US" sz="1150" b="0" u="none" strike="noStrike">
                <a:solidFill>
                  <a:srgbClr val="6B7280"/>
                </a:solidFill>
                <a:effectLst/>
                <a:uFillTx/>
                <a:latin typeface="Calibri"/>
              </a:rPr>
              <a:t>Rules mode needs no key and no network, and answers in about five milliseconds. Mention the Claude mode; do not depend on it.</a:t>
            </a:r>
            <a:endParaRPr lang="en-US" sz="1150" b="0" u="none" strike="noStrike">
              <a:solidFill>
                <a:srgbClr val="000000"/>
              </a:solidFill>
              <a:effectLst/>
              <a:uFillTx/>
              <a:latin typeface="Arial"/>
            </a:endParaRPr>
          </a:p>
        </p:txBody>
      </p:sp>
      <p:sp>
        <p:nvSpPr>
          <p:cNvPr id="566" name="Rectangle 10"/>
          <p:cNvSpPr/>
          <p:nvPr/>
        </p:nvSpPr>
        <p:spPr>
          <a:xfrm>
            <a:off x="5486400" y="1700640"/>
            <a:ext cx="54360" cy="1874160"/>
          </a:xfrm>
          <a:prstGeom prst="rect">
            <a:avLst/>
          </a:prstGeom>
          <a:solidFill>
            <a:srgbClr val="D9770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567" name="Rounded Rectangle 11"/>
          <p:cNvSpPr/>
          <p:nvPr/>
        </p:nvSpPr>
        <p:spPr>
          <a:xfrm>
            <a:off x="567000" y="3822120"/>
            <a:ext cx="2599560" cy="2084400"/>
          </a:xfrm>
          <a:prstGeom prst="roundRect">
            <a:avLst>
              <a:gd name="adj" fmla="val 5500"/>
            </a:avLst>
          </a:prstGeom>
          <a:solidFill>
            <a:srgbClr val="FFFFFF"/>
          </a:solidFill>
          <a:ln w="12700">
            <a:solidFill>
              <a:srgbClr val="E3E8F0"/>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201240" tIns="219600" rIns="164520" bIns="45000" anchor="ctr">
            <a:noAutofit/>
          </a:bodyPr>
          <a:p>
            <a:pPr defTabSz="457200">
              <a:lnSpc>
                <a:spcPct val="106000"/>
              </a:lnSpc>
              <a:spcAft>
                <a:spcPts val="700"/>
              </a:spcAft>
            </a:pPr>
            <a:r>
              <a:rPr lang="en-US" sz="1350" b="1" u="none" strike="noStrike">
                <a:solidFill>
                  <a:srgbClr val="15A34A"/>
                </a:solidFill>
                <a:effectLst/>
                <a:uFillTx/>
                <a:latin typeface="Calibri"/>
              </a:rPr>
              <a:t>1  Eligible</a:t>
            </a:r>
            <a:endParaRPr lang="en-US" sz="1350" b="0" u="none" strike="noStrike">
              <a:solidFill>
                <a:srgbClr val="000000"/>
              </a:solidFill>
              <a:effectLst/>
              <a:uFillTx/>
              <a:latin typeface="Arial"/>
            </a:endParaRPr>
          </a:p>
          <a:p>
            <a:pPr defTabSz="457200">
              <a:lnSpc>
                <a:spcPct val="108000"/>
              </a:lnSpc>
              <a:spcAft>
                <a:spcPts val="201"/>
              </a:spcAft>
            </a:pPr>
            <a:r>
              <a:rPr lang="en-US" sz="1050" b="0" u="none" strike="noStrike">
                <a:solidFill>
                  <a:srgbClr val="1F2937"/>
                </a:solidFill>
                <a:effectLst/>
                <a:uFillTx/>
                <a:latin typeface="Consolas"/>
              </a:rPr>
              <a:t>Ankita Vyas · 34 · salaried</a:t>
            </a:r>
            <a:endParaRPr lang="en-US" sz="1050" b="0" u="none" strike="noStrike">
              <a:solidFill>
                <a:srgbClr val="000000"/>
              </a:solidFill>
              <a:effectLst/>
              <a:uFillTx/>
              <a:latin typeface="Arial"/>
            </a:endParaRPr>
          </a:p>
          <a:p>
            <a:pPr defTabSz="457200">
              <a:lnSpc>
                <a:spcPct val="108000"/>
              </a:lnSpc>
              <a:spcAft>
                <a:spcPts val="201"/>
              </a:spcAft>
            </a:pPr>
            <a:r>
              <a:rPr lang="en-US" sz="1050" b="0" u="none" strike="noStrike">
                <a:solidFill>
                  <a:srgbClr val="1F2937"/>
                </a:solidFill>
                <a:effectLst/>
                <a:uFillTx/>
                <a:latin typeface="Consolas"/>
              </a:rPr>
              <a:t>95,000 income · 8,000 EMI</a:t>
            </a:r>
            <a:endParaRPr lang="en-US" sz="1050" b="0" u="none" strike="noStrike">
              <a:solidFill>
                <a:srgbClr val="000000"/>
              </a:solidFill>
              <a:effectLst/>
              <a:uFillTx/>
              <a:latin typeface="Arial"/>
            </a:endParaRPr>
          </a:p>
          <a:p>
            <a:pPr defTabSz="457200">
              <a:lnSpc>
                <a:spcPct val="108000"/>
              </a:lnSpc>
              <a:spcAft>
                <a:spcPts val="201"/>
              </a:spcAft>
            </a:pPr>
            <a:r>
              <a:rPr lang="en-US" sz="1050" b="0" u="none" strike="noStrike">
                <a:solidFill>
                  <a:srgbClr val="1F2937"/>
                </a:solidFill>
                <a:effectLst/>
                <a:uFillTx/>
                <a:latin typeface="Consolas"/>
              </a:rPr>
              <a:t>score 762 · loan 300,000</a:t>
            </a:r>
            <a:endParaRPr lang="en-US" sz="1050" b="0" u="none" strike="noStrike">
              <a:solidFill>
                <a:srgbClr val="000000"/>
              </a:solidFill>
              <a:effectLst/>
              <a:uFillTx/>
              <a:latin typeface="Arial"/>
            </a:endParaRPr>
          </a:p>
          <a:p>
            <a:pPr defTabSz="457200">
              <a:lnSpc>
                <a:spcPct val="112000"/>
              </a:lnSpc>
              <a:spcBef>
                <a:spcPts val="700"/>
              </a:spcBef>
            </a:pPr>
            <a:r>
              <a:rPr lang="en-US" sz="1050" b="1" u="none" strike="noStrike">
                <a:solidFill>
                  <a:srgbClr val="0E1A33"/>
                </a:solidFill>
                <a:effectLst/>
                <a:uFillTx/>
                <a:latin typeface="Calibri"/>
              </a:rPr>
              <a:t>Green verdict, 34.7% ratio, download the PDF.</a:t>
            </a:r>
            <a:endParaRPr lang="en-US" sz="1050" b="0" u="none" strike="noStrike">
              <a:solidFill>
                <a:srgbClr val="000000"/>
              </a:solidFill>
              <a:effectLst/>
              <a:uFillTx/>
              <a:latin typeface="Arial"/>
            </a:endParaRPr>
          </a:p>
        </p:txBody>
      </p:sp>
      <p:sp>
        <p:nvSpPr>
          <p:cNvPr id="568" name="Rectangle 12"/>
          <p:cNvSpPr/>
          <p:nvPr/>
        </p:nvSpPr>
        <p:spPr>
          <a:xfrm>
            <a:off x="567720" y="3822120"/>
            <a:ext cx="2597760" cy="50040"/>
          </a:xfrm>
          <a:prstGeom prst="rect">
            <a:avLst/>
          </a:prstGeom>
          <a:solidFill>
            <a:srgbClr val="15A34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5400" rIns="90000" bIns="5400" anchor="ctr">
            <a:noAutofit/>
          </a:bodyPr>
          <a:p>
            <a:endParaRPr lang="en-US" sz="1800" b="0" u="none" strike="noStrike">
              <a:solidFill>
                <a:schemeClr val="lt1"/>
              </a:solidFill>
              <a:effectLst/>
              <a:uFillTx/>
              <a:latin typeface="Calibri"/>
            </a:endParaRPr>
          </a:p>
        </p:txBody>
      </p:sp>
      <p:sp>
        <p:nvSpPr>
          <p:cNvPr id="569" name="Rounded Rectangle 13"/>
          <p:cNvSpPr/>
          <p:nvPr/>
        </p:nvSpPr>
        <p:spPr>
          <a:xfrm>
            <a:off x="3386160" y="3822120"/>
            <a:ext cx="2599560" cy="2084400"/>
          </a:xfrm>
          <a:prstGeom prst="roundRect">
            <a:avLst>
              <a:gd name="adj" fmla="val 5500"/>
            </a:avLst>
          </a:prstGeom>
          <a:solidFill>
            <a:srgbClr val="FFFFFF"/>
          </a:solidFill>
          <a:ln w="12700">
            <a:solidFill>
              <a:srgbClr val="E3E8F0"/>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201240" tIns="219600" rIns="164520" bIns="45000" anchor="ctr">
            <a:noAutofit/>
          </a:bodyPr>
          <a:p>
            <a:pPr defTabSz="457200">
              <a:lnSpc>
                <a:spcPct val="106000"/>
              </a:lnSpc>
              <a:spcAft>
                <a:spcPts val="700"/>
              </a:spcAft>
            </a:pPr>
            <a:r>
              <a:rPr lang="en-US" sz="1350" b="1" u="none" strike="noStrike">
                <a:solidFill>
                  <a:srgbClr val="D97706"/>
                </a:solidFill>
                <a:effectLst/>
                <a:uFillTx/>
                <a:latin typeface="Calibri"/>
              </a:rPr>
              <a:t>2  Manual review</a:t>
            </a:r>
            <a:endParaRPr lang="en-US" sz="1350" b="0" u="none" strike="noStrike">
              <a:solidFill>
                <a:srgbClr val="000000"/>
              </a:solidFill>
              <a:effectLst/>
              <a:uFillTx/>
              <a:latin typeface="Arial"/>
            </a:endParaRPr>
          </a:p>
          <a:p>
            <a:pPr defTabSz="457200">
              <a:lnSpc>
                <a:spcPct val="108000"/>
              </a:lnSpc>
              <a:spcAft>
                <a:spcPts val="201"/>
              </a:spcAft>
            </a:pPr>
            <a:r>
              <a:rPr lang="en-US" sz="1050" b="0" u="none" strike="noStrike">
                <a:solidFill>
                  <a:srgbClr val="1F2937"/>
                </a:solidFill>
                <a:effectLst/>
                <a:uFillTx/>
                <a:latin typeface="Consolas"/>
              </a:rPr>
              <a:t>Shubham Kumar · 38 · self-employed</a:t>
            </a:r>
            <a:endParaRPr lang="en-US" sz="1050" b="0" u="none" strike="noStrike">
              <a:solidFill>
                <a:srgbClr val="000000"/>
              </a:solidFill>
              <a:effectLst/>
              <a:uFillTx/>
              <a:latin typeface="Arial"/>
            </a:endParaRPr>
          </a:p>
          <a:p>
            <a:pPr defTabSz="457200">
              <a:lnSpc>
                <a:spcPct val="108000"/>
              </a:lnSpc>
              <a:spcAft>
                <a:spcPts val="201"/>
              </a:spcAft>
            </a:pPr>
            <a:r>
              <a:rPr lang="en-US" sz="1050" b="0" u="none" strike="noStrike">
                <a:solidFill>
                  <a:srgbClr val="1F2937"/>
                </a:solidFill>
                <a:effectLst/>
                <a:uFillTx/>
                <a:latin typeface="Consolas"/>
              </a:rPr>
              <a:t>70,000 income · 4,000 EMI</a:t>
            </a:r>
            <a:endParaRPr lang="en-US" sz="1050" b="0" u="none" strike="noStrike">
              <a:solidFill>
                <a:srgbClr val="000000"/>
              </a:solidFill>
              <a:effectLst/>
              <a:uFillTx/>
              <a:latin typeface="Arial"/>
            </a:endParaRPr>
          </a:p>
          <a:p>
            <a:pPr defTabSz="457200">
              <a:lnSpc>
                <a:spcPct val="108000"/>
              </a:lnSpc>
              <a:spcAft>
                <a:spcPts val="201"/>
              </a:spcAft>
            </a:pPr>
            <a:r>
              <a:rPr lang="en-US" sz="1050" b="0" u="none" strike="noStrike">
                <a:solidFill>
                  <a:srgbClr val="1F2937"/>
                </a:solidFill>
                <a:effectLst/>
                <a:uFillTx/>
                <a:latin typeface="Consolas"/>
              </a:rPr>
              <a:t>score 695 · loan 300,000</a:t>
            </a:r>
            <a:endParaRPr lang="en-US" sz="1050" b="0" u="none" strike="noStrike">
              <a:solidFill>
                <a:srgbClr val="000000"/>
              </a:solidFill>
              <a:effectLst/>
              <a:uFillTx/>
              <a:latin typeface="Arial"/>
            </a:endParaRPr>
          </a:p>
          <a:p>
            <a:pPr defTabSz="457200">
              <a:lnSpc>
                <a:spcPct val="112000"/>
              </a:lnSpc>
              <a:spcBef>
                <a:spcPts val="700"/>
              </a:spcBef>
            </a:pPr>
            <a:r>
              <a:rPr lang="en-US" sz="1050" b="1" u="none" strike="noStrike">
                <a:solidFill>
                  <a:srgbClr val="0E1A33"/>
                </a:solidFill>
                <a:effectLst/>
                <a:uFillTx/>
                <a:latin typeface="Calibri"/>
              </a:rPr>
              <a:t>Amber verdict — explain the borderline bands.</a:t>
            </a:r>
            <a:endParaRPr lang="en-US" sz="1050" b="0" u="none" strike="noStrike">
              <a:solidFill>
                <a:srgbClr val="000000"/>
              </a:solidFill>
              <a:effectLst/>
              <a:uFillTx/>
              <a:latin typeface="Arial"/>
            </a:endParaRPr>
          </a:p>
        </p:txBody>
      </p:sp>
      <p:sp>
        <p:nvSpPr>
          <p:cNvPr id="570" name="Rectangle 14"/>
          <p:cNvSpPr/>
          <p:nvPr/>
        </p:nvSpPr>
        <p:spPr>
          <a:xfrm>
            <a:off x="3387240" y="3822120"/>
            <a:ext cx="2597760" cy="50040"/>
          </a:xfrm>
          <a:prstGeom prst="rect">
            <a:avLst/>
          </a:prstGeom>
          <a:solidFill>
            <a:srgbClr val="D9770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5400" rIns="90000" bIns="5400" anchor="ctr">
            <a:noAutofit/>
          </a:bodyPr>
          <a:p>
            <a:endParaRPr lang="en-US" sz="1800" b="0" u="none" strike="noStrike">
              <a:solidFill>
                <a:schemeClr val="lt1"/>
              </a:solidFill>
              <a:effectLst/>
              <a:uFillTx/>
              <a:latin typeface="Calibri"/>
            </a:endParaRPr>
          </a:p>
        </p:txBody>
      </p:sp>
      <p:sp>
        <p:nvSpPr>
          <p:cNvPr id="571" name="Rounded Rectangle 15"/>
          <p:cNvSpPr/>
          <p:nvPr/>
        </p:nvSpPr>
        <p:spPr>
          <a:xfrm>
            <a:off x="6205680" y="3822120"/>
            <a:ext cx="2599560" cy="2084400"/>
          </a:xfrm>
          <a:prstGeom prst="roundRect">
            <a:avLst>
              <a:gd name="adj" fmla="val 5500"/>
            </a:avLst>
          </a:prstGeom>
          <a:solidFill>
            <a:srgbClr val="FFFFFF"/>
          </a:solidFill>
          <a:ln w="12700">
            <a:solidFill>
              <a:srgbClr val="E3E8F0"/>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201240" tIns="219600" rIns="164520" bIns="45000" anchor="ctr">
            <a:noAutofit/>
          </a:bodyPr>
          <a:p>
            <a:pPr defTabSz="457200">
              <a:lnSpc>
                <a:spcPct val="106000"/>
              </a:lnSpc>
              <a:spcAft>
                <a:spcPts val="700"/>
              </a:spcAft>
            </a:pPr>
            <a:r>
              <a:rPr lang="en-US" sz="1350" b="1" u="none" strike="noStrike">
                <a:solidFill>
                  <a:srgbClr val="DC2626"/>
                </a:solidFill>
                <a:effectLst/>
                <a:uFillTx/>
                <a:latin typeface="Calibri"/>
              </a:rPr>
              <a:t>3  Not eligible</a:t>
            </a:r>
            <a:endParaRPr lang="en-US" sz="1350" b="0" u="none" strike="noStrike">
              <a:solidFill>
                <a:srgbClr val="000000"/>
              </a:solidFill>
              <a:effectLst/>
              <a:uFillTx/>
              <a:latin typeface="Arial"/>
            </a:endParaRPr>
          </a:p>
          <a:p>
            <a:pPr defTabSz="457200">
              <a:lnSpc>
                <a:spcPct val="108000"/>
              </a:lnSpc>
              <a:spcAft>
                <a:spcPts val="201"/>
              </a:spcAft>
            </a:pPr>
            <a:r>
              <a:rPr lang="en-US" sz="1050" b="0" u="none" strike="noStrike">
                <a:solidFill>
                  <a:srgbClr val="1F2937"/>
                </a:solidFill>
                <a:effectLst/>
                <a:uFillTx/>
                <a:latin typeface="Consolas"/>
              </a:rPr>
              <a:t>Vandana H K · 29 · other</a:t>
            </a:r>
            <a:endParaRPr lang="en-US" sz="1050" b="0" u="none" strike="noStrike">
              <a:solidFill>
                <a:srgbClr val="000000"/>
              </a:solidFill>
              <a:effectLst/>
              <a:uFillTx/>
              <a:latin typeface="Arial"/>
            </a:endParaRPr>
          </a:p>
          <a:p>
            <a:pPr defTabSz="457200">
              <a:lnSpc>
                <a:spcPct val="108000"/>
              </a:lnSpc>
              <a:spcAft>
                <a:spcPts val="201"/>
              </a:spcAft>
            </a:pPr>
            <a:r>
              <a:rPr lang="en-US" sz="1050" b="0" u="none" strike="noStrike">
                <a:solidFill>
                  <a:srgbClr val="1F2937"/>
                </a:solidFill>
                <a:effectLst/>
                <a:uFillTx/>
                <a:latin typeface="Consolas"/>
              </a:rPr>
              <a:t>50,000 income · 10,000 EMI</a:t>
            </a:r>
            <a:endParaRPr lang="en-US" sz="1050" b="0" u="none" strike="noStrike">
              <a:solidFill>
                <a:srgbClr val="000000"/>
              </a:solidFill>
              <a:effectLst/>
              <a:uFillTx/>
              <a:latin typeface="Arial"/>
            </a:endParaRPr>
          </a:p>
          <a:p>
            <a:pPr defTabSz="457200">
              <a:lnSpc>
                <a:spcPct val="108000"/>
              </a:lnSpc>
              <a:spcAft>
                <a:spcPts val="201"/>
              </a:spcAft>
            </a:pPr>
            <a:r>
              <a:rPr lang="en-US" sz="1050" b="0" u="none" strike="noStrike">
                <a:solidFill>
                  <a:srgbClr val="1F2937"/>
                </a:solidFill>
                <a:effectLst/>
                <a:uFillTx/>
                <a:latin typeface="Consolas"/>
              </a:rPr>
              <a:t>score 640 · loan 600,000</a:t>
            </a:r>
            <a:endParaRPr lang="en-US" sz="1050" b="0" u="none" strike="noStrike">
              <a:solidFill>
                <a:srgbClr val="000000"/>
              </a:solidFill>
              <a:effectLst/>
              <a:uFillTx/>
              <a:latin typeface="Arial"/>
            </a:endParaRPr>
          </a:p>
          <a:p>
            <a:pPr defTabSz="457200">
              <a:lnSpc>
                <a:spcPct val="112000"/>
              </a:lnSpc>
              <a:spcBef>
                <a:spcPts val="700"/>
              </a:spcBef>
            </a:pPr>
            <a:r>
              <a:rPr lang="en-US" sz="1050" b="1" u="none" strike="noStrike">
                <a:solidFill>
                  <a:srgbClr val="0E1A33"/>
                </a:solidFill>
                <a:effectLst/>
                <a:uFillTx/>
                <a:latin typeface="Calibri"/>
              </a:rPr>
              <a:t>Red verdict, 120% ratio, read the four recommendations.</a:t>
            </a:r>
            <a:endParaRPr lang="en-US" sz="1050" b="0" u="none" strike="noStrike">
              <a:solidFill>
                <a:srgbClr val="000000"/>
              </a:solidFill>
              <a:effectLst/>
              <a:uFillTx/>
              <a:latin typeface="Arial"/>
            </a:endParaRPr>
          </a:p>
        </p:txBody>
      </p:sp>
      <p:sp>
        <p:nvSpPr>
          <p:cNvPr id="572" name="Rectangle 16"/>
          <p:cNvSpPr/>
          <p:nvPr/>
        </p:nvSpPr>
        <p:spPr>
          <a:xfrm>
            <a:off x="6206400" y="3822120"/>
            <a:ext cx="2597760" cy="50040"/>
          </a:xfrm>
          <a:prstGeom prst="rect">
            <a:avLst/>
          </a:prstGeom>
          <a:solidFill>
            <a:srgbClr val="DC262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5400" rIns="90000" bIns="5400" anchor="ctr">
            <a:noAutofit/>
          </a:bodyPr>
          <a:p>
            <a:endParaRPr lang="en-US" sz="1800" b="0" u="none" strike="noStrike">
              <a:solidFill>
                <a:schemeClr val="lt1"/>
              </a:solidFill>
              <a:effectLst/>
              <a:uFillTx/>
              <a:latin typeface="Calibri"/>
            </a:endParaRPr>
          </a:p>
        </p:txBody>
      </p:sp>
      <p:sp>
        <p:nvSpPr>
          <p:cNvPr id="573" name="Rounded Rectangle 17"/>
          <p:cNvSpPr/>
          <p:nvPr/>
        </p:nvSpPr>
        <p:spPr>
          <a:xfrm>
            <a:off x="9024840" y="3822120"/>
            <a:ext cx="2599560" cy="2084400"/>
          </a:xfrm>
          <a:prstGeom prst="roundRect">
            <a:avLst>
              <a:gd name="adj" fmla="val 5500"/>
            </a:avLst>
          </a:prstGeom>
          <a:solidFill>
            <a:srgbClr val="FFFFFF"/>
          </a:solidFill>
          <a:ln w="12700">
            <a:solidFill>
              <a:srgbClr val="E3E8F0"/>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201240" tIns="219600" rIns="164520" bIns="45000" anchor="ctr">
            <a:noAutofit/>
          </a:bodyPr>
          <a:p>
            <a:pPr defTabSz="457200">
              <a:lnSpc>
                <a:spcPct val="106000"/>
              </a:lnSpc>
              <a:spcAft>
                <a:spcPts val="700"/>
              </a:spcAft>
            </a:pPr>
            <a:r>
              <a:rPr lang="en-US" sz="1350" b="1" u="none" strike="noStrike">
                <a:solidFill>
                  <a:srgbClr val="4F46E5"/>
                </a:solidFill>
                <a:effectLst/>
                <a:uFillTx/>
                <a:latin typeface="Calibri"/>
              </a:rPr>
              <a:t>4  Assistant</a:t>
            </a:r>
            <a:endParaRPr lang="en-US" sz="1350" b="0" u="none" strike="noStrike">
              <a:solidFill>
                <a:srgbClr val="000000"/>
              </a:solidFill>
              <a:effectLst/>
              <a:uFillTx/>
              <a:latin typeface="Arial"/>
            </a:endParaRPr>
          </a:p>
          <a:p>
            <a:pPr defTabSz="457200">
              <a:lnSpc>
                <a:spcPct val="108000"/>
              </a:lnSpc>
              <a:spcAft>
                <a:spcPts val="201"/>
              </a:spcAft>
            </a:pPr>
            <a:r>
              <a:rPr lang="en-US" sz="1050" b="0" u="none" strike="noStrike">
                <a:solidFill>
                  <a:srgbClr val="1F2937"/>
                </a:solidFill>
                <a:effectLst/>
                <a:uFillTx/>
                <a:latin typeface="Consolas"/>
              </a:rPr>
              <a:t>Ask: 'Why am I eligible?'</a:t>
            </a:r>
            <a:endParaRPr lang="en-US" sz="1050" b="0" u="none" strike="noStrike">
              <a:solidFill>
                <a:srgbClr val="000000"/>
              </a:solidFill>
              <a:effectLst/>
              <a:uFillTx/>
              <a:latin typeface="Arial"/>
            </a:endParaRPr>
          </a:p>
          <a:p>
            <a:pPr defTabSz="457200">
              <a:lnSpc>
                <a:spcPct val="108000"/>
              </a:lnSpc>
              <a:spcAft>
                <a:spcPts val="201"/>
              </a:spcAft>
            </a:pPr>
            <a:r>
              <a:rPr lang="en-US" sz="1050" b="0" u="none" strike="noStrike">
                <a:solidFill>
                  <a:srgbClr val="1F2937"/>
                </a:solidFill>
                <a:effectLst/>
                <a:uFillTx/>
                <a:latin typeface="Consolas"/>
              </a:rPr>
              <a:t>then 'What is my EMI ratio?'</a:t>
            </a:r>
            <a:endParaRPr lang="en-US" sz="1050" b="0" u="none" strike="noStrike">
              <a:solidFill>
                <a:srgbClr val="000000"/>
              </a:solidFill>
              <a:effectLst/>
              <a:uFillTx/>
              <a:latin typeface="Arial"/>
            </a:endParaRPr>
          </a:p>
          <a:p>
            <a:pPr defTabSz="457200">
              <a:lnSpc>
                <a:spcPct val="108000"/>
              </a:lnSpc>
              <a:spcAft>
                <a:spcPts val="201"/>
              </a:spcAft>
            </a:pPr>
            <a:r>
              <a:rPr lang="en-US" sz="1050" b="0" u="none" strike="noStrike">
                <a:solidFill>
                  <a:srgbClr val="1F2937"/>
                </a:solidFill>
                <a:effectLst/>
                <a:uFillTx/>
                <a:latin typeface="Consolas"/>
              </a:rPr>
              <a:t>then paste a fake card number</a:t>
            </a:r>
            <a:endParaRPr lang="en-US" sz="1050" b="0" u="none" strike="noStrike">
              <a:solidFill>
                <a:srgbClr val="000000"/>
              </a:solidFill>
              <a:effectLst/>
              <a:uFillTx/>
              <a:latin typeface="Arial"/>
            </a:endParaRPr>
          </a:p>
          <a:p>
            <a:pPr defTabSz="457200">
              <a:lnSpc>
                <a:spcPct val="112000"/>
              </a:lnSpc>
              <a:spcBef>
                <a:spcPts val="700"/>
              </a:spcBef>
            </a:pPr>
            <a:r>
              <a:rPr lang="en-US" sz="1050" b="1" u="none" strike="noStrike">
                <a:solidFill>
                  <a:srgbClr val="0E1A33"/>
                </a:solidFill>
                <a:effectLst/>
                <a:uFillTx/>
                <a:latin typeface="Calibri"/>
              </a:rPr>
              <a:t>Result-aware answers, then the safety guard fires.</a:t>
            </a:r>
            <a:endParaRPr lang="en-US" sz="1050" b="0" u="none" strike="noStrike">
              <a:solidFill>
                <a:srgbClr val="000000"/>
              </a:solidFill>
              <a:effectLst/>
              <a:uFillTx/>
              <a:latin typeface="Arial"/>
            </a:endParaRPr>
          </a:p>
        </p:txBody>
      </p:sp>
      <p:sp>
        <p:nvSpPr>
          <p:cNvPr id="574" name="Rectangle 18"/>
          <p:cNvSpPr/>
          <p:nvPr/>
        </p:nvSpPr>
        <p:spPr>
          <a:xfrm>
            <a:off x="9025920" y="3822120"/>
            <a:ext cx="2597760" cy="50040"/>
          </a:xfrm>
          <a:prstGeom prst="rect">
            <a:avLst/>
          </a:prstGeom>
          <a:solidFill>
            <a:srgbClr val="4F46E5"/>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5400" rIns="90000" bIns="5400" anchor="ctr">
            <a:noAutofit/>
          </a:bodyPr>
          <a:p>
            <a:endParaRPr lang="en-US" sz="1800" b="0" u="none" strike="noStrike">
              <a:solidFill>
                <a:schemeClr val="lt1"/>
              </a:solidFill>
              <a:effectLst/>
              <a:uFillTx/>
              <a:latin typeface="Calibri"/>
            </a:endParaRPr>
          </a:p>
        </p:txBody>
      </p:sp>
    </p:spTree>
  </p:cSld>
  <mc:AlternateContent>
    <mc:Choice Requires="p14">
      <p:transition spd="slow" p14:dur="2000"/>
    </mc:Choice>
    <mc:Fallback>
      <p:transition spd="slow"/>
    </mc:Fallback>
  </mc:AlternateContent>
</p:sld>
</file>

<file path=ppt/slides/slide3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75" name="Rectangle 1"/>
          <p:cNvSpPr/>
          <p:nvPr/>
        </p:nvSpPr>
        <p:spPr>
          <a:xfrm>
            <a:off x="0" y="0"/>
            <a:ext cx="12191400" cy="6857640"/>
          </a:xfrm>
          <a:prstGeom prst="rect">
            <a:avLst/>
          </a:prstGeom>
          <a:solidFill>
            <a:srgbClr val="0E1A33"/>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576" name="Rectangle 2"/>
          <p:cNvSpPr/>
          <p:nvPr/>
        </p:nvSpPr>
        <p:spPr>
          <a:xfrm>
            <a:off x="0" y="0"/>
            <a:ext cx="12191400" cy="77400"/>
          </a:xfrm>
          <a:prstGeom prst="rect">
            <a:avLst/>
          </a:prstGeom>
          <a:gradFill rotWithShape="0">
            <a:gsLst>
              <a:gs pos="0">
                <a:srgbClr val="4F46E5"/>
              </a:gs>
              <a:gs pos="100000">
                <a:srgbClr val="7C3AED"/>
              </a:gs>
            </a:gsLst>
            <a:lin ang="0"/>
          </a:gra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32760" rIns="90000" bIns="32760" anchor="ctr">
            <a:noAutofit/>
          </a:bodyPr>
          <a:p>
            <a:endParaRPr lang="en-US" sz="1800" b="0" u="none" strike="noStrike">
              <a:solidFill>
                <a:schemeClr val="lt1"/>
              </a:solidFill>
              <a:effectLst/>
              <a:uFillTx/>
              <a:latin typeface="Calibri"/>
            </a:endParaRPr>
          </a:p>
        </p:txBody>
      </p:sp>
      <p:sp>
        <p:nvSpPr>
          <p:cNvPr id="577" name="Rectangle 3"/>
          <p:cNvSpPr/>
          <p:nvPr/>
        </p:nvSpPr>
        <p:spPr>
          <a:xfrm>
            <a:off x="0" y="6780240"/>
            <a:ext cx="12191400" cy="77400"/>
          </a:xfrm>
          <a:prstGeom prst="rect">
            <a:avLst/>
          </a:prstGeom>
          <a:gradFill rotWithShape="0">
            <a:gsLst>
              <a:gs pos="0">
                <a:srgbClr val="7C3AED"/>
              </a:gs>
              <a:gs pos="100000">
                <a:srgbClr val="4F46E5"/>
              </a:gs>
            </a:gsLst>
            <a:lin ang="0"/>
          </a:gra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32760" rIns="90000" bIns="32760" anchor="ctr">
            <a:noAutofit/>
          </a:bodyPr>
          <a:p>
            <a:endParaRPr lang="en-US" sz="1800" b="0" u="none" strike="noStrike">
              <a:solidFill>
                <a:schemeClr val="lt1"/>
              </a:solidFill>
              <a:effectLst/>
              <a:uFillTx/>
              <a:latin typeface="Calibri"/>
            </a:endParaRPr>
          </a:p>
        </p:txBody>
      </p:sp>
      <p:sp>
        <p:nvSpPr>
          <p:cNvPr id="578" name="TextBox 4"/>
          <p:cNvSpPr/>
          <p:nvPr/>
        </p:nvSpPr>
        <p:spPr>
          <a:xfrm>
            <a:off x="795600" y="1051560"/>
            <a:ext cx="8777880" cy="319680"/>
          </a:xfrm>
          <a:prstGeom prst="rect">
            <a:avLst/>
          </a:prstGeom>
          <a:noFill/>
          <a:ln w="0">
            <a:noFill/>
          </a:ln>
        </p:spPr>
        <p:style>
          <a:lnRef idx="0"/>
          <a:fillRef idx="0"/>
          <a:effectRef idx="0"/>
          <a:fontRef idx="minor"/>
        </p:style>
        <p:txBody>
          <a:bodyPr lIns="0" tIns="0" rIns="0" bIns="0" anchor="t">
            <a:spAutoFit/>
          </a:bodyPr>
          <a:p>
            <a:pPr defTabSz="457200">
              <a:lnSpc>
                <a:spcPct val="106000"/>
              </a:lnSpc>
            </a:pPr>
            <a:r>
              <a:rPr lang="en-US" sz="1100" b="1" u="none" strike="noStrike">
                <a:solidFill>
                  <a:srgbClr val="06B6D4"/>
                </a:solidFill>
                <a:effectLst/>
                <a:uFillTx/>
                <a:latin typeface="Calibri"/>
              </a:rPr>
              <a:t>THANK YOU  ·  QUESTIONS WELCOME</a:t>
            </a:r>
            <a:endParaRPr lang="en-US" sz="1100" b="0" u="none" strike="noStrike">
              <a:solidFill>
                <a:srgbClr val="000000"/>
              </a:solidFill>
              <a:effectLst/>
              <a:uFillTx/>
              <a:latin typeface="Arial"/>
            </a:endParaRPr>
          </a:p>
        </p:txBody>
      </p:sp>
      <p:sp>
        <p:nvSpPr>
          <p:cNvPr id="579" name="TextBox 5"/>
          <p:cNvSpPr/>
          <p:nvPr/>
        </p:nvSpPr>
        <p:spPr>
          <a:xfrm>
            <a:off x="795600" y="1463040"/>
            <a:ext cx="9509400" cy="1371240"/>
          </a:xfrm>
          <a:prstGeom prst="rect">
            <a:avLst/>
          </a:prstGeom>
          <a:noFill/>
          <a:ln w="0">
            <a:noFill/>
          </a:ln>
        </p:spPr>
        <p:style>
          <a:lnRef idx="0"/>
          <a:fillRef idx="0"/>
          <a:effectRef idx="0"/>
          <a:fontRef idx="minor"/>
        </p:style>
        <p:txBody>
          <a:bodyPr lIns="0" tIns="0" rIns="0" bIns="0" anchor="t">
            <a:spAutoFit/>
          </a:bodyPr>
          <a:p>
            <a:r>
              <a:rPr lang="en-US" sz="3600" b="1" u="none" strike="noStrike">
                <a:solidFill>
                  <a:srgbClr val="FFFFFF"/>
                </a:solidFill>
                <a:effectLst/>
                <a:uFillTx/>
                <a:latin typeface="Calibri"/>
              </a:rPr>
              <a:t>A decision you can explain,</a:t>
            </a:r>
            <a:endParaRPr lang="en-US" sz="3600" b="0" u="none" strike="noStrike">
              <a:solidFill>
                <a:srgbClr val="000000"/>
              </a:solidFill>
              <a:effectLst/>
              <a:uFillTx/>
              <a:latin typeface="Arial"/>
            </a:endParaRPr>
          </a:p>
          <a:p>
            <a:pPr defTabSz="457200">
              <a:lnSpc>
                <a:spcPct val="110000"/>
              </a:lnSpc>
            </a:pPr>
            <a:r>
              <a:rPr lang="en-US" sz="3600" b="1" u="none" strike="noStrike">
                <a:solidFill>
                  <a:srgbClr val="FFFFFF"/>
                </a:solidFill>
                <a:effectLst/>
                <a:uFillTx/>
                <a:latin typeface="Calibri"/>
              </a:rPr>
              <a:t>in the time it takes to click.</a:t>
            </a:r>
            <a:endParaRPr lang="en-US" sz="3600" b="0" u="none" strike="noStrike">
              <a:solidFill>
                <a:srgbClr val="000000"/>
              </a:solidFill>
              <a:effectLst/>
              <a:uFillTx/>
              <a:latin typeface="Arial"/>
            </a:endParaRPr>
          </a:p>
        </p:txBody>
      </p:sp>
      <p:sp>
        <p:nvSpPr>
          <p:cNvPr id="580" name="Rounded Rectangle 6"/>
          <p:cNvSpPr/>
          <p:nvPr/>
        </p:nvSpPr>
        <p:spPr>
          <a:xfrm>
            <a:off x="567000" y="3063240"/>
            <a:ext cx="2585880" cy="1298160"/>
          </a:xfrm>
          <a:prstGeom prst="roundRect">
            <a:avLst>
              <a:gd name="adj" fmla="val 5500"/>
            </a:avLst>
          </a:prstGeom>
          <a:solidFill>
            <a:srgbClr val="1B2C52"/>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201240" tIns="182880" rIns="164520" bIns="45000" anchor="ctr">
            <a:noAutofit/>
          </a:bodyPr>
          <a:p>
            <a:pPr defTabSz="457200">
              <a:lnSpc>
                <a:spcPct val="106000"/>
              </a:lnSpc>
              <a:spcAft>
                <a:spcPts val="499"/>
              </a:spcAft>
            </a:pPr>
            <a:r>
              <a:rPr lang="en-US" sz="1300" b="1" u="none" strike="noStrike">
                <a:solidFill>
                  <a:srgbClr val="FFFFFF"/>
                </a:solidFill>
                <a:effectLst/>
                <a:uFillTx/>
                <a:latin typeface="Calibri"/>
              </a:rPr>
              <a:t>Deterministic decisions</a:t>
            </a:r>
            <a:endParaRPr lang="en-US" sz="1300" b="0" u="none" strike="noStrike">
              <a:solidFill>
                <a:srgbClr val="FFFFFF"/>
              </a:solidFill>
              <a:effectLst/>
              <a:uFillTx/>
              <a:latin typeface="Arial"/>
            </a:endParaRPr>
          </a:p>
          <a:p>
            <a:pPr defTabSz="457200">
              <a:lnSpc>
                <a:spcPct val="114000"/>
              </a:lnSpc>
            </a:pPr>
            <a:r>
              <a:rPr lang="en-US" sz="1050" b="0" u="none" strike="noStrike">
                <a:solidFill>
                  <a:srgbClr val="A9B4CC"/>
                </a:solidFill>
                <a:effectLst/>
                <a:uFillTx/>
                <a:latin typeface="Calibri"/>
              </a:rPr>
              <a:t>Four published rules, a borderline band, a human escalation path.</a:t>
            </a:r>
            <a:endParaRPr lang="en-US" sz="1050" b="0" u="none" strike="noStrike">
              <a:solidFill>
                <a:srgbClr val="FFFFFF"/>
              </a:solidFill>
              <a:effectLst/>
              <a:uFillTx/>
              <a:latin typeface="Arial"/>
            </a:endParaRPr>
          </a:p>
        </p:txBody>
      </p:sp>
      <p:sp>
        <p:nvSpPr>
          <p:cNvPr id="581" name="Rectangle 7"/>
          <p:cNvSpPr/>
          <p:nvPr/>
        </p:nvSpPr>
        <p:spPr>
          <a:xfrm>
            <a:off x="567720" y="3063240"/>
            <a:ext cx="2584080" cy="45360"/>
          </a:xfrm>
          <a:prstGeom prst="rect">
            <a:avLst/>
          </a:prstGeom>
          <a:solidFill>
            <a:srgbClr val="4F46E5"/>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720" rIns="90000" bIns="720" anchor="ctr">
            <a:noAutofit/>
          </a:bodyPr>
          <a:p>
            <a:endParaRPr lang="en-US" sz="1800" b="0" u="none" strike="noStrike">
              <a:solidFill>
                <a:schemeClr val="lt1"/>
              </a:solidFill>
              <a:effectLst/>
              <a:uFillTx/>
              <a:latin typeface="Calibri"/>
            </a:endParaRPr>
          </a:p>
        </p:txBody>
      </p:sp>
      <p:sp>
        <p:nvSpPr>
          <p:cNvPr id="582" name="Rounded Rectangle 8"/>
          <p:cNvSpPr/>
          <p:nvPr/>
        </p:nvSpPr>
        <p:spPr>
          <a:xfrm>
            <a:off x="3390840" y="3063240"/>
            <a:ext cx="2585880" cy="1298160"/>
          </a:xfrm>
          <a:prstGeom prst="roundRect">
            <a:avLst>
              <a:gd name="adj" fmla="val 5500"/>
            </a:avLst>
          </a:prstGeom>
          <a:solidFill>
            <a:srgbClr val="1B2C52"/>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201240" tIns="182880" rIns="164520" bIns="45000" anchor="ctr">
            <a:noAutofit/>
          </a:bodyPr>
          <a:p>
            <a:pPr defTabSz="457200">
              <a:lnSpc>
                <a:spcPct val="106000"/>
              </a:lnSpc>
              <a:spcAft>
                <a:spcPts val="499"/>
              </a:spcAft>
            </a:pPr>
            <a:r>
              <a:rPr lang="en-US" sz="1300" b="1" u="none" strike="noStrike">
                <a:solidFill>
                  <a:srgbClr val="FFFFFF"/>
                </a:solidFill>
                <a:effectLst/>
                <a:uFillTx/>
                <a:latin typeface="Calibri"/>
              </a:rPr>
              <a:t>Explained by default</a:t>
            </a:r>
            <a:endParaRPr lang="en-US" sz="1300" b="0" u="none" strike="noStrike">
              <a:solidFill>
                <a:srgbClr val="FFFFFF"/>
              </a:solidFill>
              <a:effectLst/>
              <a:uFillTx/>
              <a:latin typeface="Arial"/>
            </a:endParaRPr>
          </a:p>
          <a:p>
            <a:pPr defTabSz="457200">
              <a:lnSpc>
                <a:spcPct val="114000"/>
              </a:lnSpc>
            </a:pPr>
            <a:r>
              <a:rPr lang="en-US" sz="1050" b="0" u="none" strike="noStrike">
                <a:solidFill>
                  <a:srgbClr val="A9B4CC"/>
                </a:solidFill>
                <a:effectLst/>
                <a:uFillTx/>
                <a:latin typeface="Calibri"/>
              </a:rPr>
              <a:t>Reasoning, recommendations, evidence and a PDF with every result.</a:t>
            </a:r>
            <a:endParaRPr lang="en-US" sz="1050" b="0" u="none" strike="noStrike">
              <a:solidFill>
                <a:srgbClr val="FFFFFF"/>
              </a:solidFill>
              <a:effectLst/>
              <a:uFillTx/>
              <a:latin typeface="Arial"/>
            </a:endParaRPr>
          </a:p>
        </p:txBody>
      </p:sp>
      <p:sp>
        <p:nvSpPr>
          <p:cNvPr id="583" name="Rectangle 9"/>
          <p:cNvSpPr/>
          <p:nvPr/>
        </p:nvSpPr>
        <p:spPr>
          <a:xfrm>
            <a:off x="3391560" y="3063240"/>
            <a:ext cx="2584080" cy="45360"/>
          </a:xfrm>
          <a:prstGeom prst="rect">
            <a:avLst/>
          </a:prstGeom>
          <a:solidFill>
            <a:srgbClr val="7C3AED"/>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720" rIns="90000" bIns="720" anchor="ctr">
            <a:noAutofit/>
          </a:bodyPr>
          <a:p>
            <a:endParaRPr lang="en-US" sz="1800" b="0" u="none" strike="noStrike">
              <a:solidFill>
                <a:schemeClr val="lt1"/>
              </a:solidFill>
              <a:effectLst/>
              <a:uFillTx/>
              <a:latin typeface="Calibri"/>
            </a:endParaRPr>
          </a:p>
        </p:txBody>
      </p:sp>
      <p:sp>
        <p:nvSpPr>
          <p:cNvPr id="584" name="Rounded Rectangle 10"/>
          <p:cNvSpPr/>
          <p:nvPr/>
        </p:nvSpPr>
        <p:spPr>
          <a:xfrm>
            <a:off x="6214680" y="3063240"/>
            <a:ext cx="2585880" cy="1298160"/>
          </a:xfrm>
          <a:prstGeom prst="roundRect">
            <a:avLst>
              <a:gd name="adj" fmla="val 5500"/>
            </a:avLst>
          </a:prstGeom>
          <a:solidFill>
            <a:srgbClr val="1B2C52"/>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201240" tIns="182880" rIns="164520" bIns="45000" anchor="ctr">
            <a:noAutofit/>
          </a:bodyPr>
          <a:p>
            <a:pPr defTabSz="457200">
              <a:lnSpc>
                <a:spcPct val="106000"/>
              </a:lnSpc>
              <a:spcAft>
                <a:spcPts val="499"/>
              </a:spcAft>
            </a:pPr>
            <a:r>
              <a:rPr lang="en-US" sz="1300" b="1" u="none" strike="noStrike">
                <a:solidFill>
                  <a:srgbClr val="FFFFFF"/>
                </a:solidFill>
                <a:effectLst/>
                <a:uFillTx/>
                <a:latin typeface="Calibri"/>
              </a:rPr>
              <a:t>A safe assistant</a:t>
            </a:r>
            <a:endParaRPr lang="en-US" sz="1300" b="0" u="none" strike="noStrike">
              <a:solidFill>
                <a:srgbClr val="FFFFFF"/>
              </a:solidFill>
              <a:effectLst/>
              <a:uFillTx/>
              <a:latin typeface="Arial"/>
            </a:endParaRPr>
          </a:p>
          <a:p>
            <a:pPr defTabSz="457200">
              <a:lnSpc>
                <a:spcPct val="114000"/>
              </a:lnSpc>
            </a:pPr>
            <a:r>
              <a:rPr lang="en-US" sz="1050" b="0" u="none" strike="noStrike">
                <a:solidFill>
                  <a:srgbClr val="A9B4CC"/>
                </a:solidFill>
                <a:effectLst/>
                <a:uFillTx/>
                <a:latin typeface="Calibri"/>
              </a:rPr>
              <a:t>Rules-first answers, sensitive data blocked, scope honestly limited.</a:t>
            </a:r>
            <a:endParaRPr lang="en-US" sz="1050" b="0" u="none" strike="noStrike">
              <a:solidFill>
                <a:srgbClr val="FFFFFF"/>
              </a:solidFill>
              <a:effectLst/>
              <a:uFillTx/>
              <a:latin typeface="Arial"/>
            </a:endParaRPr>
          </a:p>
        </p:txBody>
      </p:sp>
      <p:sp>
        <p:nvSpPr>
          <p:cNvPr id="585" name="Rectangle 11"/>
          <p:cNvSpPr/>
          <p:nvPr/>
        </p:nvSpPr>
        <p:spPr>
          <a:xfrm>
            <a:off x="6215760" y="3063240"/>
            <a:ext cx="2584080" cy="45360"/>
          </a:xfrm>
          <a:prstGeom prst="rect">
            <a:avLst/>
          </a:prstGeom>
          <a:solidFill>
            <a:srgbClr val="06B6D4"/>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720" rIns="90000" bIns="720" anchor="ctr">
            <a:noAutofit/>
          </a:bodyPr>
          <a:p>
            <a:endParaRPr lang="en-US" sz="1800" b="0" u="none" strike="noStrike">
              <a:solidFill>
                <a:schemeClr val="lt1"/>
              </a:solidFill>
              <a:effectLst/>
              <a:uFillTx/>
              <a:latin typeface="Calibri"/>
            </a:endParaRPr>
          </a:p>
        </p:txBody>
      </p:sp>
      <p:sp>
        <p:nvSpPr>
          <p:cNvPr id="586" name="Rounded Rectangle 12"/>
          <p:cNvSpPr/>
          <p:nvPr/>
        </p:nvSpPr>
        <p:spPr>
          <a:xfrm>
            <a:off x="9038520" y="3063240"/>
            <a:ext cx="2585880" cy="1298160"/>
          </a:xfrm>
          <a:prstGeom prst="roundRect">
            <a:avLst>
              <a:gd name="adj" fmla="val 5500"/>
            </a:avLst>
          </a:prstGeom>
          <a:solidFill>
            <a:srgbClr val="1B2C52"/>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201240" tIns="182880" rIns="164520" bIns="45000" anchor="ctr">
            <a:noAutofit/>
          </a:bodyPr>
          <a:p>
            <a:pPr defTabSz="457200">
              <a:lnSpc>
                <a:spcPct val="106000"/>
              </a:lnSpc>
              <a:spcAft>
                <a:spcPts val="499"/>
              </a:spcAft>
            </a:pPr>
            <a:r>
              <a:rPr lang="en-US" sz="1300" b="1" u="none" strike="noStrike">
                <a:solidFill>
                  <a:srgbClr val="FFFFFF"/>
                </a:solidFill>
                <a:effectLst/>
                <a:uFillTx/>
                <a:latin typeface="Calibri"/>
              </a:rPr>
              <a:t>Auditable and tested</a:t>
            </a:r>
            <a:endParaRPr lang="en-US" sz="1300" b="0" u="none" strike="noStrike">
              <a:solidFill>
                <a:srgbClr val="FFFFFF"/>
              </a:solidFill>
              <a:effectLst/>
              <a:uFillTx/>
              <a:latin typeface="Arial"/>
            </a:endParaRPr>
          </a:p>
          <a:p>
            <a:pPr defTabSz="457200">
              <a:lnSpc>
                <a:spcPct val="114000"/>
              </a:lnSpc>
            </a:pPr>
            <a:r>
              <a:rPr lang="en-US" sz="1050" b="0" u="none" strike="noStrike">
                <a:solidFill>
                  <a:srgbClr val="A9B4CC"/>
                </a:solidFill>
                <a:effectLst/>
                <a:uFillTx/>
                <a:latin typeface="Calibri"/>
              </a:rPr>
              <a:t>A JSON line per decision, 43 passing tests.</a:t>
            </a:r>
            <a:endParaRPr lang="en-US" sz="1050" b="0" u="none" strike="noStrike">
              <a:solidFill>
                <a:srgbClr val="FFFFFF"/>
              </a:solidFill>
              <a:effectLst/>
              <a:uFillTx/>
              <a:latin typeface="Arial"/>
            </a:endParaRPr>
          </a:p>
        </p:txBody>
      </p:sp>
      <p:sp>
        <p:nvSpPr>
          <p:cNvPr id="587" name="Rectangle 13"/>
          <p:cNvSpPr/>
          <p:nvPr/>
        </p:nvSpPr>
        <p:spPr>
          <a:xfrm>
            <a:off x="9039600" y="3063240"/>
            <a:ext cx="2584080" cy="45360"/>
          </a:xfrm>
          <a:prstGeom prst="rect">
            <a:avLst/>
          </a:prstGeom>
          <a:solidFill>
            <a:srgbClr val="15A34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720" rIns="90000" bIns="720" anchor="ctr">
            <a:noAutofit/>
          </a:bodyPr>
          <a:p>
            <a:endParaRPr lang="en-US" sz="1800" b="0" u="none" strike="noStrike">
              <a:solidFill>
                <a:schemeClr val="lt1"/>
              </a:solidFill>
              <a:effectLst/>
              <a:uFillTx/>
              <a:latin typeface="Calibri"/>
            </a:endParaRPr>
          </a:p>
        </p:txBody>
      </p:sp>
      <p:sp>
        <p:nvSpPr>
          <p:cNvPr id="588" name="TextBox 19"/>
          <p:cNvSpPr/>
          <p:nvPr/>
        </p:nvSpPr>
        <p:spPr>
          <a:xfrm>
            <a:off x="567000" y="5897880"/>
            <a:ext cx="11057400" cy="273960"/>
          </a:xfrm>
          <a:prstGeom prst="rect">
            <a:avLst/>
          </a:prstGeom>
          <a:noFill/>
          <a:ln w="0">
            <a:noFill/>
          </a:ln>
        </p:spPr>
        <p:style>
          <a:lnRef idx="0"/>
          <a:fillRef idx="0"/>
          <a:effectRef idx="0"/>
          <a:fontRef idx="minor"/>
        </p:style>
        <p:txBody>
          <a:bodyPr lIns="0" tIns="0" rIns="0" bIns="0" anchor="t">
            <a:spAutoFit/>
          </a:bodyPr>
          <a:p>
            <a:pPr defTabSz="457200">
              <a:lnSpc>
                <a:spcPct val="106000"/>
              </a:lnSpc>
            </a:pPr>
            <a:r>
              <a:rPr lang="en-US" sz="1000" b="0" u="none" strike="noStrike">
                <a:solidFill>
                  <a:srgbClr val="9AA3B2"/>
                </a:solidFill>
                <a:effectLst/>
                <a:uFillTx/>
                <a:latin typeface="Calibri"/>
              </a:rPr>
              <a:t>Loan Eligibility AI  ·  Streamlit + FastAPI + Pydantic + RAG retrieval  ·  August 2026</a:t>
            </a:r>
            <a:endParaRPr lang="en-US" sz="1000" b="0" u="none" strike="noStrike">
              <a:solidFill>
                <a:srgbClr val="000000"/>
              </a:solidFill>
              <a:effectLst/>
              <a:uFillTx/>
              <a:latin typeface="Arial"/>
            </a:endParaRPr>
          </a:p>
        </p:txBody>
      </p:sp>
      <p:sp>
        <p:nvSpPr>
          <p:cNvPr id="589" name="TextBox 20"/>
          <p:cNvSpPr/>
          <p:nvPr/>
        </p:nvSpPr>
        <p:spPr>
          <a:xfrm>
            <a:off x="567000" y="6382440"/>
            <a:ext cx="7740000" cy="273960"/>
          </a:xfrm>
          <a:prstGeom prst="rect">
            <a:avLst/>
          </a:prstGeom>
          <a:noFill/>
          <a:ln w="0">
            <a:noFill/>
          </a:ln>
        </p:spPr>
        <p:style>
          <a:lnRef idx="0"/>
          <a:fillRef idx="0"/>
          <a:effectRef idx="0"/>
          <a:fontRef idx="minor"/>
        </p:style>
        <p:txBody>
          <a:bodyPr lIns="0" tIns="0" rIns="0" bIns="0" anchor="t">
            <a:spAutoFit/>
          </a:bodyPr>
          <a:p>
            <a:pPr defTabSz="457200">
              <a:lnSpc>
                <a:spcPct val="106000"/>
              </a:lnSpc>
            </a:pPr>
            <a:r>
              <a:rPr lang="en-US" sz="900" b="0" u="none" strike="noStrike">
                <a:solidFill>
                  <a:srgbClr val="9AA3B2"/>
                </a:solidFill>
                <a:effectLst/>
                <a:uFillTx/>
                <a:latin typeface="Calibri"/>
              </a:rPr>
              <a:t>Loan Eligibility AI  ·  Capstone Demonstration</a:t>
            </a:r>
            <a:endParaRPr lang="en-US" sz="900" b="0" u="none" strike="noStrike">
              <a:solidFill>
                <a:srgbClr val="000000"/>
              </a:solidFill>
              <a:effectLst/>
              <a:uFillTx/>
              <a:latin typeface="Arial"/>
            </a:endParaRPr>
          </a:p>
        </p:txBody>
      </p:sp>
      <p:sp>
        <p:nvSpPr>
          <p:cNvPr id="590" name="TextBox 21"/>
          <p:cNvSpPr/>
          <p:nvPr/>
        </p:nvSpPr>
        <p:spPr>
          <a:xfrm>
            <a:off x="10527480" y="6382440"/>
            <a:ext cx="1096920" cy="273960"/>
          </a:xfrm>
          <a:prstGeom prst="rect">
            <a:avLst/>
          </a:prstGeom>
          <a:noFill/>
          <a:ln w="0">
            <a:noFill/>
          </a:ln>
        </p:spPr>
        <p:style>
          <a:lnRef idx="0"/>
          <a:fillRef idx="0"/>
          <a:effectRef idx="0"/>
          <a:fontRef idx="minor"/>
        </p:style>
        <p:txBody>
          <a:bodyPr lIns="0" tIns="0" rIns="0" bIns="0" anchor="t">
            <a:spAutoFit/>
          </a:bodyPr>
          <a:p>
            <a:pPr algn="r" defTabSz="457200">
              <a:lnSpc>
                <a:spcPct val="106000"/>
              </a:lnSpc>
            </a:pPr>
            <a:r>
              <a:rPr lang="en-US" sz="900" b="0" u="none" strike="noStrike">
                <a:solidFill>
                  <a:srgbClr val="9AA3B2"/>
                </a:solidFill>
                <a:effectLst/>
                <a:uFillTx/>
                <a:latin typeface="Calibri"/>
              </a:rPr>
              <a:t>31</a:t>
            </a:r>
            <a:endParaRPr lang="en-US" sz="9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pitchFamily="0" charset="1"/>
        <a:ea typeface=""/>
        <a:cs typeface=""/>
      </a:majorFont>
      <a:minorFont>
        <a:latin typeface="Calibri" pitchFamily="0" charset="1"/>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l="0" t="0" r="0" b="0"/>
        </a:gradFill>
        <a:gradFill>
          <a:gsLst>
            <a:gs pos="0">
              <a:schemeClr val="phClr">
                <a:tint val="100000"/>
                <a:shade val="100000"/>
              </a:schemeClr>
            </a:gs>
            <a:gs pos="100000">
              <a:schemeClr val="phClr">
                <a:tint val="50000"/>
                <a:shade val="100000"/>
              </a:schemeClr>
            </a:gs>
          </a:gsLst>
          <a:lin ang="16200000" scaled="0"/>
          <a:tileRect l="0" t="0" r="0" b="0"/>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l="0" t="0" r="0" b="0"/>
        </a:gradFill>
        <a:gradFill>
          <a:gsLst>
            <a:gs pos="0">
              <a:schemeClr val="phClr">
                <a:tint val="80000"/>
              </a:schemeClr>
            </a:gs>
            <a:gs pos="100000">
              <a:schemeClr val="phClr">
                <a:shade val="30000"/>
              </a:schemeClr>
            </a:gs>
          </a:gsLst>
          <a:path path="circle">
            <a:fillToRect l="50000" t="50000" r="50000" b="50000"/>
          </a:path>
          <a:tileRect l="0" t="0" r="0" b="0"/>
        </a:gradFill>
      </a:bgFillStyleLst>
    </a:fmtScheme>
  </a:themeElements>
</a:theme>
</file>

<file path=ppt/theme/theme12.xml><?xml version="1.0" encoding="utf-8"?>
<a:theme xmlns:a="http://schemas.openxmlformats.org/drawingml/2006/main" xmlns:r="http://schemas.openxmlformats.org/officeDocument/2006/relationships" name="Office Theme">
  <a:themeElements>
    <a:clrScheme name="LibreOffice">
      <a:dk1>
        <a:srgbClr val="000000"/>
      </a:dk1>
      <a:lt1>
        <a:srgbClr val="FFFFFF"/>
      </a:lt1>
      <a:dk2>
        <a:srgbClr val="000000"/>
      </a:dk2>
      <a:lt2>
        <a:srgbClr val="FFFFFF"/>
      </a:lt2>
      <a:accent1>
        <a:srgbClr val="18A303"/>
      </a:accent1>
      <a:accent2>
        <a:srgbClr val="0369A3"/>
      </a:accent2>
      <a:accent3>
        <a:srgbClr val="A33E03"/>
      </a:accent3>
      <a:accent4>
        <a:srgbClr val="8E03A3"/>
      </a:accent4>
      <a:accent5>
        <a:srgbClr val="C99C00"/>
      </a:accent5>
      <a:accent6>
        <a:srgbClr val="C9211E"/>
      </a:accent6>
      <a:hlink>
        <a:srgbClr val="0000EE"/>
      </a:hlink>
      <a:folHlink>
        <a:srgbClr val="551A8B"/>
      </a:folHlink>
    </a:clrScheme>
    <a:fontScheme name="Office">
      <a:majorFont>
        <a:latin typeface="Arial" pitchFamily="0" charset="1"/>
        <a:ea typeface="DejaVu Sans" pitchFamily="0" charset="1"/>
        <a:cs typeface="DejaVu Sans" pitchFamily="0" charset="1"/>
      </a:majorFont>
      <a:minorFont>
        <a:latin typeface="Arial" pitchFamily="0" charset="1"/>
        <a:ea typeface="DejaVu Sans" pitchFamily="0" charset="1"/>
        <a:cs typeface="DejaVu Sans" pitchFamily="0" charset="1"/>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docProps/app.xml><?xml version="1.0" encoding="utf-8"?>
<Properties xmlns="http://schemas.openxmlformats.org/officeDocument/2006/extended-properties" xmlns:vt="http://schemas.openxmlformats.org/officeDocument/2006/docPropsVTypes">
  <Template/>
  <TotalTime>8</TotalTime>
  <Application>LibreOffice/26.2.3.2$Linux_X86_64 LibreOffice_project/620$Build-2</Application>
  <AppVersion>15.0000</AppVersion>
  <Words>0</Words>
  <Paragraphs>0</Paragraphs>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2013-01-27T09:14:16Z</dcterms:created>
  <dc:creator/>
  <dc:description>generated using python-pptx</dc:description>
  <dc:language>en-US</dc:language>
  <cp:lastModifiedBy/>
  <dcterms:modified xsi:type="dcterms:W3CDTF">2026-08-21T09:32:31Z</dcterms:modified>
  <cp:revision>3</cp:revision>
  <dc:subject/>
  <dc:title/>
</cp:coreProperties>
</file>

<file path=docProps/custom.xml><?xml version="1.0" encoding="utf-8"?>
<Properties xmlns="http://schemas.openxmlformats.org/officeDocument/2006/custom-properties" xmlns:vt="http://schemas.openxmlformats.org/officeDocument/2006/docPropsVTypes">
  <property fmtid="{D5CDD505-2E9C-101B-9397-08002B2CF9AE}" pid="2" name="PresentationFormat">
    <vt:lpwstr>On-screen Show (4:3)</vt:lpwstr>
  </property>
</Properties>
</file>