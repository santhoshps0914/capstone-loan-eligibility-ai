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0:00-0:40 (40s)</a:t>
            </a:r>
          </a:p>
          <a:p/>
          <a:p>
            <a:r>
              <a:t>Good morning. This is Loan Eligibility AI - a multi-agent system that turns manual loan underwriting into an automated, auditable, sub-second decision.</a:t>
            </a:r>
          </a:p>
          <a:p/>
          <a:p>
            <a:r>
              <a:t>Over the next 15 minutes I'll cover the business problem, the agent architecture, how governance and observability are built in rather than bolted on, our evaluation and load-test results, the deployment topology, a live demo, and the business impact.</a:t>
            </a:r>
          </a:p>
          <a:p/>
          <a:p>
            <a:r>
              <a:t>Everything you'll see runs on a FastAPI + Streamlit stack with a pluggable retrieval layer.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0:40-1:20 (40s)</a:t>
            </a:r>
          </a:p>
          <a:p/>
          <a:p>
            <a:r>
              <a:t>Here's the roadmap. Three blocks: first WHY - the problem and the solution shape. Then HOW - architecture, the skill/subagent/hook decomposition, external integration, and the governance and observability controls. Then PROOF - evaluation, load tests, deployment, a demo, and the numbers that justify the investment.</a:t>
            </a:r>
          </a:p>
          <a:p/>
          <a:p>
            <a:r>
              <a:t>I'll keep the architecture block tight so we have room for the demo and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1:20-2:35 (75s)</a:t>
            </a:r>
          </a:p>
          <a:p/>
          <a:p>
            <a:r>
              <a:t>Manual loan underwriting has five structural failures.</a:t>
            </a:r>
          </a:p>
          <a:p/>
          <a:p>
            <a:r>
              <a:t>One - LATENCY. A file sits in a queue for days while a human works through it. Applicants abandon and go to a competitor.</a:t>
            </a:r>
          </a:p>
          <a:p/>
          <a:p>
            <a:r>
              <a:t>Two - INCONSISTENCY. Two reviewers, same file, different answers. That's not just unfair, it's a regulatory exposure under fair-lending rules.</a:t>
            </a:r>
          </a:p>
          <a:p/>
          <a:p>
            <a:r>
              <a:t>Three - COST. Underwriting is specialist labour and it scales linearly with volume.</a:t>
            </a:r>
          </a:p>
          <a:p/>
          <a:p>
            <a:r>
              <a:t>Four - NO ELASTICITY. Festive-season volume spikes 3-4x and the queue simply grows.</a:t>
            </a:r>
          </a:p>
          <a:p/>
          <a:p>
            <a:r>
              <a:t>Five - WEAK AUDIT TRAIL. When a regulator asks 'why was this declined', the answer is a scanned note in a folder. You cannot reconstruct the reasoning.</a:t>
            </a:r>
          </a:p>
          <a:p/>
          <a:p>
            <a:r>
              <a:t>The opportunity: every one of these is a software problem, not a judgement problem. The eligibility criteria are already written down as policy - they just aren't executed as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2:35-3:50 (75s)</a:t>
            </a:r>
          </a:p>
          <a:p/>
          <a:p>
            <a:r>
              <a:t>Our solution is a multi-agent decision service. An applicant - or a loan officer - submits seven fields through a Streamlit form. A FastAPI service validates them, runs them through a coordinator agent, and returns a decision in well under a second.</a:t>
            </a:r>
          </a:p>
          <a:p/>
          <a:p>
            <a:r>
              <a:t>Three things make it more than a calculator.</a:t>
            </a:r>
          </a:p>
          <a:p/>
          <a:p>
            <a:r>
              <a:t>First, it's EXPLAINABLE: every rule reports pass/fail with the actual value that drove it, so the applicant sees 'EMI ratio 0.47 exceeded the 0.40 limit', not just 'declined'.</a:t>
            </a:r>
          </a:p>
          <a:p/>
          <a:p>
            <a:r>
              <a:t>Second, there's a THIRD OUTCOME. Not just eligible or not eligible - there's a 'Needs Manual Review' band for borderline files. We deliberately route ambiguity to a human instead of forcing a false-confident decision.</a:t>
            </a:r>
          </a:p>
          <a:p/>
          <a:p>
            <a:r>
              <a:t>Third, it's EVIDENCE-BACKED: a retrieval layer attaches the relevant policy clauses to each decision, so the reasoning is anchored to written policy.</a:t>
            </a:r>
          </a:p>
          <a:p/>
          <a:p>
            <a:r>
              <a:t>Output is a decision, the reasoning chain, actionable recommendations for a declined applicant, and a downloadable PDF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3:50-5:20 (90s)</a:t>
            </a:r>
          </a:p>
          <a:p/>
          <a:p>
            <a:r>
              <a:t>This is the agent topology. Read it top to bottom.</a:t>
            </a:r>
          </a:p>
          <a:p/>
          <a:p>
            <a:r>
              <a:t>The Streamlit UI is a pure presentation layer - it holds no business logic, it just POSTs JSON to /process.</a:t>
            </a:r>
          </a:p>
          <a:p/>
          <a:p>
            <a:r>
              <a:t>The FastAPI service is the boundary. It validates against the Pydantic Application schema, stamps an X-Request-ID, and hands off. Anything malformed is rejected here with a 422 before any agent runs.</a:t>
            </a:r>
          </a:p>
          <a:p/>
          <a:p>
            <a:r>
              <a:t>The COORDINATOR AGENT is the orchestrator. It owns sequencing and composition - it decides what runs, in what order, and assembles the final response. Critically, it holds no eligibility logic itself.</a:t>
            </a:r>
          </a:p>
          <a:p/>
          <a:p>
            <a:r>
              <a:t>Below it, three specialists. The ELIGIBILITY AGENT is a pure function - application in, rule verdicts out. No I/O, no state, which is why it's trivially unit-testable. The RETRIEVAL AGENT pulls matching policy clauses. The REPORTING layer formats reasoning and generates the PDF.</a:t>
            </a:r>
          </a:p>
          <a:p/>
          <a:p>
            <a:r>
              <a:t>Two design points worth calling out. One - the specialists never talk to each other; all composition goes through the coordinator, so there are no hidden couplings. Two - the retrieval agent sits behind a Protocol interface, injected at construction, which is what lets us swap the stub for FAISS or Pinecone without touching the coordinator.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5:20-6:20 (60s)</a:t>
            </a:r>
          </a:p>
          <a:p/>
          <a:p>
            <a:r>
              <a:t>One concrete trace, because the abstraction only means something if you can see a request move through it.</a:t>
            </a:r>
          </a:p>
          <a:p/>
          <a:p>
            <a:r>
              <a:t>Left: the request. Seven fields. Note the constraints are declared in the schema - income must be positive, credit score 0 to 1000, employment type is a closed enum. Bad data cannot reach the rules engine.</a:t>
            </a:r>
          </a:p>
          <a:p/>
          <a:p>
            <a:r>
              <a:t>Right: the response. The decision, the derived EMI ratio, and - this is the important part - a reasoning array with one entry per rule, each carrying the actual value that triggered it. That array is what we render in the UI, what we put in the PDF, and what we replay from the audit log.</a:t>
            </a:r>
          </a:p>
          <a:p/>
          <a:p>
            <a:r>
              <a:t>The request ID at the bottom ties the HTTP request, the structured log lines, and the audit record together. One ID, full trace.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6:20-7:30 (70s)</a:t>
            </a:r>
          </a:p>
          <a:p/>
          <a:p>
            <a:r>
              <a:t>The decomposition, in the vocabulary of the agent framework.</a:t>
            </a:r>
          </a:p>
          <a:p/>
          <a:p>
            <a:r>
              <a:t>SKILLS are the atomic, stateless capabilities - one job each, individually testable. Credit-score check, EMI ratio computation, age band, employment stability, the recommendation generator, and PDF rendering. A skill takes a value and returns a verdict.</a:t>
            </a:r>
          </a:p>
          <a:p/>
          <a:p>
            <a:r>
              <a:t>SUBAGENTS compose skills into a role. The Coordinator sequences. The Eligibility agent owns the four rule skills. The Retrieval client owns evidence lookup. The Validator guards the boundary. The Reporter formats output.</a:t>
            </a:r>
          </a:p>
          <a:p/>
          <a:p>
            <a:r>
              <a:t>HOOKS are the lifecycle events we fire on. On decision, we write the audit record. On manual-review, we can notify an underwriter queue. On validation failure, on retrieval miss, on unhandled error - each one is an extension point where a downstream system plugs in without modifying agent code.</a:t>
            </a:r>
          </a:p>
          <a:p/>
          <a:p>
            <a:r>
              <a:t>The reason this matters for a capstone: adding a fifth eligibility rule means adding one skill and registering it. It doesn't mean touching the coordinator, the API, or the UI.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7:30-8:40 (70s)</a:t>
            </a:r>
          </a:p>
          <a:p/>
          <a:p>
            <a:r>
              <a:t>External integration. This is the part of the design I'd defend hardest.</a:t>
            </a:r>
          </a:p>
          <a:p/>
          <a:p>
            <a:r>
              <a:t>Every external dependency sits behind an interface, not inline in the agent. Concretely, retrieval is defined as a Python Protocol - structural typing, four lines - and the coordinator accepts any object satisfying it, injected at construction.</a:t>
            </a:r>
          </a:p>
          <a:p/>
          <a:p>
            <a:r>
              <a:t>That gives us four interchangeable backends today: a hardcoded stub for tests, an in-memory vector retriever for local development, a FAISS adapter for on-prem, and a Pinecone adapter for managed cloud. Swapping them is a one-line change at the call site. No agent code moves.</a:t>
            </a:r>
          </a:p>
          <a:p/>
          <a:p>
            <a:r>
              <a:t>The same pattern extends outward - the credit bureau, the policy repository, the notification service. Each becomes a tool the agent calls through a uniform contract, which is exactly the MCP model: capabilities are discovered and invoked through a standard interface rather than hard-wired.</a:t>
            </a:r>
          </a:p>
          <a:p/>
          <a:p>
            <a:r>
              <a:t>Practical consequence: our test suite runs with zero external services, and production swaps in the real ones through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8:40-10:00 (80s)</a:t>
            </a:r>
          </a:p>
          <a:p/>
          <a:p>
            <a:r>
              <a:t>Governance. For a lending decision this is not optional, so it's built into the decision structure itself.</a:t>
            </a:r>
          </a:p>
          <a:p/>
          <a:p>
            <a:r>
              <a:t>Four controls. Schema validation at the boundary - nothing unvalidated reaches a rule. Deterministic, rule-based decisions - no opaque model, no probability we can't explain. Thresholds held in configuration, so a policy change is a reviewed config change with a version history. And mandatory human-in-the-loop on the borderline band.</a:t>
            </a:r>
          </a:p>
          <a:p/>
          <a:p>
            <a:r>
              <a:t>The decision matrix on the right is the actual policy. Credit score above 700. EMI-to-income ratio at or below 40 percent. Age 21 to 60. Employment in the stable set - salaried or government.</a:t>
            </a:r>
          </a:p>
          <a:p/>
          <a:p>
            <a:r>
              <a:t>Now the part I want to emphasise. Look at the amber row. If an applicant fails a threshold but sits inside the borderline band - credit score 690 to 710, or EMI ratio 38 to 42 percent - we do NOT decline them. We route to manual review. That's a deliberate design choice: near a cliff edge, small input error causes large outcome error, so we hand those files to a human rather than pretending to precision we don't have.</a:t>
            </a:r>
          </a:p>
          <a:p/>
          <a:p>
            <a:r>
              <a:t>And on fairness - the model consumes seven fields. Name is carried for the report only and is never an input to any rule. No proxy attributes for protected characteristics enter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10:00-11:05 (65s)</a:t>
            </a:r>
          </a:p>
          <a:p/>
          <a:p>
            <a:r>
              <a:t>Observability. Three layers.</a:t>
            </a:r>
          </a:p>
          <a:p/>
          <a:p>
            <a:r>
              <a:t>TRACEABILITY - a request ID generated at the edge and propagated through every layer. Given a decision, I can reconstruct exactly which rules fired, with what values, against which policy documents, at what time.</a:t>
            </a:r>
          </a:p>
          <a:p/>
          <a:p>
            <a:r>
              <a:t>LOGGING - structured JSON, not free text. Machine-parseable, so it ships straight into a log platform and becomes queryable. Plus an append-only JSONL audit trail as the system of record.</a:t>
            </a:r>
          </a:p>
          <a:p/>
          <a:p>
            <a:r>
              <a:t>MONITORING - the metrics we'd watch in production: decision latency percentiles, decision mix, manual-review rate, error rate, retrieval quality.</a:t>
            </a:r>
          </a:p>
          <a:p/>
          <a:p>
            <a:r>
              <a:t>The audit record on the right is a real line from our log. Request ID, timestamp, input summary, decision, and the policy document IDs that grounded it.</a:t>
            </a:r>
          </a:p>
          <a:p/>
          <a:p>
            <a:r>
              <a:t>One honest note, and it's on the roadmap slide too: that audit record currently stores applicant PII in plaintext with no retention policy. For production that needs field-level encryption, hashed identifiers, and a defined retention window. We know, it's scoped, it's not done.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11:05-12:05 (60s)</a:t>
            </a:r>
          </a:p>
          <a:p/>
          <a:p>
            <a:r>
              <a:t>Evaluation. Be clear on what's measured versus what's projected - the badge on each tile tells you which.</a:t>
            </a:r>
          </a:p>
          <a:p/>
          <a:p>
            <a:r>
              <a:t>MEASURED, from the automated test suite: decision consistency is 100 percent by construction - the rules engine is a pure function, identical inputs give identical outputs, and we assert that. Rule correctness is 100 percent against the policy fixtures, including the boundary cases at exactly 700 and exactly 0.40. Median in-process decision latency is a few milliseconds because there's no model inference in the path.</a:t>
            </a:r>
          </a:p>
          <a:p/>
          <a:p>
            <a:r>
              <a:t>PROJECTED, from a controlled sample rather than production: overall agreement with underwriter judgement, the false-approval rate, and the manual-review rate. These are targets we're tracking, not audited production figures - and I'd rather say that plainly than have you assume otherwise.</a:t>
            </a:r>
          </a:p>
          <a:p/>
          <a:p>
            <a:r>
              <a:t>The methodology strip at the bottom states the sample, the baseline, and the ground truth definition, so the numbers are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12:05-13:00 (55s)</a:t>
            </a:r>
          </a:p>
          <a:p/>
          <a:p>
            <a:r>
              <a:t>Load testing. Four levels, ten through two hundred requests per second, against the FastAPI service.</a:t>
            </a:r>
          </a:p>
          <a:p/>
          <a:p>
            <a:r>
              <a:t>Read the latency columns. At ten a second we're at 85 milliseconds average. At the peak of two hundred a second we're at 210 average, 380 at p95. So a twentyfold increase in load costs us roughly 2.5x in latency - that's sub-linear degradation, which is what you want to see. Success rate holds above 98.7 percent throughout.</a:t>
            </a:r>
          </a:p>
          <a:p/>
          <a:p>
            <a:r>
              <a:t>Why it behaves this way: the API tier is stateless and the rules engine is a pure function with no I/O, so there's no shared lock and no database round-trip in the decision path. Adding capacity is adding instances behind the load balancer.</a:t>
            </a:r>
          </a:p>
          <a:p/>
          <a:p>
            <a:r>
              <a:t>The bottleneck under sustained peak is the retrieval layer, not the rules - which is exactly why retrieval sits behind a swappable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13:00-13:50 (50s)</a:t>
            </a:r>
          </a:p>
          <a:p/>
          <a:p>
            <a:r>
              <a:t>Deployment topology, five tiers.</a:t>
            </a:r>
          </a:p>
          <a:p/>
          <a:p>
            <a:r>
              <a:t>Users hit the Streamlit UI in a browser. A load balancer terminates TLS and distributes across the API tier. The API tier is horizontally scaled FastAPI workers under Uvicorn - stateless, so any instance can serve any request. Below that, the data tier: Postgres for application records and the audit trail, Redis for caching hot policy lookups. And the vector index - FAISS on-prem or Pinecone managed - for policy retrieval.</a:t>
            </a:r>
          </a:p>
          <a:p/>
          <a:p>
            <a:r>
              <a:t>Cross-cutting on the right: containerised deploy, CI that runs the test suite on every commit, centralised log aggregation, and secrets held outside the image.</a:t>
            </a:r>
          </a:p>
          <a:p/>
          <a:p>
            <a:r>
              <a:t>Current status: the application tier and its tests are running. The managed data and vector tiers are the productionisation step, and the adapters for them are already written against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13:50-14:40 (50s)  —  LIVE DEMO IF TIME ALLOWS, otherwise walk these four</a:t>
            </a:r>
          </a:p>
          <a:p/>
          <a:p>
            <a:r>
              <a:t>Four screens, which is the whole user journey.</a:t>
            </a:r>
          </a:p>
          <a:p/>
          <a:p>
            <a:r>
              <a:t>Top left, the application form - seven fields, client-side range validation before anything is submitted.</a:t>
            </a:r>
          </a:p>
          <a:p/>
          <a:p>
            <a:r>
              <a:t>Top right, the decision panel. Note it doesn't just show the verdict; it shows the reasoning line for each rule with the value that drove it, plus the computed EMI ratio.</a:t>
            </a:r>
          </a:p>
          <a:p/>
          <a:p>
            <a:r>
              <a:t>Bottom left, the PDF report - a self-contained record for the applicant file.</a:t>
            </a:r>
          </a:p>
          <a:p/>
          <a:p>
            <a:r>
              <a:t>Bottom right, the audit trail view - one line per decision, joinable on request ID.</a:t>
            </a:r>
          </a:p>
          <a:p/>
          <a:p>
            <a:r>
              <a:t>DEMO SCRIPT if running live: submit a clean eligible case first, then change credit score to 695 and resubmit to show the borderline band routing to manual review rather than declining. That contrast is the most persuasive thing in the deck.</a:t>
            </a:r>
          </a:p>
          <a:p/>
          <a:p>
            <a:r>
              <a:t>BEFORE PRESENTING: replace these four placeholder boxes with real screenshots (Insert &gt; Picture) - the frames are sized and positioned for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14:40-15:35 (55s)</a:t>
            </a:r>
          </a:p>
          <a:p/>
          <a:p>
            <a:r>
              <a:t>Business impact. Same convention - measured versus projected.</a:t>
            </a:r>
          </a:p>
          <a:p/>
          <a:p>
            <a:r>
              <a:t>The one I'd lead with is turnaround: thirty minutes of underwriter time per file collapses to under two seconds of compute, and consistency goes to 100 percent by construction. Those two follow directly from the architecture, not from an assumption.</a:t>
            </a:r>
          </a:p>
          <a:p/>
          <a:p>
            <a:r>
              <a:t>The financial figures - the 420 thousand annual cost reduction, the 40x capacity headroom, the 287 percent ROI at fourteen months - are a business case built on the measured throughput plus current cost-per-file. They're a model, clearly labelled as such.</a:t>
            </a:r>
          </a:p>
          <a:p/>
          <a:p>
            <a:r>
              <a:t>The strategic point sits underneath the numbers. Because policy is expressed as code, a lending-policy change ships as a reviewed pull request with a version history and a test suite - not as a retraining cycle and not as a memo. That's an ongoing compliance capability, and it's worth more over time than the headcount saving.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15:35-16:15 (40s)  —  DROP THIS SLIDE FIRST if running long; it is strong Q&amp;A material</a:t>
            </a:r>
          </a:p>
          <a:p/>
          <a:p>
            <a:r>
              <a:t>I want to be straight about what this is and isn't, because it's the fastest way to get a useful conversation going.</a:t>
            </a:r>
          </a:p>
          <a:p/>
          <a:p>
            <a:r>
              <a:t>What it isn't: there is no machine-learning model in the decision path. It is a deterministic rules engine with a retrieval layer. That's a genuine strength for explainability and audit, and a genuine limitation for pattern discovery - it will never find a signal nobody wrote down.</a:t>
            </a:r>
          </a:p>
          <a:p/>
          <a:p>
            <a:r>
              <a:t>The retrieval layer is currently a stub over a small hardcoded policy corpus. The FAISS and Pinecone adapters exist against the interface but haven't been run at scale.</a:t>
            </a:r>
          </a:p>
          <a:p/>
          <a:p>
            <a:r>
              <a:t>The EMI estimate uses a simplified twelve-month amortisation rather than a full tenure-and-rate schedule - that's the next correctness fix.</a:t>
            </a:r>
          </a:p>
          <a:p/>
          <a:p>
            <a:r>
              <a:t>And the audit log needs PII protection before it goes anywhere near production data.</a:t>
            </a:r>
          </a:p>
          <a:p/>
          <a:p>
            <a:r>
              <a:t>The roadmap on the right is ordered by what I'd do next, and each item is scoped rather than aspirational.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16:15-16:40 (25s), then Q&amp;A</a:t>
            </a:r>
          </a:p>
          <a:p/>
          <a:p>
            <a:r>
              <a:t>To close: three things worth remembering.</a:t>
            </a:r>
          </a:p>
          <a:p/>
          <a:p>
            <a:r>
              <a:t>Speed without opacity - every decision comes with its reasoning attached.</a:t>
            </a:r>
          </a:p>
          <a:p/>
          <a:p>
            <a:r>
              <a:t>Governance by construction - the borderline band, the audit trail, and the boundary validation are structural, not features added later.</a:t>
            </a:r>
          </a:p>
          <a:p/>
          <a:p>
            <a:r>
              <a:t>Built to extend - skills, subagents, and pluggable external tools mean new policy, new data sources, and new backends land without a rewrite.</a:t>
            </a:r>
          </a:p>
          <a:p/>
          <a:p>
            <a:r>
              <a:t>Happy to take questions.</a:t>
            </a:r>
          </a:p>
          <a:p/>
          <a:p>
            <a:r>
              <a:t>LIKELY QUESTIONS: (1) Why no ML? - explainability requirement plus deterministic policy; advisory model is on the roadmap. (2) How do you handle policy change? - versioned config plus a test fixture per rule. (3) What about fair lending? - name is report-only, no proxy attributes are inputs, and every decision is replayable. (4) What breaks first at scale? - the retrieval layer, which is why it sits behind an interface.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3" name="Rectangle 2"/>
          <p:cNvSpPr/>
          <p:nvPr/>
        </p:nvSpPr>
        <p:spPr>
          <a:xfrm>
            <a:off x="0" y="2697480"/>
            <a:ext cx="12191695" cy="5486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4" name="TextBox 3"/>
          <p:cNvSpPr txBox="1"/>
          <p:nvPr/>
        </p:nvSpPr>
        <p:spPr>
          <a:xfrm>
            <a:off x="731520" y="1783080"/>
            <a:ext cx="10728655" cy="914400"/>
          </a:xfrm>
          <a:prstGeom prst="rect">
            <a:avLst/>
          </a:prstGeom>
          <a:noFill/>
        </p:spPr>
        <p:txBody>
          <a:bodyPr wrap="square" anchor="t" lIns="73152" rIns="73152">
            <a:spAutoFit/>
          </a:bodyPr>
          <a:lstStyle/>
          <a:p>
            <a:pPr algn="ctr">
              <a:spcAft>
                <a:spcPts val="400"/>
              </a:spcAft>
            </a:pPr>
            <a:r>
              <a:rPr sz="4600" b="1">
                <a:solidFill>
                  <a:srgbClr val="FFFFFF"/>
                </a:solidFill>
              </a:rPr>
              <a:t>Loan Eligibility AI</a:t>
            </a:r>
          </a:p>
        </p:txBody>
      </p:sp>
      <p:sp>
        <p:nvSpPr>
          <p:cNvPr id="5" name="TextBox 4"/>
          <p:cNvSpPr txBox="1"/>
          <p:nvPr/>
        </p:nvSpPr>
        <p:spPr>
          <a:xfrm>
            <a:off x="731520" y="2926080"/>
            <a:ext cx="10728655" cy="548640"/>
          </a:xfrm>
          <a:prstGeom prst="rect">
            <a:avLst/>
          </a:prstGeom>
          <a:noFill/>
        </p:spPr>
        <p:txBody>
          <a:bodyPr wrap="square" anchor="t" lIns="73152" rIns="73152">
            <a:spAutoFit/>
          </a:bodyPr>
          <a:lstStyle/>
          <a:p>
            <a:pPr algn="ctr">
              <a:spcAft>
                <a:spcPts val="400"/>
              </a:spcAft>
            </a:pPr>
            <a:r>
              <a:rPr sz="2200" b="0">
                <a:solidFill>
                  <a:srgbClr val="CFE4F5"/>
                </a:solidFill>
              </a:rPr>
              <a:t>Intelligent Multi-Agent Loan Assessment System</a:t>
            </a:r>
          </a:p>
        </p:txBody>
      </p:sp>
      <p:sp>
        <p:nvSpPr>
          <p:cNvPr id="6" name="Rounded Rectangle 5"/>
          <p:cNvSpPr/>
          <p:nvPr/>
        </p:nvSpPr>
        <p:spPr>
          <a:xfrm>
            <a:off x="731520" y="3931920"/>
            <a:ext cx="2514600" cy="914400"/>
          </a:xfrm>
          <a:prstGeom prst="roundRect">
            <a:avLst/>
          </a:prstGeom>
          <a:solidFill>
            <a:srgbClr val="163D5C"/>
          </a:solidFill>
          <a:ln w="19050">
            <a:solidFill>
              <a:srgbClr val="2E6C9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600" b="1">
                <a:solidFill>
                  <a:srgbClr val="FFFFFF"/>
                </a:solidFill>
              </a:rPr>
              <a:t>Multi-Agent</a:t>
            </a:r>
          </a:p>
          <a:p>
            <a:pPr algn="ctr">
              <a:spcAft>
                <a:spcPts val="0"/>
              </a:spcAft>
            </a:pPr>
            <a:r>
              <a:rPr sz="1100" b="0">
                <a:solidFill>
                  <a:srgbClr val="CFE4F5"/>
                </a:solidFill>
              </a:rPr>
              <a:t>Coordinator + specialists</a:t>
            </a:r>
          </a:p>
        </p:txBody>
      </p:sp>
      <p:sp>
        <p:nvSpPr>
          <p:cNvPr id="7" name="Rounded Rectangle 6"/>
          <p:cNvSpPr/>
          <p:nvPr/>
        </p:nvSpPr>
        <p:spPr>
          <a:xfrm>
            <a:off x="3474720" y="3931920"/>
            <a:ext cx="2514600" cy="914400"/>
          </a:xfrm>
          <a:prstGeom prst="roundRect">
            <a:avLst/>
          </a:prstGeom>
          <a:solidFill>
            <a:srgbClr val="163D5C"/>
          </a:solidFill>
          <a:ln w="19050">
            <a:solidFill>
              <a:srgbClr val="2E6C9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600" b="1">
                <a:solidFill>
                  <a:srgbClr val="FFFFFF"/>
                </a:solidFill>
              </a:rPr>
              <a:t>Explainable</a:t>
            </a:r>
          </a:p>
          <a:p>
            <a:pPr algn="ctr">
              <a:spcAft>
                <a:spcPts val="0"/>
              </a:spcAft>
            </a:pPr>
            <a:r>
              <a:rPr sz="1100" b="0">
                <a:solidFill>
                  <a:srgbClr val="CFE4F5"/>
                </a:solidFill>
              </a:rPr>
              <a:t>Rule-level reasoning</a:t>
            </a:r>
          </a:p>
        </p:txBody>
      </p:sp>
      <p:sp>
        <p:nvSpPr>
          <p:cNvPr id="8" name="Rounded Rectangle 7"/>
          <p:cNvSpPr/>
          <p:nvPr/>
        </p:nvSpPr>
        <p:spPr>
          <a:xfrm>
            <a:off x="6217920" y="3931920"/>
            <a:ext cx="2514600" cy="914400"/>
          </a:xfrm>
          <a:prstGeom prst="roundRect">
            <a:avLst/>
          </a:prstGeom>
          <a:solidFill>
            <a:srgbClr val="163D5C"/>
          </a:solidFill>
          <a:ln w="19050">
            <a:solidFill>
              <a:srgbClr val="2E6C9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600" b="1">
                <a:solidFill>
                  <a:srgbClr val="FFFFFF"/>
                </a:solidFill>
              </a:rPr>
              <a:t>Auditable</a:t>
            </a:r>
          </a:p>
          <a:p>
            <a:pPr algn="ctr">
              <a:spcAft>
                <a:spcPts val="0"/>
              </a:spcAft>
            </a:pPr>
            <a:r>
              <a:rPr sz="1100" b="0">
                <a:solidFill>
                  <a:srgbClr val="CFE4F5"/>
                </a:solidFill>
              </a:rPr>
              <a:t>Full request trace</a:t>
            </a:r>
          </a:p>
        </p:txBody>
      </p:sp>
      <p:sp>
        <p:nvSpPr>
          <p:cNvPr id="9" name="Rounded Rectangle 8"/>
          <p:cNvSpPr/>
          <p:nvPr/>
        </p:nvSpPr>
        <p:spPr>
          <a:xfrm>
            <a:off x="8961120" y="3931920"/>
            <a:ext cx="2514600" cy="914400"/>
          </a:xfrm>
          <a:prstGeom prst="roundRect">
            <a:avLst/>
          </a:prstGeom>
          <a:solidFill>
            <a:srgbClr val="163D5C"/>
          </a:solidFill>
          <a:ln w="19050">
            <a:solidFill>
              <a:srgbClr val="2E6C9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600" b="1">
                <a:solidFill>
                  <a:srgbClr val="FFFFFF"/>
                </a:solidFill>
              </a:rPr>
              <a:t>Scalable</a:t>
            </a:r>
          </a:p>
          <a:p>
            <a:pPr algn="ctr">
              <a:spcAft>
                <a:spcPts val="0"/>
              </a:spcAft>
            </a:pPr>
            <a:r>
              <a:rPr sz="1100" b="0">
                <a:solidFill>
                  <a:srgbClr val="CFE4F5"/>
                </a:solidFill>
              </a:rPr>
              <a:t>Stateless API tier</a:t>
            </a:r>
          </a:p>
        </p:txBody>
      </p:sp>
      <p:sp>
        <p:nvSpPr>
          <p:cNvPr id="10" name="TextBox 9"/>
          <p:cNvSpPr txBox="1"/>
          <p:nvPr/>
        </p:nvSpPr>
        <p:spPr>
          <a:xfrm>
            <a:off x="731520" y="5440680"/>
            <a:ext cx="10728655" cy="365760"/>
          </a:xfrm>
          <a:prstGeom prst="rect">
            <a:avLst/>
          </a:prstGeom>
          <a:noFill/>
        </p:spPr>
        <p:txBody>
          <a:bodyPr wrap="square" anchor="t" lIns="73152" rIns="73152">
            <a:spAutoFit/>
          </a:bodyPr>
          <a:lstStyle/>
          <a:p>
            <a:pPr algn="ctr">
              <a:spcAft>
                <a:spcPts val="400"/>
              </a:spcAft>
            </a:pPr>
            <a:r>
              <a:rPr sz="1400" b="0">
                <a:solidFill>
                  <a:srgbClr val="9FB8CC"/>
                </a:solidFill>
              </a:rPr>
              <a:t>Capstone Presentation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Agenda</a:t>
            </a:r>
          </a:p>
        </p:txBody>
      </p:sp>
      <p:sp>
        <p:nvSpPr>
          <p:cNvPr id="3" name="Rounded Rectangle 2"/>
          <p:cNvSpPr/>
          <p:nvPr/>
        </p:nvSpPr>
        <p:spPr>
          <a:xfrm>
            <a:off x="502920" y="1325880"/>
            <a:ext cx="3566160" cy="685800"/>
          </a:xfrm>
          <a:prstGeom prst="round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800" b="1">
                <a:solidFill>
                  <a:srgbClr val="FFFFFF"/>
                </a:solidFill>
              </a:rPr>
              <a:t>Why</a:t>
            </a:r>
          </a:p>
          <a:p>
            <a:pPr algn="ctr">
              <a:spcAft>
                <a:spcPts val="0"/>
              </a:spcAft>
            </a:pPr>
            <a:r>
              <a:rPr sz="1000" b="0">
                <a:solidFill>
                  <a:srgbClr val="FFFFFF"/>
                </a:solidFill>
              </a:rPr>
              <a:t>the case for change</a:t>
            </a:r>
          </a:p>
        </p:txBody>
      </p:sp>
      <p:sp>
        <p:nvSpPr>
          <p:cNvPr id="4" name="TextBox 3"/>
          <p:cNvSpPr txBox="1"/>
          <p:nvPr/>
        </p:nvSpPr>
        <p:spPr>
          <a:xfrm>
            <a:off x="640080" y="2148840"/>
            <a:ext cx="3291840" cy="274320"/>
          </a:xfrm>
          <a:prstGeom prst="rect">
            <a:avLst/>
          </a:prstGeom>
          <a:noFill/>
        </p:spPr>
        <p:txBody>
          <a:bodyPr wrap="square" anchor="t" lIns="73152" rIns="73152">
            <a:spAutoFit/>
          </a:bodyPr>
          <a:lstStyle/>
          <a:p>
            <a:pPr algn="l">
              <a:spcAft>
                <a:spcPts val="400"/>
              </a:spcAft>
            </a:pPr>
            <a:r>
              <a:rPr sz="1100" b="1">
                <a:solidFill>
                  <a:srgbClr val="1F77B4"/>
                </a:solidFill>
              </a:rPr>
              <a:t>≈ 2½ min</a:t>
            </a:r>
          </a:p>
        </p:txBody>
      </p:sp>
      <p:sp>
        <p:nvSpPr>
          <p:cNvPr id="5" name="TextBox 4"/>
          <p:cNvSpPr txBox="1"/>
          <p:nvPr/>
        </p:nvSpPr>
        <p:spPr>
          <a:xfrm>
            <a:off x="640080" y="2514600"/>
            <a:ext cx="3291840" cy="2377440"/>
          </a:xfrm>
          <a:prstGeom prst="rect">
            <a:avLst/>
          </a:prstGeom>
          <a:noFill/>
        </p:spPr>
        <p:txBody>
          <a:bodyPr wrap="square" anchor="t" lIns="73152" rIns="73152">
            <a:spAutoFit/>
          </a:bodyPr>
          <a:lstStyle/>
          <a:p>
            <a:pPr algn="l">
              <a:spcAft>
                <a:spcPts val="400"/>
              </a:spcAft>
            </a:pPr>
            <a:r>
              <a:rPr sz="1400" b="0">
                <a:solidFill>
                  <a:srgbClr val="212529"/>
                </a:solidFill>
              </a:rPr>
              <a:t>1. Business Problem</a:t>
            </a:r>
          </a:p>
          <a:p>
            <a:pPr algn="l">
              <a:spcAft>
                <a:spcPts val="400"/>
              </a:spcAft>
            </a:pPr>
            <a:r>
              <a:rPr sz="1400" b="0">
                <a:solidFill>
                  <a:srgbClr val="212529"/>
                </a:solidFill>
              </a:rPr>
              <a:t>2. Solution Overview</a:t>
            </a:r>
          </a:p>
        </p:txBody>
      </p:sp>
      <p:sp>
        <p:nvSpPr>
          <p:cNvPr id="6" name="Rounded Rectangle 5"/>
          <p:cNvSpPr/>
          <p:nvPr/>
        </p:nvSpPr>
        <p:spPr>
          <a:xfrm>
            <a:off x="4297680" y="1325880"/>
            <a:ext cx="3566160" cy="685800"/>
          </a:xfrm>
          <a:prstGeom prst="round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800" b="1">
                <a:solidFill>
                  <a:srgbClr val="FFFFFF"/>
                </a:solidFill>
              </a:rPr>
              <a:t>How</a:t>
            </a:r>
          </a:p>
          <a:p>
            <a:pPr algn="ctr">
              <a:spcAft>
                <a:spcPts val="0"/>
              </a:spcAft>
            </a:pPr>
            <a:r>
              <a:rPr sz="1000" b="0">
                <a:solidFill>
                  <a:srgbClr val="FFFFFF"/>
                </a:solidFill>
              </a:rPr>
              <a:t>the system, in detail</a:t>
            </a:r>
          </a:p>
        </p:txBody>
      </p:sp>
      <p:sp>
        <p:nvSpPr>
          <p:cNvPr id="7" name="TextBox 6"/>
          <p:cNvSpPr txBox="1"/>
          <p:nvPr/>
        </p:nvSpPr>
        <p:spPr>
          <a:xfrm>
            <a:off x="4434840" y="2148840"/>
            <a:ext cx="3291840" cy="274320"/>
          </a:xfrm>
          <a:prstGeom prst="rect">
            <a:avLst/>
          </a:prstGeom>
          <a:noFill/>
        </p:spPr>
        <p:txBody>
          <a:bodyPr wrap="square" anchor="t" lIns="73152" rIns="73152">
            <a:spAutoFit/>
          </a:bodyPr>
          <a:lstStyle/>
          <a:p>
            <a:pPr algn="l">
              <a:spcAft>
                <a:spcPts val="400"/>
              </a:spcAft>
            </a:pPr>
            <a:r>
              <a:rPr sz="1100" b="1">
                <a:solidFill>
                  <a:srgbClr val="28A745"/>
                </a:solidFill>
              </a:rPr>
              <a:t>≈ 7 min</a:t>
            </a:r>
          </a:p>
        </p:txBody>
      </p:sp>
      <p:sp>
        <p:nvSpPr>
          <p:cNvPr id="8" name="TextBox 7"/>
          <p:cNvSpPr txBox="1"/>
          <p:nvPr/>
        </p:nvSpPr>
        <p:spPr>
          <a:xfrm>
            <a:off x="4434840" y="2514600"/>
            <a:ext cx="3291840" cy="2377440"/>
          </a:xfrm>
          <a:prstGeom prst="rect">
            <a:avLst/>
          </a:prstGeom>
          <a:noFill/>
        </p:spPr>
        <p:txBody>
          <a:bodyPr wrap="square" anchor="t" lIns="73152" rIns="73152">
            <a:spAutoFit/>
          </a:bodyPr>
          <a:lstStyle/>
          <a:p>
            <a:pPr algn="l">
              <a:spcAft>
                <a:spcPts val="400"/>
              </a:spcAft>
            </a:pPr>
            <a:r>
              <a:rPr sz="1400" b="0">
                <a:solidFill>
                  <a:srgbClr val="212529"/>
                </a:solidFill>
              </a:rPr>
              <a:t>3. Agent Architecture</a:t>
            </a:r>
          </a:p>
          <a:p>
            <a:pPr algn="l">
              <a:spcAft>
                <a:spcPts val="400"/>
              </a:spcAft>
            </a:pPr>
            <a:r>
              <a:rPr sz="1400" b="0">
                <a:solidFill>
                  <a:srgbClr val="212529"/>
                </a:solidFill>
              </a:rPr>
              <a:t>4. Request Lifecycle</a:t>
            </a:r>
          </a:p>
          <a:p>
            <a:pPr algn="l">
              <a:spcAft>
                <a:spcPts val="400"/>
              </a:spcAft>
            </a:pPr>
            <a:r>
              <a:rPr sz="1400" b="0">
                <a:solidFill>
                  <a:srgbClr val="212529"/>
                </a:solidFill>
              </a:rPr>
              <a:t>5. Skills, Subagents &amp; Hooks</a:t>
            </a:r>
          </a:p>
          <a:p>
            <a:pPr algn="l">
              <a:spcAft>
                <a:spcPts val="400"/>
              </a:spcAft>
            </a:pPr>
            <a:r>
              <a:rPr sz="1400" b="0">
                <a:solidFill>
                  <a:srgbClr val="212529"/>
                </a:solidFill>
              </a:rPr>
              <a:t>6. MCP &amp; Plugin Integration</a:t>
            </a:r>
          </a:p>
          <a:p>
            <a:pPr algn="l">
              <a:spcAft>
                <a:spcPts val="400"/>
              </a:spcAft>
            </a:pPr>
            <a:r>
              <a:rPr sz="1400" b="0">
                <a:solidFill>
                  <a:srgbClr val="212529"/>
                </a:solidFill>
              </a:rPr>
              <a:t>7. Governance Framework</a:t>
            </a:r>
          </a:p>
          <a:p>
            <a:pPr algn="l">
              <a:spcAft>
                <a:spcPts val="400"/>
              </a:spcAft>
            </a:pPr>
            <a:r>
              <a:rPr sz="1400" b="0">
                <a:solidFill>
                  <a:srgbClr val="212529"/>
                </a:solidFill>
              </a:rPr>
              <a:t>8. Observability &amp; Traceability</a:t>
            </a:r>
          </a:p>
        </p:txBody>
      </p:sp>
      <p:sp>
        <p:nvSpPr>
          <p:cNvPr id="9" name="Rounded Rectangle 8"/>
          <p:cNvSpPr/>
          <p:nvPr/>
        </p:nvSpPr>
        <p:spPr>
          <a:xfrm>
            <a:off x="8092440" y="1325880"/>
            <a:ext cx="3566160" cy="685800"/>
          </a:xfrm>
          <a:prstGeom prst="round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800" b="1">
                <a:solidFill>
                  <a:srgbClr val="FFFFFF"/>
                </a:solidFill>
              </a:rPr>
              <a:t>Proof</a:t>
            </a:r>
          </a:p>
          <a:p>
            <a:pPr algn="ctr">
              <a:spcAft>
                <a:spcPts val="0"/>
              </a:spcAft>
            </a:pPr>
            <a:r>
              <a:rPr sz="1000" b="0">
                <a:solidFill>
                  <a:srgbClr val="FFFFFF"/>
                </a:solidFill>
              </a:rPr>
              <a:t>evidence and value</a:t>
            </a:r>
          </a:p>
        </p:txBody>
      </p:sp>
      <p:sp>
        <p:nvSpPr>
          <p:cNvPr id="10" name="TextBox 9"/>
          <p:cNvSpPr txBox="1"/>
          <p:nvPr/>
        </p:nvSpPr>
        <p:spPr>
          <a:xfrm>
            <a:off x="8229600" y="2148840"/>
            <a:ext cx="3291840" cy="274320"/>
          </a:xfrm>
          <a:prstGeom prst="rect">
            <a:avLst/>
          </a:prstGeom>
          <a:noFill/>
        </p:spPr>
        <p:txBody>
          <a:bodyPr wrap="square" anchor="t" lIns="73152" rIns="73152">
            <a:spAutoFit/>
          </a:bodyPr>
          <a:lstStyle/>
          <a:p>
            <a:pPr algn="l">
              <a:spcAft>
                <a:spcPts val="400"/>
              </a:spcAft>
            </a:pPr>
            <a:r>
              <a:rPr sz="1100" b="1">
                <a:solidFill>
                  <a:srgbClr val="FFC107"/>
                </a:solidFill>
              </a:rPr>
              <a:t>≈ 5½ min</a:t>
            </a:r>
          </a:p>
        </p:txBody>
      </p:sp>
      <p:sp>
        <p:nvSpPr>
          <p:cNvPr id="11" name="TextBox 10"/>
          <p:cNvSpPr txBox="1"/>
          <p:nvPr/>
        </p:nvSpPr>
        <p:spPr>
          <a:xfrm>
            <a:off x="8229600" y="2514600"/>
            <a:ext cx="3291840" cy="2377440"/>
          </a:xfrm>
          <a:prstGeom prst="rect">
            <a:avLst/>
          </a:prstGeom>
          <a:noFill/>
        </p:spPr>
        <p:txBody>
          <a:bodyPr wrap="square" anchor="t" lIns="73152" rIns="73152">
            <a:spAutoFit/>
          </a:bodyPr>
          <a:lstStyle/>
          <a:p>
            <a:pPr algn="l">
              <a:spcAft>
                <a:spcPts val="400"/>
              </a:spcAft>
            </a:pPr>
            <a:r>
              <a:rPr sz="1400" b="0">
                <a:solidFill>
                  <a:srgbClr val="212529"/>
                </a:solidFill>
              </a:rPr>
              <a:t>9. Evaluation Results</a:t>
            </a:r>
          </a:p>
          <a:p>
            <a:pPr algn="l">
              <a:spcAft>
                <a:spcPts val="400"/>
              </a:spcAft>
            </a:pPr>
            <a:r>
              <a:rPr sz="1400" b="0">
                <a:solidFill>
                  <a:srgbClr val="212529"/>
                </a:solidFill>
              </a:rPr>
              <a:t>10. Load Testing Results</a:t>
            </a:r>
          </a:p>
          <a:p>
            <a:pPr algn="l">
              <a:spcAft>
                <a:spcPts val="400"/>
              </a:spcAft>
            </a:pPr>
            <a:r>
              <a:rPr sz="1400" b="0">
                <a:solidFill>
                  <a:srgbClr val="212529"/>
                </a:solidFill>
              </a:rPr>
              <a:t>11. Deployment Architecture</a:t>
            </a:r>
          </a:p>
          <a:p>
            <a:pPr algn="l">
              <a:spcAft>
                <a:spcPts val="400"/>
              </a:spcAft>
            </a:pPr>
            <a:r>
              <a:rPr sz="1400" b="0">
                <a:solidFill>
                  <a:srgbClr val="212529"/>
                </a:solidFill>
              </a:rPr>
              <a:t>12. Screenshots / Live Demo</a:t>
            </a:r>
          </a:p>
          <a:p>
            <a:pPr algn="l">
              <a:spcAft>
                <a:spcPts val="400"/>
              </a:spcAft>
            </a:pPr>
            <a:r>
              <a:rPr sz="1400" b="0">
                <a:solidFill>
                  <a:srgbClr val="212529"/>
                </a:solidFill>
              </a:rPr>
              <a:t>13. Business Impact</a:t>
            </a:r>
          </a:p>
          <a:p>
            <a:pPr algn="l">
              <a:spcAft>
                <a:spcPts val="400"/>
              </a:spcAft>
            </a:pPr>
            <a:r>
              <a:rPr sz="1400" b="0">
                <a:solidFill>
                  <a:srgbClr val="212529"/>
                </a:solidFill>
              </a:rPr>
              <a:t>14. Limitations &amp; Roadmap</a:t>
            </a:r>
          </a:p>
        </p:txBody>
      </p:sp>
      <p:sp>
        <p:nvSpPr>
          <p:cNvPr id="12" name="TextBox 11"/>
          <p:cNvSpPr txBox="1"/>
          <p:nvPr/>
        </p:nvSpPr>
        <p:spPr>
          <a:xfrm>
            <a:off x="502920" y="5029200"/>
            <a:ext cx="11155680" cy="320040"/>
          </a:xfrm>
          <a:prstGeom prst="rect">
            <a:avLst/>
          </a:prstGeom>
          <a:noFill/>
        </p:spPr>
        <p:txBody>
          <a:bodyPr wrap="square" anchor="t" lIns="73152" rIns="73152">
            <a:spAutoFit/>
          </a:bodyPr>
          <a:lstStyle/>
          <a:p>
            <a:pPr algn="l">
              <a:spcAft>
                <a:spcPts val="400"/>
              </a:spcAft>
            </a:pPr>
            <a:r>
              <a:rPr sz="1500" b="1">
                <a:solidFill>
                  <a:srgbClr val="1F77B4"/>
                </a:solidFill>
              </a:rPr>
              <a:t>Delivery plan</a:t>
            </a:r>
          </a:p>
        </p:txBody>
      </p:sp>
      <p:sp>
        <p:nvSpPr>
          <p:cNvPr id="13" name="Rounded Rectangle 12"/>
          <p:cNvSpPr/>
          <p:nvPr/>
        </p:nvSpPr>
        <p:spPr>
          <a:xfrm>
            <a:off x="502920" y="5394960"/>
            <a:ext cx="1517904" cy="65836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0:00</a:t>
            </a:r>
          </a:p>
          <a:p>
            <a:pPr algn="ctr">
              <a:spcAft>
                <a:spcPts val="0"/>
              </a:spcAft>
            </a:pPr>
            <a:r>
              <a:rPr sz="900" b="0">
                <a:solidFill>
                  <a:srgbClr val="212529"/>
                </a:solidFill>
              </a:rPr>
              <a:t>Open</a:t>
            </a:r>
          </a:p>
        </p:txBody>
      </p:sp>
      <p:sp>
        <p:nvSpPr>
          <p:cNvPr id="14" name="Rounded Rectangle 13"/>
          <p:cNvSpPr/>
          <p:nvPr/>
        </p:nvSpPr>
        <p:spPr>
          <a:xfrm>
            <a:off x="2112264" y="5394960"/>
            <a:ext cx="1517904" cy="65836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1:20</a:t>
            </a:r>
          </a:p>
          <a:p>
            <a:pPr algn="ctr">
              <a:spcAft>
                <a:spcPts val="0"/>
              </a:spcAft>
            </a:pPr>
            <a:r>
              <a:rPr sz="900" b="0">
                <a:solidFill>
                  <a:srgbClr val="212529"/>
                </a:solidFill>
              </a:rPr>
              <a:t>Problem + solution</a:t>
            </a:r>
          </a:p>
        </p:txBody>
      </p:sp>
      <p:sp>
        <p:nvSpPr>
          <p:cNvPr id="15" name="Rounded Rectangle 14"/>
          <p:cNvSpPr/>
          <p:nvPr/>
        </p:nvSpPr>
        <p:spPr>
          <a:xfrm>
            <a:off x="3721608" y="5394960"/>
            <a:ext cx="1517904" cy="65836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3:50</a:t>
            </a:r>
          </a:p>
          <a:p>
            <a:pPr algn="ctr">
              <a:spcAft>
                <a:spcPts val="0"/>
              </a:spcAft>
            </a:pPr>
            <a:r>
              <a:rPr sz="900" b="0">
                <a:solidFill>
                  <a:srgbClr val="212529"/>
                </a:solidFill>
              </a:rPr>
              <a:t>Architecture</a:t>
            </a:r>
          </a:p>
        </p:txBody>
      </p:sp>
      <p:sp>
        <p:nvSpPr>
          <p:cNvPr id="16" name="Rounded Rectangle 15"/>
          <p:cNvSpPr/>
          <p:nvPr/>
        </p:nvSpPr>
        <p:spPr>
          <a:xfrm>
            <a:off x="5330952" y="5394960"/>
            <a:ext cx="1517904" cy="65836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8:40</a:t>
            </a:r>
          </a:p>
          <a:p>
            <a:pPr algn="ctr">
              <a:spcAft>
                <a:spcPts val="0"/>
              </a:spcAft>
            </a:pPr>
            <a:r>
              <a:rPr sz="900" b="0">
                <a:solidFill>
                  <a:srgbClr val="212529"/>
                </a:solidFill>
              </a:rPr>
              <a:t>Governance + observability</a:t>
            </a:r>
          </a:p>
        </p:txBody>
      </p:sp>
      <p:sp>
        <p:nvSpPr>
          <p:cNvPr id="17" name="Rounded Rectangle 16"/>
          <p:cNvSpPr/>
          <p:nvPr/>
        </p:nvSpPr>
        <p:spPr>
          <a:xfrm>
            <a:off x="6940296" y="5394960"/>
            <a:ext cx="1517904" cy="65836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11:05</a:t>
            </a:r>
          </a:p>
          <a:p>
            <a:pPr algn="ctr">
              <a:spcAft>
                <a:spcPts val="0"/>
              </a:spcAft>
            </a:pPr>
            <a:r>
              <a:rPr sz="900" b="0">
                <a:solidFill>
                  <a:srgbClr val="212529"/>
                </a:solidFill>
              </a:rPr>
              <a:t>Results</a:t>
            </a:r>
          </a:p>
        </p:txBody>
      </p:sp>
      <p:sp>
        <p:nvSpPr>
          <p:cNvPr id="18" name="Rounded Rectangle 17"/>
          <p:cNvSpPr/>
          <p:nvPr/>
        </p:nvSpPr>
        <p:spPr>
          <a:xfrm>
            <a:off x="8549640" y="5394960"/>
            <a:ext cx="1517904" cy="65836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13:50</a:t>
            </a:r>
          </a:p>
          <a:p>
            <a:pPr algn="ctr">
              <a:spcAft>
                <a:spcPts val="0"/>
              </a:spcAft>
            </a:pPr>
            <a:r>
              <a:rPr sz="900" b="0">
                <a:solidFill>
                  <a:srgbClr val="212529"/>
                </a:solidFill>
              </a:rPr>
              <a:t>Demo + impact</a:t>
            </a:r>
          </a:p>
        </p:txBody>
      </p:sp>
      <p:sp>
        <p:nvSpPr>
          <p:cNvPr id="19" name="Rounded Rectangle 18"/>
          <p:cNvSpPr/>
          <p:nvPr/>
        </p:nvSpPr>
        <p:spPr>
          <a:xfrm>
            <a:off x="10158984" y="5394960"/>
            <a:ext cx="1517904" cy="65836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16:15</a:t>
            </a:r>
          </a:p>
          <a:p>
            <a:pPr algn="ctr">
              <a:spcAft>
                <a:spcPts val="0"/>
              </a:spcAft>
            </a:pPr>
            <a:r>
              <a:rPr sz="900" b="0">
                <a:solidFill>
                  <a:srgbClr val="212529"/>
                </a:solidFill>
              </a:rPr>
              <a:t>Q&amp;A</a:t>
            </a:r>
          </a:p>
        </p:txBody>
      </p:sp>
      <p:sp>
        <p:nvSpPr>
          <p:cNvPr id="20" name="TextBox 19"/>
          <p:cNvSpPr txBox="1"/>
          <p:nvPr/>
        </p:nvSpPr>
        <p:spPr>
          <a:xfrm>
            <a:off x="457200" y="6172200"/>
            <a:ext cx="11277295" cy="411480"/>
          </a:xfrm>
          <a:prstGeom prst="rect">
            <a:avLst/>
          </a:prstGeom>
          <a:noFill/>
        </p:spPr>
        <p:txBody>
          <a:bodyPr wrap="square" anchor="t" lIns="73152" rIns="73152">
            <a:spAutoFit/>
          </a:bodyPr>
          <a:lstStyle/>
          <a:p>
            <a:pPr algn="l">
              <a:spcAft>
                <a:spcPts val="400"/>
              </a:spcAft>
            </a:pPr>
            <a:r>
              <a:rPr sz="1100" b="0">
                <a:solidFill>
                  <a:srgbClr val="6C757D"/>
                </a:solidFill>
              </a:rPr>
              <a:t>Target runtime: ~15 minutes of content plus Q&amp;A. Section numbers map 1:1 to the capstone rubric; slide 14 is the drop-first slide if we run long.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1. Business Problem: Manual Loan Underwriting Does Not Scale</a:t>
            </a:r>
          </a:p>
        </p:txBody>
      </p:sp>
      <p:sp>
        <p:nvSpPr>
          <p:cNvPr id="3" name="Rounded Rectangle 2"/>
          <p:cNvSpPr/>
          <p:nvPr/>
        </p:nvSpPr>
        <p:spPr>
          <a:xfrm>
            <a:off x="365760" y="1325880"/>
            <a:ext cx="2194560" cy="2377440"/>
          </a:xfrm>
          <a:prstGeom prst="roundRect">
            <a:avLst/>
          </a:prstGeom>
          <a:solidFill>
            <a:srgbClr val="FFFFFF"/>
          </a:solidFill>
          <a:ln w="19050">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0">
                <a:solidFill>
                  <a:srgbClr val="DC3545"/>
                </a:solidFill>
              </a:rPr>
              <a:t>⏱️</a:t>
            </a:r>
          </a:p>
          <a:p>
            <a:pPr algn="ctr">
              <a:spcAft>
                <a:spcPts val="0"/>
              </a:spcAft>
            </a:pPr>
            <a:r>
              <a:rPr sz="1500" b="1">
                <a:solidFill>
                  <a:srgbClr val="DC3545"/>
                </a:solidFill>
              </a:rPr>
              <a:t>Latency</a:t>
            </a:r>
          </a:p>
          <a:p>
            <a:pPr algn="ctr">
              <a:spcAft>
                <a:spcPts val="0"/>
              </a:spcAft>
            </a:pPr>
            <a:r>
              <a:rPr sz="600" b="0">
                <a:solidFill>
                  <a:srgbClr val="212529"/>
                </a:solidFill>
              </a:rPr>
              <a:t/>
            </a:r>
          </a:p>
          <a:p>
            <a:pPr algn="ctr">
              <a:spcAft>
                <a:spcPts val="0"/>
              </a:spcAft>
            </a:pPr>
            <a:r>
              <a:rPr sz="1100" b="0">
                <a:solidFill>
                  <a:srgbClr val="212529"/>
                </a:solidFill>
              </a:rPr>
              <a:t>Days to weeks per decision;</a:t>
            </a:r>
          </a:p>
          <a:p>
            <a:pPr algn="ctr">
              <a:spcAft>
                <a:spcPts val="0"/>
              </a:spcAft>
            </a:pPr>
            <a:r>
              <a:rPr sz="1100" b="0">
                <a:solidFill>
                  <a:srgbClr val="212529"/>
                </a:solidFill>
              </a:rPr>
              <a:t>applicants abandon mid-process</a:t>
            </a:r>
          </a:p>
        </p:txBody>
      </p:sp>
      <p:sp>
        <p:nvSpPr>
          <p:cNvPr id="4" name="Rounded Rectangle 3"/>
          <p:cNvSpPr/>
          <p:nvPr/>
        </p:nvSpPr>
        <p:spPr>
          <a:xfrm>
            <a:off x="2697479" y="1325880"/>
            <a:ext cx="2194560" cy="2377440"/>
          </a:xfrm>
          <a:prstGeom prst="roundRect">
            <a:avLst/>
          </a:prstGeom>
          <a:solidFill>
            <a:srgbClr val="FFFFFF"/>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0">
                <a:solidFill>
                  <a:srgbClr val="FFC107"/>
                </a:solidFill>
              </a:rPr>
              <a:t>📊</a:t>
            </a:r>
          </a:p>
          <a:p>
            <a:pPr algn="ctr">
              <a:spcAft>
                <a:spcPts val="0"/>
              </a:spcAft>
            </a:pPr>
            <a:r>
              <a:rPr sz="1500" b="1">
                <a:solidFill>
                  <a:srgbClr val="FFC107"/>
                </a:solidFill>
              </a:rPr>
              <a:t>Inconsistency</a:t>
            </a:r>
          </a:p>
          <a:p>
            <a:pPr algn="ctr">
              <a:spcAft>
                <a:spcPts val="0"/>
              </a:spcAft>
            </a:pPr>
            <a:r>
              <a:rPr sz="600" b="0">
                <a:solidFill>
                  <a:srgbClr val="212529"/>
                </a:solidFill>
              </a:rPr>
              <a:t/>
            </a:r>
          </a:p>
          <a:p>
            <a:pPr algn="ctr">
              <a:spcAft>
                <a:spcPts val="0"/>
              </a:spcAft>
            </a:pPr>
            <a:r>
              <a:rPr sz="1100" b="0">
                <a:solidFill>
                  <a:srgbClr val="212529"/>
                </a:solidFill>
              </a:rPr>
              <a:t>Same file, different reviewers,</a:t>
            </a:r>
          </a:p>
          <a:p>
            <a:pPr algn="ctr">
              <a:spcAft>
                <a:spcPts val="0"/>
              </a:spcAft>
            </a:pPr>
            <a:r>
              <a:rPr sz="1100" b="0">
                <a:solidFill>
                  <a:srgbClr val="212529"/>
                </a:solidFill>
              </a:rPr>
              <a:t>different outcomes</a:t>
            </a:r>
          </a:p>
        </p:txBody>
      </p:sp>
      <p:sp>
        <p:nvSpPr>
          <p:cNvPr id="5" name="Rounded Rectangle 4"/>
          <p:cNvSpPr/>
          <p:nvPr/>
        </p:nvSpPr>
        <p:spPr>
          <a:xfrm>
            <a:off x="5029200" y="1325880"/>
            <a:ext cx="2194560" cy="2377440"/>
          </a:xfrm>
          <a:prstGeom prst="roundRect">
            <a:avLst/>
          </a:prstGeom>
          <a:solidFill>
            <a:srgbClr val="FFFFFF"/>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0">
                <a:solidFill>
                  <a:srgbClr val="FFC107"/>
                </a:solidFill>
              </a:rPr>
              <a:t>👥</a:t>
            </a:r>
          </a:p>
          <a:p>
            <a:pPr algn="ctr">
              <a:spcAft>
                <a:spcPts val="0"/>
              </a:spcAft>
            </a:pPr>
            <a:r>
              <a:rPr sz="1500" b="1">
                <a:solidFill>
                  <a:srgbClr val="FFC107"/>
                </a:solidFill>
              </a:rPr>
              <a:t>Cost</a:t>
            </a:r>
          </a:p>
          <a:p>
            <a:pPr algn="ctr">
              <a:spcAft>
                <a:spcPts val="0"/>
              </a:spcAft>
            </a:pPr>
            <a:r>
              <a:rPr sz="600" b="0">
                <a:solidFill>
                  <a:srgbClr val="212529"/>
                </a:solidFill>
              </a:rPr>
              <a:t/>
            </a:r>
          </a:p>
          <a:p>
            <a:pPr algn="ctr">
              <a:spcAft>
                <a:spcPts val="0"/>
              </a:spcAft>
            </a:pPr>
            <a:r>
              <a:rPr sz="1100" b="0">
                <a:solidFill>
                  <a:srgbClr val="212529"/>
                </a:solidFill>
              </a:rPr>
              <a:t>Specialist underwriters;</a:t>
            </a:r>
          </a:p>
          <a:p>
            <a:pPr algn="ctr">
              <a:spcAft>
                <a:spcPts val="0"/>
              </a:spcAft>
            </a:pPr>
            <a:r>
              <a:rPr sz="1100" b="0">
                <a:solidFill>
                  <a:srgbClr val="212529"/>
                </a:solidFill>
              </a:rPr>
              <a:t>cost scales linearly with volume</a:t>
            </a:r>
          </a:p>
        </p:txBody>
      </p:sp>
      <p:sp>
        <p:nvSpPr>
          <p:cNvPr id="6" name="Rounded Rectangle 5"/>
          <p:cNvSpPr/>
          <p:nvPr/>
        </p:nvSpPr>
        <p:spPr>
          <a:xfrm>
            <a:off x="7360919" y="1325880"/>
            <a:ext cx="2194560" cy="2377440"/>
          </a:xfrm>
          <a:prstGeom prst="roundRect">
            <a:avLst/>
          </a:prstGeom>
          <a:solidFill>
            <a:srgbClr val="FFFFFF"/>
          </a:solidFill>
          <a:ln w="19050">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0">
                <a:solidFill>
                  <a:srgbClr val="DC3545"/>
                </a:solidFill>
              </a:rPr>
              <a:t>📈</a:t>
            </a:r>
          </a:p>
          <a:p>
            <a:pPr algn="ctr">
              <a:spcAft>
                <a:spcPts val="0"/>
              </a:spcAft>
            </a:pPr>
            <a:r>
              <a:rPr sz="1500" b="1">
                <a:solidFill>
                  <a:srgbClr val="DC3545"/>
                </a:solidFill>
              </a:rPr>
              <a:t>No elasticity</a:t>
            </a:r>
          </a:p>
          <a:p>
            <a:pPr algn="ctr">
              <a:spcAft>
                <a:spcPts val="0"/>
              </a:spcAft>
            </a:pPr>
            <a:r>
              <a:rPr sz="600" b="0">
                <a:solidFill>
                  <a:srgbClr val="212529"/>
                </a:solidFill>
              </a:rPr>
              <a:t/>
            </a:r>
          </a:p>
          <a:p>
            <a:pPr algn="ctr">
              <a:spcAft>
                <a:spcPts val="0"/>
              </a:spcAft>
            </a:pPr>
            <a:r>
              <a:rPr sz="1100" b="0">
                <a:solidFill>
                  <a:srgbClr val="212529"/>
                </a:solidFill>
              </a:rPr>
              <a:t>Seasonal 3-4x volume spikes</a:t>
            </a:r>
          </a:p>
          <a:p>
            <a:pPr algn="ctr">
              <a:spcAft>
                <a:spcPts val="0"/>
              </a:spcAft>
            </a:pPr>
            <a:r>
              <a:rPr sz="1100" b="0">
                <a:solidFill>
                  <a:srgbClr val="212529"/>
                </a:solidFill>
              </a:rPr>
              <a:t>grow the queue, not capacity</a:t>
            </a:r>
          </a:p>
        </p:txBody>
      </p:sp>
      <p:sp>
        <p:nvSpPr>
          <p:cNvPr id="7" name="Rounded Rectangle 6"/>
          <p:cNvSpPr/>
          <p:nvPr/>
        </p:nvSpPr>
        <p:spPr>
          <a:xfrm>
            <a:off x="9692640" y="1325880"/>
            <a:ext cx="2194560" cy="2377440"/>
          </a:xfrm>
          <a:prstGeom prst="roundRect">
            <a:avLst/>
          </a:prstGeom>
          <a:solidFill>
            <a:srgbClr val="FFFFFF"/>
          </a:solidFill>
          <a:ln w="19050">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0">
                <a:solidFill>
                  <a:srgbClr val="DC3545"/>
                </a:solidFill>
              </a:rPr>
              <a:t>🔍</a:t>
            </a:r>
          </a:p>
          <a:p>
            <a:pPr algn="ctr">
              <a:spcAft>
                <a:spcPts val="0"/>
              </a:spcAft>
            </a:pPr>
            <a:r>
              <a:rPr sz="1500" b="1">
                <a:solidFill>
                  <a:srgbClr val="DC3545"/>
                </a:solidFill>
              </a:rPr>
              <a:t>Weak audit trail</a:t>
            </a:r>
          </a:p>
          <a:p>
            <a:pPr algn="ctr">
              <a:spcAft>
                <a:spcPts val="0"/>
              </a:spcAft>
            </a:pPr>
            <a:r>
              <a:rPr sz="600" b="0">
                <a:solidFill>
                  <a:srgbClr val="212529"/>
                </a:solidFill>
              </a:rPr>
              <a:t/>
            </a:r>
          </a:p>
          <a:p>
            <a:pPr algn="ctr">
              <a:spcAft>
                <a:spcPts val="0"/>
              </a:spcAft>
            </a:pPr>
            <a:r>
              <a:rPr sz="1100" b="0">
                <a:solidFill>
                  <a:srgbClr val="212529"/>
                </a:solidFill>
              </a:rPr>
              <a:t>Reasoning is undocumented;</a:t>
            </a:r>
          </a:p>
          <a:p>
            <a:pPr algn="ctr">
              <a:spcAft>
                <a:spcPts val="0"/>
              </a:spcAft>
            </a:pPr>
            <a:r>
              <a:rPr sz="1100" b="0">
                <a:solidFill>
                  <a:srgbClr val="212529"/>
                </a:solidFill>
              </a:rPr>
              <a:t>hard to defend to a regulator</a:t>
            </a:r>
          </a:p>
        </p:txBody>
      </p:sp>
      <p:sp>
        <p:nvSpPr>
          <p:cNvPr id="8" name="TextBox 7"/>
          <p:cNvSpPr txBox="1"/>
          <p:nvPr/>
        </p:nvSpPr>
        <p:spPr>
          <a:xfrm>
            <a:off x="365760" y="3977639"/>
            <a:ext cx="11430000" cy="822960"/>
          </a:xfrm>
          <a:prstGeom prst="rect">
            <a:avLst/>
          </a:prstGeom>
          <a:noFill/>
        </p:spPr>
        <p:txBody>
          <a:bodyPr wrap="square" anchor="t" lIns="73152" rIns="73152">
            <a:spAutoFit/>
          </a:bodyPr>
          <a:lstStyle/>
          <a:p>
            <a:pPr algn="ctr">
              <a:spcAft>
                <a:spcPts val="400"/>
              </a:spcAft>
            </a:pPr>
            <a:r>
              <a:rPr sz="1500" b="0">
                <a:solidFill>
                  <a:srgbClr val="212529"/>
                </a:solidFill>
              </a:rPr>
              <a:t>Consequence: throughput is capped by headcount, decision quality varies by reviewer, and the institution carries unquantified compliance risk.</a:t>
            </a:r>
          </a:p>
        </p:txBody>
      </p:sp>
      <p:sp>
        <p:nvSpPr>
          <p:cNvPr id="9" name="Rounded Rectangle 8"/>
          <p:cNvSpPr/>
          <p:nvPr/>
        </p:nvSpPr>
        <p:spPr>
          <a:xfrm>
            <a:off x="365760" y="4892040"/>
            <a:ext cx="11430000" cy="1143000"/>
          </a:xfrm>
          <a:prstGeom prst="roundRect">
            <a:avLst/>
          </a:prstGeom>
          <a:solidFill>
            <a:srgbClr val="F0F2F6"/>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500" b="1">
                <a:solidFill>
                  <a:srgbClr val="1F77B4"/>
                </a:solidFill>
              </a:rPr>
              <a:t>💡 Opportunity</a:t>
            </a:r>
          </a:p>
          <a:p>
            <a:pPr algn="ctr">
              <a:spcAft>
                <a:spcPts val="0"/>
              </a:spcAft>
            </a:pPr>
            <a:r>
              <a:rPr sz="1400" b="0">
                <a:solidFill>
                  <a:srgbClr val="212529"/>
                </a:solidFill>
              </a:rPr>
              <a:t>Lending policy is already deterministic and written down. Execute it as code and you get consistency, speed, and a machine-readable audit trail for free.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2. Solution Overview: Policy-as-Code Decision Service</a:t>
            </a:r>
          </a:p>
        </p:txBody>
      </p:sp>
      <p:sp>
        <p:nvSpPr>
          <p:cNvPr id="3" name="Rounded Rectangle 2"/>
          <p:cNvSpPr/>
          <p:nvPr/>
        </p:nvSpPr>
        <p:spPr>
          <a:xfrm>
            <a:off x="320040" y="1280160"/>
            <a:ext cx="2057400" cy="137160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1F77B4"/>
                </a:solidFill>
              </a:rPr>
              <a:t>📝  Submit</a:t>
            </a:r>
          </a:p>
          <a:p>
            <a:pPr algn="ctr">
              <a:spcAft>
                <a:spcPts val="0"/>
              </a:spcAft>
            </a:pPr>
            <a:r>
              <a:rPr sz="1100" b="0">
                <a:solidFill>
                  <a:srgbClr val="212529"/>
                </a:solidFill>
              </a:rPr>
              <a:t>7-field application</a:t>
            </a:r>
          </a:p>
          <a:p>
            <a:pPr algn="ctr">
              <a:spcAft>
                <a:spcPts val="0"/>
              </a:spcAft>
            </a:pPr>
            <a:r>
              <a:rPr sz="1100" b="0">
                <a:solidFill>
                  <a:srgbClr val="212529"/>
                </a:solidFill>
              </a:rPr>
              <a:t>via Streamlit form</a:t>
            </a:r>
          </a:p>
        </p:txBody>
      </p:sp>
      <p:sp>
        <p:nvSpPr>
          <p:cNvPr id="4" name="Right Arrow 3"/>
          <p:cNvSpPr/>
          <p:nvPr/>
        </p:nvSpPr>
        <p:spPr>
          <a:xfrm>
            <a:off x="2441448" y="1783080"/>
            <a:ext cx="219456" cy="365760"/>
          </a:xfrm>
          <a:prstGeom prst="right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5" name="Rounded Rectangle 4"/>
          <p:cNvSpPr/>
          <p:nvPr/>
        </p:nvSpPr>
        <p:spPr>
          <a:xfrm>
            <a:off x="2715768" y="1280160"/>
            <a:ext cx="2057400" cy="137160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1F77B4"/>
                </a:solidFill>
              </a:rPr>
              <a:t>✅  Validate</a:t>
            </a:r>
          </a:p>
          <a:p>
            <a:pPr algn="ctr">
              <a:spcAft>
                <a:spcPts val="0"/>
              </a:spcAft>
            </a:pPr>
            <a:r>
              <a:rPr sz="1100" b="0">
                <a:solidFill>
                  <a:srgbClr val="212529"/>
                </a:solidFill>
              </a:rPr>
              <a:t>Pydantic schema</a:t>
            </a:r>
          </a:p>
          <a:p>
            <a:pPr algn="ctr">
              <a:spcAft>
                <a:spcPts val="0"/>
              </a:spcAft>
            </a:pPr>
            <a:r>
              <a:rPr sz="1100" b="0">
                <a:solidFill>
                  <a:srgbClr val="212529"/>
                </a:solidFill>
              </a:rPr>
              <a:t>type + range checks</a:t>
            </a:r>
          </a:p>
        </p:txBody>
      </p:sp>
      <p:sp>
        <p:nvSpPr>
          <p:cNvPr id="6" name="Right Arrow 5"/>
          <p:cNvSpPr/>
          <p:nvPr/>
        </p:nvSpPr>
        <p:spPr>
          <a:xfrm>
            <a:off x="4837176" y="1783080"/>
            <a:ext cx="219456" cy="365760"/>
          </a:xfrm>
          <a:prstGeom prst="right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7" name="Rounded Rectangle 6"/>
          <p:cNvSpPr/>
          <p:nvPr/>
        </p:nvSpPr>
        <p:spPr>
          <a:xfrm>
            <a:off x="5111496" y="1280160"/>
            <a:ext cx="2057400" cy="137160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1F77B4"/>
                </a:solidFill>
              </a:rPr>
              <a:t>⚙️  Evaluate</a:t>
            </a:r>
          </a:p>
          <a:p>
            <a:pPr algn="ctr">
              <a:spcAft>
                <a:spcPts val="0"/>
              </a:spcAft>
            </a:pPr>
            <a:r>
              <a:rPr sz="1100" b="0">
                <a:solidFill>
                  <a:srgbClr val="212529"/>
                </a:solidFill>
              </a:rPr>
              <a:t>4 deterministic</a:t>
            </a:r>
          </a:p>
          <a:p>
            <a:pPr algn="ctr">
              <a:spcAft>
                <a:spcPts val="0"/>
              </a:spcAft>
            </a:pPr>
            <a:r>
              <a:rPr sz="1100" b="0">
                <a:solidFill>
                  <a:srgbClr val="212529"/>
                </a:solidFill>
              </a:rPr>
              <a:t>eligibility rules</a:t>
            </a:r>
          </a:p>
        </p:txBody>
      </p:sp>
      <p:sp>
        <p:nvSpPr>
          <p:cNvPr id="8" name="Right Arrow 7"/>
          <p:cNvSpPr/>
          <p:nvPr/>
        </p:nvSpPr>
        <p:spPr>
          <a:xfrm>
            <a:off x="7232904" y="1783080"/>
            <a:ext cx="219456" cy="365760"/>
          </a:xfrm>
          <a:prstGeom prst="right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9" name="Rounded Rectangle 8"/>
          <p:cNvSpPr/>
          <p:nvPr/>
        </p:nvSpPr>
        <p:spPr>
          <a:xfrm>
            <a:off x="7507224" y="1280160"/>
            <a:ext cx="2057400" cy="137160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1F77B4"/>
                </a:solidFill>
              </a:rPr>
              <a:t>📚  Ground</a:t>
            </a:r>
          </a:p>
          <a:p>
            <a:pPr algn="ctr">
              <a:spcAft>
                <a:spcPts val="0"/>
              </a:spcAft>
            </a:pPr>
            <a:r>
              <a:rPr sz="1100" b="0">
                <a:solidFill>
                  <a:srgbClr val="212529"/>
                </a:solidFill>
              </a:rPr>
              <a:t>Retrieve matching</a:t>
            </a:r>
          </a:p>
          <a:p>
            <a:pPr algn="ctr">
              <a:spcAft>
                <a:spcPts val="0"/>
              </a:spcAft>
            </a:pPr>
            <a:r>
              <a:rPr sz="1100" b="0">
                <a:solidFill>
                  <a:srgbClr val="212529"/>
                </a:solidFill>
              </a:rPr>
              <a:t>policy clauses</a:t>
            </a:r>
          </a:p>
        </p:txBody>
      </p:sp>
      <p:sp>
        <p:nvSpPr>
          <p:cNvPr id="10" name="Right Arrow 9"/>
          <p:cNvSpPr/>
          <p:nvPr/>
        </p:nvSpPr>
        <p:spPr>
          <a:xfrm>
            <a:off x="9628632" y="1783080"/>
            <a:ext cx="219456" cy="365760"/>
          </a:xfrm>
          <a:prstGeom prst="right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1" name="Rounded Rectangle 10"/>
          <p:cNvSpPr/>
          <p:nvPr/>
        </p:nvSpPr>
        <p:spPr>
          <a:xfrm>
            <a:off x="9902952" y="1280160"/>
            <a:ext cx="2057400" cy="137160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1F77B4"/>
                </a:solidFill>
              </a:rPr>
              <a:t>📄  Report</a:t>
            </a:r>
          </a:p>
          <a:p>
            <a:pPr algn="ctr">
              <a:spcAft>
                <a:spcPts val="0"/>
              </a:spcAft>
            </a:pPr>
            <a:r>
              <a:rPr sz="1100" b="0">
                <a:solidFill>
                  <a:srgbClr val="212529"/>
                </a:solidFill>
              </a:rPr>
              <a:t>Decision, reasons,</a:t>
            </a:r>
          </a:p>
          <a:p>
            <a:pPr algn="ctr">
              <a:spcAft>
                <a:spcPts val="0"/>
              </a:spcAft>
            </a:pPr>
            <a:r>
              <a:rPr sz="1100" b="0">
                <a:solidFill>
                  <a:srgbClr val="212529"/>
                </a:solidFill>
              </a:rPr>
              <a:t>PDF, audit record</a:t>
            </a:r>
          </a:p>
        </p:txBody>
      </p:sp>
      <p:sp>
        <p:nvSpPr>
          <p:cNvPr id="12" name="TextBox 11"/>
          <p:cNvSpPr txBox="1"/>
          <p:nvPr/>
        </p:nvSpPr>
        <p:spPr>
          <a:xfrm>
            <a:off x="365760" y="2880360"/>
            <a:ext cx="5577840" cy="365760"/>
          </a:xfrm>
          <a:prstGeom prst="rect">
            <a:avLst/>
          </a:prstGeom>
          <a:noFill/>
        </p:spPr>
        <p:txBody>
          <a:bodyPr wrap="square" anchor="t" lIns="73152" rIns="73152">
            <a:spAutoFit/>
          </a:bodyPr>
          <a:lstStyle/>
          <a:p>
            <a:pPr algn="l">
              <a:spcAft>
                <a:spcPts val="400"/>
              </a:spcAft>
            </a:pPr>
            <a:r>
              <a:rPr sz="1700" b="1">
                <a:solidFill>
                  <a:srgbClr val="1F77B4"/>
                </a:solidFill>
              </a:rPr>
              <a:t>Core capabilities</a:t>
            </a:r>
          </a:p>
        </p:txBody>
      </p:sp>
      <p:sp>
        <p:nvSpPr>
          <p:cNvPr id="13" name="TextBox 12"/>
          <p:cNvSpPr txBox="1"/>
          <p:nvPr/>
        </p:nvSpPr>
        <p:spPr>
          <a:xfrm>
            <a:off x="365760" y="3291840"/>
            <a:ext cx="5577840" cy="2743200"/>
          </a:xfrm>
          <a:prstGeom prst="rect">
            <a:avLst/>
          </a:prstGeom>
          <a:noFill/>
        </p:spPr>
        <p:txBody>
          <a:bodyPr wrap="square" anchor="t" lIns="73152" rIns="73152">
            <a:spAutoFit/>
          </a:bodyPr>
          <a:lstStyle/>
          <a:p>
            <a:pPr algn="l">
              <a:spcAft>
                <a:spcPts val="400"/>
              </a:spcAft>
            </a:pPr>
            <a:r>
              <a:rPr sz="1500" b="0">
                <a:solidFill>
                  <a:srgbClr val="212529"/>
                </a:solidFill>
              </a:rPr>
              <a:t>• Sub-second, real-time eligibility assessment</a:t>
            </a:r>
          </a:p>
          <a:p>
            <a:pPr algn="l">
              <a:spcAft>
                <a:spcPts val="400"/>
              </a:spcAft>
            </a:pPr>
            <a:r>
              <a:rPr sz="1500" b="0">
                <a:solidFill>
                  <a:srgbClr val="212529"/>
                </a:solidFill>
              </a:rPr>
              <a:t>• Four-factor analysis: credit, EMI burden, age, employment</a:t>
            </a:r>
          </a:p>
          <a:p>
            <a:pPr algn="l">
              <a:spcAft>
                <a:spcPts val="400"/>
              </a:spcAft>
            </a:pPr>
            <a:r>
              <a:rPr sz="1500" b="0">
                <a:solidFill>
                  <a:srgbClr val="212529"/>
                </a:solidFill>
              </a:rPr>
              <a:t>• Three-way outcome incl. explicit manual-review band</a:t>
            </a:r>
          </a:p>
          <a:p>
            <a:pPr algn="l">
              <a:spcAft>
                <a:spcPts val="400"/>
              </a:spcAft>
            </a:pPr>
            <a:r>
              <a:rPr sz="1500" b="0">
                <a:solidFill>
                  <a:srgbClr val="212529"/>
                </a:solidFill>
              </a:rPr>
              <a:t>• Rule-level reasoning string for every factor</a:t>
            </a:r>
          </a:p>
          <a:p>
            <a:pPr algn="l">
              <a:spcAft>
                <a:spcPts val="400"/>
              </a:spcAft>
            </a:pPr>
            <a:r>
              <a:rPr sz="1500" b="0">
                <a:solidFill>
                  <a:srgbClr val="212529"/>
                </a:solidFill>
              </a:rPr>
              <a:t>• Recommendation engine for declined applicants</a:t>
            </a:r>
          </a:p>
          <a:p>
            <a:pPr algn="l">
              <a:spcAft>
                <a:spcPts val="400"/>
              </a:spcAft>
            </a:pPr>
            <a:r>
              <a:rPr sz="1500" b="0">
                <a:solidFill>
                  <a:srgbClr val="212529"/>
                </a:solidFill>
              </a:rPr>
              <a:t>• One-click PDF report for the applicant file</a:t>
            </a:r>
          </a:p>
        </p:txBody>
      </p:sp>
      <p:sp>
        <p:nvSpPr>
          <p:cNvPr id="14" name="TextBox 13"/>
          <p:cNvSpPr txBox="1"/>
          <p:nvPr/>
        </p:nvSpPr>
        <p:spPr>
          <a:xfrm>
            <a:off x="6309360" y="2880360"/>
            <a:ext cx="5486400" cy="365760"/>
          </a:xfrm>
          <a:prstGeom prst="rect">
            <a:avLst/>
          </a:prstGeom>
          <a:noFill/>
        </p:spPr>
        <p:txBody>
          <a:bodyPr wrap="square" anchor="t" lIns="73152" rIns="73152">
            <a:spAutoFit/>
          </a:bodyPr>
          <a:lstStyle/>
          <a:p>
            <a:pPr algn="l">
              <a:spcAft>
                <a:spcPts val="400"/>
              </a:spcAft>
            </a:pPr>
            <a:r>
              <a:rPr sz="1700" b="1">
                <a:solidFill>
                  <a:srgbClr val="28A745"/>
                </a:solidFill>
              </a:rPr>
              <a:t>What changes for the business</a:t>
            </a:r>
          </a:p>
        </p:txBody>
      </p:sp>
      <p:sp>
        <p:nvSpPr>
          <p:cNvPr id="15" name="TextBox 14"/>
          <p:cNvSpPr txBox="1"/>
          <p:nvPr/>
        </p:nvSpPr>
        <p:spPr>
          <a:xfrm>
            <a:off x="6309360" y="3291840"/>
            <a:ext cx="5486400" cy="2743200"/>
          </a:xfrm>
          <a:prstGeom prst="rect">
            <a:avLst/>
          </a:prstGeom>
          <a:noFill/>
        </p:spPr>
        <p:txBody>
          <a:bodyPr wrap="square" anchor="t" lIns="73152" rIns="73152">
            <a:spAutoFit/>
          </a:bodyPr>
          <a:lstStyle/>
          <a:p>
            <a:pPr algn="l">
              <a:spcAft>
                <a:spcPts val="400"/>
              </a:spcAft>
            </a:pPr>
            <a:r>
              <a:rPr sz="1500" b="0">
                <a:solidFill>
                  <a:srgbClr val="212529"/>
                </a:solidFill>
              </a:rPr>
              <a:t>• Decision turnaround: days → seconds</a:t>
            </a:r>
          </a:p>
          <a:p>
            <a:pPr algn="l">
              <a:spcAft>
                <a:spcPts val="400"/>
              </a:spcAft>
            </a:pPr>
            <a:r>
              <a:rPr sz="1500" b="0">
                <a:solidFill>
                  <a:srgbClr val="212529"/>
                </a:solidFill>
              </a:rPr>
              <a:t>• Identical inputs always yield identical outputs</a:t>
            </a:r>
          </a:p>
          <a:p>
            <a:pPr algn="l">
              <a:spcAft>
                <a:spcPts val="400"/>
              </a:spcAft>
            </a:pPr>
            <a:r>
              <a:rPr sz="1500" b="0">
                <a:solidFill>
                  <a:srgbClr val="212529"/>
                </a:solidFill>
              </a:rPr>
              <a:t>• Every decision reconstructable from the audit log</a:t>
            </a:r>
          </a:p>
          <a:p>
            <a:pPr algn="l">
              <a:spcAft>
                <a:spcPts val="400"/>
              </a:spcAft>
            </a:pPr>
            <a:r>
              <a:rPr sz="1500" b="0">
                <a:solidFill>
                  <a:srgbClr val="212529"/>
                </a:solidFill>
              </a:rPr>
              <a:t>• Underwriters spend time only on the grey zone</a:t>
            </a:r>
          </a:p>
          <a:p>
            <a:pPr algn="l">
              <a:spcAft>
                <a:spcPts val="400"/>
              </a:spcAft>
            </a:pPr>
            <a:r>
              <a:rPr sz="1500" b="0">
                <a:solidFill>
                  <a:srgbClr val="212529"/>
                </a:solidFill>
              </a:rPr>
              <a:t>• Capacity scales with instances, not headcount</a:t>
            </a:r>
          </a:p>
          <a:p>
            <a:pPr algn="l">
              <a:spcAft>
                <a:spcPts val="400"/>
              </a:spcAft>
            </a:pPr>
            <a:r>
              <a:rPr sz="1500" b="0">
                <a:solidFill>
                  <a:srgbClr val="212529"/>
                </a:solidFill>
              </a:rPr>
              <a:t>• Policy changes ship as a code change, not retraining</a:t>
            </a:r>
          </a:p>
        </p:txBody>
      </p:sp>
      <p:sp>
        <p:nvSpPr>
          <p:cNvPr id="16" name="TextBox 15"/>
          <p:cNvSpPr txBox="1"/>
          <p:nvPr/>
        </p:nvSpPr>
        <p:spPr>
          <a:xfrm>
            <a:off x="365760" y="5029200"/>
            <a:ext cx="11430000" cy="320040"/>
          </a:xfrm>
          <a:prstGeom prst="rect">
            <a:avLst/>
          </a:prstGeom>
          <a:noFill/>
        </p:spPr>
        <p:txBody>
          <a:bodyPr wrap="square" anchor="t" lIns="73152" rIns="73152">
            <a:spAutoFit/>
          </a:bodyPr>
          <a:lstStyle/>
          <a:p>
            <a:pPr algn="l">
              <a:spcAft>
                <a:spcPts val="400"/>
              </a:spcAft>
            </a:pPr>
            <a:r>
              <a:rPr sz="1500" b="1">
                <a:solidFill>
                  <a:srgbClr val="1F77B4"/>
                </a:solidFill>
              </a:rPr>
              <a:t>The three-way outcome — why we do not force a binary decision</a:t>
            </a:r>
          </a:p>
        </p:txBody>
      </p:sp>
      <p:sp>
        <p:nvSpPr>
          <p:cNvPr id="17" name="Rounded Rectangle 16"/>
          <p:cNvSpPr/>
          <p:nvPr/>
        </p:nvSpPr>
        <p:spPr>
          <a:xfrm>
            <a:off x="365760" y="5394960"/>
            <a:ext cx="3657600" cy="960120"/>
          </a:xfrm>
          <a:prstGeom prst="roundRect">
            <a:avLst/>
          </a:prstGeom>
          <a:solidFill>
            <a:srgbClr val="FFFFFF"/>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28A745"/>
                </a:solidFill>
              </a:rPr>
              <a:t>🟢 Eligible</a:t>
            </a:r>
          </a:p>
          <a:p>
            <a:pPr algn="ctr">
              <a:spcAft>
                <a:spcPts val="0"/>
              </a:spcAft>
            </a:pPr>
            <a:r>
              <a:rPr sz="1100" b="0">
                <a:solidFill>
                  <a:srgbClr val="212529"/>
                </a:solidFill>
              </a:rPr>
              <a:t>All four factors clear their thresholds</a:t>
            </a:r>
          </a:p>
          <a:p>
            <a:pPr algn="ctr">
              <a:spcAft>
                <a:spcPts val="0"/>
              </a:spcAft>
            </a:pPr>
            <a:r>
              <a:rPr sz="1000" b="0">
                <a:solidFill>
                  <a:srgbClr val="6C757D"/>
                </a:solidFill>
              </a:rPr>
              <a:t>Straight-through approval</a:t>
            </a:r>
          </a:p>
        </p:txBody>
      </p:sp>
      <p:sp>
        <p:nvSpPr>
          <p:cNvPr id="18" name="Rounded Rectangle 17"/>
          <p:cNvSpPr/>
          <p:nvPr/>
        </p:nvSpPr>
        <p:spPr>
          <a:xfrm>
            <a:off x="4206240" y="5394960"/>
            <a:ext cx="3657600" cy="960120"/>
          </a:xfrm>
          <a:prstGeom prst="roundRect">
            <a:avLst/>
          </a:prstGeom>
          <a:solidFill>
            <a:srgbClr val="FFFFFF"/>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C107"/>
                </a:solidFill>
              </a:rPr>
              <a:t>🟡 Needs Manual Review</a:t>
            </a:r>
          </a:p>
          <a:p>
            <a:pPr algn="ctr">
              <a:spcAft>
                <a:spcPts val="0"/>
              </a:spcAft>
            </a:pPr>
            <a:r>
              <a:rPr sz="1100" b="0">
                <a:solidFill>
                  <a:srgbClr val="212529"/>
                </a:solidFill>
              </a:rPr>
              <a:t>Sits inside the borderline band</a:t>
            </a:r>
          </a:p>
          <a:p>
            <a:pPr algn="ctr">
              <a:spcAft>
                <a:spcPts val="0"/>
              </a:spcAft>
            </a:pPr>
            <a:r>
              <a:rPr sz="1000" b="0">
                <a:solidFill>
                  <a:srgbClr val="6C757D"/>
                </a:solidFill>
              </a:rPr>
              <a:t>Escalated to an underwriter</a:t>
            </a:r>
          </a:p>
        </p:txBody>
      </p:sp>
      <p:sp>
        <p:nvSpPr>
          <p:cNvPr id="19" name="Rounded Rectangle 18"/>
          <p:cNvSpPr/>
          <p:nvPr/>
        </p:nvSpPr>
        <p:spPr>
          <a:xfrm>
            <a:off x="8046720" y="5394960"/>
            <a:ext cx="3657600" cy="960120"/>
          </a:xfrm>
          <a:prstGeom prst="roundRect">
            <a:avLst/>
          </a:prstGeom>
          <a:solidFill>
            <a:srgbClr val="FFFFFF"/>
          </a:solidFill>
          <a:ln w="19050">
            <a:solidFill>
              <a:srgbClr val="DC35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DC3545"/>
                </a:solidFill>
              </a:rPr>
              <a:t>🔴 Not Eligible</a:t>
            </a:r>
          </a:p>
          <a:p>
            <a:pPr algn="ctr">
              <a:spcAft>
                <a:spcPts val="0"/>
              </a:spcAft>
            </a:pPr>
            <a:r>
              <a:rPr sz="1100" b="0">
                <a:solidFill>
                  <a:srgbClr val="212529"/>
                </a:solidFill>
              </a:rPr>
              <a:t>Clear threshold failure, not borderline</a:t>
            </a:r>
          </a:p>
          <a:p>
            <a:pPr algn="ctr">
              <a:spcAft>
                <a:spcPts val="0"/>
              </a:spcAft>
            </a:pPr>
            <a:r>
              <a:rPr sz="1000" b="0">
                <a:solidFill>
                  <a:srgbClr val="6C757D"/>
                </a:solidFill>
              </a:rPr>
              <a:t>Decline with remediation tips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3. Agent Architecture: Coordinator + Specialist Agents</a:t>
            </a:r>
          </a:p>
        </p:txBody>
      </p:sp>
      <p:sp>
        <p:nvSpPr>
          <p:cNvPr id="3" name="Rounded Rectangle 2"/>
          <p:cNvSpPr/>
          <p:nvPr/>
        </p:nvSpPr>
        <p:spPr>
          <a:xfrm>
            <a:off x="4114800" y="1051560"/>
            <a:ext cx="3931920" cy="530352"/>
          </a:xfrm>
          <a:prstGeom prst="round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Streamlit UI  (:8501)</a:t>
            </a:r>
          </a:p>
        </p:txBody>
      </p:sp>
      <p:sp>
        <p:nvSpPr>
          <p:cNvPr id="4" name="Down Arrow 3"/>
          <p:cNvSpPr/>
          <p:nvPr/>
        </p:nvSpPr>
        <p:spPr>
          <a:xfrm>
            <a:off x="5852160" y="1627632"/>
            <a:ext cx="457200" cy="23774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5" name="Rounded Rectangle 4"/>
          <p:cNvSpPr/>
          <p:nvPr/>
        </p:nvSpPr>
        <p:spPr>
          <a:xfrm>
            <a:off x="3657600" y="1901952"/>
            <a:ext cx="4846320" cy="566928"/>
          </a:xfrm>
          <a:prstGeom prst="round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FastAPI  POST /process  (:8000)</a:t>
            </a:r>
          </a:p>
          <a:p>
            <a:pPr algn="ctr">
              <a:spcAft>
                <a:spcPts val="0"/>
              </a:spcAft>
            </a:pPr>
            <a:r>
              <a:rPr sz="1000" b="0">
                <a:solidFill>
                  <a:srgbClr val="FFFFFF"/>
                </a:solidFill>
              </a:rPr>
              <a:t>Pydantic validation • X-Request-ID • CORS</a:t>
            </a:r>
          </a:p>
        </p:txBody>
      </p:sp>
      <p:sp>
        <p:nvSpPr>
          <p:cNvPr id="6" name="Down Arrow 5"/>
          <p:cNvSpPr/>
          <p:nvPr/>
        </p:nvSpPr>
        <p:spPr>
          <a:xfrm>
            <a:off x="5852160" y="2514600"/>
            <a:ext cx="457200" cy="23774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7" name="Rounded Rectangle 6"/>
          <p:cNvSpPr/>
          <p:nvPr/>
        </p:nvSpPr>
        <p:spPr>
          <a:xfrm>
            <a:off x="3291840" y="2788920"/>
            <a:ext cx="5577840" cy="658368"/>
          </a:xfrm>
          <a:prstGeom prst="roundRect">
            <a:avLst/>
          </a:prstGeom>
          <a:solidFill>
            <a:srgbClr val="0E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500" b="1">
                <a:solidFill>
                  <a:srgbClr val="FFFFFF"/>
                </a:solidFill>
              </a:rPr>
              <a:t>🎯 Coordinator Agent — orchestration only</a:t>
            </a:r>
          </a:p>
          <a:p>
            <a:pPr algn="ctr">
              <a:spcAft>
                <a:spcPts val="0"/>
              </a:spcAft>
            </a:pPr>
            <a:r>
              <a:rPr sz="1000" b="0">
                <a:solidFill>
                  <a:srgbClr val="FFFFFF"/>
                </a:solidFill>
              </a:rPr>
              <a:t>sequences specialists • composes response • owns no eligibility rules</a:t>
            </a:r>
          </a:p>
        </p:txBody>
      </p:sp>
      <p:sp>
        <p:nvSpPr>
          <p:cNvPr id="8" name="Down Arrow 7"/>
          <p:cNvSpPr/>
          <p:nvPr/>
        </p:nvSpPr>
        <p:spPr>
          <a:xfrm>
            <a:off x="2194560" y="3493008"/>
            <a:ext cx="329184" cy="23774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9" name="Rounded Rectangle 8"/>
          <p:cNvSpPr/>
          <p:nvPr/>
        </p:nvSpPr>
        <p:spPr>
          <a:xfrm>
            <a:off x="822960" y="3767328"/>
            <a:ext cx="2971800" cy="960120"/>
          </a:xfrm>
          <a:prstGeom prst="roundRect">
            <a:avLst/>
          </a:prstGeom>
          <a:solidFill>
            <a:srgbClr val="FFFFFF"/>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28A745"/>
                </a:solidFill>
              </a:rPr>
              <a:t>⚙️ Eligibility Agent</a:t>
            </a:r>
          </a:p>
          <a:p>
            <a:pPr algn="ctr">
              <a:spcAft>
                <a:spcPts val="0"/>
              </a:spcAft>
            </a:pPr>
            <a:r>
              <a:rPr sz="1000" b="0">
                <a:solidFill>
                  <a:srgbClr val="212529"/>
                </a:solidFill>
              </a:rPr>
              <a:t>Pure function • no I/O</a:t>
            </a:r>
          </a:p>
          <a:p>
            <a:pPr algn="ctr">
              <a:spcAft>
                <a:spcPts val="0"/>
              </a:spcAft>
            </a:pPr>
            <a:r>
              <a:rPr sz="1000" b="0">
                <a:solidFill>
                  <a:srgbClr val="212529"/>
                </a:solidFill>
              </a:rPr>
              <a:t>4 rules → pass/fail + value</a:t>
            </a:r>
          </a:p>
        </p:txBody>
      </p:sp>
      <p:sp>
        <p:nvSpPr>
          <p:cNvPr id="10" name="Down Arrow 9"/>
          <p:cNvSpPr/>
          <p:nvPr/>
        </p:nvSpPr>
        <p:spPr>
          <a:xfrm>
            <a:off x="5989320" y="3493008"/>
            <a:ext cx="329184" cy="23774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1" name="Rounded Rectangle 10"/>
          <p:cNvSpPr/>
          <p:nvPr/>
        </p:nvSpPr>
        <p:spPr>
          <a:xfrm>
            <a:off x="4617720" y="3767328"/>
            <a:ext cx="2971800" cy="960120"/>
          </a:xfrm>
          <a:prstGeom prst="roundRect">
            <a:avLst/>
          </a:prstGeom>
          <a:solidFill>
            <a:srgbClr val="FFFFFF"/>
          </a:solidFill>
          <a:ln w="19050">
            <a:solidFill>
              <a:srgbClr val="17A2B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17A2B8"/>
                </a:solidFill>
              </a:rPr>
              <a:t>📚 Retrieval Agent</a:t>
            </a:r>
          </a:p>
          <a:p>
            <a:pPr algn="ctr">
              <a:spcAft>
                <a:spcPts val="0"/>
              </a:spcAft>
            </a:pPr>
            <a:r>
              <a:rPr sz="1000" b="0">
                <a:solidFill>
                  <a:srgbClr val="212529"/>
                </a:solidFill>
              </a:rPr>
              <a:t>Policy-clause evidence</a:t>
            </a:r>
          </a:p>
          <a:p>
            <a:pPr algn="ctr">
              <a:spcAft>
                <a:spcPts val="0"/>
              </a:spcAft>
            </a:pPr>
            <a:r>
              <a:rPr sz="1000" b="0">
                <a:solidFill>
                  <a:srgbClr val="212529"/>
                </a:solidFill>
              </a:rPr>
              <a:t>behind Retriever Protocol</a:t>
            </a:r>
          </a:p>
        </p:txBody>
      </p:sp>
      <p:sp>
        <p:nvSpPr>
          <p:cNvPr id="12" name="Down Arrow 11"/>
          <p:cNvSpPr/>
          <p:nvPr/>
        </p:nvSpPr>
        <p:spPr>
          <a:xfrm>
            <a:off x="9784080" y="3493008"/>
            <a:ext cx="329184" cy="23774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3" name="Rounded Rectangle 12"/>
          <p:cNvSpPr/>
          <p:nvPr/>
        </p:nvSpPr>
        <p:spPr>
          <a:xfrm>
            <a:off x="8412480" y="3767328"/>
            <a:ext cx="2971800" cy="960120"/>
          </a:xfrm>
          <a:prstGeom prst="roundRect">
            <a:avLst/>
          </a:prstGeom>
          <a:solidFill>
            <a:srgbClr val="FFFFFF"/>
          </a:solidFill>
          <a:ln w="190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6F42C1"/>
                </a:solidFill>
              </a:rPr>
              <a:t>📄 Reporting Agent</a:t>
            </a:r>
          </a:p>
          <a:p>
            <a:pPr algn="ctr">
              <a:spcAft>
                <a:spcPts val="0"/>
              </a:spcAft>
            </a:pPr>
            <a:r>
              <a:rPr sz="1000" b="0">
                <a:solidFill>
                  <a:srgbClr val="212529"/>
                </a:solidFill>
              </a:rPr>
              <a:t>Reasoning strings • tips</a:t>
            </a:r>
          </a:p>
          <a:p>
            <a:pPr algn="ctr">
              <a:spcAft>
                <a:spcPts val="0"/>
              </a:spcAft>
            </a:pPr>
            <a:r>
              <a:rPr sz="1000" b="0">
                <a:solidFill>
                  <a:srgbClr val="212529"/>
                </a:solidFill>
              </a:rPr>
              <a:t>ReportLab PDF export</a:t>
            </a:r>
          </a:p>
        </p:txBody>
      </p:sp>
      <p:sp>
        <p:nvSpPr>
          <p:cNvPr id="14" name="Rounded Rectangle 13"/>
          <p:cNvSpPr/>
          <p:nvPr/>
        </p:nvSpPr>
        <p:spPr>
          <a:xfrm>
            <a:off x="2377440" y="4983480"/>
            <a:ext cx="7406640" cy="621792"/>
          </a:xfrm>
          <a:prstGeom prst="round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Decision  +  Rule-level reasoning  +  Recommendations  +  Policy evidence</a:t>
            </a:r>
          </a:p>
        </p:txBody>
      </p:sp>
      <p:sp>
        <p:nvSpPr>
          <p:cNvPr id="15" name="TextBox 14"/>
          <p:cNvSpPr txBox="1"/>
          <p:nvPr/>
        </p:nvSpPr>
        <p:spPr>
          <a:xfrm>
            <a:off x="457200" y="6263640"/>
            <a:ext cx="11277295" cy="411480"/>
          </a:xfrm>
          <a:prstGeom prst="rect">
            <a:avLst/>
          </a:prstGeom>
          <a:noFill/>
        </p:spPr>
        <p:txBody>
          <a:bodyPr wrap="square" anchor="t" lIns="73152" rIns="73152">
            <a:spAutoFit/>
          </a:bodyPr>
          <a:lstStyle/>
          <a:p>
            <a:pPr algn="l">
              <a:spcAft>
                <a:spcPts val="400"/>
              </a:spcAft>
            </a:pPr>
            <a:r>
              <a:rPr sz="1100" b="0">
                <a:solidFill>
                  <a:srgbClr val="6C757D"/>
                </a:solidFill>
              </a:rPr>
              <a:t>Design invariants: specialists never call each other • coordinator holds no domain rules • retrieval injected via Protocol → each layer independently testable and replaceable.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4. Request Lifecycle: One Trace, End to End</a:t>
            </a:r>
          </a:p>
        </p:txBody>
      </p:sp>
      <p:sp>
        <p:nvSpPr>
          <p:cNvPr id="3" name="TextBox 2"/>
          <p:cNvSpPr txBox="1"/>
          <p:nvPr/>
        </p:nvSpPr>
        <p:spPr>
          <a:xfrm>
            <a:off x="411480" y="1097280"/>
            <a:ext cx="5486400" cy="320040"/>
          </a:xfrm>
          <a:prstGeom prst="rect">
            <a:avLst/>
          </a:prstGeom>
          <a:noFill/>
        </p:spPr>
        <p:txBody>
          <a:bodyPr wrap="square" anchor="t" lIns="73152" rIns="73152">
            <a:spAutoFit/>
          </a:bodyPr>
          <a:lstStyle/>
          <a:p>
            <a:pPr algn="l">
              <a:spcAft>
                <a:spcPts val="400"/>
              </a:spcAft>
            </a:pPr>
            <a:r>
              <a:rPr sz="1500" b="1">
                <a:solidFill>
                  <a:srgbClr val="1F77B4"/>
                </a:solidFill>
              </a:rPr>
              <a:t>Request  —  POST /process</a:t>
            </a:r>
          </a:p>
        </p:txBody>
      </p:sp>
      <p:sp>
        <p:nvSpPr>
          <p:cNvPr id="4" name="Rounded Rectangle 3"/>
          <p:cNvSpPr/>
          <p:nvPr/>
        </p:nvSpPr>
        <p:spPr>
          <a:xfrm>
            <a:off x="411480" y="1463040"/>
            <a:ext cx="5486400" cy="2834640"/>
          </a:xfrm>
          <a:prstGeom prst="roundRect">
            <a:avLst/>
          </a:prstGeom>
          <a:solidFill>
            <a:srgbClr val="F0F2F6"/>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lIns="73152" rIns="73152"/>
          <a:lstStyle/>
          <a:p>
            <a:pPr algn="l">
              <a:spcAft>
                <a:spcPts val="0"/>
              </a:spcAft>
            </a:pPr>
            <a:r>
              <a:rPr sz="1200" b="0">
                <a:solidFill>
                  <a:srgbClr val="212529"/>
                </a:solidFill>
                <a:latin typeface="Consolas"/>
              </a:rPr>
              <a:t>{</a:t>
            </a:r>
          </a:p>
          <a:p>
            <a:pPr algn="l">
              <a:spcAft>
                <a:spcPts val="0"/>
              </a:spcAft>
            </a:pPr>
            <a:r>
              <a:rPr sz="1200" b="0">
                <a:solidFill>
                  <a:srgbClr val="212529"/>
                </a:solidFill>
                <a:latin typeface="Consolas"/>
              </a:rPr>
              <a:t>  "name": "Asha Menon",</a:t>
            </a:r>
          </a:p>
          <a:p>
            <a:pPr algn="l">
              <a:spcAft>
                <a:spcPts val="0"/>
              </a:spcAft>
            </a:pPr>
            <a:r>
              <a:rPr sz="1200" b="0">
                <a:solidFill>
                  <a:srgbClr val="212529"/>
                </a:solidFill>
                <a:latin typeface="Consolas"/>
              </a:rPr>
              <a:t>  "age": 34,                      # 0 ≤ age</a:t>
            </a:r>
          </a:p>
          <a:p>
            <a:pPr algn="l">
              <a:spcAft>
                <a:spcPts val="0"/>
              </a:spcAft>
            </a:pPr>
            <a:r>
              <a:rPr sz="1200" b="0">
                <a:solidFill>
                  <a:srgbClr val="212529"/>
                </a:solidFill>
                <a:latin typeface="Consolas"/>
              </a:rPr>
              <a:t>  "monthly_income": 90000,         # &gt; 0</a:t>
            </a:r>
          </a:p>
          <a:p>
            <a:pPr algn="l">
              <a:spcAft>
                <a:spcPts val="0"/>
              </a:spcAft>
            </a:pPr>
            <a:r>
              <a:rPr sz="1200" b="0">
                <a:solidFill>
                  <a:srgbClr val="212529"/>
                </a:solidFill>
                <a:latin typeface="Consolas"/>
              </a:rPr>
              <a:t>  "existing_emi": 12000,           # ≥ 0</a:t>
            </a:r>
          </a:p>
          <a:p>
            <a:pPr algn="l">
              <a:spcAft>
                <a:spcPts val="0"/>
              </a:spcAft>
            </a:pPr>
            <a:r>
              <a:rPr sz="1200" b="0">
                <a:solidFill>
                  <a:srgbClr val="212529"/>
                </a:solidFill>
                <a:latin typeface="Consolas"/>
              </a:rPr>
              <a:t>  "credit_score": 742,             # 0-1000</a:t>
            </a:r>
          </a:p>
          <a:p>
            <a:pPr algn="l">
              <a:spcAft>
                <a:spcPts val="0"/>
              </a:spcAft>
            </a:pPr>
            <a:r>
              <a:rPr sz="1200" b="0">
                <a:solidFill>
                  <a:srgbClr val="212529"/>
                </a:solidFill>
                <a:latin typeface="Consolas"/>
              </a:rPr>
              <a:t>  "employment_type": "salaried",   # enum</a:t>
            </a:r>
          </a:p>
          <a:p>
            <a:pPr algn="l">
              <a:spcAft>
                <a:spcPts val="0"/>
              </a:spcAft>
            </a:pPr>
            <a:r>
              <a:rPr sz="1200" b="0">
                <a:solidFill>
                  <a:srgbClr val="212529"/>
                </a:solidFill>
                <a:latin typeface="Consolas"/>
              </a:rPr>
              <a:t>  "loan_amount_required": 300000   # &gt; 0</a:t>
            </a:r>
          </a:p>
          <a:p>
            <a:pPr algn="l">
              <a:spcAft>
                <a:spcPts val="0"/>
              </a:spcAft>
            </a:pPr>
            <a:r>
              <a:rPr sz="1200" b="0">
                <a:solidFill>
                  <a:srgbClr val="212529"/>
                </a:solidFill>
                <a:latin typeface="Consolas"/>
              </a:rPr>
              <a:t>}</a:t>
            </a:r>
          </a:p>
        </p:txBody>
      </p:sp>
      <p:sp>
        <p:nvSpPr>
          <p:cNvPr id="5" name="TextBox 4"/>
          <p:cNvSpPr txBox="1"/>
          <p:nvPr/>
        </p:nvSpPr>
        <p:spPr>
          <a:xfrm>
            <a:off x="6263640" y="1097280"/>
            <a:ext cx="5486400" cy="320040"/>
          </a:xfrm>
          <a:prstGeom prst="rect">
            <a:avLst/>
          </a:prstGeom>
          <a:noFill/>
        </p:spPr>
        <p:txBody>
          <a:bodyPr wrap="square" anchor="t" lIns="73152" rIns="73152">
            <a:spAutoFit/>
          </a:bodyPr>
          <a:lstStyle/>
          <a:p>
            <a:pPr algn="l">
              <a:spcAft>
                <a:spcPts val="400"/>
              </a:spcAft>
            </a:pPr>
            <a:r>
              <a:rPr sz="1500" b="1">
                <a:solidFill>
                  <a:srgbClr val="28A745"/>
                </a:solidFill>
              </a:rPr>
              <a:t>Response  —  200 OK</a:t>
            </a:r>
          </a:p>
        </p:txBody>
      </p:sp>
      <p:sp>
        <p:nvSpPr>
          <p:cNvPr id="6" name="Rounded Rectangle 5"/>
          <p:cNvSpPr/>
          <p:nvPr/>
        </p:nvSpPr>
        <p:spPr>
          <a:xfrm>
            <a:off x="6263640" y="1463040"/>
            <a:ext cx="5532120" cy="2834640"/>
          </a:xfrm>
          <a:prstGeom prst="roundRect">
            <a:avLst/>
          </a:prstGeom>
          <a:solidFill>
            <a:srgbClr val="F0FFF0"/>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lIns="73152" rIns="73152"/>
          <a:lstStyle/>
          <a:p>
            <a:pPr algn="l">
              <a:spcAft>
                <a:spcPts val="0"/>
              </a:spcAft>
            </a:pPr>
            <a:r>
              <a:rPr sz="1200" b="0">
                <a:solidFill>
                  <a:srgbClr val="212529"/>
                </a:solidFill>
                <a:latin typeface="Consolas"/>
              </a:rPr>
              <a:t>{</a:t>
            </a:r>
          </a:p>
          <a:p>
            <a:pPr algn="l">
              <a:spcAft>
                <a:spcPts val="0"/>
              </a:spcAft>
            </a:pPr>
            <a:r>
              <a:rPr sz="1200" b="1">
                <a:solidFill>
                  <a:srgbClr val="212529"/>
                </a:solidFill>
                <a:latin typeface="Consolas"/>
              </a:rPr>
              <a:t>  "decision": "Eligible",</a:t>
            </a:r>
          </a:p>
          <a:p>
            <a:pPr algn="l">
              <a:spcAft>
                <a:spcPts val="0"/>
              </a:spcAft>
            </a:pPr>
            <a:r>
              <a:rPr sz="1200" b="0">
                <a:solidFill>
                  <a:srgbClr val="212529"/>
                </a:solidFill>
                <a:latin typeface="Consolas"/>
              </a:rPr>
              <a:t>  "emi_ratio": 0.4111,</a:t>
            </a:r>
          </a:p>
          <a:p>
            <a:pPr algn="l">
              <a:spcAft>
                <a:spcPts val="0"/>
              </a:spcAft>
            </a:pPr>
            <a:r>
              <a:rPr sz="1200" b="0">
                <a:solidFill>
                  <a:srgbClr val="212529"/>
                </a:solidFill>
                <a:latin typeface="Consolas"/>
              </a:rPr>
              <a:t>  "reasoning": [</a:t>
            </a:r>
          </a:p>
          <a:p>
            <a:pPr algn="l">
              <a:spcAft>
                <a:spcPts val="0"/>
              </a:spcAft>
            </a:pPr>
            <a:r>
              <a:rPr sz="1100" b="0">
                <a:solidFill>
                  <a:srgbClr val="212529"/>
                </a:solidFill>
                <a:latin typeface="Consolas"/>
              </a:rPr>
              <a:t>    "credit_score: PASSED (742) - above 700",</a:t>
            </a:r>
          </a:p>
          <a:p>
            <a:pPr algn="l">
              <a:spcAft>
                <a:spcPts val="0"/>
              </a:spcAft>
            </a:pPr>
            <a:r>
              <a:rPr sz="1100" b="0">
                <a:solidFill>
                  <a:srgbClr val="212529"/>
                </a:solidFill>
                <a:latin typeface="Consolas"/>
              </a:rPr>
              <a:t>    "age: PASSED (34) - within 21-60",</a:t>
            </a:r>
          </a:p>
          <a:p>
            <a:pPr algn="l">
              <a:spcAft>
                <a:spcPts val="0"/>
              </a:spcAft>
            </a:pPr>
            <a:r>
              <a:rPr sz="1100" b="0">
                <a:solidFill>
                  <a:srgbClr val="212529"/>
                </a:solidFill>
                <a:latin typeface="Consolas"/>
              </a:rPr>
              <a:t>    "employment: PASSED (salaried) - stable" ],</a:t>
            </a:r>
          </a:p>
          <a:p>
            <a:pPr algn="l">
              <a:spcAft>
                <a:spcPts val="0"/>
              </a:spcAft>
            </a:pPr>
            <a:r>
              <a:rPr sz="1200" b="0">
                <a:solidFill>
                  <a:srgbClr val="212529"/>
                </a:solidFill>
                <a:latin typeface="Consolas"/>
              </a:rPr>
              <a:t>  "evidence": [ "rules-1", "rules-2", "rules-3" ]</a:t>
            </a:r>
          </a:p>
          <a:p>
            <a:pPr algn="l">
              <a:spcAft>
                <a:spcPts val="0"/>
              </a:spcAft>
            </a:pPr>
            <a:r>
              <a:rPr sz="1200" b="0">
                <a:solidFill>
                  <a:srgbClr val="212529"/>
                </a:solidFill>
                <a:latin typeface="Consolas"/>
              </a:rPr>
              <a:t>}</a:t>
            </a:r>
          </a:p>
        </p:txBody>
      </p:sp>
      <p:sp>
        <p:nvSpPr>
          <p:cNvPr id="7" name="Rounded Rectangle 6"/>
          <p:cNvSpPr/>
          <p:nvPr/>
        </p:nvSpPr>
        <p:spPr>
          <a:xfrm>
            <a:off x="411480" y="4526280"/>
            <a:ext cx="214884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1. UI collects form</a:t>
            </a:r>
          </a:p>
        </p:txBody>
      </p:sp>
      <p:sp>
        <p:nvSpPr>
          <p:cNvPr id="8" name="Rounded Rectangle 7"/>
          <p:cNvSpPr/>
          <p:nvPr/>
        </p:nvSpPr>
        <p:spPr>
          <a:xfrm>
            <a:off x="2743200" y="4526280"/>
            <a:ext cx="214884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2. Schema validation</a:t>
            </a:r>
          </a:p>
        </p:txBody>
      </p:sp>
      <p:sp>
        <p:nvSpPr>
          <p:cNvPr id="9" name="Rounded Rectangle 8"/>
          <p:cNvSpPr/>
          <p:nvPr/>
        </p:nvSpPr>
        <p:spPr>
          <a:xfrm>
            <a:off x="5074920" y="4526280"/>
            <a:ext cx="214884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3. Coordinator fan-out</a:t>
            </a:r>
          </a:p>
        </p:txBody>
      </p:sp>
      <p:sp>
        <p:nvSpPr>
          <p:cNvPr id="10" name="Rounded Rectangle 9"/>
          <p:cNvSpPr/>
          <p:nvPr/>
        </p:nvSpPr>
        <p:spPr>
          <a:xfrm>
            <a:off x="7406640" y="4526280"/>
            <a:ext cx="214884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4. Rules + retrieval</a:t>
            </a:r>
          </a:p>
        </p:txBody>
      </p:sp>
      <p:sp>
        <p:nvSpPr>
          <p:cNvPr id="11" name="Rounded Rectangle 10"/>
          <p:cNvSpPr/>
          <p:nvPr/>
        </p:nvSpPr>
        <p:spPr>
          <a:xfrm>
            <a:off x="9738359" y="4526280"/>
            <a:ext cx="214884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5. Response + audit write</a:t>
            </a:r>
          </a:p>
        </p:txBody>
      </p:sp>
      <p:sp>
        <p:nvSpPr>
          <p:cNvPr id="12" name="TextBox 11"/>
          <p:cNvSpPr txBox="1"/>
          <p:nvPr/>
        </p:nvSpPr>
        <p:spPr>
          <a:xfrm>
            <a:off x="457200" y="5303520"/>
            <a:ext cx="11277295" cy="411480"/>
          </a:xfrm>
          <a:prstGeom prst="rect">
            <a:avLst/>
          </a:prstGeom>
          <a:noFill/>
        </p:spPr>
        <p:txBody>
          <a:bodyPr wrap="square" anchor="t" lIns="73152" rIns="73152">
            <a:spAutoFit/>
          </a:bodyPr>
          <a:lstStyle/>
          <a:p>
            <a:pPr algn="l">
              <a:spcAft>
                <a:spcPts val="400"/>
              </a:spcAft>
            </a:pPr>
            <a:r>
              <a:rPr sz="1100" b="0">
                <a:solidFill>
                  <a:srgbClr val="6C757D"/>
                </a:solidFill>
              </a:rPr>
              <a:t>Every hop carries the same X-Request-ID — HTTP header, structured log line, and audit record all join on that one key.</a:t>
            </a:r>
          </a:p>
        </p:txBody>
      </p:sp>
      <p:sp>
        <p:nvSpPr>
          <p:cNvPr id="13" name="Rounded Rectangle 12"/>
          <p:cNvSpPr/>
          <p:nvPr/>
        </p:nvSpPr>
        <p:spPr>
          <a:xfrm>
            <a:off x="411480" y="5715000"/>
            <a:ext cx="11384280" cy="685800"/>
          </a:xfrm>
          <a:prstGeom prst="roundRect">
            <a:avLst/>
          </a:prstGeom>
          <a:solidFill>
            <a:srgbClr val="FFFAF0"/>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0">
                <a:solidFill>
                  <a:srgbClr val="212529"/>
                </a:solidFill>
              </a:rPr>
              <a:t>Invalid payloads are rejected with HTTP 422 at the schema boundary — the rules engine only ever sees well-formed, in-range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5. Skills, Subagents &amp; Hooks</a:t>
            </a:r>
          </a:p>
        </p:txBody>
      </p:sp>
      <p:sp>
        <p:nvSpPr>
          <p:cNvPr id="3" name="Rounded Rectangle 2"/>
          <p:cNvSpPr/>
          <p:nvPr/>
        </p:nvSpPr>
        <p:spPr>
          <a:xfrm>
            <a:off x="411480" y="1188720"/>
            <a:ext cx="3611880" cy="425196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4" name="TextBox 3"/>
          <p:cNvSpPr txBox="1"/>
          <p:nvPr/>
        </p:nvSpPr>
        <p:spPr>
          <a:xfrm>
            <a:off x="548640" y="1298448"/>
            <a:ext cx="3337560" cy="320040"/>
          </a:xfrm>
          <a:prstGeom prst="rect">
            <a:avLst/>
          </a:prstGeom>
          <a:noFill/>
        </p:spPr>
        <p:txBody>
          <a:bodyPr wrap="square" anchor="t" lIns="73152" rIns="73152">
            <a:spAutoFit/>
          </a:bodyPr>
          <a:lstStyle/>
          <a:p>
            <a:pPr algn="ctr">
              <a:spcAft>
                <a:spcPts val="400"/>
              </a:spcAft>
            </a:pPr>
            <a:r>
              <a:rPr sz="1800" b="1">
                <a:solidFill>
                  <a:srgbClr val="1F77B4"/>
                </a:solidFill>
              </a:rPr>
              <a:t>🛠️ Skills</a:t>
            </a:r>
          </a:p>
        </p:txBody>
      </p:sp>
      <p:sp>
        <p:nvSpPr>
          <p:cNvPr id="5" name="TextBox 4"/>
          <p:cNvSpPr txBox="1"/>
          <p:nvPr/>
        </p:nvSpPr>
        <p:spPr>
          <a:xfrm>
            <a:off x="548640" y="1664208"/>
            <a:ext cx="3337560" cy="274320"/>
          </a:xfrm>
          <a:prstGeom prst="rect">
            <a:avLst/>
          </a:prstGeom>
          <a:noFill/>
        </p:spPr>
        <p:txBody>
          <a:bodyPr wrap="square" anchor="t" lIns="73152" rIns="73152">
            <a:spAutoFit/>
          </a:bodyPr>
          <a:lstStyle/>
          <a:p>
            <a:pPr algn="ctr">
              <a:spcAft>
                <a:spcPts val="400"/>
              </a:spcAft>
            </a:pPr>
            <a:r>
              <a:rPr sz="1100" b="0">
                <a:solidFill>
                  <a:srgbClr val="6C757D"/>
                </a:solidFill>
              </a:rPr>
              <a:t>atomic • stateless • unit-tested</a:t>
            </a:r>
          </a:p>
        </p:txBody>
      </p:sp>
      <p:sp>
        <p:nvSpPr>
          <p:cNvPr id="6" name="TextBox 5"/>
          <p:cNvSpPr txBox="1"/>
          <p:nvPr/>
        </p:nvSpPr>
        <p:spPr>
          <a:xfrm>
            <a:off x="612648" y="2029968"/>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credit_score_check</a:t>
            </a:r>
          </a:p>
        </p:txBody>
      </p:sp>
      <p:sp>
        <p:nvSpPr>
          <p:cNvPr id="7" name="TextBox 6"/>
          <p:cNvSpPr txBox="1"/>
          <p:nvPr/>
        </p:nvSpPr>
        <p:spPr>
          <a:xfrm>
            <a:off x="795528" y="2231136"/>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score &gt; 700</a:t>
            </a:r>
          </a:p>
        </p:txBody>
      </p:sp>
      <p:sp>
        <p:nvSpPr>
          <p:cNvPr id="8" name="TextBox 7"/>
          <p:cNvSpPr txBox="1"/>
          <p:nvPr/>
        </p:nvSpPr>
        <p:spPr>
          <a:xfrm>
            <a:off x="612648" y="2450592"/>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emi_ratio_compute</a:t>
            </a:r>
          </a:p>
        </p:txBody>
      </p:sp>
      <p:sp>
        <p:nvSpPr>
          <p:cNvPr id="9" name="TextBox 8"/>
          <p:cNvSpPr txBox="1"/>
          <p:nvPr/>
        </p:nvSpPr>
        <p:spPr>
          <a:xfrm>
            <a:off x="795528" y="2651760"/>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(existing + new) / income</a:t>
            </a:r>
          </a:p>
        </p:txBody>
      </p:sp>
      <p:sp>
        <p:nvSpPr>
          <p:cNvPr id="10" name="TextBox 9"/>
          <p:cNvSpPr txBox="1"/>
          <p:nvPr/>
        </p:nvSpPr>
        <p:spPr>
          <a:xfrm>
            <a:off x="612648" y="2871216"/>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age_band_check</a:t>
            </a:r>
          </a:p>
        </p:txBody>
      </p:sp>
      <p:sp>
        <p:nvSpPr>
          <p:cNvPr id="11" name="TextBox 10"/>
          <p:cNvSpPr txBox="1"/>
          <p:nvPr/>
        </p:nvSpPr>
        <p:spPr>
          <a:xfrm>
            <a:off x="795528" y="3072384"/>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21 ≤ age ≤ 60</a:t>
            </a:r>
          </a:p>
        </p:txBody>
      </p:sp>
      <p:sp>
        <p:nvSpPr>
          <p:cNvPr id="12" name="TextBox 11"/>
          <p:cNvSpPr txBox="1"/>
          <p:nvPr/>
        </p:nvSpPr>
        <p:spPr>
          <a:xfrm>
            <a:off x="612648" y="3291840"/>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employment_stability</a:t>
            </a:r>
          </a:p>
        </p:txBody>
      </p:sp>
      <p:sp>
        <p:nvSpPr>
          <p:cNvPr id="13" name="TextBox 12"/>
          <p:cNvSpPr txBox="1"/>
          <p:nvPr/>
        </p:nvSpPr>
        <p:spPr>
          <a:xfrm>
            <a:off x="795528" y="3493008"/>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salaried | govt</a:t>
            </a:r>
          </a:p>
        </p:txBody>
      </p:sp>
      <p:sp>
        <p:nvSpPr>
          <p:cNvPr id="14" name="TextBox 13"/>
          <p:cNvSpPr txBox="1"/>
          <p:nvPr/>
        </p:nvSpPr>
        <p:spPr>
          <a:xfrm>
            <a:off x="612648" y="3712464"/>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borderline_detect</a:t>
            </a:r>
          </a:p>
        </p:txBody>
      </p:sp>
      <p:sp>
        <p:nvSpPr>
          <p:cNvPr id="15" name="TextBox 14"/>
          <p:cNvSpPr txBox="1"/>
          <p:nvPr/>
        </p:nvSpPr>
        <p:spPr>
          <a:xfrm>
            <a:off x="795528" y="3913632"/>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score 690-710, EMI 38-42%</a:t>
            </a:r>
          </a:p>
        </p:txBody>
      </p:sp>
      <p:sp>
        <p:nvSpPr>
          <p:cNvPr id="16" name="TextBox 15"/>
          <p:cNvSpPr txBox="1"/>
          <p:nvPr/>
        </p:nvSpPr>
        <p:spPr>
          <a:xfrm>
            <a:off x="612648" y="4133088"/>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recommendation_gen</a:t>
            </a:r>
          </a:p>
        </p:txBody>
      </p:sp>
      <p:sp>
        <p:nvSpPr>
          <p:cNvPr id="17" name="TextBox 16"/>
          <p:cNvSpPr txBox="1"/>
          <p:nvPr/>
        </p:nvSpPr>
        <p:spPr>
          <a:xfrm>
            <a:off x="795528" y="4334256"/>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remediation tips on decline</a:t>
            </a:r>
          </a:p>
        </p:txBody>
      </p:sp>
      <p:sp>
        <p:nvSpPr>
          <p:cNvPr id="18" name="TextBox 17"/>
          <p:cNvSpPr txBox="1"/>
          <p:nvPr/>
        </p:nvSpPr>
        <p:spPr>
          <a:xfrm>
            <a:off x="612648" y="4553712"/>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pdf_render</a:t>
            </a:r>
          </a:p>
        </p:txBody>
      </p:sp>
      <p:sp>
        <p:nvSpPr>
          <p:cNvPr id="19" name="TextBox 18"/>
          <p:cNvSpPr txBox="1"/>
          <p:nvPr/>
        </p:nvSpPr>
        <p:spPr>
          <a:xfrm>
            <a:off x="795528" y="4754880"/>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ReportLab decision report</a:t>
            </a:r>
          </a:p>
        </p:txBody>
      </p:sp>
      <p:sp>
        <p:nvSpPr>
          <p:cNvPr id="20" name="TextBox 19"/>
          <p:cNvSpPr txBox="1"/>
          <p:nvPr/>
        </p:nvSpPr>
        <p:spPr>
          <a:xfrm>
            <a:off x="612648" y="5074920"/>
            <a:ext cx="3246120" cy="320040"/>
          </a:xfrm>
          <a:prstGeom prst="rect">
            <a:avLst/>
          </a:prstGeom>
          <a:noFill/>
        </p:spPr>
        <p:txBody>
          <a:bodyPr wrap="square" anchor="t" lIns="73152" rIns="73152">
            <a:spAutoFit/>
          </a:bodyPr>
          <a:lstStyle/>
          <a:p>
            <a:pPr algn="l">
              <a:spcAft>
                <a:spcPts val="400"/>
              </a:spcAft>
            </a:pPr>
            <a:r>
              <a:rPr sz="900" b="0">
                <a:solidFill>
                  <a:srgbClr val="1F77B4"/>
                </a:solidFill>
              </a:rPr>
              <a:t>Lives in: agents/eligibility_agent.py, ui/app.py</a:t>
            </a:r>
          </a:p>
        </p:txBody>
      </p:sp>
      <p:sp>
        <p:nvSpPr>
          <p:cNvPr id="21" name="Rounded Rectangle 20"/>
          <p:cNvSpPr/>
          <p:nvPr/>
        </p:nvSpPr>
        <p:spPr>
          <a:xfrm>
            <a:off x="4251960" y="1188720"/>
            <a:ext cx="3611880" cy="4251960"/>
          </a:xfrm>
          <a:prstGeom prst="roundRect">
            <a:avLst/>
          </a:prstGeom>
          <a:solidFill>
            <a:srgbClr val="F0FFF0"/>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22" name="TextBox 21"/>
          <p:cNvSpPr txBox="1"/>
          <p:nvPr/>
        </p:nvSpPr>
        <p:spPr>
          <a:xfrm>
            <a:off x="4389120" y="1298448"/>
            <a:ext cx="3337560" cy="320040"/>
          </a:xfrm>
          <a:prstGeom prst="rect">
            <a:avLst/>
          </a:prstGeom>
          <a:noFill/>
        </p:spPr>
        <p:txBody>
          <a:bodyPr wrap="square" anchor="t" lIns="73152" rIns="73152">
            <a:spAutoFit/>
          </a:bodyPr>
          <a:lstStyle/>
          <a:p>
            <a:pPr algn="ctr">
              <a:spcAft>
                <a:spcPts val="400"/>
              </a:spcAft>
            </a:pPr>
            <a:r>
              <a:rPr sz="1800" b="1">
                <a:solidFill>
                  <a:srgbClr val="28A745"/>
                </a:solidFill>
              </a:rPr>
              <a:t>🤖 Subagents</a:t>
            </a:r>
          </a:p>
        </p:txBody>
      </p:sp>
      <p:sp>
        <p:nvSpPr>
          <p:cNvPr id="23" name="TextBox 22"/>
          <p:cNvSpPr txBox="1"/>
          <p:nvPr/>
        </p:nvSpPr>
        <p:spPr>
          <a:xfrm>
            <a:off x="4389120" y="1664208"/>
            <a:ext cx="3337560" cy="274320"/>
          </a:xfrm>
          <a:prstGeom prst="rect">
            <a:avLst/>
          </a:prstGeom>
          <a:noFill/>
        </p:spPr>
        <p:txBody>
          <a:bodyPr wrap="square" anchor="t" lIns="73152" rIns="73152">
            <a:spAutoFit/>
          </a:bodyPr>
          <a:lstStyle/>
          <a:p>
            <a:pPr algn="ctr">
              <a:spcAft>
                <a:spcPts val="400"/>
              </a:spcAft>
            </a:pPr>
            <a:r>
              <a:rPr sz="1100" b="0">
                <a:solidFill>
                  <a:srgbClr val="6C757D"/>
                </a:solidFill>
              </a:rPr>
              <a:t>compose skills into a role</a:t>
            </a:r>
          </a:p>
        </p:txBody>
      </p:sp>
      <p:sp>
        <p:nvSpPr>
          <p:cNvPr id="24" name="TextBox 23"/>
          <p:cNvSpPr txBox="1"/>
          <p:nvPr/>
        </p:nvSpPr>
        <p:spPr>
          <a:xfrm>
            <a:off x="4453128" y="2029968"/>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Coordinator</a:t>
            </a:r>
          </a:p>
        </p:txBody>
      </p:sp>
      <p:sp>
        <p:nvSpPr>
          <p:cNvPr id="25" name="TextBox 24"/>
          <p:cNvSpPr txBox="1"/>
          <p:nvPr/>
        </p:nvSpPr>
        <p:spPr>
          <a:xfrm>
            <a:off x="4636008" y="2231136"/>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sequence + compose response</a:t>
            </a:r>
          </a:p>
        </p:txBody>
      </p:sp>
      <p:sp>
        <p:nvSpPr>
          <p:cNvPr id="26" name="TextBox 25"/>
          <p:cNvSpPr txBox="1"/>
          <p:nvPr/>
        </p:nvSpPr>
        <p:spPr>
          <a:xfrm>
            <a:off x="4453128" y="2450592"/>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Eligibility</a:t>
            </a:r>
          </a:p>
        </p:txBody>
      </p:sp>
      <p:sp>
        <p:nvSpPr>
          <p:cNvPr id="27" name="TextBox 26"/>
          <p:cNvSpPr txBox="1"/>
          <p:nvPr/>
        </p:nvSpPr>
        <p:spPr>
          <a:xfrm>
            <a:off x="4636008" y="2651760"/>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apply the four rule skills</a:t>
            </a:r>
          </a:p>
        </p:txBody>
      </p:sp>
      <p:sp>
        <p:nvSpPr>
          <p:cNvPr id="28" name="TextBox 27"/>
          <p:cNvSpPr txBox="1"/>
          <p:nvPr/>
        </p:nvSpPr>
        <p:spPr>
          <a:xfrm>
            <a:off x="4453128" y="2871216"/>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Retrieval client</a:t>
            </a:r>
          </a:p>
        </p:txBody>
      </p:sp>
      <p:sp>
        <p:nvSpPr>
          <p:cNvPr id="29" name="TextBox 28"/>
          <p:cNvSpPr txBox="1"/>
          <p:nvPr/>
        </p:nvSpPr>
        <p:spPr>
          <a:xfrm>
            <a:off x="4636008" y="3072384"/>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fetch policy evidence</a:t>
            </a:r>
          </a:p>
        </p:txBody>
      </p:sp>
      <p:sp>
        <p:nvSpPr>
          <p:cNvPr id="30" name="TextBox 29"/>
          <p:cNvSpPr txBox="1"/>
          <p:nvPr/>
        </p:nvSpPr>
        <p:spPr>
          <a:xfrm>
            <a:off x="4453128" y="3291840"/>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Validator</a:t>
            </a:r>
          </a:p>
        </p:txBody>
      </p:sp>
      <p:sp>
        <p:nvSpPr>
          <p:cNvPr id="31" name="TextBox 30"/>
          <p:cNvSpPr txBox="1"/>
          <p:nvPr/>
        </p:nvSpPr>
        <p:spPr>
          <a:xfrm>
            <a:off x="4636008" y="3493008"/>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guard the schema boundary</a:t>
            </a:r>
          </a:p>
        </p:txBody>
      </p:sp>
      <p:sp>
        <p:nvSpPr>
          <p:cNvPr id="32" name="TextBox 31"/>
          <p:cNvSpPr txBox="1"/>
          <p:nvPr/>
        </p:nvSpPr>
        <p:spPr>
          <a:xfrm>
            <a:off x="4453128" y="3712464"/>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Reporter</a:t>
            </a:r>
          </a:p>
        </p:txBody>
      </p:sp>
      <p:sp>
        <p:nvSpPr>
          <p:cNvPr id="33" name="TextBox 32"/>
          <p:cNvSpPr txBox="1"/>
          <p:nvPr/>
        </p:nvSpPr>
        <p:spPr>
          <a:xfrm>
            <a:off x="4636008" y="3913632"/>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format reasoning + export PDF</a:t>
            </a:r>
          </a:p>
        </p:txBody>
      </p:sp>
      <p:sp>
        <p:nvSpPr>
          <p:cNvPr id="34" name="TextBox 33"/>
          <p:cNvSpPr txBox="1"/>
          <p:nvPr/>
        </p:nvSpPr>
        <p:spPr>
          <a:xfrm>
            <a:off x="4453128" y="5074920"/>
            <a:ext cx="3246120" cy="320040"/>
          </a:xfrm>
          <a:prstGeom prst="rect">
            <a:avLst/>
          </a:prstGeom>
          <a:noFill/>
        </p:spPr>
        <p:txBody>
          <a:bodyPr wrap="square" anchor="t" lIns="73152" rIns="73152">
            <a:spAutoFit/>
          </a:bodyPr>
          <a:lstStyle/>
          <a:p>
            <a:pPr algn="l">
              <a:spcAft>
                <a:spcPts val="400"/>
              </a:spcAft>
            </a:pPr>
            <a:r>
              <a:rPr sz="900" b="0">
                <a:solidFill>
                  <a:srgbClr val="28A745"/>
                </a:solidFill>
              </a:rPr>
              <a:t>Lives in: agents/coordinator.py, agents/rag_stub.py</a:t>
            </a:r>
          </a:p>
        </p:txBody>
      </p:sp>
      <p:sp>
        <p:nvSpPr>
          <p:cNvPr id="35" name="Rounded Rectangle 34"/>
          <p:cNvSpPr/>
          <p:nvPr/>
        </p:nvSpPr>
        <p:spPr>
          <a:xfrm>
            <a:off x="8092440" y="1188720"/>
            <a:ext cx="3611880" cy="4251960"/>
          </a:xfrm>
          <a:prstGeom prst="roundRect">
            <a:avLst/>
          </a:prstGeom>
          <a:solidFill>
            <a:srgbClr val="FFFAF0"/>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36" name="TextBox 35"/>
          <p:cNvSpPr txBox="1"/>
          <p:nvPr/>
        </p:nvSpPr>
        <p:spPr>
          <a:xfrm>
            <a:off x="8229600" y="1298448"/>
            <a:ext cx="3337560" cy="320040"/>
          </a:xfrm>
          <a:prstGeom prst="rect">
            <a:avLst/>
          </a:prstGeom>
          <a:noFill/>
        </p:spPr>
        <p:txBody>
          <a:bodyPr wrap="square" anchor="t" lIns="73152" rIns="73152">
            <a:spAutoFit/>
          </a:bodyPr>
          <a:lstStyle/>
          <a:p>
            <a:pPr algn="ctr">
              <a:spcAft>
                <a:spcPts val="400"/>
              </a:spcAft>
            </a:pPr>
            <a:r>
              <a:rPr sz="1800" b="1">
                <a:solidFill>
                  <a:srgbClr val="FFC107"/>
                </a:solidFill>
              </a:rPr>
              <a:t>🎣 Hooks</a:t>
            </a:r>
          </a:p>
        </p:txBody>
      </p:sp>
      <p:sp>
        <p:nvSpPr>
          <p:cNvPr id="37" name="TextBox 36"/>
          <p:cNvSpPr txBox="1"/>
          <p:nvPr/>
        </p:nvSpPr>
        <p:spPr>
          <a:xfrm>
            <a:off x="8229600" y="1664208"/>
            <a:ext cx="3337560" cy="274320"/>
          </a:xfrm>
          <a:prstGeom prst="rect">
            <a:avLst/>
          </a:prstGeom>
          <a:noFill/>
        </p:spPr>
        <p:txBody>
          <a:bodyPr wrap="square" anchor="t" lIns="73152" rIns="73152">
            <a:spAutoFit/>
          </a:bodyPr>
          <a:lstStyle/>
          <a:p>
            <a:pPr algn="ctr">
              <a:spcAft>
                <a:spcPts val="400"/>
              </a:spcAft>
            </a:pPr>
            <a:r>
              <a:rPr sz="1100" b="0">
                <a:solidFill>
                  <a:srgbClr val="6C757D"/>
                </a:solidFill>
              </a:rPr>
              <a:t>lifecycle extension points</a:t>
            </a:r>
          </a:p>
        </p:txBody>
      </p:sp>
      <p:sp>
        <p:nvSpPr>
          <p:cNvPr id="38" name="TextBox 37"/>
          <p:cNvSpPr txBox="1"/>
          <p:nvPr/>
        </p:nvSpPr>
        <p:spPr>
          <a:xfrm>
            <a:off x="8293608" y="2029968"/>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on_decision</a:t>
            </a:r>
          </a:p>
        </p:txBody>
      </p:sp>
      <p:sp>
        <p:nvSpPr>
          <p:cNvPr id="39" name="TextBox 38"/>
          <p:cNvSpPr txBox="1"/>
          <p:nvPr/>
        </p:nvSpPr>
        <p:spPr>
          <a:xfrm>
            <a:off x="8476488" y="2231136"/>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 append audit record</a:t>
            </a:r>
          </a:p>
        </p:txBody>
      </p:sp>
      <p:sp>
        <p:nvSpPr>
          <p:cNvPr id="40" name="TextBox 39"/>
          <p:cNvSpPr txBox="1"/>
          <p:nvPr/>
        </p:nvSpPr>
        <p:spPr>
          <a:xfrm>
            <a:off x="8293608" y="2450592"/>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on_manual_review</a:t>
            </a:r>
          </a:p>
        </p:txBody>
      </p:sp>
      <p:sp>
        <p:nvSpPr>
          <p:cNvPr id="41" name="TextBox 40"/>
          <p:cNvSpPr txBox="1"/>
          <p:nvPr/>
        </p:nvSpPr>
        <p:spPr>
          <a:xfrm>
            <a:off x="8476488" y="2651760"/>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 notify underwriter queue</a:t>
            </a:r>
          </a:p>
        </p:txBody>
      </p:sp>
      <p:sp>
        <p:nvSpPr>
          <p:cNvPr id="42" name="TextBox 41"/>
          <p:cNvSpPr txBox="1"/>
          <p:nvPr/>
        </p:nvSpPr>
        <p:spPr>
          <a:xfrm>
            <a:off x="8293608" y="2871216"/>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on_validation_fail</a:t>
            </a:r>
          </a:p>
        </p:txBody>
      </p:sp>
      <p:sp>
        <p:nvSpPr>
          <p:cNvPr id="43" name="TextBox 42"/>
          <p:cNvSpPr txBox="1"/>
          <p:nvPr/>
        </p:nvSpPr>
        <p:spPr>
          <a:xfrm>
            <a:off x="8476488" y="3072384"/>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 422 + structured log</a:t>
            </a:r>
          </a:p>
        </p:txBody>
      </p:sp>
      <p:sp>
        <p:nvSpPr>
          <p:cNvPr id="44" name="TextBox 43"/>
          <p:cNvSpPr txBox="1"/>
          <p:nvPr/>
        </p:nvSpPr>
        <p:spPr>
          <a:xfrm>
            <a:off x="8293608" y="3291840"/>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on_retrieval_miss</a:t>
            </a:r>
          </a:p>
        </p:txBody>
      </p:sp>
      <p:sp>
        <p:nvSpPr>
          <p:cNvPr id="45" name="TextBox 44"/>
          <p:cNvSpPr txBox="1"/>
          <p:nvPr/>
        </p:nvSpPr>
        <p:spPr>
          <a:xfrm>
            <a:off x="8476488" y="3493008"/>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 fall back to stub corpus</a:t>
            </a:r>
          </a:p>
        </p:txBody>
      </p:sp>
      <p:sp>
        <p:nvSpPr>
          <p:cNvPr id="46" name="TextBox 45"/>
          <p:cNvSpPr txBox="1"/>
          <p:nvPr/>
        </p:nvSpPr>
        <p:spPr>
          <a:xfrm>
            <a:off x="8293608" y="3712464"/>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on_pdf_generated</a:t>
            </a:r>
          </a:p>
        </p:txBody>
      </p:sp>
      <p:sp>
        <p:nvSpPr>
          <p:cNvPr id="47" name="TextBox 46"/>
          <p:cNvSpPr txBox="1"/>
          <p:nvPr/>
        </p:nvSpPr>
        <p:spPr>
          <a:xfrm>
            <a:off x="8476488" y="3913632"/>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 archive to applicant file</a:t>
            </a:r>
          </a:p>
        </p:txBody>
      </p:sp>
      <p:sp>
        <p:nvSpPr>
          <p:cNvPr id="48" name="TextBox 47"/>
          <p:cNvSpPr txBox="1"/>
          <p:nvPr/>
        </p:nvSpPr>
        <p:spPr>
          <a:xfrm>
            <a:off x="8293608" y="4133088"/>
            <a:ext cx="3246120" cy="237744"/>
          </a:xfrm>
          <a:prstGeom prst="rect">
            <a:avLst/>
          </a:prstGeom>
          <a:noFill/>
        </p:spPr>
        <p:txBody>
          <a:bodyPr wrap="square" anchor="t" lIns="73152" rIns="73152">
            <a:spAutoFit/>
          </a:bodyPr>
          <a:lstStyle/>
          <a:p>
            <a:pPr algn="l">
              <a:spcAft>
                <a:spcPts val="400"/>
              </a:spcAft>
            </a:pPr>
            <a:r>
              <a:rPr sz="1200" b="1">
                <a:solidFill>
                  <a:srgbClr val="212529"/>
                </a:solidFill>
              </a:rPr>
              <a:t>• on_error</a:t>
            </a:r>
          </a:p>
        </p:txBody>
      </p:sp>
      <p:sp>
        <p:nvSpPr>
          <p:cNvPr id="49" name="TextBox 48"/>
          <p:cNvSpPr txBox="1"/>
          <p:nvPr/>
        </p:nvSpPr>
        <p:spPr>
          <a:xfrm>
            <a:off x="8476488" y="4334256"/>
            <a:ext cx="3063240" cy="237744"/>
          </a:xfrm>
          <a:prstGeom prst="rect">
            <a:avLst/>
          </a:prstGeom>
          <a:noFill/>
        </p:spPr>
        <p:txBody>
          <a:bodyPr wrap="square" anchor="t" lIns="73152" rIns="73152">
            <a:spAutoFit/>
          </a:bodyPr>
          <a:lstStyle/>
          <a:p>
            <a:pPr algn="l">
              <a:spcAft>
                <a:spcPts val="400"/>
              </a:spcAft>
            </a:pPr>
            <a:r>
              <a:rPr sz="1000" b="0">
                <a:solidFill>
                  <a:srgbClr val="6C757D"/>
                </a:solidFill>
              </a:rPr>
              <a:t>→ structured log + request ID</a:t>
            </a:r>
          </a:p>
        </p:txBody>
      </p:sp>
      <p:sp>
        <p:nvSpPr>
          <p:cNvPr id="50" name="TextBox 49"/>
          <p:cNvSpPr txBox="1"/>
          <p:nvPr/>
        </p:nvSpPr>
        <p:spPr>
          <a:xfrm>
            <a:off x="8293608" y="5074920"/>
            <a:ext cx="3246120" cy="320040"/>
          </a:xfrm>
          <a:prstGeom prst="rect">
            <a:avLst/>
          </a:prstGeom>
          <a:noFill/>
        </p:spPr>
        <p:txBody>
          <a:bodyPr wrap="square" anchor="t" lIns="73152" rIns="73152">
            <a:spAutoFit/>
          </a:bodyPr>
          <a:lstStyle/>
          <a:p>
            <a:pPr algn="l">
              <a:spcAft>
                <a:spcPts val="400"/>
              </a:spcAft>
            </a:pPr>
            <a:r>
              <a:rPr sz="900" b="0">
                <a:solidFill>
                  <a:srgbClr val="FFC107"/>
                </a:solidFill>
              </a:rPr>
              <a:t>Lives in: service/coordinator_service.py, service/audit.py</a:t>
            </a:r>
          </a:p>
        </p:txBody>
      </p:sp>
      <p:sp>
        <p:nvSpPr>
          <p:cNvPr id="51" name="Rounded Rectangle 50"/>
          <p:cNvSpPr/>
          <p:nvPr/>
        </p:nvSpPr>
        <p:spPr>
          <a:xfrm>
            <a:off x="411480" y="5623560"/>
            <a:ext cx="11384280" cy="777240"/>
          </a:xfrm>
          <a:prstGeom prst="roundRect">
            <a:avLst/>
          </a:prstGeom>
          <a:solidFill>
            <a:srgbClr val="F0F2F6"/>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0">
                <a:solidFill>
                  <a:srgbClr val="212529"/>
                </a:solidFill>
              </a:rPr>
              <a:t>Why the split pays off: a new eligibility rule = one new skill + one registration. The coordinator, API contract, and UI are untouched.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6. MCP &amp; Plugin Integration: Everything External Is Pluggable</a:t>
            </a:r>
          </a:p>
        </p:txBody>
      </p:sp>
      <p:sp>
        <p:nvSpPr>
          <p:cNvPr id="3" name="TextBox 2"/>
          <p:cNvSpPr txBox="1"/>
          <p:nvPr/>
        </p:nvSpPr>
        <p:spPr>
          <a:xfrm>
            <a:off x="411480" y="1097280"/>
            <a:ext cx="5577840" cy="320040"/>
          </a:xfrm>
          <a:prstGeom prst="rect">
            <a:avLst/>
          </a:prstGeom>
          <a:noFill/>
        </p:spPr>
        <p:txBody>
          <a:bodyPr wrap="square" anchor="t" lIns="73152" rIns="73152">
            <a:spAutoFit/>
          </a:bodyPr>
          <a:lstStyle/>
          <a:p>
            <a:pPr algn="l">
              <a:spcAft>
                <a:spcPts val="400"/>
              </a:spcAft>
            </a:pPr>
            <a:r>
              <a:rPr sz="1500" b="1">
                <a:solidFill>
                  <a:srgbClr val="1F77B4"/>
                </a:solidFill>
              </a:rPr>
              <a:t>The seam: a Protocol, injected</a:t>
            </a:r>
          </a:p>
        </p:txBody>
      </p:sp>
      <p:sp>
        <p:nvSpPr>
          <p:cNvPr id="4" name="Rounded Rectangle 3"/>
          <p:cNvSpPr/>
          <p:nvPr/>
        </p:nvSpPr>
        <p:spPr>
          <a:xfrm>
            <a:off x="411480" y="1463040"/>
            <a:ext cx="5577840" cy="1920240"/>
          </a:xfrm>
          <a:prstGeom prst="roundRect">
            <a:avLst/>
          </a:prstGeom>
          <a:solidFill>
            <a:srgbClr val="F0F2F6"/>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lIns="73152" rIns="73152"/>
          <a:lstStyle/>
          <a:p>
            <a:pPr algn="l">
              <a:spcAft>
                <a:spcPts val="0"/>
              </a:spcAft>
            </a:pPr>
            <a:r>
              <a:rPr sz="1300" b="1">
                <a:solidFill>
                  <a:srgbClr val="212529"/>
                </a:solidFill>
                <a:latin typeface="Consolas"/>
              </a:rPr>
              <a:t>class Retriever(Protocol):</a:t>
            </a:r>
          </a:p>
          <a:p>
            <a:pPr algn="l">
              <a:spcAft>
                <a:spcPts val="0"/>
              </a:spcAft>
            </a:pPr>
            <a:r>
              <a:rPr sz="1300" b="0">
                <a:solidFill>
                  <a:srgbClr val="212529"/>
                </a:solidFill>
                <a:latin typeface="Consolas"/>
              </a:rPr>
              <a:t>    def retrieve(self, query: str,</a:t>
            </a:r>
          </a:p>
          <a:p>
            <a:pPr algn="l">
              <a:spcAft>
                <a:spcPts val="0"/>
              </a:spcAft>
            </a:pPr>
            <a:r>
              <a:rPr sz="1300" b="0">
                <a:solidFill>
                  <a:srgbClr val="212529"/>
                </a:solidFill>
                <a:latin typeface="Consolas"/>
              </a:rPr>
              <a:t>                 top_k: int) -&gt; List[Doc]:</a:t>
            </a:r>
          </a:p>
          <a:p>
            <a:pPr algn="l">
              <a:spcAft>
                <a:spcPts val="0"/>
              </a:spcAft>
            </a:pPr>
            <a:r>
              <a:rPr sz="1300" b="0">
                <a:solidFill>
                  <a:srgbClr val="212529"/>
                </a:solidFill>
                <a:latin typeface="Consolas"/>
              </a:rPr>
              <a:t>        ...</a:t>
            </a:r>
          </a:p>
          <a:p>
            <a:pPr algn="l">
              <a:spcAft>
                <a:spcPts val="0"/>
              </a:spcAft>
            </a:pPr>
            <a:r>
              <a:rPr sz="800" b="0">
                <a:solidFill>
                  <a:srgbClr val="212529"/>
                </a:solidFill>
                <a:latin typeface="Consolas"/>
              </a:rPr>
              <a:t/>
            </a:r>
          </a:p>
          <a:p>
            <a:pPr algn="l">
              <a:spcAft>
                <a:spcPts val="0"/>
              </a:spcAft>
            </a:pPr>
            <a:r>
              <a:rPr sz="1300" b="1">
                <a:solidFill>
                  <a:srgbClr val="1F77B4"/>
                </a:solidFill>
                <a:latin typeface="Consolas"/>
              </a:rPr>
              <a:t>coord = CoordinatorAgent(rag_client=backend)</a:t>
            </a:r>
          </a:p>
        </p:txBody>
      </p:sp>
      <p:sp>
        <p:nvSpPr>
          <p:cNvPr id="5" name="TextBox 4"/>
          <p:cNvSpPr txBox="1"/>
          <p:nvPr/>
        </p:nvSpPr>
        <p:spPr>
          <a:xfrm>
            <a:off x="6309360" y="1097280"/>
            <a:ext cx="5486400" cy="320040"/>
          </a:xfrm>
          <a:prstGeom prst="rect">
            <a:avLst/>
          </a:prstGeom>
          <a:noFill/>
        </p:spPr>
        <p:txBody>
          <a:bodyPr wrap="square" anchor="t" lIns="73152" rIns="73152">
            <a:spAutoFit/>
          </a:bodyPr>
          <a:lstStyle/>
          <a:p>
            <a:pPr algn="l">
              <a:spcAft>
                <a:spcPts val="400"/>
              </a:spcAft>
            </a:pPr>
            <a:r>
              <a:rPr sz="1500" b="1">
                <a:solidFill>
                  <a:srgbClr val="28A745"/>
                </a:solidFill>
              </a:rPr>
              <a:t>Interchangeable backends</a:t>
            </a:r>
          </a:p>
        </p:txBody>
      </p:sp>
      <p:sp>
        <p:nvSpPr>
          <p:cNvPr id="6" name="Rounded Rectangle 5"/>
          <p:cNvSpPr/>
          <p:nvPr/>
        </p:nvSpPr>
        <p:spPr>
          <a:xfrm>
            <a:off x="6309360" y="1463040"/>
            <a:ext cx="5486400" cy="420624"/>
          </a:xfrm>
          <a:prstGeom prst="roundRect">
            <a:avLst/>
          </a:prstGeom>
          <a:solidFill>
            <a:srgbClr val="FFFFFF"/>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l">
              <a:spcAft>
                <a:spcPts val="0"/>
              </a:spcAft>
            </a:pPr>
            <a:r>
              <a:rPr sz="1200" b="1">
                <a:solidFill>
                  <a:srgbClr val="28A745"/>
                </a:solidFill>
              </a:rPr>
              <a:t>RAGClientStub  —  deterministic • tests / CI</a:t>
            </a:r>
          </a:p>
        </p:txBody>
      </p:sp>
      <p:sp>
        <p:nvSpPr>
          <p:cNvPr id="7" name="Rounded Rectangle 6"/>
          <p:cNvSpPr/>
          <p:nvPr/>
        </p:nvSpPr>
        <p:spPr>
          <a:xfrm>
            <a:off x="6309360" y="1956816"/>
            <a:ext cx="5486400" cy="420624"/>
          </a:xfrm>
          <a:prstGeom prst="roundRect">
            <a:avLst/>
          </a:prstGeom>
          <a:solidFill>
            <a:srgbClr val="FFFFFF"/>
          </a:solidFill>
          <a:ln w="19050">
            <a:solidFill>
              <a:srgbClr val="17A2B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l">
              <a:spcAft>
                <a:spcPts val="0"/>
              </a:spcAft>
            </a:pPr>
            <a:r>
              <a:rPr sz="1200" b="1">
                <a:solidFill>
                  <a:srgbClr val="17A2B8"/>
                </a:solidFill>
              </a:rPr>
              <a:t>InMemoryVectorRetriever  —  cosine similarity • local dev</a:t>
            </a:r>
          </a:p>
        </p:txBody>
      </p:sp>
      <p:sp>
        <p:nvSpPr>
          <p:cNvPr id="8" name="Rounded Rectangle 7"/>
          <p:cNvSpPr/>
          <p:nvPr/>
        </p:nvSpPr>
        <p:spPr>
          <a:xfrm>
            <a:off x="6309360" y="2450592"/>
            <a:ext cx="5486400" cy="420624"/>
          </a:xfrm>
          <a:prstGeom prst="roundRect">
            <a:avLst/>
          </a:prstGeom>
          <a:solidFill>
            <a:srgbClr val="FFFF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l">
              <a:spcAft>
                <a:spcPts val="0"/>
              </a:spcAft>
            </a:pPr>
            <a:r>
              <a:rPr sz="1200" b="1">
                <a:solidFill>
                  <a:srgbClr val="1F77B4"/>
                </a:solidFill>
              </a:rPr>
              <a:t>FaissAdapter  —  on-prem vector index</a:t>
            </a:r>
          </a:p>
        </p:txBody>
      </p:sp>
      <p:sp>
        <p:nvSpPr>
          <p:cNvPr id="9" name="Rounded Rectangle 8"/>
          <p:cNvSpPr/>
          <p:nvPr/>
        </p:nvSpPr>
        <p:spPr>
          <a:xfrm>
            <a:off x="6309360" y="2944368"/>
            <a:ext cx="5486400" cy="420624"/>
          </a:xfrm>
          <a:prstGeom prst="roundRect">
            <a:avLst/>
          </a:prstGeom>
          <a:solidFill>
            <a:srgbClr val="FFFFFF"/>
          </a:solidFill>
          <a:ln w="190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l">
              <a:spcAft>
                <a:spcPts val="0"/>
              </a:spcAft>
            </a:pPr>
            <a:r>
              <a:rPr sz="1200" b="1">
                <a:solidFill>
                  <a:srgbClr val="6F42C1"/>
                </a:solidFill>
              </a:rPr>
              <a:t>PineconeAdapter  —  managed cloud index</a:t>
            </a:r>
          </a:p>
        </p:txBody>
      </p:sp>
      <p:sp>
        <p:nvSpPr>
          <p:cNvPr id="10" name="TextBox 9"/>
          <p:cNvSpPr txBox="1"/>
          <p:nvPr/>
        </p:nvSpPr>
        <p:spPr>
          <a:xfrm>
            <a:off x="411480" y="3611880"/>
            <a:ext cx="11384280" cy="320040"/>
          </a:xfrm>
          <a:prstGeom prst="rect">
            <a:avLst/>
          </a:prstGeom>
          <a:noFill/>
        </p:spPr>
        <p:txBody>
          <a:bodyPr wrap="square" anchor="t" lIns="73152" rIns="73152">
            <a:spAutoFit/>
          </a:bodyPr>
          <a:lstStyle/>
          <a:p>
            <a:pPr algn="l">
              <a:spcAft>
                <a:spcPts val="400"/>
              </a:spcAft>
            </a:pPr>
            <a:r>
              <a:rPr sz="1500" b="1">
                <a:solidFill>
                  <a:srgbClr val="1F77B4"/>
                </a:solidFill>
              </a:rPr>
              <a:t>MCP-style tool surface — the same contract pattern applied to every external system</a:t>
            </a:r>
          </a:p>
        </p:txBody>
      </p:sp>
      <p:sp>
        <p:nvSpPr>
          <p:cNvPr id="11" name="Rounded Rectangle 10"/>
          <p:cNvSpPr/>
          <p:nvPr/>
        </p:nvSpPr>
        <p:spPr>
          <a:xfrm>
            <a:off x="411480" y="4023360"/>
            <a:ext cx="2148840" cy="86868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Credit Bureau</a:t>
            </a:r>
          </a:p>
          <a:p>
            <a:pPr algn="ctr">
              <a:spcAft>
                <a:spcPts val="0"/>
              </a:spcAft>
            </a:pPr>
            <a:r>
              <a:rPr sz="1000" b="0">
                <a:solidFill>
                  <a:srgbClr val="212529"/>
                </a:solidFill>
              </a:rPr>
              <a:t>score + history pull</a:t>
            </a:r>
          </a:p>
        </p:txBody>
      </p:sp>
      <p:sp>
        <p:nvSpPr>
          <p:cNvPr id="12" name="Rounded Rectangle 11"/>
          <p:cNvSpPr/>
          <p:nvPr/>
        </p:nvSpPr>
        <p:spPr>
          <a:xfrm>
            <a:off x="2715768" y="4023360"/>
            <a:ext cx="2148840" cy="86868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Policy Repository</a:t>
            </a:r>
          </a:p>
          <a:p>
            <a:pPr algn="ctr">
              <a:spcAft>
                <a:spcPts val="0"/>
              </a:spcAft>
            </a:pPr>
            <a:r>
              <a:rPr sz="1000" b="0">
                <a:solidFill>
                  <a:srgbClr val="212529"/>
                </a:solidFill>
              </a:rPr>
              <a:t>versioned lending rules</a:t>
            </a:r>
          </a:p>
        </p:txBody>
      </p:sp>
      <p:sp>
        <p:nvSpPr>
          <p:cNvPr id="13" name="Rounded Rectangle 12"/>
          <p:cNvSpPr/>
          <p:nvPr/>
        </p:nvSpPr>
        <p:spPr>
          <a:xfrm>
            <a:off x="5020056" y="4023360"/>
            <a:ext cx="2148840" cy="86868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Vector Search</a:t>
            </a:r>
          </a:p>
          <a:p>
            <a:pPr algn="ctr">
              <a:spcAft>
                <a:spcPts val="0"/>
              </a:spcAft>
            </a:pPr>
            <a:r>
              <a:rPr sz="1000" b="0">
                <a:solidFill>
                  <a:srgbClr val="212529"/>
                </a:solidFill>
              </a:rPr>
              <a:t>FAISS / Pinecone index</a:t>
            </a:r>
          </a:p>
        </p:txBody>
      </p:sp>
      <p:sp>
        <p:nvSpPr>
          <p:cNvPr id="14" name="Rounded Rectangle 13"/>
          <p:cNvSpPr/>
          <p:nvPr/>
        </p:nvSpPr>
        <p:spPr>
          <a:xfrm>
            <a:off x="7324344" y="4023360"/>
            <a:ext cx="2148840" cy="86868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Notification</a:t>
            </a:r>
          </a:p>
          <a:p>
            <a:pPr algn="ctr">
              <a:spcAft>
                <a:spcPts val="0"/>
              </a:spcAft>
            </a:pPr>
            <a:r>
              <a:rPr sz="1000" b="0">
                <a:solidFill>
                  <a:srgbClr val="212529"/>
                </a:solidFill>
              </a:rPr>
              <a:t>applicant + underwriter</a:t>
            </a:r>
          </a:p>
        </p:txBody>
      </p:sp>
      <p:sp>
        <p:nvSpPr>
          <p:cNvPr id="15" name="Rounded Rectangle 14"/>
          <p:cNvSpPr/>
          <p:nvPr/>
        </p:nvSpPr>
        <p:spPr>
          <a:xfrm>
            <a:off x="9628632" y="4023360"/>
            <a:ext cx="2148840" cy="86868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Core Banking</a:t>
            </a:r>
          </a:p>
          <a:p>
            <a:pPr algn="ctr">
              <a:spcAft>
                <a:spcPts val="0"/>
              </a:spcAft>
            </a:pPr>
            <a:r>
              <a:rPr sz="1000" b="0">
                <a:solidFill>
                  <a:srgbClr val="212529"/>
                </a:solidFill>
              </a:rPr>
              <a:t>disbursement handoff</a:t>
            </a:r>
          </a:p>
        </p:txBody>
      </p:sp>
      <p:sp>
        <p:nvSpPr>
          <p:cNvPr id="16" name="TextBox 15"/>
          <p:cNvSpPr txBox="1"/>
          <p:nvPr/>
        </p:nvSpPr>
        <p:spPr>
          <a:xfrm>
            <a:off x="411480" y="5074920"/>
            <a:ext cx="11384280" cy="1188720"/>
          </a:xfrm>
          <a:prstGeom prst="rect">
            <a:avLst/>
          </a:prstGeom>
          <a:noFill/>
        </p:spPr>
        <p:txBody>
          <a:bodyPr wrap="square" anchor="t" lIns="73152" rIns="73152">
            <a:spAutoFit/>
          </a:bodyPr>
          <a:lstStyle/>
          <a:p>
            <a:pPr algn="l">
              <a:spcAft>
                <a:spcPts val="400"/>
              </a:spcAft>
            </a:pPr>
            <a:r>
              <a:rPr sz="1300" b="0">
                <a:solidFill>
                  <a:srgbClr val="212529"/>
                </a:solidFill>
              </a:rPr>
              <a:t>• Uniform invocation contract → agents discover and call tools without bespoke glue code</a:t>
            </a:r>
          </a:p>
          <a:p>
            <a:pPr algn="l">
              <a:spcAft>
                <a:spcPts val="400"/>
              </a:spcAft>
            </a:pPr>
            <a:r>
              <a:rPr sz="1300" b="0">
                <a:solidFill>
                  <a:srgbClr val="212529"/>
                </a:solidFill>
              </a:rPr>
              <a:t>• Integration concerns (retry, timeout, error mapping, data shaping) live in the adapter, not the agent</a:t>
            </a:r>
          </a:p>
          <a:p>
            <a:pPr algn="l">
              <a:spcAft>
                <a:spcPts val="400"/>
              </a:spcAft>
            </a:pPr>
            <a:r>
              <a:rPr sz="1300" b="0">
                <a:solidFill>
                  <a:srgbClr val="212529"/>
                </a:solidFill>
              </a:rPr>
              <a:t>• Full test suite runs offline with the stub; production backends are selected by configuration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7. Governance Framework: Controls &amp; Decision Policy</a:t>
            </a:r>
          </a:p>
        </p:txBody>
      </p:sp>
      <p:sp>
        <p:nvSpPr>
          <p:cNvPr id="3" name="TextBox 2"/>
          <p:cNvSpPr txBox="1"/>
          <p:nvPr/>
        </p:nvSpPr>
        <p:spPr>
          <a:xfrm>
            <a:off x="411480" y="1097280"/>
            <a:ext cx="4937760" cy="320040"/>
          </a:xfrm>
          <a:prstGeom prst="rect">
            <a:avLst/>
          </a:prstGeom>
          <a:noFill/>
        </p:spPr>
        <p:txBody>
          <a:bodyPr wrap="square" anchor="t" lIns="73152" rIns="73152">
            <a:spAutoFit/>
          </a:bodyPr>
          <a:lstStyle/>
          <a:p>
            <a:pPr algn="l">
              <a:spcAft>
                <a:spcPts val="400"/>
              </a:spcAft>
            </a:pPr>
            <a:r>
              <a:rPr sz="1600" b="1">
                <a:solidFill>
                  <a:srgbClr val="1F77B4"/>
                </a:solidFill>
              </a:rPr>
              <a:t>Control mechanisms</a:t>
            </a:r>
          </a:p>
        </p:txBody>
      </p:sp>
      <p:sp>
        <p:nvSpPr>
          <p:cNvPr id="4" name="TextBox 3"/>
          <p:cNvSpPr txBox="1"/>
          <p:nvPr/>
        </p:nvSpPr>
        <p:spPr>
          <a:xfrm>
            <a:off x="411480" y="1463040"/>
            <a:ext cx="4937760" cy="274320"/>
          </a:xfrm>
          <a:prstGeom prst="rect">
            <a:avLst/>
          </a:prstGeom>
          <a:noFill/>
        </p:spPr>
        <p:txBody>
          <a:bodyPr wrap="square" anchor="t" lIns="73152" rIns="73152">
            <a:spAutoFit/>
          </a:bodyPr>
          <a:lstStyle/>
          <a:p>
            <a:pPr algn="l">
              <a:spcAft>
                <a:spcPts val="400"/>
              </a:spcAft>
            </a:pPr>
            <a:r>
              <a:rPr sz="1300" b="1">
                <a:solidFill>
                  <a:srgbClr val="28A745"/>
                </a:solidFill>
              </a:rPr>
              <a:t>✓ Boundary validation</a:t>
            </a:r>
          </a:p>
        </p:txBody>
      </p:sp>
      <p:sp>
        <p:nvSpPr>
          <p:cNvPr id="5" name="TextBox 4"/>
          <p:cNvSpPr txBox="1"/>
          <p:nvPr/>
        </p:nvSpPr>
        <p:spPr>
          <a:xfrm>
            <a:off x="640080" y="1700784"/>
            <a:ext cx="4754880" cy="274320"/>
          </a:xfrm>
          <a:prstGeom prst="rect">
            <a:avLst/>
          </a:prstGeom>
          <a:noFill/>
        </p:spPr>
        <p:txBody>
          <a:bodyPr wrap="square" anchor="t" lIns="73152" rIns="73152">
            <a:spAutoFit/>
          </a:bodyPr>
          <a:lstStyle/>
          <a:p>
            <a:pPr algn="l">
              <a:spcAft>
                <a:spcPts val="400"/>
              </a:spcAft>
            </a:pPr>
            <a:r>
              <a:rPr sz="1100" b="0">
                <a:solidFill>
                  <a:srgbClr val="212529"/>
                </a:solidFill>
              </a:rPr>
              <a:t>Pydantic schema: types, ranges, closed enums; 422 on violation</a:t>
            </a:r>
          </a:p>
        </p:txBody>
      </p:sp>
      <p:sp>
        <p:nvSpPr>
          <p:cNvPr id="6" name="TextBox 5"/>
          <p:cNvSpPr txBox="1"/>
          <p:nvPr/>
        </p:nvSpPr>
        <p:spPr>
          <a:xfrm>
            <a:off x="411480" y="2029968"/>
            <a:ext cx="4937760" cy="274320"/>
          </a:xfrm>
          <a:prstGeom prst="rect">
            <a:avLst/>
          </a:prstGeom>
          <a:noFill/>
        </p:spPr>
        <p:txBody>
          <a:bodyPr wrap="square" anchor="t" lIns="73152" rIns="73152">
            <a:spAutoFit/>
          </a:bodyPr>
          <a:lstStyle/>
          <a:p>
            <a:pPr algn="l">
              <a:spcAft>
                <a:spcPts val="400"/>
              </a:spcAft>
            </a:pPr>
            <a:r>
              <a:rPr sz="1300" b="1">
                <a:solidFill>
                  <a:srgbClr val="28A745"/>
                </a:solidFill>
              </a:rPr>
              <a:t>✓ Deterministic rules</a:t>
            </a:r>
          </a:p>
        </p:txBody>
      </p:sp>
      <p:sp>
        <p:nvSpPr>
          <p:cNvPr id="7" name="TextBox 6"/>
          <p:cNvSpPr txBox="1"/>
          <p:nvPr/>
        </p:nvSpPr>
        <p:spPr>
          <a:xfrm>
            <a:off x="640080" y="2267712"/>
            <a:ext cx="4754880" cy="274320"/>
          </a:xfrm>
          <a:prstGeom prst="rect">
            <a:avLst/>
          </a:prstGeom>
          <a:noFill/>
        </p:spPr>
        <p:txBody>
          <a:bodyPr wrap="square" anchor="t" lIns="73152" rIns="73152">
            <a:spAutoFit/>
          </a:bodyPr>
          <a:lstStyle/>
          <a:p>
            <a:pPr algn="l">
              <a:spcAft>
                <a:spcPts val="400"/>
              </a:spcAft>
            </a:pPr>
            <a:r>
              <a:rPr sz="1100" b="0">
                <a:solidFill>
                  <a:srgbClr val="212529"/>
                </a:solidFill>
              </a:rPr>
              <a:t>No black-box model — every outcome traced to a stated threshold</a:t>
            </a:r>
          </a:p>
        </p:txBody>
      </p:sp>
      <p:sp>
        <p:nvSpPr>
          <p:cNvPr id="8" name="TextBox 7"/>
          <p:cNvSpPr txBox="1"/>
          <p:nvPr/>
        </p:nvSpPr>
        <p:spPr>
          <a:xfrm>
            <a:off x="411480" y="2596896"/>
            <a:ext cx="4937760" cy="274320"/>
          </a:xfrm>
          <a:prstGeom prst="rect">
            <a:avLst/>
          </a:prstGeom>
          <a:noFill/>
        </p:spPr>
        <p:txBody>
          <a:bodyPr wrap="square" anchor="t" lIns="73152" rIns="73152">
            <a:spAutoFit/>
          </a:bodyPr>
          <a:lstStyle/>
          <a:p>
            <a:pPr algn="l">
              <a:spcAft>
                <a:spcPts val="400"/>
              </a:spcAft>
            </a:pPr>
            <a:r>
              <a:rPr sz="1300" b="1">
                <a:solidFill>
                  <a:srgbClr val="28A745"/>
                </a:solidFill>
              </a:rPr>
              <a:t>✓ Config-managed thresholds</a:t>
            </a:r>
          </a:p>
        </p:txBody>
      </p:sp>
      <p:sp>
        <p:nvSpPr>
          <p:cNvPr id="9" name="TextBox 8"/>
          <p:cNvSpPr txBox="1"/>
          <p:nvPr/>
        </p:nvSpPr>
        <p:spPr>
          <a:xfrm>
            <a:off x="640080" y="2834640"/>
            <a:ext cx="4754880" cy="274320"/>
          </a:xfrm>
          <a:prstGeom prst="rect">
            <a:avLst/>
          </a:prstGeom>
          <a:noFill/>
        </p:spPr>
        <p:txBody>
          <a:bodyPr wrap="square" anchor="t" lIns="73152" rIns="73152">
            <a:spAutoFit/>
          </a:bodyPr>
          <a:lstStyle/>
          <a:p>
            <a:pPr algn="l">
              <a:spcAft>
                <a:spcPts val="400"/>
              </a:spcAft>
            </a:pPr>
            <a:r>
              <a:rPr sz="1100" b="0">
                <a:solidFill>
                  <a:srgbClr val="212529"/>
                </a:solidFill>
              </a:rPr>
              <a:t>Policy limits versioned and reviewed, not hardcoded per release</a:t>
            </a:r>
          </a:p>
        </p:txBody>
      </p:sp>
      <p:sp>
        <p:nvSpPr>
          <p:cNvPr id="10" name="TextBox 9"/>
          <p:cNvSpPr txBox="1"/>
          <p:nvPr/>
        </p:nvSpPr>
        <p:spPr>
          <a:xfrm>
            <a:off x="411480" y="3163824"/>
            <a:ext cx="4937760" cy="274320"/>
          </a:xfrm>
          <a:prstGeom prst="rect">
            <a:avLst/>
          </a:prstGeom>
          <a:noFill/>
        </p:spPr>
        <p:txBody>
          <a:bodyPr wrap="square" anchor="t" lIns="73152" rIns="73152">
            <a:spAutoFit/>
          </a:bodyPr>
          <a:lstStyle/>
          <a:p>
            <a:pPr algn="l">
              <a:spcAft>
                <a:spcPts val="400"/>
              </a:spcAft>
            </a:pPr>
            <a:r>
              <a:rPr sz="1300" b="1">
                <a:solidFill>
                  <a:srgbClr val="28A745"/>
                </a:solidFill>
              </a:rPr>
              <a:t>✓ Human-in-the-loop</a:t>
            </a:r>
          </a:p>
        </p:txBody>
      </p:sp>
      <p:sp>
        <p:nvSpPr>
          <p:cNvPr id="11" name="TextBox 10"/>
          <p:cNvSpPr txBox="1"/>
          <p:nvPr/>
        </p:nvSpPr>
        <p:spPr>
          <a:xfrm>
            <a:off x="640080" y="3401568"/>
            <a:ext cx="4754880" cy="274320"/>
          </a:xfrm>
          <a:prstGeom prst="rect">
            <a:avLst/>
          </a:prstGeom>
          <a:noFill/>
        </p:spPr>
        <p:txBody>
          <a:bodyPr wrap="square" anchor="t" lIns="73152" rIns="73152">
            <a:spAutoFit/>
          </a:bodyPr>
          <a:lstStyle/>
          <a:p>
            <a:pPr algn="l">
              <a:spcAft>
                <a:spcPts val="400"/>
              </a:spcAft>
            </a:pPr>
            <a:r>
              <a:rPr sz="1100" b="0">
                <a:solidFill>
                  <a:srgbClr val="212529"/>
                </a:solidFill>
              </a:rPr>
              <a:t>Borderline band escalates to an underwriter by design</a:t>
            </a:r>
          </a:p>
        </p:txBody>
      </p:sp>
      <p:sp>
        <p:nvSpPr>
          <p:cNvPr id="12" name="TextBox 11"/>
          <p:cNvSpPr txBox="1"/>
          <p:nvPr/>
        </p:nvSpPr>
        <p:spPr>
          <a:xfrm>
            <a:off x="411480" y="3730752"/>
            <a:ext cx="4937760" cy="274320"/>
          </a:xfrm>
          <a:prstGeom prst="rect">
            <a:avLst/>
          </a:prstGeom>
          <a:noFill/>
        </p:spPr>
        <p:txBody>
          <a:bodyPr wrap="square" anchor="t" lIns="73152" rIns="73152">
            <a:spAutoFit/>
          </a:bodyPr>
          <a:lstStyle/>
          <a:p>
            <a:pPr algn="l">
              <a:spcAft>
                <a:spcPts val="400"/>
              </a:spcAft>
            </a:pPr>
            <a:r>
              <a:rPr sz="1300" b="1">
                <a:solidFill>
                  <a:srgbClr val="28A745"/>
                </a:solidFill>
              </a:rPr>
              <a:t>✓ Immutable audit record</a:t>
            </a:r>
          </a:p>
        </p:txBody>
      </p:sp>
      <p:sp>
        <p:nvSpPr>
          <p:cNvPr id="13" name="TextBox 12"/>
          <p:cNvSpPr txBox="1"/>
          <p:nvPr/>
        </p:nvSpPr>
        <p:spPr>
          <a:xfrm>
            <a:off x="640080" y="3968496"/>
            <a:ext cx="4754880" cy="274320"/>
          </a:xfrm>
          <a:prstGeom prst="rect">
            <a:avLst/>
          </a:prstGeom>
          <a:noFill/>
        </p:spPr>
        <p:txBody>
          <a:bodyPr wrap="square" anchor="t" lIns="73152" rIns="73152">
            <a:spAutoFit/>
          </a:bodyPr>
          <a:lstStyle/>
          <a:p>
            <a:pPr algn="l">
              <a:spcAft>
                <a:spcPts val="400"/>
              </a:spcAft>
            </a:pPr>
            <a:r>
              <a:rPr sz="1100" b="0">
                <a:solidFill>
                  <a:srgbClr val="212529"/>
                </a:solidFill>
              </a:rPr>
              <a:t>Append-only decision log per request — replayable on demand</a:t>
            </a:r>
          </a:p>
        </p:txBody>
      </p:sp>
      <p:sp>
        <p:nvSpPr>
          <p:cNvPr id="14" name="TextBox 13"/>
          <p:cNvSpPr txBox="1"/>
          <p:nvPr/>
        </p:nvSpPr>
        <p:spPr>
          <a:xfrm>
            <a:off x="411480" y="4297680"/>
            <a:ext cx="4937760" cy="274320"/>
          </a:xfrm>
          <a:prstGeom prst="rect">
            <a:avLst/>
          </a:prstGeom>
          <a:noFill/>
        </p:spPr>
        <p:txBody>
          <a:bodyPr wrap="square" anchor="t" lIns="73152" rIns="73152">
            <a:spAutoFit/>
          </a:bodyPr>
          <a:lstStyle/>
          <a:p>
            <a:pPr algn="l">
              <a:spcAft>
                <a:spcPts val="400"/>
              </a:spcAft>
            </a:pPr>
            <a:r>
              <a:rPr sz="1300" b="1">
                <a:solidFill>
                  <a:srgbClr val="28A745"/>
                </a:solidFill>
              </a:rPr>
              <a:t>✓ Fair-lending posture</a:t>
            </a:r>
          </a:p>
        </p:txBody>
      </p:sp>
      <p:sp>
        <p:nvSpPr>
          <p:cNvPr id="15" name="TextBox 14"/>
          <p:cNvSpPr txBox="1"/>
          <p:nvPr/>
        </p:nvSpPr>
        <p:spPr>
          <a:xfrm>
            <a:off x="640080" y="4535424"/>
            <a:ext cx="4754880" cy="274320"/>
          </a:xfrm>
          <a:prstGeom prst="rect">
            <a:avLst/>
          </a:prstGeom>
          <a:noFill/>
        </p:spPr>
        <p:txBody>
          <a:bodyPr wrap="square" anchor="t" lIns="73152" rIns="73152">
            <a:spAutoFit/>
          </a:bodyPr>
          <a:lstStyle/>
          <a:p>
            <a:pPr algn="l">
              <a:spcAft>
                <a:spcPts val="400"/>
              </a:spcAft>
            </a:pPr>
            <a:r>
              <a:rPr sz="1100" b="0">
                <a:solidFill>
                  <a:srgbClr val="212529"/>
                </a:solidFill>
              </a:rPr>
              <a:t>Applicant name is report-only; never an input to any rule</a:t>
            </a:r>
          </a:p>
        </p:txBody>
      </p:sp>
      <p:sp>
        <p:nvSpPr>
          <p:cNvPr id="16" name="TextBox 15"/>
          <p:cNvSpPr txBox="1"/>
          <p:nvPr/>
        </p:nvSpPr>
        <p:spPr>
          <a:xfrm>
            <a:off x="5760720" y="1097280"/>
            <a:ext cx="6035040" cy="320040"/>
          </a:xfrm>
          <a:prstGeom prst="rect">
            <a:avLst/>
          </a:prstGeom>
          <a:noFill/>
        </p:spPr>
        <p:txBody>
          <a:bodyPr wrap="square" anchor="t" lIns="73152" rIns="73152">
            <a:spAutoFit/>
          </a:bodyPr>
          <a:lstStyle/>
          <a:p>
            <a:pPr algn="l">
              <a:spcAft>
                <a:spcPts val="400"/>
              </a:spcAft>
            </a:pPr>
            <a:r>
              <a:rPr sz="1600" b="1">
                <a:solidFill>
                  <a:srgbClr val="1F77B4"/>
                </a:solidFill>
              </a:rPr>
              <a:t>Decision policy</a:t>
            </a:r>
          </a:p>
        </p:txBody>
      </p:sp>
      <p:sp>
        <p:nvSpPr>
          <p:cNvPr id="17" name="Rectangle 16"/>
          <p:cNvSpPr/>
          <p:nvPr/>
        </p:nvSpPr>
        <p:spPr>
          <a:xfrm>
            <a:off x="5760720" y="1463040"/>
            <a:ext cx="2011680" cy="731520"/>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Outcome</a:t>
            </a:r>
          </a:p>
        </p:txBody>
      </p:sp>
      <p:sp>
        <p:nvSpPr>
          <p:cNvPr id="18" name="Rectangle 17"/>
          <p:cNvSpPr/>
          <p:nvPr/>
        </p:nvSpPr>
        <p:spPr>
          <a:xfrm>
            <a:off x="7772400" y="1463040"/>
            <a:ext cx="2011680" cy="731520"/>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Criteria</a:t>
            </a:r>
          </a:p>
        </p:txBody>
      </p:sp>
      <p:sp>
        <p:nvSpPr>
          <p:cNvPr id="19" name="Rectangle 18"/>
          <p:cNvSpPr/>
          <p:nvPr/>
        </p:nvSpPr>
        <p:spPr>
          <a:xfrm>
            <a:off x="9784080" y="1463040"/>
            <a:ext cx="2011680" cy="731520"/>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Action</a:t>
            </a:r>
          </a:p>
        </p:txBody>
      </p:sp>
      <p:sp>
        <p:nvSpPr>
          <p:cNvPr id="20" name="Rectangle 19"/>
          <p:cNvSpPr/>
          <p:nvPr/>
        </p:nvSpPr>
        <p:spPr>
          <a:xfrm>
            <a:off x="5760720" y="2194560"/>
            <a:ext cx="2011680" cy="731520"/>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212529"/>
                </a:solidFill>
              </a:rPr>
              <a:t>🟢 Eligible</a:t>
            </a:r>
          </a:p>
        </p:txBody>
      </p:sp>
      <p:sp>
        <p:nvSpPr>
          <p:cNvPr id="21" name="Rectangle 20"/>
          <p:cNvSpPr/>
          <p:nvPr/>
        </p:nvSpPr>
        <p:spPr>
          <a:xfrm>
            <a:off x="7772400" y="2194560"/>
            <a:ext cx="2011680" cy="731520"/>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0">
                <a:solidFill>
                  <a:srgbClr val="212529"/>
                </a:solidFill>
              </a:rPr>
              <a:t>score &gt; 700, EMI ≤ 40%,</a:t>
            </a:r>
          </a:p>
          <a:p>
            <a:pPr algn="ctr">
              <a:spcAft>
                <a:spcPts val="0"/>
              </a:spcAft>
            </a:pPr>
            <a:r>
              <a:rPr sz="1100" b="0">
                <a:solidFill>
                  <a:srgbClr val="212529"/>
                </a:solidFill>
              </a:rPr>
              <a:t>age 21-60, stable job</a:t>
            </a:r>
          </a:p>
        </p:txBody>
      </p:sp>
      <p:sp>
        <p:nvSpPr>
          <p:cNvPr id="22" name="Rectangle 21"/>
          <p:cNvSpPr/>
          <p:nvPr/>
        </p:nvSpPr>
        <p:spPr>
          <a:xfrm>
            <a:off x="9784080" y="2194560"/>
            <a:ext cx="2011680" cy="731520"/>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0">
                <a:solidFill>
                  <a:srgbClr val="212529"/>
                </a:solidFill>
              </a:rPr>
              <a:t>Auto-approve path</a:t>
            </a:r>
          </a:p>
        </p:txBody>
      </p:sp>
      <p:sp>
        <p:nvSpPr>
          <p:cNvPr id="23" name="Rectangle 22"/>
          <p:cNvSpPr/>
          <p:nvPr/>
        </p:nvSpPr>
        <p:spPr>
          <a:xfrm>
            <a:off x="5760720" y="2926080"/>
            <a:ext cx="2011680" cy="731520"/>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212529"/>
                </a:solidFill>
              </a:rPr>
              <a:t>🟡 Manual Review</a:t>
            </a:r>
          </a:p>
        </p:txBody>
      </p:sp>
      <p:sp>
        <p:nvSpPr>
          <p:cNvPr id="24" name="Rectangle 23"/>
          <p:cNvSpPr/>
          <p:nvPr/>
        </p:nvSpPr>
        <p:spPr>
          <a:xfrm>
            <a:off x="7772400" y="2926080"/>
            <a:ext cx="2011680" cy="731520"/>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0">
                <a:solidFill>
                  <a:srgbClr val="212529"/>
                </a:solidFill>
              </a:rPr>
              <a:t>Borderline band:</a:t>
            </a:r>
          </a:p>
          <a:p>
            <a:pPr algn="ctr">
              <a:spcAft>
                <a:spcPts val="0"/>
              </a:spcAft>
            </a:pPr>
            <a:r>
              <a:rPr sz="1100" b="0">
                <a:solidFill>
                  <a:srgbClr val="212529"/>
                </a:solidFill>
              </a:rPr>
              <a:t>score 690-710 or EMI 38-42%</a:t>
            </a:r>
          </a:p>
        </p:txBody>
      </p:sp>
      <p:sp>
        <p:nvSpPr>
          <p:cNvPr id="25" name="Rectangle 24"/>
          <p:cNvSpPr/>
          <p:nvPr/>
        </p:nvSpPr>
        <p:spPr>
          <a:xfrm>
            <a:off x="9784080" y="2926080"/>
            <a:ext cx="2011680" cy="731520"/>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0">
                <a:solidFill>
                  <a:srgbClr val="212529"/>
                </a:solidFill>
              </a:rPr>
              <a:t>Underwriter queue</a:t>
            </a:r>
          </a:p>
        </p:txBody>
      </p:sp>
      <p:sp>
        <p:nvSpPr>
          <p:cNvPr id="26" name="Rectangle 25"/>
          <p:cNvSpPr/>
          <p:nvPr/>
        </p:nvSpPr>
        <p:spPr>
          <a:xfrm>
            <a:off x="5760720" y="3657600"/>
            <a:ext cx="2011680" cy="731520"/>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212529"/>
                </a:solidFill>
              </a:rPr>
              <a:t>🔴 Not Eligible</a:t>
            </a:r>
          </a:p>
        </p:txBody>
      </p:sp>
      <p:sp>
        <p:nvSpPr>
          <p:cNvPr id="27" name="Rectangle 26"/>
          <p:cNvSpPr/>
          <p:nvPr/>
        </p:nvSpPr>
        <p:spPr>
          <a:xfrm>
            <a:off x="7772400" y="3657600"/>
            <a:ext cx="2011680" cy="731520"/>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0">
                <a:solidFill>
                  <a:srgbClr val="212529"/>
                </a:solidFill>
              </a:rPr>
              <a:t>Fails a threshold and sits</a:t>
            </a:r>
          </a:p>
          <a:p>
            <a:pPr algn="ctr">
              <a:spcAft>
                <a:spcPts val="0"/>
              </a:spcAft>
            </a:pPr>
            <a:r>
              <a:rPr sz="1100" b="0">
                <a:solidFill>
                  <a:srgbClr val="212529"/>
                </a:solidFill>
              </a:rPr>
              <a:t>outside the borderline band</a:t>
            </a:r>
          </a:p>
        </p:txBody>
      </p:sp>
      <p:sp>
        <p:nvSpPr>
          <p:cNvPr id="28" name="Rectangle 27"/>
          <p:cNvSpPr/>
          <p:nvPr/>
        </p:nvSpPr>
        <p:spPr>
          <a:xfrm>
            <a:off x="9784080" y="3657600"/>
            <a:ext cx="2011680" cy="731520"/>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0">
                <a:solidFill>
                  <a:srgbClr val="212529"/>
                </a:solidFill>
              </a:rPr>
              <a:t>Decline + remediation tips</a:t>
            </a:r>
          </a:p>
        </p:txBody>
      </p:sp>
      <p:sp>
        <p:nvSpPr>
          <p:cNvPr id="29" name="TextBox 28"/>
          <p:cNvSpPr txBox="1"/>
          <p:nvPr/>
        </p:nvSpPr>
        <p:spPr>
          <a:xfrm>
            <a:off x="5760720" y="4480560"/>
            <a:ext cx="6035040" cy="320040"/>
          </a:xfrm>
          <a:prstGeom prst="rect">
            <a:avLst/>
          </a:prstGeom>
          <a:noFill/>
        </p:spPr>
        <p:txBody>
          <a:bodyPr wrap="square" anchor="t" lIns="73152" rIns="73152">
            <a:spAutoFit/>
          </a:bodyPr>
          <a:lstStyle/>
          <a:p>
            <a:pPr algn="l">
              <a:spcAft>
                <a:spcPts val="400"/>
              </a:spcAft>
            </a:pPr>
            <a:r>
              <a:rPr sz="1400" b="1">
                <a:solidFill>
                  <a:srgbClr val="1F77B4"/>
                </a:solidFill>
              </a:rPr>
              <a:t>Active thresholds</a:t>
            </a:r>
          </a:p>
        </p:txBody>
      </p:sp>
      <p:sp>
        <p:nvSpPr>
          <p:cNvPr id="30" name="Rounded Rectangle 29"/>
          <p:cNvSpPr/>
          <p:nvPr/>
        </p:nvSpPr>
        <p:spPr>
          <a:xfrm>
            <a:off x="5760720" y="4846320"/>
            <a:ext cx="141732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&gt; 700</a:t>
            </a:r>
          </a:p>
          <a:p>
            <a:pPr algn="ctr">
              <a:spcAft>
                <a:spcPts val="0"/>
              </a:spcAft>
            </a:pPr>
            <a:r>
              <a:rPr sz="900" b="0">
                <a:solidFill>
                  <a:srgbClr val="6C757D"/>
                </a:solidFill>
              </a:rPr>
              <a:t>Credit score</a:t>
            </a:r>
          </a:p>
        </p:txBody>
      </p:sp>
      <p:sp>
        <p:nvSpPr>
          <p:cNvPr id="31" name="Rounded Rectangle 30"/>
          <p:cNvSpPr/>
          <p:nvPr/>
        </p:nvSpPr>
        <p:spPr>
          <a:xfrm>
            <a:off x="7296912" y="4846320"/>
            <a:ext cx="141732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 40%</a:t>
            </a:r>
          </a:p>
          <a:p>
            <a:pPr algn="ctr">
              <a:spcAft>
                <a:spcPts val="0"/>
              </a:spcAft>
            </a:pPr>
            <a:r>
              <a:rPr sz="900" b="0">
                <a:solidFill>
                  <a:srgbClr val="6C757D"/>
                </a:solidFill>
              </a:rPr>
              <a:t>EMI / income</a:t>
            </a:r>
          </a:p>
        </p:txBody>
      </p:sp>
      <p:sp>
        <p:nvSpPr>
          <p:cNvPr id="32" name="Rounded Rectangle 31"/>
          <p:cNvSpPr/>
          <p:nvPr/>
        </p:nvSpPr>
        <p:spPr>
          <a:xfrm>
            <a:off x="8833104" y="4846320"/>
            <a:ext cx="141732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21 - 60</a:t>
            </a:r>
          </a:p>
          <a:p>
            <a:pPr algn="ctr">
              <a:spcAft>
                <a:spcPts val="0"/>
              </a:spcAft>
            </a:pPr>
            <a:r>
              <a:rPr sz="900" b="0">
                <a:solidFill>
                  <a:srgbClr val="6C757D"/>
                </a:solidFill>
              </a:rPr>
              <a:t>Age band</a:t>
            </a:r>
          </a:p>
        </p:txBody>
      </p:sp>
      <p:sp>
        <p:nvSpPr>
          <p:cNvPr id="33" name="Rounded Rectangle 32"/>
          <p:cNvSpPr/>
          <p:nvPr/>
        </p:nvSpPr>
        <p:spPr>
          <a:xfrm>
            <a:off x="10369296" y="4846320"/>
            <a:ext cx="1417320" cy="566928"/>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1F77B4"/>
                </a:solidFill>
              </a:rPr>
              <a:t>salaried, govt</a:t>
            </a:r>
          </a:p>
          <a:p>
            <a:pPr algn="ctr">
              <a:spcAft>
                <a:spcPts val="0"/>
              </a:spcAft>
            </a:pPr>
            <a:r>
              <a:rPr sz="900" b="0">
                <a:solidFill>
                  <a:srgbClr val="6C757D"/>
                </a:solidFill>
              </a:rPr>
              <a:t>Employment</a:t>
            </a:r>
          </a:p>
        </p:txBody>
      </p:sp>
      <p:sp>
        <p:nvSpPr>
          <p:cNvPr id="34" name="Rounded Rectangle 33"/>
          <p:cNvSpPr/>
          <p:nvPr/>
        </p:nvSpPr>
        <p:spPr>
          <a:xfrm>
            <a:off x="5760720" y="5577840"/>
            <a:ext cx="6035040" cy="804672"/>
          </a:xfrm>
          <a:prstGeom prst="roundRect">
            <a:avLst/>
          </a:prstGeom>
          <a:solidFill>
            <a:srgbClr val="FFFAF0"/>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FFC107"/>
                </a:solidFill>
              </a:rPr>
              <a:t>⚠️ Deliberate design choice</a:t>
            </a:r>
          </a:p>
          <a:p>
            <a:pPr algn="ctr">
              <a:spcAft>
                <a:spcPts val="0"/>
              </a:spcAft>
            </a:pPr>
            <a:r>
              <a:rPr sz="1200" b="0">
                <a:solidFill>
                  <a:srgbClr val="212529"/>
                </a:solidFill>
              </a:rPr>
              <a:t>Near a threshold, small input error → large outcome error. Borderline files escalate, they are not auto-declined.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8. Observability &amp; Traceability</a:t>
            </a:r>
          </a:p>
        </p:txBody>
      </p:sp>
      <p:sp>
        <p:nvSpPr>
          <p:cNvPr id="3" name="Rounded Rectangle 2"/>
          <p:cNvSpPr/>
          <p:nvPr/>
        </p:nvSpPr>
        <p:spPr>
          <a:xfrm>
            <a:off x="411480" y="1143000"/>
            <a:ext cx="3611880" cy="265176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4" name="TextBox 3"/>
          <p:cNvSpPr txBox="1"/>
          <p:nvPr/>
        </p:nvSpPr>
        <p:spPr>
          <a:xfrm>
            <a:off x="548640" y="1280160"/>
            <a:ext cx="3337560" cy="320040"/>
          </a:xfrm>
          <a:prstGeom prst="rect">
            <a:avLst/>
          </a:prstGeom>
          <a:noFill/>
        </p:spPr>
        <p:txBody>
          <a:bodyPr wrap="square" anchor="t" lIns="73152" rIns="73152">
            <a:spAutoFit/>
          </a:bodyPr>
          <a:lstStyle/>
          <a:p>
            <a:pPr algn="ctr">
              <a:spcAft>
                <a:spcPts val="400"/>
              </a:spcAft>
            </a:pPr>
            <a:r>
              <a:rPr sz="1500" b="1">
                <a:solidFill>
                  <a:srgbClr val="1F77B4"/>
                </a:solidFill>
              </a:rPr>
              <a:t>🔗 Traceability</a:t>
            </a:r>
          </a:p>
        </p:txBody>
      </p:sp>
      <p:sp>
        <p:nvSpPr>
          <p:cNvPr id="5" name="TextBox 4"/>
          <p:cNvSpPr txBox="1"/>
          <p:nvPr/>
        </p:nvSpPr>
        <p:spPr>
          <a:xfrm>
            <a:off x="640080" y="1691640"/>
            <a:ext cx="3200400" cy="2011680"/>
          </a:xfrm>
          <a:prstGeom prst="rect">
            <a:avLst/>
          </a:prstGeom>
          <a:noFill/>
        </p:spPr>
        <p:txBody>
          <a:bodyPr wrap="square" anchor="t" lIns="73152" rIns="73152">
            <a:spAutoFit/>
          </a:bodyPr>
          <a:lstStyle/>
          <a:p>
            <a:pPr algn="l">
              <a:spcAft>
                <a:spcPts val="400"/>
              </a:spcAft>
            </a:pPr>
            <a:r>
              <a:rPr sz="1200" b="0">
                <a:solidFill>
                  <a:srgbClr val="212529"/>
                </a:solidFill>
              </a:rPr>
              <a:t>• X-Request-ID minted at the edge</a:t>
            </a:r>
          </a:p>
          <a:p>
            <a:pPr algn="l">
              <a:spcAft>
                <a:spcPts val="400"/>
              </a:spcAft>
            </a:pPr>
            <a:r>
              <a:rPr sz="1200" b="0">
                <a:solidFill>
                  <a:srgbClr val="212529"/>
                </a:solidFill>
              </a:rPr>
              <a:t>• Propagated through every agent hop</a:t>
            </a:r>
          </a:p>
          <a:p>
            <a:pPr algn="l">
              <a:spcAft>
                <a:spcPts val="400"/>
              </a:spcAft>
            </a:pPr>
            <a:r>
              <a:rPr sz="1200" b="0">
                <a:solidFill>
                  <a:srgbClr val="212529"/>
                </a:solidFill>
              </a:rPr>
              <a:t>• Per-rule verdict + triggering value</a:t>
            </a:r>
          </a:p>
          <a:p>
            <a:pPr algn="l">
              <a:spcAft>
                <a:spcPts val="400"/>
              </a:spcAft>
            </a:pPr>
            <a:r>
              <a:rPr sz="1200" b="0">
                <a:solidFill>
                  <a:srgbClr val="212529"/>
                </a:solidFill>
              </a:rPr>
              <a:t>• Retrieved policy doc IDs recorded</a:t>
            </a:r>
          </a:p>
          <a:p>
            <a:pPr algn="l">
              <a:spcAft>
                <a:spcPts val="400"/>
              </a:spcAft>
            </a:pPr>
            <a:r>
              <a:rPr sz="1200" b="0">
                <a:solidFill>
                  <a:srgbClr val="212529"/>
                </a:solidFill>
              </a:rPr>
              <a:t>• UTC timestamp on every decision</a:t>
            </a:r>
          </a:p>
        </p:txBody>
      </p:sp>
      <p:sp>
        <p:nvSpPr>
          <p:cNvPr id="6" name="Rounded Rectangle 5"/>
          <p:cNvSpPr/>
          <p:nvPr/>
        </p:nvSpPr>
        <p:spPr>
          <a:xfrm>
            <a:off x="4251960" y="1143000"/>
            <a:ext cx="3611880" cy="2651760"/>
          </a:xfrm>
          <a:prstGeom prst="roundRect">
            <a:avLst/>
          </a:prstGeom>
          <a:solidFill>
            <a:srgbClr val="F0FFF0"/>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7" name="TextBox 6"/>
          <p:cNvSpPr txBox="1"/>
          <p:nvPr/>
        </p:nvSpPr>
        <p:spPr>
          <a:xfrm>
            <a:off x="4389120" y="1280160"/>
            <a:ext cx="3337560" cy="320040"/>
          </a:xfrm>
          <a:prstGeom prst="rect">
            <a:avLst/>
          </a:prstGeom>
          <a:noFill/>
        </p:spPr>
        <p:txBody>
          <a:bodyPr wrap="square" anchor="t" lIns="73152" rIns="73152">
            <a:spAutoFit/>
          </a:bodyPr>
          <a:lstStyle/>
          <a:p>
            <a:pPr algn="ctr">
              <a:spcAft>
                <a:spcPts val="400"/>
              </a:spcAft>
            </a:pPr>
            <a:r>
              <a:rPr sz="1500" b="1">
                <a:solidFill>
                  <a:srgbClr val="28A745"/>
                </a:solidFill>
              </a:rPr>
              <a:t>📝 Structured logging</a:t>
            </a:r>
          </a:p>
        </p:txBody>
      </p:sp>
      <p:sp>
        <p:nvSpPr>
          <p:cNvPr id="8" name="TextBox 7"/>
          <p:cNvSpPr txBox="1"/>
          <p:nvPr/>
        </p:nvSpPr>
        <p:spPr>
          <a:xfrm>
            <a:off x="4480560" y="1691640"/>
            <a:ext cx="3200400" cy="2011680"/>
          </a:xfrm>
          <a:prstGeom prst="rect">
            <a:avLst/>
          </a:prstGeom>
          <a:noFill/>
        </p:spPr>
        <p:txBody>
          <a:bodyPr wrap="square" anchor="t" lIns="73152" rIns="73152">
            <a:spAutoFit/>
          </a:bodyPr>
          <a:lstStyle/>
          <a:p>
            <a:pPr algn="l">
              <a:spcAft>
                <a:spcPts val="400"/>
              </a:spcAft>
            </a:pPr>
            <a:r>
              <a:rPr sz="1200" b="0">
                <a:solidFill>
                  <a:srgbClr val="212529"/>
                </a:solidFill>
              </a:rPr>
              <a:t>• JSON log lines (python-json-logger)</a:t>
            </a:r>
          </a:p>
          <a:p>
            <a:pPr algn="l">
              <a:spcAft>
                <a:spcPts val="400"/>
              </a:spcAft>
            </a:pPr>
            <a:r>
              <a:rPr sz="1200" b="0">
                <a:solidFill>
                  <a:srgbClr val="212529"/>
                </a:solidFill>
              </a:rPr>
              <a:t>• Append-only JSONL audit trail</a:t>
            </a:r>
          </a:p>
          <a:p>
            <a:pPr algn="l">
              <a:spcAft>
                <a:spcPts val="400"/>
              </a:spcAft>
            </a:pPr>
            <a:r>
              <a:rPr sz="1200" b="0">
                <a:solidFill>
                  <a:srgbClr val="212529"/>
                </a:solidFill>
              </a:rPr>
              <a:t>• Machine-parseable → log platform</a:t>
            </a:r>
          </a:p>
          <a:p>
            <a:pPr algn="l">
              <a:spcAft>
                <a:spcPts val="400"/>
              </a:spcAft>
            </a:pPr>
            <a:r>
              <a:rPr sz="1200" b="0">
                <a:solidFill>
                  <a:srgbClr val="212529"/>
                </a:solidFill>
              </a:rPr>
              <a:t>• Exception context captured on error</a:t>
            </a:r>
          </a:p>
          <a:p>
            <a:pPr algn="l">
              <a:spcAft>
                <a:spcPts val="400"/>
              </a:spcAft>
            </a:pPr>
            <a:r>
              <a:rPr sz="1200" b="0">
                <a:solidFill>
                  <a:srgbClr val="212529"/>
                </a:solidFill>
              </a:rPr>
              <a:t>• Audit record = system of record</a:t>
            </a:r>
          </a:p>
        </p:txBody>
      </p:sp>
      <p:sp>
        <p:nvSpPr>
          <p:cNvPr id="9" name="Rounded Rectangle 8"/>
          <p:cNvSpPr/>
          <p:nvPr/>
        </p:nvSpPr>
        <p:spPr>
          <a:xfrm>
            <a:off x="8092440" y="1143000"/>
            <a:ext cx="3611880" cy="2651760"/>
          </a:xfrm>
          <a:prstGeom prst="roundRect">
            <a:avLst/>
          </a:prstGeom>
          <a:solidFill>
            <a:srgbClr val="FFFAF0"/>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0" name="TextBox 9"/>
          <p:cNvSpPr txBox="1"/>
          <p:nvPr/>
        </p:nvSpPr>
        <p:spPr>
          <a:xfrm>
            <a:off x="8229600" y="1280160"/>
            <a:ext cx="3337560" cy="320040"/>
          </a:xfrm>
          <a:prstGeom prst="rect">
            <a:avLst/>
          </a:prstGeom>
          <a:noFill/>
        </p:spPr>
        <p:txBody>
          <a:bodyPr wrap="square" anchor="t" lIns="73152" rIns="73152">
            <a:spAutoFit/>
          </a:bodyPr>
          <a:lstStyle/>
          <a:p>
            <a:pPr algn="ctr">
              <a:spcAft>
                <a:spcPts val="400"/>
              </a:spcAft>
            </a:pPr>
            <a:r>
              <a:rPr sz="1500" b="1">
                <a:solidFill>
                  <a:srgbClr val="FFC107"/>
                </a:solidFill>
              </a:rPr>
              <a:t>📈 Monitoring signals</a:t>
            </a:r>
          </a:p>
        </p:txBody>
      </p:sp>
      <p:sp>
        <p:nvSpPr>
          <p:cNvPr id="11" name="TextBox 10"/>
          <p:cNvSpPr txBox="1"/>
          <p:nvPr/>
        </p:nvSpPr>
        <p:spPr>
          <a:xfrm>
            <a:off x="8321040" y="1691640"/>
            <a:ext cx="3200400" cy="2011680"/>
          </a:xfrm>
          <a:prstGeom prst="rect">
            <a:avLst/>
          </a:prstGeom>
          <a:noFill/>
        </p:spPr>
        <p:txBody>
          <a:bodyPr wrap="square" anchor="t" lIns="73152" rIns="73152">
            <a:spAutoFit/>
          </a:bodyPr>
          <a:lstStyle/>
          <a:p>
            <a:pPr algn="l">
              <a:spcAft>
                <a:spcPts val="400"/>
              </a:spcAft>
            </a:pPr>
            <a:r>
              <a:rPr sz="1200" b="0">
                <a:solidFill>
                  <a:srgbClr val="212529"/>
                </a:solidFill>
              </a:rPr>
              <a:t>• Latency p50 / p95 / p99</a:t>
            </a:r>
          </a:p>
          <a:p>
            <a:pPr algn="l">
              <a:spcAft>
                <a:spcPts val="400"/>
              </a:spcAft>
            </a:pPr>
            <a:r>
              <a:rPr sz="1200" b="0">
                <a:solidFill>
                  <a:srgbClr val="212529"/>
                </a:solidFill>
              </a:rPr>
              <a:t>• Decision mix (approve/review/decline)</a:t>
            </a:r>
          </a:p>
          <a:p>
            <a:pPr algn="l">
              <a:spcAft>
                <a:spcPts val="400"/>
              </a:spcAft>
            </a:pPr>
            <a:r>
              <a:rPr sz="1200" b="0">
                <a:solidFill>
                  <a:srgbClr val="212529"/>
                </a:solidFill>
              </a:rPr>
              <a:t>• Manual-review rate drift</a:t>
            </a:r>
          </a:p>
          <a:p>
            <a:pPr algn="l">
              <a:spcAft>
                <a:spcPts val="400"/>
              </a:spcAft>
            </a:pPr>
            <a:r>
              <a:rPr sz="1200" b="0">
                <a:solidFill>
                  <a:srgbClr val="212529"/>
                </a:solidFill>
              </a:rPr>
              <a:t>• Error rate + 4xx/5xx split</a:t>
            </a:r>
          </a:p>
          <a:p>
            <a:pPr algn="l">
              <a:spcAft>
                <a:spcPts val="400"/>
              </a:spcAft>
            </a:pPr>
            <a:r>
              <a:rPr sz="1200" b="0">
                <a:solidFill>
                  <a:srgbClr val="212529"/>
                </a:solidFill>
              </a:rPr>
              <a:t>• Retrieval hit quality</a:t>
            </a:r>
          </a:p>
        </p:txBody>
      </p:sp>
      <p:sp>
        <p:nvSpPr>
          <p:cNvPr id="12" name="TextBox 11"/>
          <p:cNvSpPr txBox="1"/>
          <p:nvPr/>
        </p:nvSpPr>
        <p:spPr>
          <a:xfrm>
            <a:off x="411480" y="3931920"/>
            <a:ext cx="11384280" cy="320040"/>
          </a:xfrm>
          <a:prstGeom prst="rect">
            <a:avLst/>
          </a:prstGeom>
          <a:noFill/>
        </p:spPr>
        <p:txBody>
          <a:bodyPr wrap="square" anchor="t" lIns="73152" rIns="73152">
            <a:spAutoFit/>
          </a:bodyPr>
          <a:lstStyle/>
          <a:p>
            <a:pPr algn="l">
              <a:spcAft>
                <a:spcPts val="400"/>
              </a:spcAft>
            </a:pPr>
            <a:r>
              <a:rPr sz="1500" b="1">
                <a:solidFill>
                  <a:srgbClr val="1F77B4"/>
                </a:solidFill>
              </a:rPr>
              <a:t>Audit record — one JSONL line per decision (logs/audit.log)</a:t>
            </a:r>
          </a:p>
        </p:txBody>
      </p:sp>
      <p:sp>
        <p:nvSpPr>
          <p:cNvPr id="13" name="Rounded Rectangle 12"/>
          <p:cNvSpPr/>
          <p:nvPr/>
        </p:nvSpPr>
        <p:spPr>
          <a:xfrm>
            <a:off x="411480" y="4297680"/>
            <a:ext cx="11384280" cy="1234440"/>
          </a:xfrm>
          <a:prstGeom prst="roundRect">
            <a:avLst/>
          </a:prstGeom>
          <a:solidFill>
            <a:srgbClr val="F0F2F6"/>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l">
              <a:spcAft>
                <a:spcPts val="0"/>
              </a:spcAft>
            </a:pPr>
            <a:r>
              <a:rPr sz="1200" b="0">
                <a:solidFill>
                  <a:srgbClr val="212529"/>
                </a:solidFill>
                <a:latin typeface="Consolas"/>
              </a:rPr>
              <a:t>{"request_id": "8f2c1a94-...", "timestamp": "2026-08-21T09:14:07Z",</a:t>
            </a:r>
          </a:p>
          <a:p>
            <a:pPr algn="l">
              <a:spcAft>
                <a:spcPts val="0"/>
              </a:spcAft>
            </a:pPr>
            <a:r>
              <a:rPr sz="1200" b="0">
                <a:solidFill>
                  <a:srgbClr val="212529"/>
                </a:solidFill>
                <a:latin typeface="Consolas"/>
              </a:rPr>
              <a:t> "input": {"age": 34, "monthly_income": 90000, "credit_score": 742},</a:t>
            </a:r>
          </a:p>
          <a:p>
            <a:pPr algn="l">
              <a:spcAft>
                <a:spcPts val="0"/>
              </a:spcAft>
            </a:pPr>
            <a:r>
              <a:rPr sz="1200" b="0">
                <a:solidFill>
                  <a:srgbClr val="212529"/>
                </a:solidFill>
                <a:latin typeface="Consolas"/>
              </a:rPr>
              <a:t> "decision": "Eligible", "rag_ids": ["rules-1", "rules-2", "rules-3"]}</a:t>
            </a:r>
          </a:p>
        </p:txBody>
      </p:sp>
      <p:sp>
        <p:nvSpPr>
          <p:cNvPr id="14" name="Rounded Rectangle 13"/>
          <p:cNvSpPr/>
          <p:nvPr/>
        </p:nvSpPr>
        <p:spPr>
          <a:xfrm>
            <a:off x="411480" y="5669280"/>
            <a:ext cx="11384280" cy="731520"/>
          </a:xfrm>
          <a:prstGeom prst="roundRect">
            <a:avLst/>
          </a:prstGeom>
          <a:solidFill>
            <a:srgbClr val="FFFAF0"/>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Known gap: audit records currently hold applicant PII in plaintext with no retention policy. Field-level encryption, hashed identifiers, and a retention window are scoped — see Roadmap.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9. Evaluation Results</a:t>
            </a:r>
          </a:p>
        </p:txBody>
      </p:sp>
      <p:sp>
        <p:nvSpPr>
          <p:cNvPr id="3" name="Rounded Rectangle 2"/>
          <p:cNvSpPr/>
          <p:nvPr/>
        </p:nvSpPr>
        <p:spPr>
          <a:xfrm>
            <a:off x="411480" y="1188720"/>
            <a:ext cx="2697480" cy="1691640"/>
          </a:xfrm>
          <a:prstGeom prst="roundRect">
            <a:avLst/>
          </a:prstGeom>
          <a:solidFill>
            <a:srgbClr val="FFFFFF"/>
          </a:solidFill>
          <a:ln w="222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4" name="TextBox 3"/>
          <p:cNvSpPr txBox="1"/>
          <p:nvPr/>
        </p:nvSpPr>
        <p:spPr>
          <a:xfrm>
            <a:off x="502920" y="1298448"/>
            <a:ext cx="2514600" cy="256032"/>
          </a:xfrm>
          <a:prstGeom prst="rect">
            <a:avLst/>
          </a:prstGeom>
          <a:noFill/>
        </p:spPr>
        <p:txBody>
          <a:bodyPr wrap="square" anchor="t" lIns="73152" rIns="73152">
            <a:spAutoFit/>
          </a:bodyPr>
          <a:lstStyle/>
          <a:p>
            <a:pPr algn="ctr">
              <a:spcAft>
                <a:spcPts val="400"/>
              </a:spcAft>
            </a:pPr>
            <a:r>
              <a:rPr sz="900" b="1">
                <a:solidFill>
                  <a:srgbClr val="28A745"/>
                </a:solidFill>
              </a:rPr>
              <a:t>MEASURED</a:t>
            </a:r>
          </a:p>
        </p:txBody>
      </p:sp>
      <p:sp>
        <p:nvSpPr>
          <p:cNvPr id="5" name="TextBox 4"/>
          <p:cNvSpPr txBox="1"/>
          <p:nvPr/>
        </p:nvSpPr>
        <p:spPr>
          <a:xfrm>
            <a:off x="502920" y="1572768"/>
            <a:ext cx="2514600" cy="457200"/>
          </a:xfrm>
          <a:prstGeom prst="rect">
            <a:avLst/>
          </a:prstGeom>
          <a:noFill/>
        </p:spPr>
        <p:txBody>
          <a:bodyPr wrap="square" anchor="t" lIns="73152" rIns="73152">
            <a:spAutoFit/>
          </a:bodyPr>
          <a:lstStyle/>
          <a:p>
            <a:pPr algn="ctr">
              <a:spcAft>
                <a:spcPts val="400"/>
              </a:spcAft>
            </a:pPr>
            <a:r>
              <a:rPr sz="2800" b="1">
                <a:solidFill>
                  <a:srgbClr val="28A745"/>
                </a:solidFill>
              </a:rPr>
              <a:t>100%</a:t>
            </a:r>
          </a:p>
        </p:txBody>
      </p:sp>
      <p:sp>
        <p:nvSpPr>
          <p:cNvPr id="6" name="TextBox 5"/>
          <p:cNvSpPr txBox="1"/>
          <p:nvPr/>
        </p:nvSpPr>
        <p:spPr>
          <a:xfrm>
            <a:off x="502920" y="2103120"/>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Decision consistency</a:t>
            </a:r>
          </a:p>
        </p:txBody>
      </p:sp>
      <p:sp>
        <p:nvSpPr>
          <p:cNvPr id="7" name="TextBox 6"/>
          <p:cNvSpPr txBox="1"/>
          <p:nvPr/>
        </p:nvSpPr>
        <p:spPr>
          <a:xfrm>
            <a:off x="502920" y="239572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identical inputs → identical output</a:t>
            </a:r>
          </a:p>
        </p:txBody>
      </p:sp>
      <p:sp>
        <p:nvSpPr>
          <p:cNvPr id="8" name="Rounded Rectangle 7"/>
          <p:cNvSpPr/>
          <p:nvPr/>
        </p:nvSpPr>
        <p:spPr>
          <a:xfrm>
            <a:off x="3291840" y="1188720"/>
            <a:ext cx="2697480" cy="1691640"/>
          </a:xfrm>
          <a:prstGeom prst="roundRect">
            <a:avLst/>
          </a:prstGeom>
          <a:solidFill>
            <a:srgbClr val="FFFFFF"/>
          </a:solidFill>
          <a:ln w="222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9" name="TextBox 8"/>
          <p:cNvSpPr txBox="1"/>
          <p:nvPr/>
        </p:nvSpPr>
        <p:spPr>
          <a:xfrm>
            <a:off x="3383280" y="1298448"/>
            <a:ext cx="2514600" cy="256032"/>
          </a:xfrm>
          <a:prstGeom prst="rect">
            <a:avLst/>
          </a:prstGeom>
          <a:noFill/>
        </p:spPr>
        <p:txBody>
          <a:bodyPr wrap="square" anchor="t" lIns="73152" rIns="73152">
            <a:spAutoFit/>
          </a:bodyPr>
          <a:lstStyle/>
          <a:p>
            <a:pPr algn="ctr">
              <a:spcAft>
                <a:spcPts val="400"/>
              </a:spcAft>
            </a:pPr>
            <a:r>
              <a:rPr sz="900" b="1">
                <a:solidFill>
                  <a:srgbClr val="28A745"/>
                </a:solidFill>
              </a:rPr>
              <a:t>MEASURED</a:t>
            </a:r>
          </a:p>
        </p:txBody>
      </p:sp>
      <p:sp>
        <p:nvSpPr>
          <p:cNvPr id="10" name="TextBox 9"/>
          <p:cNvSpPr txBox="1"/>
          <p:nvPr/>
        </p:nvSpPr>
        <p:spPr>
          <a:xfrm>
            <a:off x="3383280" y="1572768"/>
            <a:ext cx="2514600" cy="457200"/>
          </a:xfrm>
          <a:prstGeom prst="rect">
            <a:avLst/>
          </a:prstGeom>
          <a:noFill/>
        </p:spPr>
        <p:txBody>
          <a:bodyPr wrap="square" anchor="t" lIns="73152" rIns="73152">
            <a:spAutoFit/>
          </a:bodyPr>
          <a:lstStyle/>
          <a:p>
            <a:pPr algn="ctr">
              <a:spcAft>
                <a:spcPts val="400"/>
              </a:spcAft>
            </a:pPr>
            <a:r>
              <a:rPr sz="2800" b="1">
                <a:solidFill>
                  <a:srgbClr val="28A745"/>
                </a:solidFill>
              </a:rPr>
              <a:t>100%</a:t>
            </a:r>
          </a:p>
        </p:txBody>
      </p:sp>
      <p:sp>
        <p:nvSpPr>
          <p:cNvPr id="11" name="TextBox 10"/>
          <p:cNvSpPr txBox="1"/>
          <p:nvPr/>
        </p:nvSpPr>
        <p:spPr>
          <a:xfrm>
            <a:off x="3383280" y="2103120"/>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Rule correctness</a:t>
            </a:r>
          </a:p>
        </p:txBody>
      </p:sp>
      <p:sp>
        <p:nvSpPr>
          <p:cNvPr id="12" name="TextBox 11"/>
          <p:cNvSpPr txBox="1"/>
          <p:nvPr/>
        </p:nvSpPr>
        <p:spPr>
          <a:xfrm>
            <a:off x="3383280" y="239572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vs. policy fixtures, incl. boundaries</a:t>
            </a:r>
          </a:p>
        </p:txBody>
      </p:sp>
      <p:sp>
        <p:nvSpPr>
          <p:cNvPr id="13" name="Rounded Rectangle 12"/>
          <p:cNvSpPr/>
          <p:nvPr/>
        </p:nvSpPr>
        <p:spPr>
          <a:xfrm>
            <a:off x="6172200" y="1188720"/>
            <a:ext cx="2697480" cy="1691640"/>
          </a:xfrm>
          <a:prstGeom prst="roundRect">
            <a:avLst/>
          </a:prstGeom>
          <a:solidFill>
            <a:srgbClr val="FFFFFF"/>
          </a:solidFill>
          <a:ln w="222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4" name="TextBox 13"/>
          <p:cNvSpPr txBox="1"/>
          <p:nvPr/>
        </p:nvSpPr>
        <p:spPr>
          <a:xfrm>
            <a:off x="6263640" y="1298448"/>
            <a:ext cx="2514600" cy="256032"/>
          </a:xfrm>
          <a:prstGeom prst="rect">
            <a:avLst/>
          </a:prstGeom>
          <a:noFill/>
        </p:spPr>
        <p:txBody>
          <a:bodyPr wrap="square" anchor="t" lIns="73152" rIns="73152">
            <a:spAutoFit/>
          </a:bodyPr>
          <a:lstStyle/>
          <a:p>
            <a:pPr algn="ctr">
              <a:spcAft>
                <a:spcPts val="400"/>
              </a:spcAft>
            </a:pPr>
            <a:r>
              <a:rPr sz="900" b="1">
                <a:solidFill>
                  <a:srgbClr val="28A745"/>
                </a:solidFill>
              </a:rPr>
              <a:t>MEASURED</a:t>
            </a:r>
          </a:p>
        </p:txBody>
      </p:sp>
      <p:sp>
        <p:nvSpPr>
          <p:cNvPr id="15" name="TextBox 14"/>
          <p:cNvSpPr txBox="1"/>
          <p:nvPr/>
        </p:nvSpPr>
        <p:spPr>
          <a:xfrm>
            <a:off x="6263640" y="1572768"/>
            <a:ext cx="2514600" cy="457200"/>
          </a:xfrm>
          <a:prstGeom prst="rect">
            <a:avLst/>
          </a:prstGeom>
          <a:noFill/>
        </p:spPr>
        <p:txBody>
          <a:bodyPr wrap="square" anchor="t" lIns="73152" rIns="73152">
            <a:spAutoFit/>
          </a:bodyPr>
          <a:lstStyle/>
          <a:p>
            <a:pPr algn="ctr">
              <a:spcAft>
                <a:spcPts val="400"/>
              </a:spcAft>
            </a:pPr>
            <a:r>
              <a:rPr sz="2800" b="1">
                <a:solidFill>
                  <a:srgbClr val="28A745"/>
                </a:solidFill>
              </a:rPr>
              <a:t>&lt; 5 ms</a:t>
            </a:r>
          </a:p>
        </p:txBody>
      </p:sp>
      <p:sp>
        <p:nvSpPr>
          <p:cNvPr id="16" name="TextBox 15"/>
          <p:cNvSpPr txBox="1"/>
          <p:nvPr/>
        </p:nvSpPr>
        <p:spPr>
          <a:xfrm>
            <a:off x="6263640" y="2103120"/>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Decision latency (median)</a:t>
            </a:r>
          </a:p>
        </p:txBody>
      </p:sp>
      <p:sp>
        <p:nvSpPr>
          <p:cNvPr id="17" name="TextBox 16"/>
          <p:cNvSpPr txBox="1"/>
          <p:nvPr/>
        </p:nvSpPr>
        <p:spPr>
          <a:xfrm>
            <a:off x="6263640" y="239572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in-process, no model inference</a:t>
            </a:r>
          </a:p>
        </p:txBody>
      </p:sp>
      <p:sp>
        <p:nvSpPr>
          <p:cNvPr id="18" name="Rounded Rectangle 17"/>
          <p:cNvSpPr/>
          <p:nvPr/>
        </p:nvSpPr>
        <p:spPr>
          <a:xfrm>
            <a:off x="9052559" y="1188720"/>
            <a:ext cx="2697480" cy="1691640"/>
          </a:xfrm>
          <a:prstGeom prst="roundRect">
            <a:avLst/>
          </a:prstGeom>
          <a:solidFill>
            <a:srgbClr val="FFFFFF"/>
          </a:solidFill>
          <a:ln w="222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9" name="TextBox 18"/>
          <p:cNvSpPr txBox="1"/>
          <p:nvPr/>
        </p:nvSpPr>
        <p:spPr>
          <a:xfrm>
            <a:off x="9143999" y="1298448"/>
            <a:ext cx="2514600" cy="256032"/>
          </a:xfrm>
          <a:prstGeom prst="rect">
            <a:avLst/>
          </a:prstGeom>
          <a:noFill/>
        </p:spPr>
        <p:txBody>
          <a:bodyPr wrap="square" anchor="t" lIns="73152" rIns="73152">
            <a:spAutoFit/>
          </a:bodyPr>
          <a:lstStyle/>
          <a:p>
            <a:pPr algn="ctr">
              <a:spcAft>
                <a:spcPts val="400"/>
              </a:spcAft>
            </a:pPr>
            <a:r>
              <a:rPr sz="900" b="1">
                <a:solidFill>
                  <a:srgbClr val="28A745"/>
                </a:solidFill>
              </a:rPr>
              <a:t>MEASURED</a:t>
            </a:r>
          </a:p>
        </p:txBody>
      </p:sp>
      <p:sp>
        <p:nvSpPr>
          <p:cNvPr id="20" name="TextBox 19"/>
          <p:cNvSpPr txBox="1"/>
          <p:nvPr/>
        </p:nvSpPr>
        <p:spPr>
          <a:xfrm>
            <a:off x="9143999" y="1572768"/>
            <a:ext cx="2514600" cy="457200"/>
          </a:xfrm>
          <a:prstGeom prst="rect">
            <a:avLst/>
          </a:prstGeom>
          <a:noFill/>
        </p:spPr>
        <p:txBody>
          <a:bodyPr wrap="square" anchor="t" lIns="73152" rIns="73152">
            <a:spAutoFit/>
          </a:bodyPr>
          <a:lstStyle/>
          <a:p>
            <a:pPr algn="ctr">
              <a:spcAft>
                <a:spcPts val="400"/>
              </a:spcAft>
            </a:pPr>
            <a:r>
              <a:rPr sz="2800" b="1">
                <a:solidFill>
                  <a:srgbClr val="28A745"/>
                </a:solidFill>
              </a:rPr>
              <a:t>12 / 12</a:t>
            </a:r>
          </a:p>
        </p:txBody>
      </p:sp>
      <p:sp>
        <p:nvSpPr>
          <p:cNvPr id="21" name="TextBox 20"/>
          <p:cNvSpPr txBox="1"/>
          <p:nvPr/>
        </p:nvSpPr>
        <p:spPr>
          <a:xfrm>
            <a:off x="9143999" y="2103120"/>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Boundary cases covered</a:t>
            </a:r>
          </a:p>
        </p:txBody>
      </p:sp>
      <p:sp>
        <p:nvSpPr>
          <p:cNvPr id="22" name="TextBox 21"/>
          <p:cNvSpPr txBox="1"/>
          <p:nvPr/>
        </p:nvSpPr>
        <p:spPr>
          <a:xfrm>
            <a:off x="9143999" y="239572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700, 0.40, age 21 &amp; 60 edges</a:t>
            </a:r>
          </a:p>
        </p:txBody>
      </p:sp>
      <p:sp>
        <p:nvSpPr>
          <p:cNvPr id="23" name="Rounded Rectangle 22"/>
          <p:cNvSpPr/>
          <p:nvPr/>
        </p:nvSpPr>
        <p:spPr>
          <a:xfrm>
            <a:off x="411480" y="3063239"/>
            <a:ext cx="2697480" cy="169164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24" name="TextBox 23"/>
          <p:cNvSpPr txBox="1"/>
          <p:nvPr/>
        </p:nvSpPr>
        <p:spPr>
          <a:xfrm>
            <a:off x="502920" y="3172968"/>
            <a:ext cx="2514600" cy="256032"/>
          </a:xfrm>
          <a:prstGeom prst="rect">
            <a:avLst/>
          </a:prstGeom>
          <a:noFill/>
        </p:spPr>
        <p:txBody>
          <a:bodyPr wrap="square" anchor="t" lIns="73152" rIns="73152">
            <a:spAutoFit/>
          </a:bodyPr>
          <a:lstStyle/>
          <a:p>
            <a:pPr algn="ctr">
              <a:spcAft>
                <a:spcPts val="400"/>
              </a:spcAft>
            </a:pPr>
            <a:r>
              <a:rPr sz="900" b="1">
                <a:solidFill>
                  <a:srgbClr val="FFC107"/>
                </a:solidFill>
              </a:rPr>
              <a:t>PROJECTED</a:t>
            </a:r>
          </a:p>
        </p:txBody>
      </p:sp>
      <p:sp>
        <p:nvSpPr>
          <p:cNvPr id="25" name="TextBox 24"/>
          <p:cNvSpPr txBox="1"/>
          <p:nvPr/>
        </p:nvSpPr>
        <p:spPr>
          <a:xfrm>
            <a:off x="502920" y="3447287"/>
            <a:ext cx="2514600" cy="457200"/>
          </a:xfrm>
          <a:prstGeom prst="rect">
            <a:avLst/>
          </a:prstGeom>
          <a:noFill/>
        </p:spPr>
        <p:txBody>
          <a:bodyPr wrap="square" anchor="t" lIns="73152" rIns="73152">
            <a:spAutoFit/>
          </a:bodyPr>
          <a:lstStyle/>
          <a:p>
            <a:pPr algn="ctr">
              <a:spcAft>
                <a:spcPts val="400"/>
              </a:spcAft>
            </a:pPr>
            <a:r>
              <a:rPr sz="2800" b="1">
                <a:solidFill>
                  <a:srgbClr val="FFC107"/>
                </a:solidFill>
              </a:rPr>
              <a:t>96.8%</a:t>
            </a:r>
          </a:p>
        </p:txBody>
      </p:sp>
      <p:sp>
        <p:nvSpPr>
          <p:cNvPr id="26" name="TextBox 25"/>
          <p:cNvSpPr txBox="1"/>
          <p:nvPr/>
        </p:nvSpPr>
        <p:spPr>
          <a:xfrm>
            <a:off x="502920" y="3977639"/>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Agreement w/ underwriter</a:t>
            </a:r>
          </a:p>
        </p:txBody>
      </p:sp>
      <p:sp>
        <p:nvSpPr>
          <p:cNvPr id="27" name="TextBox 26"/>
          <p:cNvSpPr txBox="1"/>
          <p:nvPr/>
        </p:nvSpPr>
        <p:spPr>
          <a:xfrm>
            <a:off x="502920" y="427024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controlled sample, n = 1,247</a:t>
            </a:r>
          </a:p>
        </p:txBody>
      </p:sp>
      <p:sp>
        <p:nvSpPr>
          <p:cNvPr id="28" name="Rounded Rectangle 27"/>
          <p:cNvSpPr/>
          <p:nvPr/>
        </p:nvSpPr>
        <p:spPr>
          <a:xfrm>
            <a:off x="3291840" y="3063239"/>
            <a:ext cx="2697480" cy="169164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29" name="TextBox 28"/>
          <p:cNvSpPr txBox="1"/>
          <p:nvPr/>
        </p:nvSpPr>
        <p:spPr>
          <a:xfrm>
            <a:off x="3383280" y="3172968"/>
            <a:ext cx="2514600" cy="256032"/>
          </a:xfrm>
          <a:prstGeom prst="rect">
            <a:avLst/>
          </a:prstGeom>
          <a:noFill/>
        </p:spPr>
        <p:txBody>
          <a:bodyPr wrap="square" anchor="t" lIns="73152" rIns="73152">
            <a:spAutoFit/>
          </a:bodyPr>
          <a:lstStyle/>
          <a:p>
            <a:pPr algn="ctr">
              <a:spcAft>
                <a:spcPts val="400"/>
              </a:spcAft>
            </a:pPr>
            <a:r>
              <a:rPr sz="900" b="1">
                <a:solidFill>
                  <a:srgbClr val="FFC107"/>
                </a:solidFill>
              </a:rPr>
              <a:t>PROJECTED</a:t>
            </a:r>
          </a:p>
        </p:txBody>
      </p:sp>
      <p:sp>
        <p:nvSpPr>
          <p:cNvPr id="30" name="TextBox 29"/>
          <p:cNvSpPr txBox="1"/>
          <p:nvPr/>
        </p:nvSpPr>
        <p:spPr>
          <a:xfrm>
            <a:off x="3383280" y="3447287"/>
            <a:ext cx="2514600" cy="457200"/>
          </a:xfrm>
          <a:prstGeom prst="rect">
            <a:avLst/>
          </a:prstGeom>
          <a:noFill/>
        </p:spPr>
        <p:txBody>
          <a:bodyPr wrap="square" anchor="t" lIns="73152" rIns="73152">
            <a:spAutoFit/>
          </a:bodyPr>
          <a:lstStyle/>
          <a:p>
            <a:pPr algn="ctr">
              <a:spcAft>
                <a:spcPts val="400"/>
              </a:spcAft>
            </a:pPr>
            <a:r>
              <a:rPr sz="2800" b="1">
                <a:solidFill>
                  <a:srgbClr val="FFC107"/>
                </a:solidFill>
              </a:rPr>
              <a:t>2.1%</a:t>
            </a:r>
          </a:p>
        </p:txBody>
      </p:sp>
      <p:sp>
        <p:nvSpPr>
          <p:cNvPr id="31" name="TextBox 30"/>
          <p:cNvSpPr txBox="1"/>
          <p:nvPr/>
        </p:nvSpPr>
        <p:spPr>
          <a:xfrm>
            <a:off x="3383280" y="3977639"/>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False-approval rate</a:t>
            </a:r>
          </a:p>
        </p:txBody>
      </p:sp>
      <p:sp>
        <p:nvSpPr>
          <p:cNvPr id="32" name="TextBox 31"/>
          <p:cNvSpPr txBox="1"/>
          <p:nvPr/>
        </p:nvSpPr>
        <p:spPr>
          <a:xfrm>
            <a:off x="3383280" y="427024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approved that should have escalated</a:t>
            </a:r>
          </a:p>
        </p:txBody>
      </p:sp>
      <p:sp>
        <p:nvSpPr>
          <p:cNvPr id="33" name="Rounded Rectangle 32"/>
          <p:cNvSpPr/>
          <p:nvPr/>
        </p:nvSpPr>
        <p:spPr>
          <a:xfrm>
            <a:off x="6172200" y="3063239"/>
            <a:ext cx="2697480" cy="169164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34" name="TextBox 33"/>
          <p:cNvSpPr txBox="1"/>
          <p:nvPr/>
        </p:nvSpPr>
        <p:spPr>
          <a:xfrm>
            <a:off x="6263640" y="3172968"/>
            <a:ext cx="2514600" cy="256032"/>
          </a:xfrm>
          <a:prstGeom prst="rect">
            <a:avLst/>
          </a:prstGeom>
          <a:noFill/>
        </p:spPr>
        <p:txBody>
          <a:bodyPr wrap="square" anchor="t" lIns="73152" rIns="73152">
            <a:spAutoFit/>
          </a:bodyPr>
          <a:lstStyle/>
          <a:p>
            <a:pPr algn="ctr">
              <a:spcAft>
                <a:spcPts val="400"/>
              </a:spcAft>
            </a:pPr>
            <a:r>
              <a:rPr sz="900" b="1">
                <a:solidFill>
                  <a:srgbClr val="FFC107"/>
                </a:solidFill>
              </a:rPr>
              <a:t>PROJECTED</a:t>
            </a:r>
          </a:p>
        </p:txBody>
      </p:sp>
      <p:sp>
        <p:nvSpPr>
          <p:cNvPr id="35" name="TextBox 34"/>
          <p:cNvSpPr txBox="1"/>
          <p:nvPr/>
        </p:nvSpPr>
        <p:spPr>
          <a:xfrm>
            <a:off x="6263640" y="3447287"/>
            <a:ext cx="2514600" cy="457200"/>
          </a:xfrm>
          <a:prstGeom prst="rect">
            <a:avLst/>
          </a:prstGeom>
          <a:noFill/>
        </p:spPr>
        <p:txBody>
          <a:bodyPr wrap="square" anchor="t" lIns="73152" rIns="73152">
            <a:spAutoFit/>
          </a:bodyPr>
          <a:lstStyle/>
          <a:p>
            <a:pPr algn="ctr">
              <a:spcAft>
                <a:spcPts val="400"/>
              </a:spcAft>
            </a:pPr>
            <a:r>
              <a:rPr sz="2800" b="1">
                <a:solidFill>
                  <a:srgbClr val="FFC107"/>
                </a:solidFill>
              </a:rPr>
              <a:t>8.3%</a:t>
            </a:r>
          </a:p>
        </p:txBody>
      </p:sp>
      <p:sp>
        <p:nvSpPr>
          <p:cNvPr id="36" name="TextBox 35"/>
          <p:cNvSpPr txBox="1"/>
          <p:nvPr/>
        </p:nvSpPr>
        <p:spPr>
          <a:xfrm>
            <a:off x="6263640" y="3977639"/>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Manual-review rate</a:t>
            </a:r>
          </a:p>
        </p:txBody>
      </p:sp>
      <p:sp>
        <p:nvSpPr>
          <p:cNvPr id="37" name="TextBox 36"/>
          <p:cNvSpPr txBox="1"/>
          <p:nvPr/>
        </p:nvSpPr>
        <p:spPr>
          <a:xfrm>
            <a:off x="6263640" y="427024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share routed to a human</a:t>
            </a:r>
          </a:p>
        </p:txBody>
      </p:sp>
      <p:sp>
        <p:nvSpPr>
          <p:cNvPr id="38" name="Rounded Rectangle 37"/>
          <p:cNvSpPr/>
          <p:nvPr/>
        </p:nvSpPr>
        <p:spPr>
          <a:xfrm>
            <a:off x="9052559" y="3063239"/>
            <a:ext cx="2697480" cy="169164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39" name="TextBox 38"/>
          <p:cNvSpPr txBox="1"/>
          <p:nvPr/>
        </p:nvSpPr>
        <p:spPr>
          <a:xfrm>
            <a:off x="9143999" y="3172968"/>
            <a:ext cx="2514600" cy="256032"/>
          </a:xfrm>
          <a:prstGeom prst="rect">
            <a:avLst/>
          </a:prstGeom>
          <a:noFill/>
        </p:spPr>
        <p:txBody>
          <a:bodyPr wrap="square" anchor="t" lIns="73152" rIns="73152">
            <a:spAutoFit/>
          </a:bodyPr>
          <a:lstStyle/>
          <a:p>
            <a:pPr algn="ctr">
              <a:spcAft>
                <a:spcPts val="400"/>
              </a:spcAft>
            </a:pPr>
            <a:r>
              <a:rPr sz="900" b="1">
                <a:solidFill>
                  <a:srgbClr val="FFC107"/>
                </a:solidFill>
              </a:rPr>
              <a:t>PROJECTED</a:t>
            </a:r>
          </a:p>
        </p:txBody>
      </p:sp>
      <p:sp>
        <p:nvSpPr>
          <p:cNvPr id="40" name="TextBox 39"/>
          <p:cNvSpPr txBox="1"/>
          <p:nvPr/>
        </p:nvSpPr>
        <p:spPr>
          <a:xfrm>
            <a:off x="9143999" y="3447287"/>
            <a:ext cx="2514600" cy="457200"/>
          </a:xfrm>
          <a:prstGeom prst="rect">
            <a:avLst/>
          </a:prstGeom>
          <a:noFill/>
        </p:spPr>
        <p:txBody>
          <a:bodyPr wrap="square" anchor="t" lIns="73152" rIns="73152">
            <a:spAutoFit/>
          </a:bodyPr>
          <a:lstStyle/>
          <a:p>
            <a:pPr algn="ctr">
              <a:spcAft>
                <a:spcPts val="400"/>
              </a:spcAft>
            </a:pPr>
            <a:r>
              <a:rPr sz="2800" b="1">
                <a:solidFill>
                  <a:srgbClr val="FFC107"/>
                </a:solidFill>
              </a:rPr>
              <a:t>91.7%</a:t>
            </a:r>
          </a:p>
        </p:txBody>
      </p:sp>
      <p:sp>
        <p:nvSpPr>
          <p:cNvPr id="41" name="TextBox 40"/>
          <p:cNvSpPr txBox="1"/>
          <p:nvPr/>
        </p:nvSpPr>
        <p:spPr>
          <a:xfrm>
            <a:off x="9143999" y="3977639"/>
            <a:ext cx="2514600" cy="274320"/>
          </a:xfrm>
          <a:prstGeom prst="rect">
            <a:avLst/>
          </a:prstGeom>
          <a:noFill/>
        </p:spPr>
        <p:txBody>
          <a:bodyPr wrap="square" anchor="t" lIns="73152" rIns="73152">
            <a:spAutoFit/>
          </a:bodyPr>
          <a:lstStyle/>
          <a:p>
            <a:pPr algn="ctr">
              <a:spcAft>
                <a:spcPts val="400"/>
              </a:spcAft>
            </a:pPr>
            <a:r>
              <a:rPr sz="1200" b="1">
                <a:solidFill>
                  <a:srgbClr val="212529"/>
                </a:solidFill>
              </a:rPr>
              <a:t>Auto-decision coverage</a:t>
            </a:r>
          </a:p>
        </p:txBody>
      </p:sp>
      <p:sp>
        <p:nvSpPr>
          <p:cNvPr id="42" name="TextBox 41"/>
          <p:cNvSpPr txBox="1"/>
          <p:nvPr/>
        </p:nvSpPr>
        <p:spPr>
          <a:xfrm>
            <a:off x="9143999" y="4270248"/>
            <a:ext cx="2514600" cy="411480"/>
          </a:xfrm>
          <a:prstGeom prst="rect">
            <a:avLst/>
          </a:prstGeom>
          <a:noFill/>
        </p:spPr>
        <p:txBody>
          <a:bodyPr wrap="square" anchor="t" lIns="73152" rIns="73152">
            <a:spAutoFit/>
          </a:bodyPr>
          <a:lstStyle/>
          <a:p>
            <a:pPr algn="ctr">
              <a:spcAft>
                <a:spcPts val="400"/>
              </a:spcAft>
            </a:pPr>
            <a:r>
              <a:rPr sz="1000" b="0">
                <a:solidFill>
                  <a:srgbClr val="6C757D"/>
                </a:solidFill>
              </a:rPr>
              <a:t>closed without human touch</a:t>
            </a:r>
          </a:p>
        </p:txBody>
      </p:sp>
      <p:sp>
        <p:nvSpPr>
          <p:cNvPr id="43" name="Rounded Rectangle 42"/>
          <p:cNvSpPr/>
          <p:nvPr/>
        </p:nvSpPr>
        <p:spPr>
          <a:xfrm>
            <a:off x="411480" y="5074920"/>
            <a:ext cx="11384280" cy="1325880"/>
          </a:xfrm>
          <a:prstGeom prst="roundRect">
            <a:avLst/>
          </a:prstGeom>
          <a:solidFill>
            <a:srgbClr val="F0F2F6"/>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l">
              <a:spcAft>
                <a:spcPts val="0"/>
              </a:spcAft>
            </a:pPr>
            <a:r>
              <a:rPr sz="1300" b="1">
                <a:solidFill>
                  <a:srgbClr val="1F77B4"/>
                </a:solidFill>
              </a:rPr>
              <a:t>📐 Methodology</a:t>
            </a:r>
          </a:p>
          <a:p>
            <a:pPr algn="l">
              <a:spcAft>
                <a:spcPts val="0"/>
              </a:spcAft>
            </a:pPr>
            <a:r>
              <a:rPr sz="1200" b="0">
                <a:solidFill>
                  <a:srgbClr val="212529"/>
                </a:solidFill>
              </a:rPr>
              <a:t>MEASURED = automated test suite over policy fixtures, run in CI on every commit.  •  PROJECTED = controlled evaluation set of 1,247 historical applications, adjudicated by two senior underwriters; disagreements resolved by a third.  •  Baseline = current manual process.  •  Ground truth = final underwriter decision on the same file.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10. Load Testing Results</a:t>
            </a:r>
          </a:p>
        </p:txBody>
      </p:sp>
      <p:sp>
        <p:nvSpPr>
          <p:cNvPr id="3" name="Rectangle 2"/>
          <p:cNvSpPr/>
          <p:nvPr/>
        </p:nvSpPr>
        <p:spPr>
          <a:xfrm>
            <a:off x="548640" y="1188720"/>
            <a:ext cx="2212848" cy="530352"/>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FFFFFF"/>
                </a:solidFill>
              </a:rPr>
              <a:t>Load level</a:t>
            </a:r>
          </a:p>
        </p:txBody>
      </p:sp>
      <p:sp>
        <p:nvSpPr>
          <p:cNvPr id="4" name="Rectangle 3"/>
          <p:cNvSpPr/>
          <p:nvPr/>
        </p:nvSpPr>
        <p:spPr>
          <a:xfrm>
            <a:off x="2761488" y="1188720"/>
            <a:ext cx="2212848" cy="530352"/>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FFFFFF"/>
                </a:solidFill>
              </a:rPr>
              <a:t>Throughput</a:t>
            </a:r>
          </a:p>
        </p:txBody>
      </p:sp>
      <p:sp>
        <p:nvSpPr>
          <p:cNvPr id="5" name="Rectangle 4"/>
          <p:cNvSpPr/>
          <p:nvPr/>
        </p:nvSpPr>
        <p:spPr>
          <a:xfrm>
            <a:off x="4974336" y="1188720"/>
            <a:ext cx="2212848" cy="530352"/>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FFFFFF"/>
                </a:solidFill>
              </a:rPr>
              <a:t>Avg latency</a:t>
            </a:r>
          </a:p>
        </p:txBody>
      </p:sp>
      <p:sp>
        <p:nvSpPr>
          <p:cNvPr id="6" name="Rectangle 5"/>
          <p:cNvSpPr/>
          <p:nvPr/>
        </p:nvSpPr>
        <p:spPr>
          <a:xfrm>
            <a:off x="7187183" y="1188720"/>
            <a:ext cx="2212848" cy="530352"/>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FFFFFF"/>
                </a:solidFill>
              </a:rPr>
              <a:t>P95 latency</a:t>
            </a:r>
          </a:p>
        </p:txBody>
      </p:sp>
      <p:sp>
        <p:nvSpPr>
          <p:cNvPr id="7" name="Rectangle 6"/>
          <p:cNvSpPr/>
          <p:nvPr/>
        </p:nvSpPr>
        <p:spPr>
          <a:xfrm>
            <a:off x="9400032" y="1188720"/>
            <a:ext cx="2212848" cy="530352"/>
          </a:xfrm>
          <a:prstGeom prst="rect">
            <a:avLst/>
          </a:prstGeom>
          <a:solidFill>
            <a:srgbClr val="1F77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FFFFFF"/>
                </a:solidFill>
              </a:rPr>
              <a:t>Success rate</a:t>
            </a:r>
          </a:p>
        </p:txBody>
      </p:sp>
      <p:sp>
        <p:nvSpPr>
          <p:cNvPr id="8" name="Rectangle 7"/>
          <p:cNvSpPr/>
          <p:nvPr/>
        </p:nvSpPr>
        <p:spPr>
          <a:xfrm>
            <a:off x="548640" y="1719072"/>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212529"/>
                </a:solidFill>
              </a:rPr>
              <a:t>Low — 10 req/s</a:t>
            </a:r>
          </a:p>
        </p:txBody>
      </p:sp>
      <p:sp>
        <p:nvSpPr>
          <p:cNvPr id="9" name="Rectangle 8"/>
          <p:cNvSpPr/>
          <p:nvPr/>
        </p:nvSpPr>
        <p:spPr>
          <a:xfrm>
            <a:off x="2761488" y="1719072"/>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9.8 req/s</a:t>
            </a:r>
          </a:p>
        </p:txBody>
      </p:sp>
      <p:sp>
        <p:nvSpPr>
          <p:cNvPr id="10" name="Rectangle 9"/>
          <p:cNvSpPr/>
          <p:nvPr/>
        </p:nvSpPr>
        <p:spPr>
          <a:xfrm>
            <a:off x="4974336" y="1719072"/>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85 ms</a:t>
            </a:r>
          </a:p>
        </p:txBody>
      </p:sp>
      <p:sp>
        <p:nvSpPr>
          <p:cNvPr id="11" name="Rectangle 10"/>
          <p:cNvSpPr/>
          <p:nvPr/>
        </p:nvSpPr>
        <p:spPr>
          <a:xfrm>
            <a:off x="7187183" y="1719072"/>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110 ms</a:t>
            </a:r>
          </a:p>
        </p:txBody>
      </p:sp>
      <p:sp>
        <p:nvSpPr>
          <p:cNvPr id="12" name="Rectangle 11"/>
          <p:cNvSpPr/>
          <p:nvPr/>
        </p:nvSpPr>
        <p:spPr>
          <a:xfrm>
            <a:off x="9400032" y="1719072"/>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99.8%</a:t>
            </a:r>
          </a:p>
        </p:txBody>
      </p:sp>
      <p:sp>
        <p:nvSpPr>
          <p:cNvPr id="13" name="Rectangle 12"/>
          <p:cNvSpPr/>
          <p:nvPr/>
        </p:nvSpPr>
        <p:spPr>
          <a:xfrm>
            <a:off x="548640" y="2249424"/>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212529"/>
                </a:solidFill>
              </a:rPr>
              <a:t>Medium — 50 req/s</a:t>
            </a:r>
          </a:p>
        </p:txBody>
      </p:sp>
      <p:sp>
        <p:nvSpPr>
          <p:cNvPr id="14" name="Rectangle 13"/>
          <p:cNvSpPr/>
          <p:nvPr/>
        </p:nvSpPr>
        <p:spPr>
          <a:xfrm>
            <a:off x="2761488" y="2249424"/>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49.5 req/s</a:t>
            </a:r>
          </a:p>
        </p:txBody>
      </p:sp>
      <p:sp>
        <p:nvSpPr>
          <p:cNvPr id="15" name="Rectangle 14"/>
          <p:cNvSpPr/>
          <p:nvPr/>
        </p:nvSpPr>
        <p:spPr>
          <a:xfrm>
            <a:off x="4974336" y="2249424"/>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120 ms</a:t>
            </a:r>
          </a:p>
        </p:txBody>
      </p:sp>
      <p:sp>
        <p:nvSpPr>
          <p:cNvPr id="16" name="Rectangle 15"/>
          <p:cNvSpPr/>
          <p:nvPr/>
        </p:nvSpPr>
        <p:spPr>
          <a:xfrm>
            <a:off x="7187183" y="2249424"/>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185 ms</a:t>
            </a:r>
          </a:p>
        </p:txBody>
      </p:sp>
      <p:sp>
        <p:nvSpPr>
          <p:cNvPr id="17" name="Rectangle 16"/>
          <p:cNvSpPr/>
          <p:nvPr/>
        </p:nvSpPr>
        <p:spPr>
          <a:xfrm>
            <a:off x="9400032" y="2249424"/>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99.6%</a:t>
            </a:r>
          </a:p>
        </p:txBody>
      </p:sp>
      <p:sp>
        <p:nvSpPr>
          <p:cNvPr id="18" name="Rectangle 17"/>
          <p:cNvSpPr/>
          <p:nvPr/>
        </p:nvSpPr>
        <p:spPr>
          <a:xfrm>
            <a:off x="548640" y="2779776"/>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212529"/>
                </a:solidFill>
              </a:rPr>
              <a:t>High — 100 req/s</a:t>
            </a:r>
          </a:p>
        </p:txBody>
      </p:sp>
      <p:sp>
        <p:nvSpPr>
          <p:cNvPr id="19" name="Rectangle 18"/>
          <p:cNvSpPr/>
          <p:nvPr/>
        </p:nvSpPr>
        <p:spPr>
          <a:xfrm>
            <a:off x="2761488" y="2779776"/>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98.2 req/s</a:t>
            </a:r>
          </a:p>
        </p:txBody>
      </p:sp>
      <p:sp>
        <p:nvSpPr>
          <p:cNvPr id="20" name="Rectangle 19"/>
          <p:cNvSpPr/>
          <p:nvPr/>
        </p:nvSpPr>
        <p:spPr>
          <a:xfrm>
            <a:off x="4974336" y="2779776"/>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155 ms</a:t>
            </a:r>
          </a:p>
        </p:txBody>
      </p:sp>
      <p:sp>
        <p:nvSpPr>
          <p:cNvPr id="21" name="Rectangle 20"/>
          <p:cNvSpPr/>
          <p:nvPr/>
        </p:nvSpPr>
        <p:spPr>
          <a:xfrm>
            <a:off x="7187183" y="2779776"/>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245 ms</a:t>
            </a:r>
          </a:p>
        </p:txBody>
      </p:sp>
      <p:sp>
        <p:nvSpPr>
          <p:cNvPr id="22" name="Rectangle 21"/>
          <p:cNvSpPr/>
          <p:nvPr/>
        </p:nvSpPr>
        <p:spPr>
          <a:xfrm>
            <a:off x="9400032" y="2779776"/>
            <a:ext cx="2212848" cy="530352"/>
          </a:xfrm>
          <a:prstGeom prst="rect">
            <a:avLst/>
          </a:prstGeom>
          <a:solidFill>
            <a:srgbClr val="FFFFFF"/>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99.2%</a:t>
            </a:r>
          </a:p>
        </p:txBody>
      </p:sp>
      <p:sp>
        <p:nvSpPr>
          <p:cNvPr id="23" name="Rectangle 22"/>
          <p:cNvSpPr/>
          <p:nvPr/>
        </p:nvSpPr>
        <p:spPr>
          <a:xfrm>
            <a:off x="548640" y="3310128"/>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212529"/>
                </a:solidFill>
              </a:rPr>
              <a:t>Peak — 200 req/s</a:t>
            </a:r>
          </a:p>
        </p:txBody>
      </p:sp>
      <p:sp>
        <p:nvSpPr>
          <p:cNvPr id="24" name="Rectangle 23"/>
          <p:cNvSpPr/>
          <p:nvPr/>
        </p:nvSpPr>
        <p:spPr>
          <a:xfrm>
            <a:off x="2761488" y="3310128"/>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195 req/s</a:t>
            </a:r>
          </a:p>
        </p:txBody>
      </p:sp>
      <p:sp>
        <p:nvSpPr>
          <p:cNvPr id="25" name="Rectangle 24"/>
          <p:cNvSpPr/>
          <p:nvPr/>
        </p:nvSpPr>
        <p:spPr>
          <a:xfrm>
            <a:off x="4974336" y="3310128"/>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210 ms</a:t>
            </a:r>
          </a:p>
        </p:txBody>
      </p:sp>
      <p:sp>
        <p:nvSpPr>
          <p:cNvPr id="26" name="Rectangle 25"/>
          <p:cNvSpPr/>
          <p:nvPr/>
        </p:nvSpPr>
        <p:spPr>
          <a:xfrm>
            <a:off x="7187183" y="3310128"/>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380 ms</a:t>
            </a:r>
          </a:p>
        </p:txBody>
      </p:sp>
      <p:sp>
        <p:nvSpPr>
          <p:cNvPr id="27" name="Rectangle 26"/>
          <p:cNvSpPr/>
          <p:nvPr/>
        </p:nvSpPr>
        <p:spPr>
          <a:xfrm>
            <a:off x="9400032" y="3310128"/>
            <a:ext cx="2212848" cy="530352"/>
          </a:xfrm>
          <a:prstGeom prst="rect">
            <a:avLst/>
          </a:prstGeom>
          <a:solidFill>
            <a:srgbClr val="F0F2F6"/>
          </a:solidFill>
          <a:ln w="9525">
            <a:solidFill>
              <a:srgbClr val="C8D0D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0">
                <a:solidFill>
                  <a:srgbClr val="212529"/>
                </a:solidFill>
              </a:rPr>
              <a:t>98.7%</a:t>
            </a:r>
          </a:p>
        </p:txBody>
      </p:sp>
      <p:sp>
        <p:nvSpPr>
          <p:cNvPr id="28" name="Rounded Rectangle 27"/>
          <p:cNvSpPr/>
          <p:nvPr/>
        </p:nvSpPr>
        <p:spPr>
          <a:xfrm>
            <a:off x="548640" y="4023360"/>
            <a:ext cx="2651760" cy="868680"/>
          </a:xfrm>
          <a:prstGeom prst="roundRect">
            <a:avLst/>
          </a:prstGeom>
          <a:solidFill>
            <a:srgbClr val="FFFFFF"/>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1">
                <a:solidFill>
                  <a:srgbClr val="28A745"/>
                </a:solidFill>
              </a:rPr>
              <a:t>20×</a:t>
            </a:r>
          </a:p>
          <a:p>
            <a:pPr algn="ctr">
              <a:spcAft>
                <a:spcPts val="0"/>
              </a:spcAft>
            </a:pPr>
            <a:r>
              <a:rPr sz="1100" b="0">
                <a:solidFill>
                  <a:srgbClr val="212529"/>
                </a:solidFill>
              </a:rPr>
              <a:t>load increase</a:t>
            </a:r>
          </a:p>
        </p:txBody>
      </p:sp>
      <p:sp>
        <p:nvSpPr>
          <p:cNvPr id="29" name="Rounded Rectangle 28"/>
          <p:cNvSpPr/>
          <p:nvPr/>
        </p:nvSpPr>
        <p:spPr>
          <a:xfrm>
            <a:off x="3346704" y="4023360"/>
            <a:ext cx="2651760" cy="868680"/>
          </a:xfrm>
          <a:prstGeom prst="roundRect">
            <a:avLst/>
          </a:prstGeom>
          <a:solidFill>
            <a:srgbClr val="FFFFFF"/>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1">
                <a:solidFill>
                  <a:srgbClr val="28A745"/>
                </a:solidFill>
              </a:rPr>
              <a:t>2.5×</a:t>
            </a:r>
          </a:p>
          <a:p>
            <a:pPr algn="ctr">
              <a:spcAft>
                <a:spcPts val="0"/>
              </a:spcAft>
            </a:pPr>
            <a:r>
              <a:rPr sz="1100" b="0">
                <a:solidFill>
                  <a:srgbClr val="212529"/>
                </a:solidFill>
              </a:rPr>
              <a:t>latency increase</a:t>
            </a:r>
          </a:p>
        </p:txBody>
      </p:sp>
      <p:sp>
        <p:nvSpPr>
          <p:cNvPr id="30" name="Rounded Rectangle 29"/>
          <p:cNvSpPr/>
          <p:nvPr/>
        </p:nvSpPr>
        <p:spPr>
          <a:xfrm>
            <a:off x="6144768" y="4023360"/>
            <a:ext cx="2651760" cy="868680"/>
          </a:xfrm>
          <a:prstGeom prst="roundRect">
            <a:avLst/>
          </a:prstGeom>
          <a:solidFill>
            <a:srgbClr val="FFFFFF"/>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1">
                <a:solidFill>
                  <a:srgbClr val="28A745"/>
                </a:solidFill>
              </a:rPr>
              <a:t>98.7%</a:t>
            </a:r>
          </a:p>
          <a:p>
            <a:pPr algn="ctr">
              <a:spcAft>
                <a:spcPts val="0"/>
              </a:spcAft>
            </a:pPr>
            <a:r>
              <a:rPr sz="1100" b="0">
                <a:solidFill>
                  <a:srgbClr val="212529"/>
                </a:solidFill>
              </a:rPr>
              <a:t>success at peak</a:t>
            </a:r>
          </a:p>
        </p:txBody>
      </p:sp>
      <p:sp>
        <p:nvSpPr>
          <p:cNvPr id="31" name="Rounded Rectangle 30"/>
          <p:cNvSpPr/>
          <p:nvPr/>
        </p:nvSpPr>
        <p:spPr>
          <a:xfrm>
            <a:off x="8942832" y="4023360"/>
            <a:ext cx="2651760" cy="868680"/>
          </a:xfrm>
          <a:prstGeom prst="roundRect">
            <a:avLst/>
          </a:prstGeom>
          <a:solidFill>
            <a:srgbClr val="FFFFFF"/>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200" b="1">
                <a:solidFill>
                  <a:srgbClr val="28A745"/>
                </a:solidFill>
              </a:rPr>
              <a:t>0</a:t>
            </a:r>
          </a:p>
          <a:p>
            <a:pPr algn="ctr">
              <a:spcAft>
                <a:spcPts val="0"/>
              </a:spcAft>
            </a:pPr>
            <a:r>
              <a:rPr sz="1100" b="0">
                <a:solidFill>
                  <a:srgbClr val="212529"/>
                </a:solidFill>
              </a:rPr>
              <a:t>cascading failures</a:t>
            </a:r>
          </a:p>
        </p:txBody>
      </p:sp>
      <p:sp>
        <p:nvSpPr>
          <p:cNvPr id="32" name="TextBox 31"/>
          <p:cNvSpPr txBox="1"/>
          <p:nvPr/>
        </p:nvSpPr>
        <p:spPr>
          <a:xfrm>
            <a:off x="548640" y="5029200"/>
            <a:ext cx="11155680" cy="320040"/>
          </a:xfrm>
          <a:prstGeom prst="rect">
            <a:avLst/>
          </a:prstGeom>
          <a:noFill/>
        </p:spPr>
        <p:txBody>
          <a:bodyPr wrap="square" anchor="t" lIns="73152" rIns="73152">
            <a:spAutoFit/>
          </a:bodyPr>
          <a:lstStyle/>
          <a:p>
            <a:pPr algn="l">
              <a:spcAft>
                <a:spcPts val="400"/>
              </a:spcAft>
            </a:pPr>
            <a:r>
              <a:rPr sz="1500" b="1">
                <a:solidFill>
                  <a:srgbClr val="1F77B4"/>
                </a:solidFill>
              </a:rPr>
              <a:t>Why it scales this way</a:t>
            </a:r>
          </a:p>
        </p:txBody>
      </p:sp>
      <p:sp>
        <p:nvSpPr>
          <p:cNvPr id="33" name="TextBox 32"/>
          <p:cNvSpPr txBox="1"/>
          <p:nvPr/>
        </p:nvSpPr>
        <p:spPr>
          <a:xfrm>
            <a:off x="548640" y="5349240"/>
            <a:ext cx="11155680" cy="1188720"/>
          </a:xfrm>
          <a:prstGeom prst="rect">
            <a:avLst/>
          </a:prstGeom>
          <a:noFill/>
        </p:spPr>
        <p:txBody>
          <a:bodyPr wrap="square" anchor="t" lIns="73152" rIns="73152">
            <a:spAutoFit/>
          </a:bodyPr>
          <a:lstStyle/>
          <a:p>
            <a:pPr algn="l">
              <a:spcAft>
                <a:spcPts val="400"/>
              </a:spcAft>
            </a:pPr>
            <a:r>
              <a:rPr sz="1300" b="0">
                <a:solidFill>
                  <a:srgbClr val="212529"/>
                </a:solidFill>
              </a:rPr>
              <a:t>• Stateless API tier — no session affinity, so capacity is added by adding instances</a:t>
            </a:r>
          </a:p>
          <a:p>
            <a:pPr algn="l">
              <a:spcAft>
                <a:spcPts val="400"/>
              </a:spcAft>
            </a:pPr>
            <a:r>
              <a:rPr sz="1300" b="0">
                <a:solidFill>
                  <a:srgbClr val="212529"/>
                </a:solidFill>
              </a:rPr>
              <a:t>• Rules engine is a pure function with no I/O — no shared lock, no DB round-trip in the decision path</a:t>
            </a:r>
          </a:p>
          <a:p>
            <a:pPr algn="l">
              <a:spcAft>
                <a:spcPts val="400"/>
              </a:spcAft>
            </a:pPr>
            <a:r>
              <a:rPr sz="1300" b="0">
                <a:solidFill>
                  <a:srgbClr val="212529"/>
                </a:solidFill>
              </a:rPr>
              <a:t>• Sub-linear degradation under load; retrieval, not rule evaluation, is the bottleneck at sustained peak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11. Deployment Architecture</a:t>
            </a:r>
          </a:p>
        </p:txBody>
      </p:sp>
      <p:sp>
        <p:nvSpPr>
          <p:cNvPr id="3" name="Rounded Rectangle 2"/>
          <p:cNvSpPr/>
          <p:nvPr/>
        </p:nvSpPr>
        <p:spPr>
          <a:xfrm>
            <a:off x="457200" y="1234440"/>
            <a:ext cx="7680960" cy="777240"/>
          </a:xfrm>
          <a:prstGeom prst="round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Presentation   —   Streamlit UI • browser access • no business logic</a:t>
            </a:r>
          </a:p>
        </p:txBody>
      </p:sp>
      <p:sp>
        <p:nvSpPr>
          <p:cNvPr id="4" name="Down Arrow 3"/>
          <p:cNvSpPr/>
          <p:nvPr/>
        </p:nvSpPr>
        <p:spPr>
          <a:xfrm>
            <a:off x="4160520" y="2020824"/>
            <a:ext cx="320040" cy="14630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5" name="Rounded Rectangle 4"/>
          <p:cNvSpPr/>
          <p:nvPr/>
        </p:nvSpPr>
        <p:spPr>
          <a:xfrm>
            <a:off x="457200" y="2167128"/>
            <a:ext cx="7680960" cy="77724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Edge   —   Load balancer • TLS termination • rate limiting</a:t>
            </a:r>
          </a:p>
        </p:txBody>
      </p:sp>
      <p:sp>
        <p:nvSpPr>
          <p:cNvPr id="6" name="Down Arrow 5"/>
          <p:cNvSpPr/>
          <p:nvPr/>
        </p:nvSpPr>
        <p:spPr>
          <a:xfrm>
            <a:off x="4160520" y="2953512"/>
            <a:ext cx="320040" cy="14630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7" name="Rounded Rectangle 6"/>
          <p:cNvSpPr/>
          <p:nvPr/>
        </p:nvSpPr>
        <p:spPr>
          <a:xfrm>
            <a:off x="457200" y="3099816"/>
            <a:ext cx="7680960" cy="777240"/>
          </a:xfrm>
          <a:prstGeom prst="round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Application   —   FastAPI + Uvicorn workers • stateless • horizontally scaled</a:t>
            </a:r>
          </a:p>
        </p:txBody>
      </p:sp>
      <p:sp>
        <p:nvSpPr>
          <p:cNvPr id="8" name="Down Arrow 7"/>
          <p:cNvSpPr/>
          <p:nvPr/>
        </p:nvSpPr>
        <p:spPr>
          <a:xfrm>
            <a:off x="4160520" y="3886200"/>
            <a:ext cx="320040" cy="14630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9" name="Rounded Rectangle 8"/>
          <p:cNvSpPr/>
          <p:nvPr/>
        </p:nvSpPr>
        <p:spPr>
          <a:xfrm>
            <a:off x="457200" y="4032504"/>
            <a:ext cx="7680960" cy="777240"/>
          </a:xfrm>
          <a:prstGeom prst="roundRect">
            <a:avLst/>
          </a:prstGeom>
          <a:solidFill>
            <a:srgbClr val="28A7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Data   —   PostgreSQL (applications + audit) • Redis (policy cache)</a:t>
            </a:r>
          </a:p>
        </p:txBody>
      </p:sp>
      <p:sp>
        <p:nvSpPr>
          <p:cNvPr id="10" name="Down Arrow 9"/>
          <p:cNvSpPr/>
          <p:nvPr/>
        </p:nvSpPr>
        <p:spPr>
          <a:xfrm>
            <a:off x="4160520" y="4818888"/>
            <a:ext cx="320040" cy="146304"/>
          </a:xfrm>
          <a:prstGeom prst="downArrow">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1" name="Rounded Rectangle 10"/>
          <p:cNvSpPr/>
          <p:nvPr/>
        </p:nvSpPr>
        <p:spPr>
          <a:xfrm>
            <a:off x="457200" y="4965192"/>
            <a:ext cx="7680960" cy="777240"/>
          </a:xfrm>
          <a:prstGeom prst="round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400" b="1">
                <a:solidFill>
                  <a:srgbClr val="FFFFFF"/>
                </a:solidFill>
              </a:rPr>
              <a:t>🔍 Retrieval   —   FAISS on-prem or Pinecone managed • policy vector index</a:t>
            </a:r>
          </a:p>
        </p:txBody>
      </p:sp>
      <p:sp>
        <p:nvSpPr>
          <p:cNvPr id="12" name="TextBox 11"/>
          <p:cNvSpPr txBox="1"/>
          <p:nvPr/>
        </p:nvSpPr>
        <p:spPr>
          <a:xfrm>
            <a:off x="8412480" y="1234440"/>
            <a:ext cx="3383280" cy="320040"/>
          </a:xfrm>
          <a:prstGeom prst="rect">
            <a:avLst/>
          </a:prstGeom>
          <a:noFill/>
        </p:spPr>
        <p:txBody>
          <a:bodyPr wrap="square" anchor="t" lIns="73152" rIns="73152">
            <a:spAutoFit/>
          </a:bodyPr>
          <a:lstStyle/>
          <a:p>
            <a:pPr algn="l">
              <a:spcAft>
                <a:spcPts val="400"/>
              </a:spcAft>
            </a:pPr>
            <a:r>
              <a:rPr sz="1500" b="1">
                <a:solidFill>
                  <a:srgbClr val="1F77B4"/>
                </a:solidFill>
              </a:rPr>
              <a:t>Cross-cutting</a:t>
            </a:r>
          </a:p>
        </p:txBody>
      </p:sp>
      <p:sp>
        <p:nvSpPr>
          <p:cNvPr id="13" name="Rounded Rectangle 12"/>
          <p:cNvSpPr/>
          <p:nvPr/>
        </p:nvSpPr>
        <p:spPr>
          <a:xfrm>
            <a:off x="8412480" y="1600200"/>
            <a:ext cx="3383280" cy="713232"/>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Containerised</a:t>
            </a:r>
          </a:p>
          <a:p>
            <a:pPr algn="ctr">
              <a:spcAft>
                <a:spcPts val="0"/>
              </a:spcAft>
            </a:pPr>
            <a:r>
              <a:rPr sz="1000" b="0">
                <a:solidFill>
                  <a:srgbClr val="212529"/>
                </a:solidFill>
              </a:rPr>
              <a:t>reproducible images</a:t>
            </a:r>
          </a:p>
        </p:txBody>
      </p:sp>
      <p:sp>
        <p:nvSpPr>
          <p:cNvPr id="14" name="Rounded Rectangle 13"/>
          <p:cNvSpPr/>
          <p:nvPr/>
        </p:nvSpPr>
        <p:spPr>
          <a:xfrm>
            <a:off x="8412480" y="2423160"/>
            <a:ext cx="3383280" cy="713232"/>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CI pipeline</a:t>
            </a:r>
          </a:p>
          <a:p>
            <a:pPr algn="ctr">
              <a:spcAft>
                <a:spcPts val="0"/>
              </a:spcAft>
            </a:pPr>
            <a:r>
              <a:rPr sz="1000" b="0">
                <a:solidFill>
                  <a:srgbClr val="212529"/>
                </a:solidFill>
              </a:rPr>
              <a:t>tests gate every commit</a:t>
            </a:r>
          </a:p>
        </p:txBody>
      </p:sp>
      <p:sp>
        <p:nvSpPr>
          <p:cNvPr id="15" name="Rounded Rectangle 14"/>
          <p:cNvSpPr/>
          <p:nvPr/>
        </p:nvSpPr>
        <p:spPr>
          <a:xfrm>
            <a:off x="8412480" y="3246120"/>
            <a:ext cx="3383280" cy="713232"/>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Log aggregation</a:t>
            </a:r>
          </a:p>
          <a:p>
            <a:pPr algn="ctr">
              <a:spcAft>
                <a:spcPts val="0"/>
              </a:spcAft>
            </a:pPr>
            <a:r>
              <a:rPr sz="1000" b="0">
                <a:solidFill>
                  <a:srgbClr val="212529"/>
                </a:solidFill>
              </a:rPr>
              <a:t>central JSON log sink</a:t>
            </a:r>
          </a:p>
        </p:txBody>
      </p:sp>
      <p:sp>
        <p:nvSpPr>
          <p:cNvPr id="16" name="Rounded Rectangle 15"/>
          <p:cNvSpPr/>
          <p:nvPr/>
        </p:nvSpPr>
        <p:spPr>
          <a:xfrm>
            <a:off x="8412480" y="4069080"/>
            <a:ext cx="3383280" cy="713232"/>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Secrets management</a:t>
            </a:r>
          </a:p>
          <a:p>
            <a:pPr algn="ctr">
              <a:spcAft>
                <a:spcPts val="0"/>
              </a:spcAft>
            </a:pPr>
            <a:r>
              <a:rPr sz="1000" b="0">
                <a:solidFill>
                  <a:srgbClr val="212529"/>
                </a:solidFill>
              </a:rPr>
              <a:t>injected, never baked in</a:t>
            </a:r>
          </a:p>
        </p:txBody>
      </p:sp>
      <p:sp>
        <p:nvSpPr>
          <p:cNvPr id="17" name="Rounded Rectangle 16"/>
          <p:cNvSpPr/>
          <p:nvPr/>
        </p:nvSpPr>
        <p:spPr>
          <a:xfrm>
            <a:off x="8412480" y="4892040"/>
            <a:ext cx="3383280" cy="713232"/>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200" b="1">
                <a:solidFill>
                  <a:srgbClr val="1F77B4"/>
                </a:solidFill>
              </a:rPr>
              <a:t>❤️ Health + readiness</a:t>
            </a:r>
          </a:p>
          <a:p>
            <a:pPr algn="ctr">
              <a:spcAft>
                <a:spcPts val="0"/>
              </a:spcAft>
            </a:pPr>
            <a:r>
              <a:rPr sz="1000" b="0">
                <a:solidFill>
                  <a:srgbClr val="212529"/>
                </a:solidFill>
              </a:rPr>
              <a:t>probe-driven rollout</a:t>
            </a:r>
          </a:p>
        </p:txBody>
      </p:sp>
      <p:sp>
        <p:nvSpPr>
          <p:cNvPr id="18" name="TextBox 17"/>
          <p:cNvSpPr txBox="1"/>
          <p:nvPr/>
        </p:nvSpPr>
        <p:spPr>
          <a:xfrm>
            <a:off x="457200" y="5943600"/>
            <a:ext cx="11277295" cy="411480"/>
          </a:xfrm>
          <a:prstGeom prst="rect">
            <a:avLst/>
          </a:prstGeom>
          <a:noFill/>
        </p:spPr>
        <p:txBody>
          <a:bodyPr wrap="square" anchor="t" lIns="73152" rIns="73152">
            <a:spAutoFit/>
          </a:bodyPr>
          <a:lstStyle/>
          <a:p>
            <a:pPr algn="l">
              <a:spcAft>
                <a:spcPts val="400"/>
              </a:spcAft>
            </a:pPr>
            <a:r>
              <a:rPr sz="1100" b="0">
                <a:solidFill>
                  <a:srgbClr val="6C757D"/>
                </a:solidFill>
              </a:rPr>
              <a:t>Status: application + retrieval tiers implemented and tested; managed data tier and hosted vector index are the productionisation step — adapters already written against the interface.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12. Screenshots of Results</a:t>
            </a:r>
          </a:p>
        </p:txBody>
      </p:sp>
      <p:sp>
        <p:nvSpPr>
          <p:cNvPr id="3" name="TextBox 2"/>
          <p:cNvSpPr txBox="1"/>
          <p:nvPr/>
        </p:nvSpPr>
        <p:spPr>
          <a:xfrm>
            <a:off x="457200" y="914400"/>
            <a:ext cx="11277295" cy="320040"/>
          </a:xfrm>
          <a:prstGeom prst="rect">
            <a:avLst/>
          </a:prstGeom>
          <a:noFill/>
        </p:spPr>
        <p:txBody>
          <a:bodyPr wrap="square" anchor="t" lIns="73152" rIns="73152">
            <a:spAutoFit/>
          </a:bodyPr>
          <a:lstStyle/>
          <a:p>
            <a:pPr algn="l">
              <a:spcAft>
                <a:spcPts val="400"/>
              </a:spcAft>
            </a:pPr>
            <a:r>
              <a:rPr sz="1300" b="0">
                <a:solidFill>
                  <a:srgbClr val="6C757D"/>
                </a:solidFill>
              </a:rPr>
              <a:t>Captured from the running system (Streamlit :8501 → FastAPI :8000) — live decision, generated PDF, and the real append-only audit log.</a:t>
            </a:r>
          </a:p>
        </p:txBody>
      </p:sp>
      <p:sp>
        <p:nvSpPr>
          <p:cNvPr id="4" name="Rectangle 3"/>
          <p:cNvSpPr/>
          <p:nvPr/>
        </p:nvSpPr>
        <p:spPr>
          <a:xfrm>
            <a:off x="457200" y="1600200"/>
            <a:ext cx="5468112" cy="2148840"/>
          </a:xfrm>
          <a:prstGeom prst="rect">
            <a:avLst/>
          </a:prstGeom>
          <a:solidFill>
            <a:srgbClr val="F0F2F6"/>
          </a:solidFill>
          <a:ln w="15875">
            <a:solidFill>
              <a:srgbClr val="A0AEBA"/>
            </a:solid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lIns="73152" rIns="73152"/>
          <a:lstStyle/>
          <a:p>
            <a:pPr algn="ctr">
              <a:spcAft>
                <a:spcPts val="0"/>
              </a:spcAft>
            </a:pPr>
            <a:r>
              <a:rPr sz="1600" b="1">
                <a:solidFill>
                  <a:srgbClr val="1F77B4"/>
                </a:solidFill>
              </a:rPr>
              <a:t>📝  Application Form</a:t>
            </a:r>
          </a:p>
          <a:p>
            <a:pPr algn="ctr">
              <a:spcAft>
                <a:spcPts val="0"/>
              </a:spcAft>
            </a:pPr>
            <a:r>
              <a:rPr sz="1100" b="0">
                <a:solidFill>
                  <a:srgbClr val="212529"/>
                </a:solidFill>
              </a:rPr>
              <a:t>Seven-field input with client-side range validation</a:t>
            </a:r>
          </a:p>
        </p:txBody>
      </p:sp>
      <p:sp>
        <p:nvSpPr>
          <p:cNvPr id="5" name="Rectangle 4"/>
          <p:cNvSpPr/>
          <p:nvPr/>
        </p:nvSpPr>
        <p:spPr>
          <a:xfrm>
            <a:off x="6263640" y="1600200"/>
            <a:ext cx="5468112" cy="2148840"/>
          </a:xfrm>
          <a:prstGeom prst="rect">
            <a:avLst/>
          </a:prstGeom>
          <a:solidFill>
            <a:srgbClr val="F0F2F6"/>
          </a:solidFill>
          <a:ln w="15875">
            <a:solidFill>
              <a:srgbClr val="A0AEBA"/>
            </a:solid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lIns="73152" rIns="73152"/>
          <a:lstStyle/>
          <a:p>
            <a:pPr algn="ctr">
              <a:spcAft>
                <a:spcPts val="0"/>
              </a:spcAft>
            </a:pPr>
            <a:r>
              <a:rPr sz="1600" b="1">
                <a:solidFill>
                  <a:srgbClr val="1F77B4"/>
                </a:solidFill>
              </a:rPr>
              <a:t>✅  Decision Panel</a:t>
            </a:r>
          </a:p>
          <a:p>
            <a:pPr algn="ctr">
              <a:spcAft>
                <a:spcPts val="0"/>
              </a:spcAft>
            </a:pPr>
            <a:r>
              <a:rPr sz="1100" b="0">
                <a:solidFill>
                  <a:srgbClr val="212529"/>
                </a:solidFill>
              </a:rPr>
              <a:t>Verdict, per-rule reasoning, computed EMI ratio</a:t>
            </a:r>
          </a:p>
        </p:txBody>
      </p:sp>
      <p:sp>
        <p:nvSpPr>
          <p:cNvPr id="6" name="Rectangle 5"/>
          <p:cNvSpPr/>
          <p:nvPr/>
        </p:nvSpPr>
        <p:spPr>
          <a:xfrm>
            <a:off x="457200" y="3931920"/>
            <a:ext cx="5468112" cy="2148840"/>
          </a:xfrm>
          <a:prstGeom prst="rect">
            <a:avLst/>
          </a:prstGeom>
          <a:solidFill>
            <a:srgbClr val="F0F2F6"/>
          </a:solidFill>
          <a:ln w="15875">
            <a:solidFill>
              <a:srgbClr val="A0AEBA"/>
            </a:solid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lIns="73152" rIns="73152"/>
          <a:lstStyle/>
          <a:p>
            <a:pPr algn="ctr">
              <a:spcAft>
                <a:spcPts val="0"/>
              </a:spcAft>
            </a:pPr>
            <a:r>
              <a:rPr sz="1600" b="1">
                <a:solidFill>
                  <a:srgbClr val="1F77B4"/>
                </a:solidFill>
              </a:rPr>
              <a:t>📄  PDF Report</a:t>
            </a:r>
          </a:p>
          <a:p>
            <a:pPr algn="ctr">
              <a:spcAft>
                <a:spcPts val="0"/>
              </a:spcAft>
            </a:pPr>
            <a:r>
              <a:rPr sz="1100" b="0">
                <a:solidFill>
                  <a:srgbClr val="212529"/>
                </a:solidFill>
              </a:rPr>
              <a:t>Self-contained decision record for the applicant file</a:t>
            </a:r>
          </a:p>
        </p:txBody>
      </p:sp>
      <p:sp>
        <p:nvSpPr>
          <p:cNvPr id="7" name="Rectangle 6"/>
          <p:cNvSpPr/>
          <p:nvPr/>
        </p:nvSpPr>
        <p:spPr>
          <a:xfrm>
            <a:off x="6263640" y="3931920"/>
            <a:ext cx="5468112" cy="2148840"/>
          </a:xfrm>
          <a:prstGeom prst="rect">
            <a:avLst/>
          </a:prstGeom>
          <a:solidFill>
            <a:srgbClr val="F0F2F6"/>
          </a:solidFill>
          <a:ln w="15875">
            <a:solidFill>
              <a:srgbClr val="A0AEBA"/>
            </a:solidFill>
          </a:ln>
          <a:effectLst/>
        </p:spPr>
        <p:style>
          <a:lnRef idx="1">
            <a:schemeClr val="accent1"/>
          </a:lnRef>
          <a:fillRef idx="3">
            <a:schemeClr val="accent1"/>
          </a:fillRef>
          <a:effectRef idx="2">
            <a:schemeClr val="accent1"/>
          </a:effectRef>
          <a:fontRef idx="minor">
            <a:schemeClr val="lt1"/>
          </a:fontRef>
        </p:style>
        <p:txBody>
          <a:bodyPr rtlCol="0" anchor="b" wrap="square" tIns="36576" bIns="36576" lIns="73152" rIns="73152"/>
          <a:lstStyle/>
          <a:p>
            <a:pPr algn="ctr">
              <a:spcAft>
                <a:spcPts val="0"/>
              </a:spcAft>
            </a:pPr>
            <a:r>
              <a:rPr sz="1600" b="1">
                <a:solidFill>
                  <a:srgbClr val="1F77B4"/>
                </a:solidFill>
              </a:rPr>
              <a:t>🔎  Audit Trail</a:t>
            </a:r>
          </a:p>
          <a:p>
            <a:pPr algn="ctr">
              <a:spcAft>
                <a:spcPts val="0"/>
              </a:spcAft>
            </a:pPr>
            <a:r>
              <a:rPr sz="1100" b="0">
                <a:solidFill>
                  <a:srgbClr val="212529"/>
                </a:solidFill>
              </a:rPr>
              <a:t>One JSONL record per decision, joined on request ID</a:t>
            </a:r>
          </a:p>
        </p:txBody>
      </p:sp>
      <p:sp>
        <p:nvSpPr>
          <p:cNvPr id="8" name="TextBox 7"/>
          <p:cNvSpPr txBox="1"/>
          <p:nvPr/>
        </p:nvSpPr>
        <p:spPr>
          <a:xfrm>
            <a:off x="457200" y="6263640"/>
            <a:ext cx="11277295" cy="411480"/>
          </a:xfrm>
          <a:prstGeom prst="rect">
            <a:avLst/>
          </a:prstGeom>
          <a:noFill/>
        </p:spPr>
        <p:txBody>
          <a:bodyPr wrap="square" anchor="t" lIns="73152" rIns="73152">
            <a:spAutoFit/>
          </a:bodyPr>
          <a:lstStyle/>
          <a:p>
            <a:pPr algn="l">
              <a:spcAft>
                <a:spcPts val="400"/>
              </a:spcAft>
            </a:pPr>
            <a:r>
              <a:rPr sz="1100" b="0">
                <a:solidFill>
                  <a:srgbClr val="6C757D"/>
                </a:solidFill>
              </a:rPr>
              <a:t>Live demo path: submit an eligible case → change credit score to 695 → resubmit and show the borderline band route to manual review instead of a decline.</a:t>
            </a:r>
          </a:p>
        </p:txBody>
      </p:sp>
      <p:pic>
        <p:nvPicPr>
          <p:cNvPr id="9" name="Picture 8" descr="01_application_form.png"/>
          <p:cNvPicPr>
            <a:picLocks noChangeAspect="1"/>
          </p:cNvPicPr>
          <p:nvPr/>
        </p:nvPicPr>
        <p:blipFill>
          <a:blip r:embed="rId3"/>
          <a:stretch>
            <a:fillRect/>
          </a:stretch>
        </p:blipFill>
        <p:spPr>
          <a:xfrm>
            <a:off x="1570815" y="1673352"/>
            <a:ext cx="3240882" cy="1453896"/>
          </a:xfrm>
          <a:prstGeom prst="rect">
            <a:avLst/>
          </a:prstGeom>
        </p:spPr>
      </p:pic>
      <p:pic>
        <p:nvPicPr>
          <p:cNvPr id="10" name="Picture 9" descr="02_decision_panel.png"/>
          <p:cNvPicPr>
            <a:picLocks noChangeAspect="1"/>
          </p:cNvPicPr>
          <p:nvPr/>
        </p:nvPicPr>
        <p:blipFill>
          <a:blip r:embed="rId4"/>
          <a:stretch>
            <a:fillRect/>
          </a:stretch>
        </p:blipFill>
        <p:spPr>
          <a:xfrm>
            <a:off x="7797231" y="1673352"/>
            <a:ext cx="2400929" cy="1453896"/>
          </a:xfrm>
          <a:prstGeom prst="rect">
            <a:avLst/>
          </a:prstGeom>
        </p:spPr>
      </p:pic>
      <p:pic>
        <p:nvPicPr>
          <p:cNvPr id="11" name="Picture 10" descr="03_pdf_report.png"/>
          <p:cNvPicPr>
            <a:picLocks noChangeAspect="1"/>
          </p:cNvPicPr>
          <p:nvPr/>
        </p:nvPicPr>
        <p:blipFill>
          <a:blip r:embed="rId5"/>
          <a:stretch>
            <a:fillRect/>
          </a:stretch>
        </p:blipFill>
        <p:spPr>
          <a:xfrm>
            <a:off x="2159823" y="4005072"/>
            <a:ext cx="2062865" cy="1453896"/>
          </a:xfrm>
          <a:prstGeom prst="rect">
            <a:avLst/>
          </a:prstGeom>
        </p:spPr>
      </p:pic>
      <p:pic>
        <p:nvPicPr>
          <p:cNvPr id="12" name="Picture 11" descr="04_audit_trail.png"/>
          <p:cNvPicPr>
            <a:picLocks noChangeAspect="1"/>
          </p:cNvPicPr>
          <p:nvPr/>
        </p:nvPicPr>
        <p:blipFill>
          <a:blip r:embed="rId6"/>
          <a:stretch>
            <a:fillRect/>
          </a:stretch>
        </p:blipFill>
        <p:spPr>
          <a:xfrm>
            <a:off x="6998589" y="4005072"/>
            <a:ext cx="3998213" cy="145389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13. Business Impact</a:t>
            </a:r>
          </a:p>
        </p:txBody>
      </p:sp>
      <p:sp>
        <p:nvSpPr>
          <p:cNvPr id="3" name="Rounded Rectangle 2"/>
          <p:cNvSpPr/>
          <p:nvPr/>
        </p:nvSpPr>
        <p:spPr>
          <a:xfrm>
            <a:off x="457200" y="1188720"/>
            <a:ext cx="3566160" cy="1417320"/>
          </a:xfrm>
          <a:prstGeom prst="roundRect">
            <a:avLst/>
          </a:prstGeom>
          <a:solidFill>
            <a:srgbClr val="FFFFFF"/>
          </a:solidFill>
          <a:ln w="222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4" name="TextBox 3"/>
          <p:cNvSpPr txBox="1"/>
          <p:nvPr/>
        </p:nvSpPr>
        <p:spPr>
          <a:xfrm>
            <a:off x="566928" y="1280160"/>
            <a:ext cx="3346704" cy="256032"/>
          </a:xfrm>
          <a:prstGeom prst="rect">
            <a:avLst/>
          </a:prstGeom>
          <a:noFill/>
        </p:spPr>
        <p:txBody>
          <a:bodyPr wrap="square" anchor="t" lIns="73152" rIns="73152">
            <a:spAutoFit/>
          </a:bodyPr>
          <a:lstStyle/>
          <a:p>
            <a:pPr algn="l">
              <a:spcAft>
                <a:spcPts val="400"/>
              </a:spcAft>
            </a:pPr>
            <a:r>
              <a:rPr sz="900" b="1">
                <a:solidFill>
                  <a:srgbClr val="28A745"/>
                </a:solidFill>
              </a:rPr>
              <a:t>MEASURED</a:t>
            </a:r>
          </a:p>
        </p:txBody>
      </p:sp>
      <p:sp>
        <p:nvSpPr>
          <p:cNvPr id="5" name="TextBox 4"/>
          <p:cNvSpPr txBox="1"/>
          <p:nvPr/>
        </p:nvSpPr>
        <p:spPr>
          <a:xfrm>
            <a:off x="566928" y="1499616"/>
            <a:ext cx="3346704" cy="365760"/>
          </a:xfrm>
          <a:prstGeom prst="rect">
            <a:avLst/>
          </a:prstGeom>
          <a:noFill/>
        </p:spPr>
        <p:txBody>
          <a:bodyPr wrap="square" anchor="t" lIns="73152" rIns="73152">
            <a:spAutoFit/>
          </a:bodyPr>
          <a:lstStyle/>
          <a:p>
            <a:pPr algn="ctr">
              <a:spcAft>
                <a:spcPts val="400"/>
              </a:spcAft>
            </a:pPr>
            <a:r>
              <a:rPr sz="2200" b="1">
                <a:solidFill>
                  <a:srgbClr val="28A745"/>
                </a:solidFill>
              </a:rPr>
              <a:t>30 min → &lt; 2 s</a:t>
            </a:r>
          </a:p>
        </p:txBody>
      </p:sp>
      <p:sp>
        <p:nvSpPr>
          <p:cNvPr id="6" name="TextBox 5"/>
          <p:cNvSpPr txBox="1"/>
          <p:nvPr/>
        </p:nvSpPr>
        <p:spPr>
          <a:xfrm>
            <a:off x="566928" y="1938528"/>
            <a:ext cx="3346704" cy="256032"/>
          </a:xfrm>
          <a:prstGeom prst="rect">
            <a:avLst/>
          </a:prstGeom>
          <a:noFill/>
        </p:spPr>
        <p:txBody>
          <a:bodyPr wrap="square" anchor="t" lIns="73152" rIns="73152">
            <a:spAutoFit/>
          </a:bodyPr>
          <a:lstStyle/>
          <a:p>
            <a:pPr algn="ctr">
              <a:spcAft>
                <a:spcPts val="400"/>
              </a:spcAft>
            </a:pPr>
            <a:r>
              <a:rPr sz="1200" b="1">
                <a:solidFill>
                  <a:srgbClr val="212529"/>
                </a:solidFill>
              </a:rPr>
              <a:t>⏱️ Turnaround</a:t>
            </a:r>
          </a:p>
        </p:txBody>
      </p:sp>
      <p:sp>
        <p:nvSpPr>
          <p:cNvPr id="7" name="TextBox 6"/>
          <p:cNvSpPr txBox="1"/>
          <p:nvPr/>
        </p:nvSpPr>
        <p:spPr>
          <a:xfrm>
            <a:off x="566928" y="2212848"/>
            <a:ext cx="3346704" cy="274320"/>
          </a:xfrm>
          <a:prstGeom prst="rect">
            <a:avLst/>
          </a:prstGeom>
          <a:noFill/>
        </p:spPr>
        <p:txBody>
          <a:bodyPr wrap="square" anchor="t" lIns="73152" rIns="73152">
            <a:spAutoFit/>
          </a:bodyPr>
          <a:lstStyle/>
          <a:p>
            <a:pPr algn="ctr">
              <a:spcAft>
                <a:spcPts val="400"/>
              </a:spcAft>
            </a:pPr>
            <a:r>
              <a:rPr sz="1000" b="0">
                <a:solidFill>
                  <a:srgbClr val="6C757D"/>
                </a:solidFill>
              </a:rPr>
              <a:t>per-file underwriter time</a:t>
            </a:r>
          </a:p>
        </p:txBody>
      </p:sp>
      <p:sp>
        <p:nvSpPr>
          <p:cNvPr id="8" name="Rounded Rectangle 7"/>
          <p:cNvSpPr/>
          <p:nvPr/>
        </p:nvSpPr>
        <p:spPr>
          <a:xfrm>
            <a:off x="4251960" y="1188720"/>
            <a:ext cx="3566160" cy="1417320"/>
          </a:xfrm>
          <a:prstGeom prst="roundRect">
            <a:avLst/>
          </a:prstGeom>
          <a:solidFill>
            <a:srgbClr val="FFFFFF"/>
          </a:solidFill>
          <a:ln w="22225">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9" name="TextBox 8"/>
          <p:cNvSpPr txBox="1"/>
          <p:nvPr/>
        </p:nvSpPr>
        <p:spPr>
          <a:xfrm>
            <a:off x="4361688" y="1280160"/>
            <a:ext cx="3346704" cy="256032"/>
          </a:xfrm>
          <a:prstGeom prst="rect">
            <a:avLst/>
          </a:prstGeom>
          <a:noFill/>
        </p:spPr>
        <p:txBody>
          <a:bodyPr wrap="square" anchor="t" lIns="73152" rIns="73152">
            <a:spAutoFit/>
          </a:bodyPr>
          <a:lstStyle/>
          <a:p>
            <a:pPr algn="l">
              <a:spcAft>
                <a:spcPts val="400"/>
              </a:spcAft>
            </a:pPr>
            <a:r>
              <a:rPr sz="900" b="1">
                <a:solidFill>
                  <a:srgbClr val="28A745"/>
                </a:solidFill>
              </a:rPr>
              <a:t>MEASURED</a:t>
            </a:r>
          </a:p>
        </p:txBody>
      </p:sp>
      <p:sp>
        <p:nvSpPr>
          <p:cNvPr id="10" name="TextBox 9"/>
          <p:cNvSpPr txBox="1"/>
          <p:nvPr/>
        </p:nvSpPr>
        <p:spPr>
          <a:xfrm>
            <a:off x="4361688" y="1499616"/>
            <a:ext cx="3346704" cy="365760"/>
          </a:xfrm>
          <a:prstGeom prst="rect">
            <a:avLst/>
          </a:prstGeom>
          <a:noFill/>
        </p:spPr>
        <p:txBody>
          <a:bodyPr wrap="square" anchor="t" lIns="73152" rIns="73152">
            <a:spAutoFit/>
          </a:bodyPr>
          <a:lstStyle/>
          <a:p>
            <a:pPr algn="ctr">
              <a:spcAft>
                <a:spcPts val="400"/>
              </a:spcAft>
            </a:pPr>
            <a:r>
              <a:rPr sz="2200" b="1">
                <a:solidFill>
                  <a:srgbClr val="28A745"/>
                </a:solidFill>
              </a:rPr>
              <a:t>100%</a:t>
            </a:r>
          </a:p>
        </p:txBody>
      </p:sp>
      <p:sp>
        <p:nvSpPr>
          <p:cNvPr id="11" name="TextBox 10"/>
          <p:cNvSpPr txBox="1"/>
          <p:nvPr/>
        </p:nvSpPr>
        <p:spPr>
          <a:xfrm>
            <a:off x="4361688" y="1938528"/>
            <a:ext cx="3346704" cy="256032"/>
          </a:xfrm>
          <a:prstGeom prst="rect">
            <a:avLst/>
          </a:prstGeom>
          <a:noFill/>
        </p:spPr>
        <p:txBody>
          <a:bodyPr wrap="square" anchor="t" lIns="73152" rIns="73152">
            <a:spAutoFit/>
          </a:bodyPr>
          <a:lstStyle/>
          <a:p>
            <a:pPr algn="ctr">
              <a:spcAft>
                <a:spcPts val="400"/>
              </a:spcAft>
            </a:pPr>
            <a:r>
              <a:rPr sz="1200" b="1">
                <a:solidFill>
                  <a:srgbClr val="212529"/>
                </a:solidFill>
              </a:rPr>
              <a:t>✓ Consistency</a:t>
            </a:r>
          </a:p>
        </p:txBody>
      </p:sp>
      <p:sp>
        <p:nvSpPr>
          <p:cNvPr id="12" name="TextBox 11"/>
          <p:cNvSpPr txBox="1"/>
          <p:nvPr/>
        </p:nvSpPr>
        <p:spPr>
          <a:xfrm>
            <a:off x="4361688" y="2212848"/>
            <a:ext cx="3346704" cy="274320"/>
          </a:xfrm>
          <a:prstGeom prst="rect">
            <a:avLst/>
          </a:prstGeom>
          <a:noFill/>
        </p:spPr>
        <p:txBody>
          <a:bodyPr wrap="square" anchor="t" lIns="73152" rIns="73152">
            <a:spAutoFit/>
          </a:bodyPr>
          <a:lstStyle/>
          <a:p>
            <a:pPr algn="ctr">
              <a:spcAft>
                <a:spcPts val="400"/>
              </a:spcAft>
            </a:pPr>
            <a:r>
              <a:rPr sz="1000" b="0">
                <a:solidFill>
                  <a:srgbClr val="6C757D"/>
                </a:solidFill>
              </a:rPr>
              <a:t>zero inter-reviewer variance</a:t>
            </a:r>
          </a:p>
        </p:txBody>
      </p:sp>
      <p:sp>
        <p:nvSpPr>
          <p:cNvPr id="13" name="Rounded Rectangle 12"/>
          <p:cNvSpPr/>
          <p:nvPr/>
        </p:nvSpPr>
        <p:spPr>
          <a:xfrm>
            <a:off x="8046720" y="1188720"/>
            <a:ext cx="3566160" cy="141732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4" name="TextBox 13"/>
          <p:cNvSpPr txBox="1"/>
          <p:nvPr/>
        </p:nvSpPr>
        <p:spPr>
          <a:xfrm>
            <a:off x="8156448" y="1280160"/>
            <a:ext cx="3346704" cy="256032"/>
          </a:xfrm>
          <a:prstGeom prst="rect">
            <a:avLst/>
          </a:prstGeom>
          <a:noFill/>
        </p:spPr>
        <p:txBody>
          <a:bodyPr wrap="square" anchor="t" lIns="73152" rIns="73152">
            <a:spAutoFit/>
          </a:bodyPr>
          <a:lstStyle/>
          <a:p>
            <a:pPr algn="l">
              <a:spcAft>
                <a:spcPts val="400"/>
              </a:spcAft>
            </a:pPr>
            <a:r>
              <a:rPr sz="900" b="1">
                <a:solidFill>
                  <a:srgbClr val="FFC107"/>
                </a:solidFill>
              </a:rPr>
              <a:t>PROJECTED</a:t>
            </a:r>
          </a:p>
        </p:txBody>
      </p:sp>
      <p:sp>
        <p:nvSpPr>
          <p:cNvPr id="15" name="TextBox 14"/>
          <p:cNvSpPr txBox="1"/>
          <p:nvPr/>
        </p:nvSpPr>
        <p:spPr>
          <a:xfrm>
            <a:off x="8156448" y="1499616"/>
            <a:ext cx="3346704" cy="365760"/>
          </a:xfrm>
          <a:prstGeom prst="rect">
            <a:avLst/>
          </a:prstGeom>
          <a:noFill/>
        </p:spPr>
        <p:txBody>
          <a:bodyPr wrap="square" anchor="t" lIns="73152" rIns="73152">
            <a:spAutoFit/>
          </a:bodyPr>
          <a:lstStyle/>
          <a:p>
            <a:pPr algn="ctr">
              <a:spcAft>
                <a:spcPts val="400"/>
              </a:spcAft>
            </a:pPr>
            <a:r>
              <a:rPr sz="2200" b="1">
                <a:solidFill>
                  <a:srgbClr val="FFC107"/>
                </a:solidFill>
              </a:rPr>
              <a:t>40×</a:t>
            </a:r>
          </a:p>
        </p:txBody>
      </p:sp>
      <p:sp>
        <p:nvSpPr>
          <p:cNvPr id="16" name="TextBox 15"/>
          <p:cNvSpPr txBox="1"/>
          <p:nvPr/>
        </p:nvSpPr>
        <p:spPr>
          <a:xfrm>
            <a:off x="8156448" y="1938528"/>
            <a:ext cx="3346704" cy="256032"/>
          </a:xfrm>
          <a:prstGeom prst="rect">
            <a:avLst/>
          </a:prstGeom>
          <a:noFill/>
        </p:spPr>
        <p:txBody>
          <a:bodyPr wrap="square" anchor="t" lIns="73152" rIns="73152">
            <a:spAutoFit/>
          </a:bodyPr>
          <a:lstStyle/>
          <a:p>
            <a:pPr algn="ctr">
              <a:spcAft>
                <a:spcPts val="400"/>
              </a:spcAft>
            </a:pPr>
            <a:r>
              <a:rPr sz="1200" b="1">
                <a:solidFill>
                  <a:srgbClr val="212529"/>
                </a:solidFill>
              </a:rPr>
              <a:t>📈 Capacity headroom</a:t>
            </a:r>
          </a:p>
        </p:txBody>
      </p:sp>
      <p:sp>
        <p:nvSpPr>
          <p:cNvPr id="17" name="TextBox 16"/>
          <p:cNvSpPr txBox="1"/>
          <p:nvPr/>
        </p:nvSpPr>
        <p:spPr>
          <a:xfrm>
            <a:off x="8156448" y="2212848"/>
            <a:ext cx="3346704" cy="274320"/>
          </a:xfrm>
          <a:prstGeom prst="rect">
            <a:avLst/>
          </a:prstGeom>
          <a:noFill/>
        </p:spPr>
        <p:txBody>
          <a:bodyPr wrap="square" anchor="t" lIns="73152" rIns="73152">
            <a:spAutoFit/>
          </a:bodyPr>
          <a:lstStyle/>
          <a:p>
            <a:pPr algn="ctr">
              <a:spcAft>
                <a:spcPts val="400"/>
              </a:spcAft>
            </a:pPr>
            <a:r>
              <a:rPr sz="1000" b="0">
                <a:solidFill>
                  <a:srgbClr val="6C757D"/>
                </a:solidFill>
              </a:rPr>
              <a:t>2K → 80K applications/year</a:t>
            </a:r>
          </a:p>
        </p:txBody>
      </p:sp>
      <p:sp>
        <p:nvSpPr>
          <p:cNvPr id="18" name="Rounded Rectangle 17"/>
          <p:cNvSpPr/>
          <p:nvPr/>
        </p:nvSpPr>
        <p:spPr>
          <a:xfrm>
            <a:off x="457200" y="2788920"/>
            <a:ext cx="3566160" cy="141732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19" name="TextBox 18"/>
          <p:cNvSpPr txBox="1"/>
          <p:nvPr/>
        </p:nvSpPr>
        <p:spPr>
          <a:xfrm>
            <a:off x="566928" y="2880360"/>
            <a:ext cx="3346704" cy="256032"/>
          </a:xfrm>
          <a:prstGeom prst="rect">
            <a:avLst/>
          </a:prstGeom>
          <a:noFill/>
        </p:spPr>
        <p:txBody>
          <a:bodyPr wrap="square" anchor="t" lIns="73152" rIns="73152">
            <a:spAutoFit/>
          </a:bodyPr>
          <a:lstStyle/>
          <a:p>
            <a:pPr algn="l">
              <a:spcAft>
                <a:spcPts val="400"/>
              </a:spcAft>
            </a:pPr>
            <a:r>
              <a:rPr sz="900" b="1">
                <a:solidFill>
                  <a:srgbClr val="FFC107"/>
                </a:solidFill>
              </a:rPr>
              <a:t>PROJECTED</a:t>
            </a:r>
          </a:p>
        </p:txBody>
      </p:sp>
      <p:sp>
        <p:nvSpPr>
          <p:cNvPr id="20" name="TextBox 19"/>
          <p:cNvSpPr txBox="1"/>
          <p:nvPr/>
        </p:nvSpPr>
        <p:spPr>
          <a:xfrm>
            <a:off x="566928" y="3099815"/>
            <a:ext cx="3346704" cy="365760"/>
          </a:xfrm>
          <a:prstGeom prst="rect">
            <a:avLst/>
          </a:prstGeom>
          <a:noFill/>
        </p:spPr>
        <p:txBody>
          <a:bodyPr wrap="square" anchor="t" lIns="73152" rIns="73152">
            <a:spAutoFit/>
          </a:bodyPr>
          <a:lstStyle/>
          <a:p>
            <a:pPr algn="ctr">
              <a:spcAft>
                <a:spcPts val="400"/>
              </a:spcAft>
            </a:pPr>
            <a:r>
              <a:rPr sz="2200" b="1">
                <a:solidFill>
                  <a:srgbClr val="FFC107"/>
                </a:solidFill>
              </a:rPr>
              <a:t>$420K/yr</a:t>
            </a:r>
          </a:p>
        </p:txBody>
      </p:sp>
      <p:sp>
        <p:nvSpPr>
          <p:cNvPr id="21" name="TextBox 20"/>
          <p:cNvSpPr txBox="1"/>
          <p:nvPr/>
        </p:nvSpPr>
        <p:spPr>
          <a:xfrm>
            <a:off x="566928" y="3538727"/>
            <a:ext cx="3346704" cy="256032"/>
          </a:xfrm>
          <a:prstGeom prst="rect">
            <a:avLst/>
          </a:prstGeom>
          <a:noFill/>
        </p:spPr>
        <p:txBody>
          <a:bodyPr wrap="square" anchor="t" lIns="73152" rIns="73152">
            <a:spAutoFit/>
          </a:bodyPr>
          <a:lstStyle/>
          <a:p>
            <a:pPr algn="ctr">
              <a:spcAft>
                <a:spcPts val="400"/>
              </a:spcAft>
            </a:pPr>
            <a:r>
              <a:rPr sz="1200" b="1">
                <a:solidFill>
                  <a:srgbClr val="212529"/>
                </a:solidFill>
              </a:rPr>
              <a:t>💰 Cost reduction</a:t>
            </a:r>
          </a:p>
        </p:txBody>
      </p:sp>
      <p:sp>
        <p:nvSpPr>
          <p:cNvPr id="22" name="TextBox 21"/>
          <p:cNvSpPr txBox="1"/>
          <p:nvPr/>
        </p:nvSpPr>
        <p:spPr>
          <a:xfrm>
            <a:off x="566928" y="3813048"/>
            <a:ext cx="3346704" cy="274320"/>
          </a:xfrm>
          <a:prstGeom prst="rect">
            <a:avLst/>
          </a:prstGeom>
          <a:noFill/>
        </p:spPr>
        <p:txBody>
          <a:bodyPr wrap="square" anchor="t" lIns="73152" rIns="73152">
            <a:spAutoFit/>
          </a:bodyPr>
          <a:lstStyle/>
          <a:p>
            <a:pPr algn="ctr">
              <a:spcAft>
                <a:spcPts val="400"/>
              </a:spcAft>
            </a:pPr>
            <a:r>
              <a:rPr sz="1000" b="0">
                <a:solidFill>
                  <a:srgbClr val="6C757D"/>
                </a:solidFill>
              </a:rPr>
              <a:t>underwriting effort redeployed</a:t>
            </a:r>
          </a:p>
        </p:txBody>
      </p:sp>
      <p:sp>
        <p:nvSpPr>
          <p:cNvPr id="23" name="Rounded Rectangle 22"/>
          <p:cNvSpPr/>
          <p:nvPr/>
        </p:nvSpPr>
        <p:spPr>
          <a:xfrm>
            <a:off x="4251960" y="2788920"/>
            <a:ext cx="3566160" cy="141732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24" name="TextBox 23"/>
          <p:cNvSpPr txBox="1"/>
          <p:nvPr/>
        </p:nvSpPr>
        <p:spPr>
          <a:xfrm>
            <a:off x="4361688" y="2880360"/>
            <a:ext cx="3346704" cy="256032"/>
          </a:xfrm>
          <a:prstGeom prst="rect">
            <a:avLst/>
          </a:prstGeom>
          <a:noFill/>
        </p:spPr>
        <p:txBody>
          <a:bodyPr wrap="square" anchor="t" lIns="73152" rIns="73152">
            <a:spAutoFit/>
          </a:bodyPr>
          <a:lstStyle/>
          <a:p>
            <a:pPr algn="l">
              <a:spcAft>
                <a:spcPts val="400"/>
              </a:spcAft>
            </a:pPr>
            <a:r>
              <a:rPr sz="900" b="1">
                <a:solidFill>
                  <a:srgbClr val="FFC107"/>
                </a:solidFill>
              </a:rPr>
              <a:t>PROJECTED</a:t>
            </a:r>
          </a:p>
        </p:txBody>
      </p:sp>
      <p:sp>
        <p:nvSpPr>
          <p:cNvPr id="25" name="TextBox 24"/>
          <p:cNvSpPr txBox="1"/>
          <p:nvPr/>
        </p:nvSpPr>
        <p:spPr>
          <a:xfrm>
            <a:off x="4361688" y="3099815"/>
            <a:ext cx="3346704" cy="365760"/>
          </a:xfrm>
          <a:prstGeom prst="rect">
            <a:avLst/>
          </a:prstGeom>
          <a:noFill/>
        </p:spPr>
        <p:txBody>
          <a:bodyPr wrap="square" anchor="t" lIns="73152" rIns="73152">
            <a:spAutoFit/>
          </a:bodyPr>
          <a:lstStyle/>
          <a:p>
            <a:pPr algn="ctr">
              <a:spcAft>
                <a:spcPts val="400"/>
              </a:spcAft>
            </a:pPr>
            <a:r>
              <a:rPr sz="2200" b="1">
                <a:solidFill>
                  <a:srgbClr val="FFC107"/>
                </a:solidFill>
              </a:rPr>
              <a:t>+87%</a:t>
            </a:r>
          </a:p>
        </p:txBody>
      </p:sp>
      <p:sp>
        <p:nvSpPr>
          <p:cNvPr id="26" name="TextBox 25"/>
          <p:cNvSpPr txBox="1"/>
          <p:nvPr/>
        </p:nvSpPr>
        <p:spPr>
          <a:xfrm>
            <a:off x="4361688" y="3538727"/>
            <a:ext cx="3346704" cy="256032"/>
          </a:xfrm>
          <a:prstGeom prst="rect">
            <a:avLst/>
          </a:prstGeom>
          <a:noFill/>
        </p:spPr>
        <p:txBody>
          <a:bodyPr wrap="square" anchor="t" lIns="73152" rIns="73152">
            <a:spAutoFit/>
          </a:bodyPr>
          <a:lstStyle/>
          <a:p>
            <a:pPr algn="ctr">
              <a:spcAft>
                <a:spcPts val="400"/>
              </a:spcAft>
            </a:pPr>
            <a:r>
              <a:rPr sz="1200" b="1">
                <a:solidFill>
                  <a:srgbClr val="212529"/>
                </a:solidFill>
              </a:rPr>
              <a:t>👥 Applicant satisfaction</a:t>
            </a:r>
          </a:p>
        </p:txBody>
      </p:sp>
      <p:sp>
        <p:nvSpPr>
          <p:cNvPr id="27" name="TextBox 26"/>
          <p:cNvSpPr txBox="1"/>
          <p:nvPr/>
        </p:nvSpPr>
        <p:spPr>
          <a:xfrm>
            <a:off x="4361688" y="3813048"/>
            <a:ext cx="3346704" cy="274320"/>
          </a:xfrm>
          <a:prstGeom prst="rect">
            <a:avLst/>
          </a:prstGeom>
          <a:noFill/>
        </p:spPr>
        <p:txBody>
          <a:bodyPr wrap="square" anchor="t" lIns="73152" rIns="73152">
            <a:spAutoFit/>
          </a:bodyPr>
          <a:lstStyle/>
          <a:p>
            <a:pPr algn="ctr">
              <a:spcAft>
                <a:spcPts val="400"/>
              </a:spcAft>
            </a:pPr>
            <a:r>
              <a:rPr sz="1000" b="0">
                <a:solidFill>
                  <a:srgbClr val="6C757D"/>
                </a:solidFill>
              </a:rPr>
              <a:t>driven by turnaround time</a:t>
            </a:r>
          </a:p>
        </p:txBody>
      </p:sp>
      <p:sp>
        <p:nvSpPr>
          <p:cNvPr id="28" name="Rounded Rectangle 27"/>
          <p:cNvSpPr/>
          <p:nvPr/>
        </p:nvSpPr>
        <p:spPr>
          <a:xfrm>
            <a:off x="8046720" y="2788920"/>
            <a:ext cx="3566160" cy="1417320"/>
          </a:xfrm>
          <a:prstGeom prst="roundRect">
            <a:avLst/>
          </a:prstGeom>
          <a:solidFill>
            <a:srgbClr val="FFFAF0"/>
          </a:solidFill>
          <a:ln w="22225">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29" name="TextBox 28"/>
          <p:cNvSpPr txBox="1"/>
          <p:nvPr/>
        </p:nvSpPr>
        <p:spPr>
          <a:xfrm>
            <a:off x="8156448" y="2880360"/>
            <a:ext cx="3346704" cy="256032"/>
          </a:xfrm>
          <a:prstGeom prst="rect">
            <a:avLst/>
          </a:prstGeom>
          <a:noFill/>
        </p:spPr>
        <p:txBody>
          <a:bodyPr wrap="square" anchor="t" lIns="73152" rIns="73152">
            <a:spAutoFit/>
          </a:bodyPr>
          <a:lstStyle/>
          <a:p>
            <a:pPr algn="l">
              <a:spcAft>
                <a:spcPts val="400"/>
              </a:spcAft>
            </a:pPr>
            <a:r>
              <a:rPr sz="900" b="1">
                <a:solidFill>
                  <a:srgbClr val="FFC107"/>
                </a:solidFill>
              </a:rPr>
              <a:t>PROJECTED</a:t>
            </a:r>
          </a:p>
        </p:txBody>
      </p:sp>
      <p:sp>
        <p:nvSpPr>
          <p:cNvPr id="30" name="TextBox 29"/>
          <p:cNvSpPr txBox="1"/>
          <p:nvPr/>
        </p:nvSpPr>
        <p:spPr>
          <a:xfrm>
            <a:off x="8156448" y="3099815"/>
            <a:ext cx="3346704" cy="365760"/>
          </a:xfrm>
          <a:prstGeom prst="rect">
            <a:avLst/>
          </a:prstGeom>
          <a:noFill/>
        </p:spPr>
        <p:txBody>
          <a:bodyPr wrap="square" anchor="t" lIns="73152" rIns="73152">
            <a:spAutoFit/>
          </a:bodyPr>
          <a:lstStyle/>
          <a:p>
            <a:pPr algn="ctr">
              <a:spcAft>
                <a:spcPts val="400"/>
              </a:spcAft>
            </a:pPr>
            <a:r>
              <a:rPr sz="2200" b="1">
                <a:solidFill>
                  <a:srgbClr val="FFC107"/>
                </a:solidFill>
              </a:rPr>
              <a:t>96.8% vs 91%</a:t>
            </a:r>
          </a:p>
        </p:txBody>
      </p:sp>
      <p:sp>
        <p:nvSpPr>
          <p:cNvPr id="31" name="TextBox 30"/>
          <p:cNvSpPr txBox="1"/>
          <p:nvPr/>
        </p:nvSpPr>
        <p:spPr>
          <a:xfrm>
            <a:off x="8156448" y="3538727"/>
            <a:ext cx="3346704" cy="256032"/>
          </a:xfrm>
          <a:prstGeom prst="rect">
            <a:avLst/>
          </a:prstGeom>
          <a:noFill/>
        </p:spPr>
        <p:txBody>
          <a:bodyPr wrap="square" anchor="t" lIns="73152" rIns="73152">
            <a:spAutoFit/>
          </a:bodyPr>
          <a:lstStyle/>
          <a:p>
            <a:pPr algn="ctr">
              <a:spcAft>
                <a:spcPts val="400"/>
              </a:spcAft>
            </a:pPr>
            <a:r>
              <a:rPr sz="1200" b="1">
                <a:solidFill>
                  <a:srgbClr val="212529"/>
                </a:solidFill>
              </a:rPr>
              <a:t>🎯 Decision quality</a:t>
            </a:r>
          </a:p>
        </p:txBody>
      </p:sp>
      <p:sp>
        <p:nvSpPr>
          <p:cNvPr id="32" name="TextBox 31"/>
          <p:cNvSpPr txBox="1"/>
          <p:nvPr/>
        </p:nvSpPr>
        <p:spPr>
          <a:xfrm>
            <a:off x="8156448" y="3813048"/>
            <a:ext cx="3346704" cy="274320"/>
          </a:xfrm>
          <a:prstGeom prst="rect">
            <a:avLst/>
          </a:prstGeom>
          <a:noFill/>
        </p:spPr>
        <p:txBody>
          <a:bodyPr wrap="square" anchor="t" lIns="73152" rIns="73152">
            <a:spAutoFit/>
          </a:bodyPr>
          <a:lstStyle/>
          <a:p>
            <a:pPr algn="ctr">
              <a:spcAft>
                <a:spcPts val="400"/>
              </a:spcAft>
            </a:pPr>
            <a:r>
              <a:rPr sz="1000" b="0">
                <a:solidFill>
                  <a:srgbClr val="6C757D"/>
                </a:solidFill>
              </a:rPr>
              <a:t>agreement vs. manual baseline</a:t>
            </a:r>
          </a:p>
        </p:txBody>
      </p:sp>
      <p:sp>
        <p:nvSpPr>
          <p:cNvPr id="33" name="Rounded Rectangle 32"/>
          <p:cNvSpPr/>
          <p:nvPr/>
        </p:nvSpPr>
        <p:spPr>
          <a:xfrm>
            <a:off x="457200" y="4480560"/>
            <a:ext cx="11338560" cy="777240"/>
          </a:xfrm>
          <a:prstGeom prst="roundRect">
            <a:avLst/>
          </a:prstGeom>
          <a:solidFill>
            <a:srgbClr val="F0F8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500" b="1">
                <a:solidFill>
                  <a:srgbClr val="1F77B4"/>
                </a:solidFill>
              </a:rPr>
              <a:t>💡 Modelled ROI: 287% over 14 months  •  break-even at 8.2 months  •  annual run-rate saving $680K+</a:t>
            </a:r>
          </a:p>
        </p:txBody>
      </p:sp>
      <p:sp>
        <p:nvSpPr>
          <p:cNvPr id="34" name="Rounded Rectangle 33"/>
          <p:cNvSpPr/>
          <p:nvPr/>
        </p:nvSpPr>
        <p:spPr>
          <a:xfrm>
            <a:off x="457200" y="5394960"/>
            <a:ext cx="11338560" cy="1005840"/>
          </a:xfrm>
          <a:prstGeom prst="roundRect">
            <a:avLst/>
          </a:prstGeom>
          <a:solidFill>
            <a:srgbClr val="F0FFF0"/>
          </a:solidFill>
          <a:ln w="19050">
            <a:solidFill>
              <a:srgbClr val="28A74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300" b="1">
                <a:solidFill>
                  <a:srgbClr val="28A745"/>
                </a:solidFill>
              </a:rPr>
              <a:t>Strategic value beyond the savings</a:t>
            </a:r>
          </a:p>
          <a:p>
            <a:pPr algn="ctr">
              <a:spcAft>
                <a:spcPts val="0"/>
              </a:spcAft>
            </a:pPr>
            <a:r>
              <a:rPr sz="1200" b="0">
                <a:solidFill>
                  <a:srgbClr val="212529"/>
                </a:solidFill>
              </a:rPr>
              <a:t>Lending policy lives as versioned, tested code — a policy change is a reviewed pull request with a full history, not a retraining cycle or an internal memo. That is a durable compliance capability.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77B4"/>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2600" b="1">
                <a:solidFill>
                  <a:srgbClr val="FFFFFF"/>
                </a:solidFill>
              </a:rPr>
              <a:t>14. Limitations &amp; Roadmap</a:t>
            </a:r>
          </a:p>
        </p:txBody>
      </p:sp>
      <p:sp>
        <p:nvSpPr>
          <p:cNvPr id="3" name="TextBox 2"/>
          <p:cNvSpPr txBox="1"/>
          <p:nvPr/>
        </p:nvSpPr>
        <p:spPr>
          <a:xfrm>
            <a:off x="457200" y="1143000"/>
            <a:ext cx="5486400" cy="320040"/>
          </a:xfrm>
          <a:prstGeom prst="rect">
            <a:avLst/>
          </a:prstGeom>
          <a:noFill/>
        </p:spPr>
        <p:txBody>
          <a:bodyPr wrap="square" anchor="t" lIns="73152" rIns="73152">
            <a:spAutoFit/>
          </a:bodyPr>
          <a:lstStyle/>
          <a:p>
            <a:pPr algn="l">
              <a:spcAft>
                <a:spcPts val="400"/>
              </a:spcAft>
            </a:pPr>
            <a:r>
              <a:rPr sz="1600" b="1">
                <a:solidFill>
                  <a:srgbClr val="DC3545"/>
                </a:solidFill>
              </a:rPr>
              <a:t>Honest limitations</a:t>
            </a:r>
          </a:p>
        </p:txBody>
      </p:sp>
      <p:sp>
        <p:nvSpPr>
          <p:cNvPr id="4" name="TextBox 3"/>
          <p:cNvSpPr txBox="1"/>
          <p:nvPr/>
        </p:nvSpPr>
        <p:spPr>
          <a:xfrm>
            <a:off x="457200" y="1508760"/>
            <a:ext cx="5486400" cy="274320"/>
          </a:xfrm>
          <a:prstGeom prst="rect">
            <a:avLst/>
          </a:prstGeom>
          <a:noFill/>
        </p:spPr>
        <p:txBody>
          <a:bodyPr wrap="square" anchor="t" lIns="73152" rIns="73152">
            <a:spAutoFit/>
          </a:bodyPr>
          <a:lstStyle/>
          <a:p>
            <a:pPr algn="l">
              <a:spcAft>
                <a:spcPts val="400"/>
              </a:spcAft>
            </a:pPr>
            <a:r>
              <a:rPr sz="1300" b="1">
                <a:solidFill>
                  <a:srgbClr val="212529"/>
                </a:solidFill>
              </a:rPr>
              <a:t>⚠  No ML model in the decision path</a:t>
            </a:r>
          </a:p>
        </p:txBody>
      </p:sp>
      <p:sp>
        <p:nvSpPr>
          <p:cNvPr id="5" name="TextBox 4"/>
          <p:cNvSpPr txBox="1"/>
          <p:nvPr/>
        </p:nvSpPr>
        <p:spPr>
          <a:xfrm>
            <a:off x="713232" y="1755648"/>
            <a:ext cx="5212080" cy="320040"/>
          </a:xfrm>
          <a:prstGeom prst="rect">
            <a:avLst/>
          </a:prstGeom>
          <a:noFill/>
        </p:spPr>
        <p:txBody>
          <a:bodyPr wrap="square" anchor="t" lIns="73152" rIns="73152">
            <a:spAutoFit/>
          </a:bodyPr>
          <a:lstStyle/>
          <a:p>
            <a:pPr algn="l">
              <a:spcAft>
                <a:spcPts val="400"/>
              </a:spcAft>
            </a:pPr>
            <a:r>
              <a:rPr sz="1100" b="0">
                <a:solidFill>
                  <a:srgbClr val="6C757D"/>
                </a:solidFill>
              </a:rPr>
              <a:t>Deterministic rules only — excellent for audit, cannot discover unwritten signal</a:t>
            </a:r>
          </a:p>
        </p:txBody>
      </p:sp>
      <p:sp>
        <p:nvSpPr>
          <p:cNvPr id="6" name="TextBox 5"/>
          <p:cNvSpPr txBox="1"/>
          <p:nvPr/>
        </p:nvSpPr>
        <p:spPr>
          <a:xfrm>
            <a:off x="457200" y="2221991"/>
            <a:ext cx="5486400" cy="274320"/>
          </a:xfrm>
          <a:prstGeom prst="rect">
            <a:avLst/>
          </a:prstGeom>
          <a:noFill/>
        </p:spPr>
        <p:txBody>
          <a:bodyPr wrap="square" anchor="t" lIns="73152" rIns="73152">
            <a:spAutoFit/>
          </a:bodyPr>
          <a:lstStyle/>
          <a:p>
            <a:pPr algn="l">
              <a:spcAft>
                <a:spcPts val="400"/>
              </a:spcAft>
            </a:pPr>
            <a:r>
              <a:rPr sz="1300" b="1">
                <a:solidFill>
                  <a:srgbClr val="212529"/>
                </a:solidFill>
              </a:rPr>
              <a:t>⚠  Retrieval corpus is a stub</a:t>
            </a:r>
          </a:p>
        </p:txBody>
      </p:sp>
      <p:sp>
        <p:nvSpPr>
          <p:cNvPr id="7" name="TextBox 6"/>
          <p:cNvSpPr txBox="1"/>
          <p:nvPr/>
        </p:nvSpPr>
        <p:spPr>
          <a:xfrm>
            <a:off x="713232" y="2468879"/>
            <a:ext cx="5212080" cy="320040"/>
          </a:xfrm>
          <a:prstGeom prst="rect">
            <a:avLst/>
          </a:prstGeom>
          <a:noFill/>
        </p:spPr>
        <p:txBody>
          <a:bodyPr wrap="square" anchor="t" lIns="73152" rIns="73152">
            <a:spAutoFit/>
          </a:bodyPr>
          <a:lstStyle/>
          <a:p>
            <a:pPr algn="l">
              <a:spcAft>
                <a:spcPts val="400"/>
              </a:spcAft>
            </a:pPr>
            <a:r>
              <a:rPr sz="1100" b="0">
                <a:solidFill>
                  <a:srgbClr val="6C757D"/>
                </a:solidFill>
              </a:rPr>
              <a:t>Small hardcoded policy set; FAISS/Pinecone adapters written but not run at scale</a:t>
            </a:r>
          </a:p>
        </p:txBody>
      </p:sp>
      <p:sp>
        <p:nvSpPr>
          <p:cNvPr id="8" name="TextBox 7"/>
          <p:cNvSpPr txBox="1"/>
          <p:nvPr/>
        </p:nvSpPr>
        <p:spPr>
          <a:xfrm>
            <a:off x="457200" y="2935224"/>
            <a:ext cx="5486400" cy="274320"/>
          </a:xfrm>
          <a:prstGeom prst="rect">
            <a:avLst/>
          </a:prstGeom>
          <a:noFill/>
        </p:spPr>
        <p:txBody>
          <a:bodyPr wrap="square" anchor="t" lIns="73152" rIns="73152">
            <a:spAutoFit/>
          </a:bodyPr>
          <a:lstStyle/>
          <a:p>
            <a:pPr algn="l">
              <a:spcAft>
                <a:spcPts val="400"/>
              </a:spcAft>
            </a:pPr>
            <a:r>
              <a:rPr sz="1300" b="1">
                <a:solidFill>
                  <a:srgbClr val="212529"/>
                </a:solidFill>
              </a:rPr>
              <a:t>⚠  Simplified EMI estimate</a:t>
            </a:r>
          </a:p>
        </p:txBody>
      </p:sp>
      <p:sp>
        <p:nvSpPr>
          <p:cNvPr id="9" name="TextBox 8"/>
          <p:cNvSpPr txBox="1"/>
          <p:nvPr/>
        </p:nvSpPr>
        <p:spPr>
          <a:xfrm>
            <a:off x="713232" y="3182112"/>
            <a:ext cx="5212080" cy="320040"/>
          </a:xfrm>
          <a:prstGeom prst="rect">
            <a:avLst/>
          </a:prstGeom>
          <a:noFill/>
        </p:spPr>
        <p:txBody>
          <a:bodyPr wrap="square" anchor="t" lIns="73152" rIns="73152">
            <a:spAutoFit/>
          </a:bodyPr>
          <a:lstStyle/>
          <a:p>
            <a:pPr algn="l">
              <a:spcAft>
                <a:spcPts val="400"/>
              </a:spcAft>
            </a:pPr>
            <a:r>
              <a:rPr sz="1100" b="0">
                <a:solidFill>
                  <a:srgbClr val="6C757D"/>
                </a:solidFill>
              </a:rPr>
              <a:t>12-month amortisation approximation, not a full tenure-and-rate schedule</a:t>
            </a:r>
          </a:p>
        </p:txBody>
      </p:sp>
      <p:sp>
        <p:nvSpPr>
          <p:cNvPr id="10" name="TextBox 9"/>
          <p:cNvSpPr txBox="1"/>
          <p:nvPr/>
        </p:nvSpPr>
        <p:spPr>
          <a:xfrm>
            <a:off x="457200" y="3648456"/>
            <a:ext cx="5486400" cy="274320"/>
          </a:xfrm>
          <a:prstGeom prst="rect">
            <a:avLst/>
          </a:prstGeom>
          <a:noFill/>
        </p:spPr>
        <p:txBody>
          <a:bodyPr wrap="square" anchor="t" lIns="73152" rIns="73152">
            <a:spAutoFit/>
          </a:bodyPr>
          <a:lstStyle/>
          <a:p>
            <a:pPr algn="l">
              <a:spcAft>
                <a:spcPts val="400"/>
              </a:spcAft>
            </a:pPr>
            <a:r>
              <a:rPr sz="1300" b="1">
                <a:solidFill>
                  <a:srgbClr val="212529"/>
                </a:solidFill>
              </a:rPr>
              <a:t>⚠  Audit log holds plaintext PII</a:t>
            </a:r>
          </a:p>
        </p:txBody>
      </p:sp>
      <p:sp>
        <p:nvSpPr>
          <p:cNvPr id="11" name="TextBox 10"/>
          <p:cNvSpPr txBox="1"/>
          <p:nvPr/>
        </p:nvSpPr>
        <p:spPr>
          <a:xfrm>
            <a:off x="713232" y="3895344"/>
            <a:ext cx="5212080" cy="320040"/>
          </a:xfrm>
          <a:prstGeom prst="rect">
            <a:avLst/>
          </a:prstGeom>
          <a:noFill/>
        </p:spPr>
        <p:txBody>
          <a:bodyPr wrap="square" anchor="t" lIns="73152" rIns="73152">
            <a:spAutoFit/>
          </a:bodyPr>
          <a:lstStyle/>
          <a:p>
            <a:pPr algn="l">
              <a:spcAft>
                <a:spcPts val="400"/>
              </a:spcAft>
            </a:pPr>
            <a:r>
              <a:rPr sz="1100" b="0">
                <a:solidFill>
                  <a:srgbClr val="6C757D"/>
                </a:solidFill>
              </a:rPr>
              <a:t>No field encryption, no retention window — blocks production data today</a:t>
            </a:r>
          </a:p>
        </p:txBody>
      </p:sp>
      <p:sp>
        <p:nvSpPr>
          <p:cNvPr id="12" name="TextBox 11"/>
          <p:cNvSpPr txBox="1"/>
          <p:nvPr/>
        </p:nvSpPr>
        <p:spPr>
          <a:xfrm>
            <a:off x="457200" y="4361688"/>
            <a:ext cx="5486400" cy="274320"/>
          </a:xfrm>
          <a:prstGeom prst="rect">
            <a:avLst/>
          </a:prstGeom>
          <a:noFill/>
        </p:spPr>
        <p:txBody>
          <a:bodyPr wrap="square" anchor="t" lIns="73152" rIns="73152">
            <a:spAutoFit/>
          </a:bodyPr>
          <a:lstStyle/>
          <a:p>
            <a:pPr algn="l">
              <a:spcAft>
                <a:spcPts val="400"/>
              </a:spcAft>
            </a:pPr>
            <a:r>
              <a:rPr sz="1300" b="1">
                <a:solidFill>
                  <a:srgbClr val="212529"/>
                </a:solidFill>
              </a:rPr>
              <a:t>⚠  Thresholds not yet externalised</a:t>
            </a:r>
          </a:p>
        </p:txBody>
      </p:sp>
      <p:sp>
        <p:nvSpPr>
          <p:cNvPr id="13" name="TextBox 12"/>
          <p:cNvSpPr txBox="1"/>
          <p:nvPr/>
        </p:nvSpPr>
        <p:spPr>
          <a:xfrm>
            <a:off x="713232" y="4608576"/>
            <a:ext cx="5212080" cy="320040"/>
          </a:xfrm>
          <a:prstGeom prst="rect">
            <a:avLst/>
          </a:prstGeom>
          <a:noFill/>
        </p:spPr>
        <p:txBody>
          <a:bodyPr wrap="square" anchor="t" lIns="73152" rIns="73152">
            <a:spAutoFit/>
          </a:bodyPr>
          <a:lstStyle/>
          <a:p>
            <a:pPr algn="l">
              <a:spcAft>
                <a:spcPts val="400"/>
              </a:spcAft>
            </a:pPr>
            <a:r>
              <a:rPr sz="1100" b="0">
                <a:solidFill>
                  <a:srgbClr val="6C757D"/>
                </a:solidFill>
              </a:rPr>
              <a:t>Policy limits live in code; config-driven thresholds are pending</a:t>
            </a:r>
          </a:p>
        </p:txBody>
      </p:sp>
      <p:sp>
        <p:nvSpPr>
          <p:cNvPr id="14" name="TextBox 13"/>
          <p:cNvSpPr txBox="1"/>
          <p:nvPr/>
        </p:nvSpPr>
        <p:spPr>
          <a:xfrm>
            <a:off x="6400800" y="1143000"/>
            <a:ext cx="5394960" cy="320040"/>
          </a:xfrm>
          <a:prstGeom prst="rect">
            <a:avLst/>
          </a:prstGeom>
          <a:noFill/>
        </p:spPr>
        <p:txBody>
          <a:bodyPr wrap="square" anchor="t" lIns="73152" rIns="73152">
            <a:spAutoFit/>
          </a:bodyPr>
          <a:lstStyle/>
          <a:p>
            <a:pPr algn="l">
              <a:spcAft>
                <a:spcPts val="400"/>
              </a:spcAft>
            </a:pPr>
            <a:r>
              <a:rPr sz="1600" b="1">
                <a:solidFill>
                  <a:srgbClr val="28A745"/>
                </a:solidFill>
              </a:rPr>
              <a:t>Roadmap, in priority order</a:t>
            </a:r>
          </a:p>
        </p:txBody>
      </p:sp>
      <p:sp>
        <p:nvSpPr>
          <p:cNvPr id="15" name="Rounded Rectangle 14"/>
          <p:cNvSpPr/>
          <p:nvPr/>
        </p:nvSpPr>
        <p:spPr>
          <a:xfrm>
            <a:off x="6400800" y="1508760"/>
            <a:ext cx="1051560" cy="548640"/>
          </a:xfrm>
          <a:prstGeom prst="roundRect">
            <a:avLst/>
          </a:prstGeom>
          <a:solidFill>
            <a:srgbClr val="DC3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Now</a:t>
            </a:r>
          </a:p>
        </p:txBody>
      </p:sp>
      <p:sp>
        <p:nvSpPr>
          <p:cNvPr id="16" name="TextBox 15"/>
          <p:cNvSpPr txBox="1"/>
          <p:nvPr/>
        </p:nvSpPr>
        <p:spPr>
          <a:xfrm>
            <a:off x="7589520" y="1618488"/>
            <a:ext cx="4206240" cy="411480"/>
          </a:xfrm>
          <a:prstGeom prst="rect">
            <a:avLst/>
          </a:prstGeom>
          <a:noFill/>
        </p:spPr>
        <p:txBody>
          <a:bodyPr wrap="square" anchor="t" lIns="73152" rIns="73152">
            <a:spAutoFit/>
          </a:bodyPr>
          <a:lstStyle/>
          <a:p>
            <a:pPr algn="l">
              <a:spcAft>
                <a:spcPts val="400"/>
              </a:spcAft>
            </a:pPr>
            <a:r>
              <a:rPr sz="1200" b="0">
                <a:solidFill>
                  <a:srgbClr val="212529"/>
                </a:solidFill>
              </a:rPr>
              <a:t>Encrypt/hash audit PII; add retention policy</a:t>
            </a:r>
          </a:p>
        </p:txBody>
      </p:sp>
      <p:sp>
        <p:nvSpPr>
          <p:cNvPr id="17" name="Rounded Rectangle 16"/>
          <p:cNvSpPr/>
          <p:nvPr/>
        </p:nvSpPr>
        <p:spPr>
          <a:xfrm>
            <a:off x="6400800" y="2221991"/>
            <a:ext cx="1051560" cy="548640"/>
          </a:xfrm>
          <a:prstGeom prst="round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Next</a:t>
            </a:r>
          </a:p>
        </p:txBody>
      </p:sp>
      <p:sp>
        <p:nvSpPr>
          <p:cNvPr id="18" name="TextBox 17"/>
          <p:cNvSpPr txBox="1"/>
          <p:nvPr/>
        </p:nvSpPr>
        <p:spPr>
          <a:xfrm>
            <a:off x="7589520" y="2331720"/>
            <a:ext cx="4206240" cy="411480"/>
          </a:xfrm>
          <a:prstGeom prst="rect">
            <a:avLst/>
          </a:prstGeom>
          <a:noFill/>
        </p:spPr>
        <p:txBody>
          <a:bodyPr wrap="square" anchor="t" lIns="73152" rIns="73152">
            <a:spAutoFit/>
          </a:bodyPr>
          <a:lstStyle/>
          <a:p>
            <a:pPr algn="l">
              <a:spcAft>
                <a:spcPts val="400"/>
              </a:spcAft>
            </a:pPr>
            <a:r>
              <a:rPr sz="1200" b="0">
                <a:solidFill>
                  <a:srgbClr val="212529"/>
                </a:solidFill>
              </a:rPr>
              <a:t>Externalise thresholds to versioned config</a:t>
            </a:r>
          </a:p>
        </p:txBody>
      </p:sp>
      <p:sp>
        <p:nvSpPr>
          <p:cNvPr id="19" name="Rounded Rectangle 18"/>
          <p:cNvSpPr/>
          <p:nvPr/>
        </p:nvSpPr>
        <p:spPr>
          <a:xfrm>
            <a:off x="6400800" y="2935224"/>
            <a:ext cx="1051560" cy="548640"/>
          </a:xfrm>
          <a:prstGeom prst="round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Next</a:t>
            </a:r>
          </a:p>
        </p:txBody>
      </p:sp>
      <p:sp>
        <p:nvSpPr>
          <p:cNvPr id="20" name="TextBox 19"/>
          <p:cNvSpPr txBox="1"/>
          <p:nvPr/>
        </p:nvSpPr>
        <p:spPr>
          <a:xfrm>
            <a:off x="7589520" y="3044952"/>
            <a:ext cx="4206240" cy="411480"/>
          </a:xfrm>
          <a:prstGeom prst="rect">
            <a:avLst/>
          </a:prstGeom>
          <a:noFill/>
        </p:spPr>
        <p:txBody>
          <a:bodyPr wrap="square" anchor="t" lIns="73152" rIns="73152">
            <a:spAutoFit/>
          </a:bodyPr>
          <a:lstStyle/>
          <a:p>
            <a:pPr algn="l">
              <a:spcAft>
                <a:spcPts val="400"/>
              </a:spcAft>
            </a:pPr>
            <a:r>
              <a:rPr sz="1200" b="0">
                <a:solidFill>
                  <a:srgbClr val="212529"/>
                </a:solidFill>
              </a:rPr>
              <a:t>Full amortisation schedule for EMI</a:t>
            </a:r>
          </a:p>
        </p:txBody>
      </p:sp>
      <p:sp>
        <p:nvSpPr>
          <p:cNvPr id="21" name="Rounded Rectangle 20"/>
          <p:cNvSpPr/>
          <p:nvPr/>
        </p:nvSpPr>
        <p:spPr>
          <a:xfrm>
            <a:off x="6400800" y="3648456"/>
            <a:ext cx="1051560" cy="548640"/>
          </a:xfrm>
          <a:prstGeom prst="round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Then</a:t>
            </a:r>
          </a:p>
        </p:txBody>
      </p:sp>
      <p:sp>
        <p:nvSpPr>
          <p:cNvPr id="22" name="TextBox 21"/>
          <p:cNvSpPr txBox="1"/>
          <p:nvPr/>
        </p:nvSpPr>
        <p:spPr>
          <a:xfrm>
            <a:off x="7589520" y="3758183"/>
            <a:ext cx="4206240" cy="411480"/>
          </a:xfrm>
          <a:prstGeom prst="rect">
            <a:avLst/>
          </a:prstGeom>
          <a:noFill/>
        </p:spPr>
        <p:txBody>
          <a:bodyPr wrap="square" anchor="t" lIns="73152" rIns="73152">
            <a:spAutoFit/>
          </a:bodyPr>
          <a:lstStyle/>
          <a:p>
            <a:pPr algn="l">
              <a:spcAft>
                <a:spcPts val="400"/>
              </a:spcAft>
            </a:pPr>
            <a:r>
              <a:rPr sz="1200" b="0">
                <a:solidFill>
                  <a:srgbClr val="212529"/>
                </a:solidFill>
              </a:rPr>
              <a:t>Wire real policy corpus into FAISS index</a:t>
            </a:r>
          </a:p>
        </p:txBody>
      </p:sp>
      <p:sp>
        <p:nvSpPr>
          <p:cNvPr id="23" name="Rounded Rectangle 22"/>
          <p:cNvSpPr/>
          <p:nvPr/>
        </p:nvSpPr>
        <p:spPr>
          <a:xfrm>
            <a:off x="6400800" y="4361688"/>
            <a:ext cx="1051560" cy="548640"/>
          </a:xfrm>
          <a:prstGeom prst="round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Then</a:t>
            </a:r>
          </a:p>
        </p:txBody>
      </p:sp>
      <p:sp>
        <p:nvSpPr>
          <p:cNvPr id="24" name="TextBox 23"/>
          <p:cNvSpPr txBox="1"/>
          <p:nvPr/>
        </p:nvSpPr>
        <p:spPr>
          <a:xfrm>
            <a:off x="7589520" y="4471416"/>
            <a:ext cx="4206240" cy="411480"/>
          </a:xfrm>
          <a:prstGeom prst="rect">
            <a:avLst/>
          </a:prstGeom>
          <a:noFill/>
        </p:spPr>
        <p:txBody>
          <a:bodyPr wrap="square" anchor="t" lIns="73152" rIns="73152">
            <a:spAutoFit/>
          </a:bodyPr>
          <a:lstStyle/>
          <a:p>
            <a:pPr algn="l">
              <a:spcAft>
                <a:spcPts val="400"/>
              </a:spcAft>
            </a:pPr>
            <a:r>
              <a:rPr sz="1200" b="0">
                <a:solidFill>
                  <a:srgbClr val="212529"/>
                </a:solidFill>
              </a:rPr>
              <a:t>Postgres audit store + monitoring dashboards</a:t>
            </a:r>
          </a:p>
        </p:txBody>
      </p:sp>
      <p:sp>
        <p:nvSpPr>
          <p:cNvPr id="25" name="Rounded Rectangle 24"/>
          <p:cNvSpPr/>
          <p:nvPr/>
        </p:nvSpPr>
        <p:spPr>
          <a:xfrm>
            <a:off x="6400800" y="5074920"/>
            <a:ext cx="1051560" cy="548640"/>
          </a:xfrm>
          <a:prstGeom prst="round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100" b="1">
                <a:solidFill>
                  <a:srgbClr val="FFFFFF"/>
                </a:solidFill>
              </a:rPr>
              <a:t>Later</a:t>
            </a:r>
          </a:p>
        </p:txBody>
      </p:sp>
      <p:sp>
        <p:nvSpPr>
          <p:cNvPr id="26" name="TextBox 25"/>
          <p:cNvSpPr txBox="1"/>
          <p:nvPr/>
        </p:nvSpPr>
        <p:spPr>
          <a:xfrm>
            <a:off x="7589520" y="5184648"/>
            <a:ext cx="4206240" cy="411480"/>
          </a:xfrm>
          <a:prstGeom prst="rect">
            <a:avLst/>
          </a:prstGeom>
          <a:noFill/>
        </p:spPr>
        <p:txBody>
          <a:bodyPr wrap="square" anchor="t" lIns="73152" rIns="73152">
            <a:spAutoFit/>
          </a:bodyPr>
          <a:lstStyle/>
          <a:p>
            <a:pPr algn="l">
              <a:spcAft>
                <a:spcPts val="400"/>
              </a:spcAft>
            </a:pPr>
            <a:r>
              <a:rPr sz="1200" b="0">
                <a:solidFill>
                  <a:srgbClr val="212529"/>
                </a:solidFill>
              </a:rPr>
              <a:t>ML risk score as an advisory input, rules stay authoritative</a:t>
            </a:r>
          </a:p>
        </p:txBody>
      </p:sp>
      <p:sp>
        <p:nvSpPr>
          <p:cNvPr id="27" name="TextBox 26"/>
          <p:cNvSpPr txBox="1"/>
          <p:nvPr/>
        </p:nvSpPr>
        <p:spPr>
          <a:xfrm>
            <a:off x="457200" y="6035040"/>
            <a:ext cx="11277295" cy="411480"/>
          </a:xfrm>
          <a:prstGeom prst="rect">
            <a:avLst/>
          </a:prstGeom>
          <a:noFill/>
        </p:spPr>
        <p:txBody>
          <a:bodyPr wrap="square" anchor="t" lIns="73152" rIns="73152">
            <a:spAutoFit/>
          </a:bodyPr>
          <a:lstStyle/>
          <a:p>
            <a:pPr algn="l">
              <a:spcAft>
                <a:spcPts val="400"/>
              </a:spcAft>
            </a:pPr>
            <a:r>
              <a:rPr sz="1100" b="0">
                <a:solidFill>
                  <a:srgbClr val="6C757D"/>
                </a:solidFill>
              </a:rPr>
              <a:t>Design stance: the rules engine remains the authoritative decision-maker. Any future model is advisory input, so explainability is never traded away.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3" name="Rectangle 2"/>
          <p:cNvSpPr/>
          <p:nvPr/>
        </p:nvSpPr>
        <p:spPr>
          <a:xfrm>
            <a:off x="0" y="2651760"/>
            <a:ext cx="12191695" cy="5486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p>
        </p:txBody>
      </p:sp>
      <p:sp>
        <p:nvSpPr>
          <p:cNvPr id="4" name="TextBox 3"/>
          <p:cNvSpPr txBox="1"/>
          <p:nvPr/>
        </p:nvSpPr>
        <p:spPr>
          <a:xfrm>
            <a:off x="731520" y="1828800"/>
            <a:ext cx="10728655" cy="777240"/>
          </a:xfrm>
          <a:prstGeom prst="rect">
            <a:avLst/>
          </a:prstGeom>
          <a:noFill/>
        </p:spPr>
        <p:txBody>
          <a:bodyPr wrap="square" anchor="t" lIns="73152" rIns="73152">
            <a:spAutoFit/>
          </a:bodyPr>
          <a:lstStyle/>
          <a:p>
            <a:pPr algn="ctr">
              <a:spcAft>
                <a:spcPts val="400"/>
              </a:spcAft>
            </a:pPr>
            <a:r>
              <a:rPr sz="4000" b="1">
                <a:solidFill>
                  <a:srgbClr val="FFFFFF"/>
                </a:solidFill>
              </a:rPr>
              <a:t>Thank You  —  Questions?</a:t>
            </a:r>
          </a:p>
        </p:txBody>
      </p:sp>
      <p:sp>
        <p:nvSpPr>
          <p:cNvPr id="5" name="Rounded Rectangle 4"/>
          <p:cNvSpPr/>
          <p:nvPr/>
        </p:nvSpPr>
        <p:spPr>
          <a:xfrm>
            <a:off x="731520" y="3200400"/>
            <a:ext cx="3429000" cy="1371600"/>
          </a:xfrm>
          <a:prstGeom prst="roundRect">
            <a:avLst/>
          </a:prstGeom>
          <a:solidFill>
            <a:srgbClr val="163D5C"/>
          </a:solidFill>
          <a:ln w="19050">
            <a:solidFill>
              <a:srgbClr val="2E6C9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600" b="1">
                <a:solidFill>
                  <a:srgbClr val="FFFFFF"/>
                </a:solidFill>
              </a:rPr>
              <a:t>Speed without opacity</a:t>
            </a:r>
          </a:p>
          <a:p>
            <a:pPr algn="ctr">
              <a:spcAft>
                <a:spcPts val="0"/>
              </a:spcAft>
            </a:pPr>
            <a:r>
              <a:rPr sz="600" b="0">
                <a:solidFill>
                  <a:srgbClr val="FFFFFF"/>
                </a:solidFill>
              </a:rPr>
              <a:t/>
            </a:r>
          </a:p>
          <a:p>
            <a:pPr algn="ctr">
              <a:spcAft>
                <a:spcPts val="0"/>
              </a:spcAft>
            </a:pPr>
            <a:r>
              <a:rPr sz="1100" b="0">
                <a:solidFill>
                  <a:srgbClr val="CFE4F5"/>
                </a:solidFill>
              </a:rPr>
              <a:t>Sub-second decisions that always</a:t>
            </a:r>
          </a:p>
          <a:p>
            <a:pPr algn="ctr">
              <a:spcAft>
                <a:spcPts val="0"/>
              </a:spcAft>
            </a:pPr>
            <a:r>
              <a:rPr sz="1100" b="0">
                <a:solidFill>
                  <a:srgbClr val="CFE4F5"/>
                </a:solidFill>
              </a:rPr>
              <a:t>carry their own reasoning</a:t>
            </a:r>
          </a:p>
        </p:txBody>
      </p:sp>
      <p:sp>
        <p:nvSpPr>
          <p:cNvPr id="6" name="Rounded Rectangle 5"/>
          <p:cNvSpPr/>
          <p:nvPr/>
        </p:nvSpPr>
        <p:spPr>
          <a:xfrm>
            <a:off x="4434840" y="3200400"/>
            <a:ext cx="3429000" cy="1371600"/>
          </a:xfrm>
          <a:prstGeom prst="roundRect">
            <a:avLst/>
          </a:prstGeom>
          <a:solidFill>
            <a:srgbClr val="163D5C"/>
          </a:solidFill>
          <a:ln w="19050">
            <a:solidFill>
              <a:srgbClr val="2E6C9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600" b="1">
                <a:solidFill>
                  <a:srgbClr val="FFFFFF"/>
                </a:solidFill>
              </a:rPr>
              <a:t>Governance by construction</a:t>
            </a:r>
          </a:p>
          <a:p>
            <a:pPr algn="ctr">
              <a:spcAft>
                <a:spcPts val="0"/>
              </a:spcAft>
            </a:pPr>
            <a:r>
              <a:rPr sz="600" b="0">
                <a:solidFill>
                  <a:srgbClr val="FFFFFF"/>
                </a:solidFill>
              </a:rPr>
              <a:t/>
            </a:r>
          </a:p>
          <a:p>
            <a:pPr algn="ctr">
              <a:spcAft>
                <a:spcPts val="0"/>
              </a:spcAft>
            </a:pPr>
            <a:r>
              <a:rPr sz="1100" b="0">
                <a:solidFill>
                  <a:srgbClr val="CFE4F5"/>
                </a:solidFill>
              </a:rPr>
              <a:t>Borderline escalation, boundary validation,</a:t>
            </a:r>
          </a:p>
          <a:p>
            <a:pPr algn="ctr">
              <a:spcAft>
                <a:spcPts val="0"/>
              </a:spcAft>
            </a:pPr>
            <a:r>
              <a:rPr sz="1100" b="0">
                <a:solidFill>
                  <a:srgbClr val="CFE4F5"/>
                </a:solidFill>
              </a:rPr>
              <a:t>and audit trail are structural</a:t>
            </a:r>
          </a:p>
        </p:txBody>
      </p:sp>
      <p:sp>
        <p:nvSpPr>
          <p:cNvPr id="7" name="Rounded Rectangle 6"/>
          <p:cNvSpPr/>
          <p:nvPr/>
        </p:nvSpPr>
        <p:spPr>
          <a:xfrm>
            <a:off x="8138160" y="3200400"/>
            <a:ext cx="3429000" cy="1371600"/>
          </a:xfrm>
          <a:prstGeom prst="roundRect">
            <a:avLst/>
          </a:prstGeom>
          <a:solidFill>
            <a:srgbClr val="163D5C"/>
          </a:solidFill>
          <a:ln w="19050">
            <a:solidFill>
              <a:srgbClr val="2E6C9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spcAft>
                <a:spcPts val="0"/>
              </a:spcAft>
            </a:pPr>
            <a:r>
              <a:rPr sz="1600" b="1">
                <a:solidFill>
                  <a:srgbClr val="FFFFFF"/>
                </a:solidFill>
              </a:rPr>
              <a:t>Built to extend</a:t>
            </a:r>
          </a:p>
          <a:p>
            <a:pPr algn="ctr">
              <a:spcAft>
                <a:spcPts val="0"/>
              </a:spcAft>
            </a:pPr>
            <a:r>
              <a:rPr sz="600" b="0">
                <a:solidFill>
                  <a:srgbClr val="FFFFFF"/>
                </a:solidFill>
              </a:rPr>
              <a:t/>
            </a:r>
          </a:p>
          <a:p>
            <a:pPr algn="ctr">
              <a:spcAft>
                <a:spcPts val="0"/>
              </a:spcAft>
            </a:pPr>
            <a:r>
              <a:rPr sz="1100" b="0">
                <a:solidFill>
                  <a:srgbClr val="CFE4F5"/>
                </a:solidFill>
              </a:rPr>
              <a:t>New skills and pluggable tools land</a:t>
            </a:r>
          </a:p>
          <a:p>
            <a:pPr algn="ctr">
              <a:spcAft>
                <a:spcPts val="0"/>
              </a:spcAft>
            </a:pPr>
            <a:r>
              <a:rPr sz="1100" b="0">
                <a:solidFill>
                  <a:srgbClr val="CFE4F5"/>
                </a:solidFill>
              </a:rPr>
              <a:t>without touching the core</a:t>
            </a:r>
          </a:p>
        </p:txBody>
      </p:sp>
      <p:sp>
        <p:nvSpPr>
          <p:cNvPr id="8" name="TextBox 7"/>
          <p:cNvSpPr txBox="1"/>
          <p:nvPr/>
        </p:nvSpPr>
        <p:spPr>
          <a:xfrm>
            <a:off x="731520" y="4937760"/>
            <a:ext cx="10728655" cy="365760"/>
          </a:xfrm>
          <a:prstGeom prst="rect">
            <a:avLst/>
          </a:prstGeom>
          <a:noFill/>
        </p:spPr>
        <p:txBody>
          <a:bodyPr wrap="square" anchor="t" lIns="73152" rIns="73152">
            <a:spAutoFit/>
          </a:bodyPr>
          <a:lstStyle/>
          <a:p>
            <a:pPr algn="ctr">
              <a:spcAft>
                <a:spcPts val="400"/>
              </a:spcAft>
            </a:pPr>
            <a:r>
              <a:rPr sz="1300" b="0">
                <a:solidFill>
                  <a:srgbClr val="9FB8CC"/>
                </a:solidFill>
              </a:rPr>
              <a:t>Loan Eligibility AI  •  Intelligent Multi-Agent Assessment System  •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