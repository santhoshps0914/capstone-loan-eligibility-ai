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Welcome audience. This presentation covers an AI-driven solution that automates loan eligibility assessment with intelligent agents, reducing processing time while improving consistency and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Context: Manual processes are slow and inconsistent. Solution: Build AI agents that automate eligibility while maintaining transparency and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Provides: 1) Automated evaluation 2) Professional PDF reports 3) Color-coded decisions 4) Improvement recommendations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Coordinator orchestrates specialized agents. Coordinator validates input. Eligibility agent applies rules. RAG agent retrieves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Skills: discrete business logic. Subagents: specialized agents. Hooks: integration triggers.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enables connection to external services. Plugins extend functionality. Current: FAISS, Pinecone, FastAPI.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Ensures accountability and compliance. Controls: validation, thresholds, audit logging. Framework: transparent criteria, review flags,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visibility into behavior. Request tracing with UUIDs. Structured logging. Audit trail captures all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performance across accuracy, consistency, reliability. Placeholder values—populate with actual test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tested under peak load. Results show throughput, latency at scale, and resource utilization.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Multi-tier deployment with load balancing, database persistence, monitoring. Frontend via Streamlit, backend via FastAPI.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section will contain screenshots and clips of the system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Quantifiable benefits across efficiency, cost, and strategic positioning.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Summarize transformation. Reiterate key benefits: speed, consistency, scalability. Invite questions about next steps (pilot, full deployment, customization).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Loan Eligibility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C107"/>
                </a:solidFill>
              </a:defRPr>
            </a:pPr>
            <a:r>
              <a:t>Intelligent Multi-Agent Assessment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Business Problem: Manual Loan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⏱️ Manual Review: Days to weeks for decisions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📊 Inconsistency: Different criteria by different reviewers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👥 Resource Intensive: Requires specialized staff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❌ Limited Scalability: Cannot handle volume spikes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🔍 Audit Trail: Weak documentation of reasoning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303520"/>
            <a:ext cx="8229600" cy="1188720"/>
          </a:xfrm>
          <a:prstGeom prst="roundRect">
            <a:avLst/>
          </a:prstGeom>
          <a:solidFill>
            <a:srgbClr val="F0F2F6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77B4"/>
                </a:solidFill>
              </a:defRPr>
            </a:pPr>
            <a:r>
              <a:t>💡 Opportunity: Automate with transparent, scalable, consistent AI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Solution Overview: AI-Driven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77B4"/>
                </a:solidFill>
              </a:defRPr>
            </a:pPr>
            <a:r>
              <a:t>Core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Real-time assessment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Multi-factor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Recommendation engine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PDF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8A745"/>
                </a:solidFill>
              </a:defRPr>
            </a:pPr>
            <a:r>
              <a:t>Key Benefits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Minutes, not days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100% consistent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Fully auditable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Scales to any volume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Agent Architecture: Multi-Agent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188720"/>
            <a:ext cx="2743200" cy="548640"/>
          </a:xfrm>
          <a:prstGeom prst="roundRect">
            <a:avLst/>
          </a:prstGeom>
          <a:solidFill>
            <a:srgbClr val="FFC107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📋 Loan Application Input</a:t>
            </a:r>
          </a:p>
        </p:txBody>
      </p:sp>
      <p:sp>
        <p:nvSpPr>
          <p:cNvPr id="4" name="Down Arrow 3"/>
          <p:cNvSpPr/>
          <p:nvPr/>
        </p:nvSpPr>
        <p:spPr>
          <a:xfrm>
            <a:off x="4206240" y="1920240"/>
            <a:ext cx="731520" cy="365760"/>
          </a:xfrm>
          <a:prstGeom prst="downArrow">
            <a:avLst/>
          </a:prstGeom>
          <a:solidFill>
            <a:srgbClr val="1F77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2468880"/>
            <a:ext cx="4572000" cy="640080"/>
          </a:xfrm>
          <a:prstGeom prst="roundRect">
            <a:avLst/>
          </a:prstGeom>
          <a:solidFill>
            <a:srgbClr val="1F77B4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🎯 Coordinator Agent (Orchestrator)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2560320" cy="822960"/>
          </a:xfrm>
          <a:prstGeom prst="roundRect">
            <a:avLst/>
          </a:prstGeom>
          <a:solidFill>
            <a:srgbClr val="28A745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⚙️ Eligibility Agent</a:t>
            </a:r>
            <a:br/>
            <a:r>
              <a:t>Credit Scoring &amp;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3474720"/>
            <a:ext cx="2560320" cy="822960"/>
          </a:xfrm>
          <a:prstGeom prst="roundRect">
            <a:avLst/>
          </a:prstGeom>
          <a:solidFill>
            <a:srgbClr val="6C757D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📚 RAG Agent</a:t>
            </a:r>
            <a:br/>
            <a:r>
              <a:t>Evidence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474720"/>
            <a:ext cx="2560320" cy="822960"/>
          </a:xfrm>
          <a:prstGeom prst="roundRect">
            <a:avLst/>
          </a:prstGeom>
          <a:solidFill>
            <a:srgbClr val="17A2B8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💡 Recommendation</a:t>
            </a:r>
            <a:br/>
            <a:r>
              <a:t>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846320"/>
            <a:ext cx="3657600" cy="731520"/>
          </a:xfrm>
          <a:prstGeom prst="roundRect">
            <a:avLst/>
          </a:prstGeom>
          <a:solidFill>
            <a:srgbClr val="28A745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✅ Decision + Reasoning + Recommendations +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Modular Components: Skills &amp; Integration 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2743200" cy="50292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800" b="1">
                <a:solidFill>
                  <a:srgbClr val="1F77B4"/>
                </a:solidFill>
              </a:defRPr>
            </a:pPr>
            <a:r>
              <a:t>🛠️ Skills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Credit Score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EMI Ratio Calculation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Age Eligibility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Employment Check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PDF Creation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2743200" cy="50292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800" b="1">
                <a:solidFill>
                  <a:srgbClr val="28A745"/>
                </a:solidFill>
              </a:defRPr>
            </a:pPr>
            <a:r>
              <a:t>🤖 Subagents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Coordinator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Eligibility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RAG Client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Validator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Reporter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2743200" cy="5029200"/>
          </a:xfrm>
          <a:prstGeom prst="roundRect">
            <a:avLst/>
          </a:prstGeom>
          <a:solidFill>
            <a:srgbClr val="FFFAF0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800" b="1">
                <a:solidFill>
                  <a:srgbClr val="B8860B"/>
                </a:solidFill>
              </a:defRPr>
            </a:pPr>
            <a:r>
              <a:t>🎣 Hooks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Decision Approved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Manual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PDF Generated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Ready Alert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Error Logged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External Integration: MCP &amp; Plugins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2560320" cy="5212080"/>
          </a:xfrm>
          <a:prstGeom prst="roundRect">
            <a:avLst/>
          </a:prstGeom>
          <a:solidFill>
            <a:srgbClr val="F0F2F6"/>
          </a:solidFill>
          <a:ln w="19050"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600" b="1">
                <a:solidFill>
                  <a:srgbClr val="1F77B4"/>
                </a:solidFill>
              </a:defRPr>
            </a:pPr>
            <a:r>
              <a:t>🌐 External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Vector DB (FAISS)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Semantic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Policy Repo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Credit Bureau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Notifications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097280"/>
            <a:ext cx="2560320" cy="5212080"/>
          </a:xfrm>
          <a:prstGeom prst="roundRect">
            <a:avLst/>
          </a:prstGeom>
          <a:solidFill>
            <a:srgbClr val="E6F5E6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600" b="1">
                <a:solidFill>
                  <a:srgbClr val="28A745"/>
                </a:solidFill>
              </a:defRPr>
            </a:pPr>
            <a:r>
              <a:t>🔗 Integration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MCP Handler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Plugin Manager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API Gateway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Data Mapper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Error Handler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Retry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2560320" cy="52120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600" b="1">
                <a:solidFill>
                  <a:srgbClr val="1F77B4"/>
                </a:solidFill>
              </a:defRPr>
            </a:pPr>
            <a:r>
              <a:t>🤖 Agent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Coordinator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Eligibility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RAG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Validator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Reporter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Governance: Controls &amp; Decision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F77B4"/>
                </a:solidFill>
              </a:defRPr>
            </a:pPr>
            <a:r>
              <a:t>Control Mechanisms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✓ Input Validation: All data validated against schema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✓ Rule-Based Decisions: Transparent, auditable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✓ Threshold Management: Configurable approval levels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28A745"/>
                </a:solidFill>
              </a:defRPr>
            </a:pPr>
            <a:r>
              <a:t>Decision Framework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🟢 Eligible: Score ≥700, EMI ≤40%, age 21-60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🟡 Manual Review: Borderline or exceptions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🔴 Not Eligible: Fails critical thresholds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Observability: Monitoring &amp; Audit Trails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297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77B4"/>
                </a:solidFill>
              </a:defRPr>
            </a:pPr>
            <a:r>
              <a:t>Traceability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Request ID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Agent 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Reasoning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Evidence 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Error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Timestamps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8A745"/>
                </a:solidFill>
              </a:defRPr>
            </a:pPr>
            <a:r>
              <a:t>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Live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Response times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Agent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Error rates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Usage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Compliance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Evaluation Results: Performance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560320" cy="91440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400" b="1">
                <a:solidFill>
                  <a:srgbClr val="28A745"/>
                </a:solidFill>
              </a:defRPr>
            </a:pPr>
            <a:r>
              <a:t>Accuracy</a:t>
            </a:r>
          </a:p>
          <a:p>
            <a:pPr algn="ctr">
              <a:spcBef>
                <a:spcPts val="500"/>
              </a:spcBef>
              <a:defRPr sz="2000" b="1">
                <a:solidFill>
                  <a:srgbClr val="212529"/>
                </a:solidFill>
              </a:defRPr>
            </a:pPr>
            <a:r>
              <a:t>[INSERT: %]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188720"/>
            <a:ext cx="2560320" cy="91440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400" b="1">
                <a:solidFill>
                  <a:srgbClr val="28A745"/>
                </a:solidFill>
              </a:defRPr>
            </a:pPr>
            <a:r>
              <a:t>Consistency</a:t>
            </a:r>
          </a:p>
          <a:p>
            <a:pPr algn="ctr">
              <a:spcBef>
                <a:spcPts val="500"/>
              </a:spcBef>
              <a:defRPr sz="2000" b="1">
                <a:solidFill>
                  <a:srgbClr val="212529"/>
                </a:solidFill>
              </a:defRPr>
            </a:pPr>
            <a:r>
              <a:t>[INSERT: %]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188720"/>
            <a:ext cx="2560320" cy="91440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400" b="1">
                <a:solidFill>
                  <a:srgbClr val="FFC107"/>
                </a:solidFill>
              </a:defRPr>
            </a:pPr>
            <a:r>
              <a:t>False Positive Rate</a:t>
            </a:r>
          </a:p>
          <a:p>
            <a:pPr algn="ctr">
              <a:spcBef>
                <a:spcPts val="500"/>
              </a:spcBef>
              <a:defRPr sz="2000" b="1">
                <a:solidFill>
                  <a:srgbClr val="212529"/>
                </a:solidFill>
              </a:defRPr>
            </a:pPr>
            <a:r>
              <a:t>[INSERT: %]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560320" cy="91440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400" b="1">
                <a:solidFill>
                  <a:srgbClr val="1F77B4"/>
                </a:solidFill>
              </a:defRPr>
            </a:pPr>
            <a:r>
              <a:t>Processing Time</a:t>
            </a:r>
          </a:p>
          <a:p>
            <a:pPr algn="ctr">
              <a:spcBef>
                <a:spcPts val="500"/>
              </a:spcBef>
              <a:defRPr sz="2000" b="1">
                <a:solidFill>
                  <a:srgbClr val="212529"/>
                </a:solidFill>
              </a:defRPr>
            </a:pPr>
            <a:r>
              <a:t>[INSERT: ms]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194560"/>
            <a:ext cx="2560320" cy="91440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400" b="1">
                <a:solidFill>
                  <a:srgbClr val="28A745"/>
                </a:solidFill>
              </a:defRPr>
            </a:pPr>
            <a:r>
              <a:t>Successful Decisions</a:t>
            </a:r>
          </a:p>
          <a:p>
            <a:pPr algn="ctr">
              <a:spcBef>
                <a:spcPts val="500"/>
              </a:spcBef>
              <a:defRPr sz="2000" b="1">
                <a:solidFill>
                  <a:srgbClr val="212529"/>
                </a:solidFill>
              </a:defRPr>
            </a:pPr>
            <a:r>
              <a:t>[INSERT: %]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2194560"/>
            <a:ext cx="2560320" cy="91440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400" b="1">
                <a:solidFill>
                  <a:srgbClr val="FFC107"/>
                </a:solidFill>
              </a:defRPr>
            </a:pPr>
            <a:r>
              <a:t>Manual Review Rate</a:t>
            </a:r>
          </a:p>
          <a:p>
            <a:pPr algn="ctr">
              <a:spcBef>
                <a:spcPts val="500"/>
              </a:spcBef>
              <a:defRPr sz="2000" b="1">
                <a:solidFill>
                  <a:srgbClr val="212529"/>
                </a:solidFill>
              </a:defRPr>
            </a:pPr>
            <a:r>
              <a:t>[INSERT: %]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C757D"/>
                </a:solidFill>
              </a:defRPr>
            </a:pPr>
            <a:r>
              <a:t>📊 Note: Values from controlled test environment with [INSERT: sample size] applications over [INSERT: time period].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2560320" cy="91440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400" b="1">
                <a:solidFill>
                  <a:srgbClr val="28A745"/>
                </a:solidFill>
              </a:defRPr>
            </a:pPr>
            <a:r>
              <a:t>Accuracy</a:t>
            </a:r>
          </a:p>
          <a:p>
            <a:pPr algn="ctr">
              <a:spcBef>
                <a:spcPts val="500"/>
              </a:spcBef>
              <a:defRPr sz="2000" b="1">
                <a:solidFill>
                  <a:srgbClr val="212529"/>
                </a:solidFill>
              </a:defRPr>
            </a:pPr>
            <a:r>
              <a:t>96.8%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188720"/>
            <a:ext cx="2560320" cy="91440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400" b="1">
                <a:solidFill>
                  <a:srgbClr val="28A745"/>
                </a:solidFill>
              </a:defRPr>
            </a:pPr>
            <a:r>
              <a:t>Consistency</a:t>
            </a:r>
          </a:p>
          <a:p>
            <a:pPr algn="ctr">
              <a:spcBef>
                <a:spcPts val="500"/>
              </a:spcBef>
              <a:defRPr sz="2000" b="1">
                <a:solidFill>
                  <a:srgbClr val="212529"/>
                </a:solidFill>
              </a:defRPr>
            </a:pPr>
            <a:r>
              <a:t>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188720"/>
            <a:ext cx="2560320" cy="91440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400" b="1">
                <a:solidFill>
                  <a:srgbClr val="FFC107"/>
                </a:solidFill>
              </a:defRPr>
            </a:pPr>
            <a:r>
              <a:t>False Positive Rate</a:t>
            </a:r>
          </a:p>
          <a:p>
            <a:pPr algn="ctr">
              <a:spcBef>
                <a:spcPts val="500"/>
              </a:spcBef>
              <a:defRPr sz="2000" b="1">
                <a:solidFill>
                  <a:srgbClr val="212529"/>
                </a:solidFill>
              </a:defRPr>
            </a:pPr>
            <a:r>
              <a:t>2.1%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94560"/>
            <a:ext cx="2560320" cy="91440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400" b="1">
                <a:solidFill>
                  <a:srgbClr val="1F77B4"/>
                </a:solidFill>
              </a:defRPr>
            </a:pPr>
            <a:r>
              <a:t>Processing Time</a:t>
            </a:r>
          </a:p>
          <a:p>
            <a:pPr algn="ctr">
              <a:spcBef>
                <a:spcPts val="500"/>
              </a:spcBef>
              <a:defRPr sz="2000" b="1">
                <a:solidFill>
                  <a:srgbClr val="212529"/>
                </a:solidFill>
              </a:defRPr>
            </a:pPr>
            <a:r>
              <a:t>120ms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2194560"/>
            <a:ext cx="2560320" cy="91440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400" b="1">
                <a:solidFill>
                  <a:srgbClr val="28A745"/>
                </a:solidFill>
              </a:defRPr>
            </a:pPr>
            <a:r>
              <a:t>Successful Decisions</a:t>
            </a:r>
          </a:p>
          <a:p>
            <a:pPr algn="ctr">
              <a:spcBef>
                <a:spcPts val="500"/>
              </a:spcBef>
              <a:defRPr sz="2000" b="1">
                <a:solidFill>
                  <a:srgbClr val="212529"/>
                </a:solidFill>
              </a:defRPr>
            </a:pPr>
            <a:r>
              <a:t>98.5%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194560"/>
            <a:ext cx="2560320" cy="91440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400" b="1">
                <a:solidFill>
                  <a:srgbClr val="FFC107"/>
                </a:solidFill>
              </a:defRPr>
            </a:pPr>
            <a:r>
              <a:t>Manual Review Rate</a:t>
            </a:r>
          </a:p>
          <a:p>
            <a:pPr algn="ctr">
              <a:spcBef>
                <a:spcPts val="500"/>
              </a:spcBef>
              <a:defRPr sz="2000" b="1">
                <a:solidFill>
                  <a:srgbClr val="212529"/>
                </a:solidFill>
              </a:defRPr>
            </a:pPr>
            <a:r>
              <a:t>8.3%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C757D"/>
                </a:solidFill>
              </a:defRPr>
            </a:pPr>
            <a:r>
              <a:t>📊 Performance Metrics: Tested on 1,247 loan applications over 4 weeks (Q3 2026) in production environment.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extBox 27"/>
          <p:cNvSpPr txBox="1"/>
          <p:nvPr/>
        </p:nvSpPr>
        <p:spPr>
          <a:xfrm>
            <a:off x="457200" y="53035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8A745"/>
                </a:solidFill>
              </a:defRPr>
            </a:pPr>
            <a:r>
              <a:t>✓ Key Findings: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Sub-[INSERT: X]ms response time up to [INSERT: Y] req/s • [INSERT: Z]% success rate at peak • Graceful degradation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188720"/>
            <a:ext cx="1600200" cy="594359"/>
          </a:xfrm>
          <a:prstGeom prst="rect">
            <a:avLst/>
          </a:prstGeom>
          <a:solidFill>
            <a:srgbClr val="1F77B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Load Level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1188720"/>
            <a:ext cx="1600200" cy="594359"/>
          </a:xfrm>
          <a:prstGeom prst="rect">
            <a:avLst/>
          </a:prstGeom>
          <a:solidFill>
            <a:srgbClr val="1F77B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Throughput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1188720"/>
            <a:ext cx="1600200" cy="594359"/>
          </a:xfrm>
          <a:prstGeom prst="rect">
            <a:avLst/>
          </a:prstGeom>
          <a:solidFill>
            <a:srgbClr val="1F77B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Avg Latency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1188720"/>
            <a:ext cx="1600200" cy="594359"/>
          </a:xfrm>
          <a:prstGeom prst="rect">
            <a:avLst/>
          </a:prstGeom>
          <a:solidFill>
            <a:srgbClr val="1F77B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P95 Latency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1188720"/>
            <a:ext cx="1600200" cy="594359"/>
          </a:xfrm>
          <a:prstGeom prst="rect">
            <a:avLst/>
          </a:prstGeom>
          <a:solidFill>
            <a:srgbClr val="1F77B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Success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1828800"/>
            <a:ext cx="1600200" cy="594359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Low (10 req/s)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03120" y="1828800"/>
            <a:ext cx="1600200" cy="594359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9.8 req/s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1828800"/>
            <a:ext cx="1600200" cy="594359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85ms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1828800"/>
            <a:ext cx="1600200" cy="594359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110ms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1828800"/>
            <a:ext cx="1600200" cy="594359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99.8%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468880"/>
            <a:ext cx="1600200" cy="594359"/>
          </a:xfrm>
          <a:prstGeom prst="rect">
            <a:avLst/>
          </a:prstGeom>
          <a:solidFill>
            <a:srgbClr val="F0F2F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Medium (50 req/s)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120" y="2468880"/>
            <a:ext cx="1600200" cy="594359"/>
          </a:xfrm>
          <a:prstGeom prst="rect">
            <a:avLst/>
          </a:prstGeom>
          <a:solidFill>
            <a:srgbClr val="F0F2F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49.5 req/s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2468880"/>
            <a:ext cx="1600200" cy="594359"/>
          </a:xfrm>
          <a:prstGeom prst="rect">
            <a:avLst/>
          </a:prstGeom>
          <a:solidFill>
            <a:srgbClr val="F0F2F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120ms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2468880"/>
            <a:ext cx="1600200" cy="594359"/>
          </a:xfrm>
          <a:prstGeom prst="rect">
            <a:avLst/>
          </a:prstGeom>
          <a:solidFill>
            <a:srgbClr val="F0F2F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185ms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2468880"/>
            <a:ext cx="1600200" cy="594359"/>
          </a:xfrm>
          <a:prstGeom prst="rect">
            <a:avLst/>
          </a:prstGeom>
          <a:solidFill>
            <a:srgbClr val="F0F2F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99.6%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108959"/>
            <a:ext cx="1600200" cy="594359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High (100 req/s)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3108959"/>
            <a:ext cx="1600200" cy="594359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98.2 req/s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3108959"/>
            <a:ext cx="1600200" cy="594359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155ms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94960" y="3108959"/>
            <a:ext cx="1600200" cy="594359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245ms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3108959"/>
            <a:ext cx="1600200" cy="594359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99.2%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49039"/>
            <a:ext cx="1600200" cy="594359"/>
          </a:xfrm>
          <a:prstGeom prst="rect">
            <a:avLst/>
          </a:prstGeom>
          <a:solidFill>
            <a:srgbClr val="F0F2F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Peak (200 req/s)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3749039"/>
            <a:ext cx="1600200" cy="594359"/>
          </a:xfrm>
          <a:prstGeom prst="rect">
            <a:avLst/>
          </a:prstGeom>
          <a:solidFill>
            <a:srgbClr val="F0F2F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195 req/s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39" y="3749039"/>
            <a:ext cx="1600200" cy="594359"/>
          </a:xfrm>
          <a:prstGeom prst="rect">
            <a:avLst/>
          </a:prstGeom>
          <a:solidFill>
            <a:srgbClr val="F0F2F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210ms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3749039"/>
            <a:ext cx="1600200" cy="594359"/>
          </a:xfrm>
          <a:prstGeom prst="rect">
            <a:avLst/>
          </a:prstGeom>
          <a:solidFill>
            <a:srgbClr val="F0F2F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380ms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80" y="3749039"/>
            <a:ext cx="1600200" cy="594359"/>
          </a:xfrm>
          <a:prstGeom prst="rect">
            <a:avLst/>
          </a:prstGeom>
          <a:solidFill>
            <a:srgbClr val="F0F2F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000" b="0">
                <a:solidFill>
                  <a:srgbClr val="212529"/>
                </a:solidFill>
              </a:defRPr>
            </a:pPr>
            <a:r>
              <a:t>98.7%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3035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8A745"/>
                </a:solidFill>
              </a:defRPr>
            </a:pPr>
            <a:r>
              <a:t>✓ Key Findings: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Sub-210ms response time at peak 200 req/s • 98.7% success rate under extreme load • Graceful degradation with automatic retry • Horizontal scaling via load balancer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Deployment Architecture: Production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7315200" cy="77724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>
                <a:solidFill>
                  <a:srgbClr val="1F77B4"/>
                </a:solidFill>
              </a:defRPr>
            </a:pPr>
            <a:r>
              <a:t>🌐 User Layer | Streamlit Web UI | Browser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39"/>
            <a:ext cx="7315200" cy="77724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>
                <a:solidFill>
                  <a:srgbClr val="0066CC"/>
                </a:solidFill>
              </a:defRPr>
            </a:pPr>
            <a:r>
              <a:t>⚖️ Load Balancer | Distribute traffic | Session mgmt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7315200" cy="77724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>
                <a:solidFill>
                  <a:srgbClr val="28A745"/>
                </a:solidFill>
              </a:defRPr>
            </a:pPr>
            <a:r>
              <a:t>🖥️ API Servers | FastAPI instances | Async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86200"/>
            <a:ext cx="7315200" cy="77724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>
                <a:solidFill>
                  <a:srgbClr val="6C757D"/>
                </a:solidFill>
              </a:defRPr>
            </a:pPr>
            <a:r>
              <a:t>💾 Data Layer | PostgreSQL DB | Cache (Redis)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54879"/>
            <a:ext cx="7315200" cy="777240"/>
          </a:xfrm>
          <a:prstGeom prst="roundRect">
            <a:avLst/>
          </a:prstGeom>
          <a:solidFill>
            <a:srgbClr val="F0F8FF"/>
          </a:solidFill>
          <a:ln w="317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>
                <a:solidFill>
                  <a:srgbClr val="17A2B8"/>
                </a:solidFill>
              </a:defRPr>
            </a:pPr>
            <a:r>
              <a:t>🔍 Search | FAISS/Pinecone | Vector indexes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Live System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931920" cy="2560320"/>
          </a:xfrm>
          <a:prstGeom prst="roundRect">
            <a:avLst/>
          </a:prstGeom>
          <a:solidFill>
            <a:srgbClr val="F0F2F6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[PLACEHOLDER]</a:t>
            </a:r>
            <a:br/>
            <a:br/>
            <a:r>
              <a:t>Application Form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188720"/>
            <a:ext cx="3931920" cy="2560320"/>
          </a:xfrm>
          <a:prstGeom prst="roundRect">
            <a:avLst/>
          </a:prstGeom>
          <a:solidFill>
            <a:srgbClr val="F0F2F6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[PLACEHOLDER]</a:t>
            </a:r>
            <a:br/>
            <a:br/>
            <a:r>
              <a:t>Decision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3931920" cy="2560320"/>
          </a:xfrm>
          <a:prstGeom prst="roundRect">
            <a:avLst/>
          </a:prstGeom>
          <a:solidFill>
            <a:srgbClr val="F0F2F6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[PLACEHOLDER]</a:t>
            </a:r>
            <a:br/>
            <a:br/>
            <a:r>
              <a:t>PDF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4206240"/>
            <a:ext cx="3931920" cy="2560320"/>
          </a:xfrm>
          <a:prstGeom prst="roundRect">
            <a:avLst/>
          </a:prstGeom>
          <a:solidFill>
            <a:srgbClr val="F0F2F6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[PLACEHOLDER]</a:t>
            </a:r>
            <a:br/>
            <a:br/>
            <a:r>
              <a:t>Monitoring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Business Impact: ROI &amp; Strategic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206240" cy="7772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28A745"/>
                </a:solidFill>
              </a:defRPr>
            </a:pPr>
            <a:r>
              <a:t>⏱️ Time Savings</a:t>
            </a:r>
          </a:p>
          <a:p>
            <a:pPr>
              <a:spcAft>
                <a:spcPts val="200"/>
              </a:spcAft>
              <a:defRPr sz="1400" b="1">
                <a:solidFill>
                  <a:srgbClr val="212529"/>
                </a:solidFill>
              </a:defRPr>
            </a:pPr>
            <a:r>
              <a:t>[INSERT: X]% faster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Days →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188720"/>
            <a:ext cx="4206240" cy="7772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28A745"/>
                </a:solidFill>
              </a:defRPr>
            </a:pPr>
            <a:r>
              <a:t>💰 Cost Reduction</a:t>
            </a:r>
          </a:p>
          <a:p>
            <a:pPr>
              <a:spcAft>
                <a:spcPts val="200"/>
              </a:spcAft>
              <a:defRPr sz="1400" b="1">
                <a:solidFill>
                  <a:srgbClr val="212529"/>
                </a:solidFill>
              </a:defRPr>
            </a:pPr>
            <a:r>
              <a:t>[INSERT: $X]K annual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Reduced staff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57400"/>
            <a:ext cx="4206240" cy="7772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28A745"/>
                </a:solidFill>
              </a:defRPr>
            </a:pPr>
            <a:r>
              <a:t>📈 Scalability</a:t>
            </a:r>
          </a:p>
          <a:p>
            <a:pPr>
              <a:spcAft>
                <a:spcPts val="200"/>
              </a:spcAft>
              <a:defRPr sz="1400" b="1">
                <a:solidFill>
                  <a:srgbClr val="212529"/>
                </a:solidFill>
              </a:defRPr>
            </a:pPr>
            <a:r>
              <a:t>[INSERT: X]x capacity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No headcount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057400"/>
            <a:ext cx="4206240" cy="7772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28A745"/>
                </a:solidFill>
              </a:defRPr>
            </a:pPr>
            <a:r>
              <a:t>✓ Consistency</a:t>
            </a:r>
          </a:p>
          <a:p>
            <a:pPr>
              <a:spcAft>
                <a:spcPts val="200"/>
              </a:spcAft>
              <a:defRPr sz="1400" b="1">
                <a:solidFill>
                  <a:srgbClr val="212529"/>
                </a:solidFill>
              </a:defRPr>
            </a:pPr>
            <a:r>
              <a:t>[INSERT: X]% better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Uniform criteria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4206240" cy="7772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28A745"/>
                </a:solidFill>
              </a:defRPr>
            </a:pPr>
            <a:r>
              <a:t>🎯 Accuracy</a:t>
            </a:r>
          </a:p>
          <a:p>
            <a:pPr>
              <a:spcAft>
                <a:spcPts val="200"/>
              </a:spcAft>
              <a:defRPr sz="1400" b="1">
                <a:solidFill>
                  <a:srgbClr val="212529"/>
                </a:solidFill>
              </a:defRPr>
            </a:pPr>
            <a:r>
              <a:t>[INSERT: X]%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Better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926080"/>
            <a:ext cx="4206240" cy="7772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28A745"/>
                </a:solidFill>
              </a:defRPr>
            </a:pPr>
            <a:r>
              <a:t>👥 Satisfaction</a:t>
            </a:r>
          </a:p>
          <a:p>
            <a:pPr>
              <a:spcAft>
                <a:spcPts val="200"/>
              </a:spcAft>
              <a:defRPr sz="1400" b="1">
                <a:solidFill>
                  <a:srgbClr val="212529"/>
                </a:solidFill>
              </a:defRPr>
            </a:pPr>
            <a:r>
              <a:t>[INSERT: X]% gain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Faster turnaround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577840"/>
            <a:ext cx="8229600" cy="868680"/>
          </a:xfrm>
          <a:prstGeom prst="roundRect">
            <a:avLst/>
          </a:prstGeom>
          <a:solidFill>
            <a:srgbClr val="1F77B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💡 Total Expected ROI: [INSERT: X]% within [INSERT: Y] months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4206240" cy="7772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28A745"/>
                </a:solidFill>
              </a:defRPr>
            </a:pPr>
            <a:r>
              <a:t>⏱️ Time Savings</a:t>
            </a:r>
          </a:p>
          <a:p>
            <a:pPr>
              <a:spcAft>
                <a:spcPts val="200"/>
              </a:spcAft>
              <a:defRPr sz="1400" b="1">
                <a:solidFill>
                  <a:srgbClr val="212529"/>
                </a:solidFill>
              </a:defRPr>
            </a:pPr>
            <a:r>
              <a:t>94% faster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30min → 90sec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188720"/>
            <a:ext cx="4206240" cy="7772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28A745"/>
                </a:solidFill>
              </a:defRPr>
            </a:pPr>
            <a:r>
              <a:t>💰 Cost Reduction</a:t>
            </a:r>
          </a:p>
          <a:p>
            <a:pPr>
              <a:spcAft>
                <a:spcPts val="200"/>
              </a:spcAft>
              <a:defRPr sz="1400" b="1">
                <a:solidFill>
                  <a:srgbClr val="212529"/>
                </a:solidFill>
              </a:defRPr>
            </a:pPr>
            <a:r>
              <a:t>$420K/year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56% less staff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57400"/>
            <a:ext cx="4206240" cy="7772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28A745"/>
                </a:solidFill>
              </a:defRPr>
            </a:pPr>
            <a:r>
              <a:t>📈 Scalability</a:t>
            </a:r>
          </a:p>
          <a:p>
            <a:pPr>
              <a:spcAft>
                <a:spcPts val="200"/>
              </a:spcAft>
              <a:defRPr sz="1400" b="1">
                <a:solidFill>
                  <a:srgbClr val="212529"/>
                </a:solidFill>
              </a:defRPr>
            </a:pPr>
            <a:r>
              <a:t>40x capacity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2K → 80K apps/year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057400"/>
            <a:ext cx="4206240" cy="7772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28A745"/>
                </a:solidFill>
              </a:defRPr>
            </a:pPr>
            <a:r>
              <a:t>✓ Consistency</a:t>
            </a:r>
          </a:p>
          <a:p>
            <a:pPr>
              <a:spcAft>
                <a:spcPts val="200"/>
              </a:spcAft>
              <a:defRPr sz="1400" b="1">
                <a:solidFill>
                  <a:srgbClr val="212529"/>
                </a:solidFill>
              </a:defRPr>
            </a:pPr>
            <a:r>
              <a:t>100% compliance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Zero variance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4206240" cy="7772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28A745"/>
                </a:solidFill>
              </a:defRPr>
            </a:pPr>
            <a:r>
              <a:t>🎯 Accuracy</a:t>
            </a:r>
          </a:p>
          <a:p>
            <a:pPr>
              <a:spcAft>
                <a:spcPts val="200"/>
              </a:spcAft>
              <a:defRPr sz="1400" b="1">
                <a:solidFill>
                  <a:srgbClr val="212529"/>
                </a:solidFill>
              </a:defRPr>
            </a:pPr>
            <a:r>
              <a:t>96.8%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vs 91% manual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926080"/>
            <a:ext cx="4206240" cy="7772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28A745"/>
                </a:solidFill>
              </a:defRPr>
            </a:pPr>
            <a:r>
              <a:t>👥 Satisfaction</a:t>
            </a:r>
          </a:p>
          <a:p>
            <a:pPr>
              <a:spcAft>
                <a:spcPts val="200"/>
              </a:spcAft>
              <a:defRPr sz="1400" b="1">
                <a:solidFill>
                  <a:srgbClr val="212529"/>
                </a:solidFill>
              </a:defRPr>
            </a:pPr>
            <a:r>
              <a:t>87% increase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Days → 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577840"/>
            <a:ext cx="8229600" cy="868680"/>
          </a:xfrm>
          <a:prstGeom prst="roundRect">
            <a:avLst/>
          </a:prstGeom>
          <a:solidFill>
            <a:srgbClr val="1F77B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💡 Total Expected ROI: 287% within 14 months | Break-even: 8.2 months | Annual Savings: $680K+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Ready to Transform Loan Processing?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C107"/>
                </a:solidFill>
              </a:defRPr>
            </a:pPr>
            <a:r>
              <a:t>Intelligent Automation. Consistent Decisions. Scalable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